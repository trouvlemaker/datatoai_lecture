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vid" ContentType="application/vnd.openxmlformats-officedocument.presentationml.slideLayout+xml"/>
  <Override PartName="/ppt/media/media10.vid" ContentType="application/vnd.openxmlformats-officedocument.presentationml.slideLayout+xml"/>
  <Override PartName="/ppt/media/media11.vid" ContentType="application/vnd.openxmlformats-officedocument.presentationml.slideLayout+xml"/>
  <Override PartName="/ppt/media/media12.vid" ContentType="application/vnd.openxmlformats-officedocument.presentationml.slideLayout+xml"/>
  <Override PartName="/ppt/media/media13.vid" ContentType="application/vnd.openxmlformats-officedocument.presentationml.slideLayout+xml"/>
  <Override PartName="/ppt/media/media14.vid" ContentType="application/vnd.openxmlformats-officedocument.presentationml.slideLayout+xml"/>
  <Override PartName="/ppt/media/media15.vid" ContentType="application/vnd.openxmlformats-officedocument.presentationml.slideLayout+xml"/>
  <Override PartName="/ppt/media/media16.vid" ContentType="application/vnd.openxmlformats-officedocument.presentationml.slideLayout+xml"/>
  <Override PartName="/ppt/media/media17.vid" ContentType="application/vnd.openxmlformats-officedocument.presentationml.slideLayout+xml"/>
  <Override PartName="/ppt/media/media18.vid" ContentType="application/vnd.openxmlformats-officedocument.presentationml.slideLayout+xml"/>
  <Override PartName="/ppt/media/media19.vid" ContentType="application/vnd.openxmlformats-officedocument.presentationml.slideLayout+xml"/>
  <Override PartName="/ppt/media/media2.vid" ContentType="application/vnd.openxmlformats-officedocument.presentationml.slideLayout+xml"/>
  <Override PartName="/ppt/media/media20.vid" ContentType="application/vnd.openxmlformats-officedocument.presentationml.slideLayout+xml"/>
  <Override PartName="/ppt/media/media21.vid" ContentType="application/vnd.openxmlformats-officedocument.presentationml.slideLayout+xml"/>
  <Override PartName="/ppt/media/media22.vid" ContentType="application/vnd.openxmlformats-officedocument.presentationml.slideLayout+xml"/>
  <Override PartName="/ppt/media/media23.vid" ContentType="application/vnd.openxmlformats-officedocument.presentationml.slideLayout+xml"/>
  <Override PartName="/ppt/media/media3.vid" ContentType="application/vnd.openxmlformats-officedocument.presentationml.slideLayout+xml"/>
  <Override PartName="/ppt/media/media4.vid" ContentType="application/vnd.openxmlformats-officedocument.presentationml.slideLayout+xml"/>
  <Override PartName="/ppt/media/media5.vid" ContentType="application/vnd.openxmlformats-officedocument.presentationml.slideLayout+xml"/>
  <Override PartName="/ppt/media/media6.vid" ContentType="application/vnd.openxmlformats-officedocument.presentationml.slideLayout+xml"/>
  <Override PartName="/ppt/media/media7.vid" ContentType="application/vnd.openxmlformats-officedocument.presentationml.slideLayout+xml"/>
  <Override PartName="/ppt/media/media8.vid" ContentType="application/vnd.openxmlformats-officedocument.presentationml.slideLayout+xml"/>
  <Override PartName="/ppt/media/media9.vid" ContentType="application/vnd.openxmlformats-officedocument.presentationml.slideLayou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image" Target="../media/image-6-17.png"/><Relationship Id="rId18" Type="http://schemas.openxmlformats.org/officeDocument/2006/relationships/image" Target="../media/image-6-18.png"/><Relationship Id="rId19" Type="http://schemas.openxmlformats.org/officeDocument/2006/relationships/image" Target="../media/image-6-19.png"/><Relationship Id="rId20" Type="http://schemas.openxmlformats.org/officeDocument/2006/relationships/image" Target="../media/image-6-20.png"/><Relationship Id="rId21" Type="http://schemas.openxmlformats.org/officeDocument/2006/relationships/image" Target="../media/image-6-21.png"/><Relationship Id="rId22" Type="http://schemas.openxmlformats.org/officeDocument/2006/relationships/image" Target="../media/image-6-22.png"/><Relationship Id="rId23" Type="http://schemas.openxmlformats.org/officeDocument/2006/relationships/image" Target="../media/image-6-23.png"/><Relationship Id="rId24" Type="http://schemas.openxmlformats.org/officeDocument/2006/relationships/image" Target="../media/image-6-24.png"/><Relationship Id="rId25" Type="http://schemas.openxmlformats.org/officeDocument/2006/relationships/image" Target="../media/image-6-25.png"/><Relationship Id="rId26" Type="http://schemas.openxmlformats.org/officeDocument/2006/relationships/image" Target="../media/image-6-26.png"/><Relationship Id="rId27" Type="http://schemas.openxmlformats.org/officeDocument/2006/relationships/image" Target="../media/image-6-27.png"/><Relationship Id="rId28" Type="http://schemas.openxmlformats.org/officeDocument/2006/relationships/image" Target="../media/image-6-28.png"/><Relationship Id="rId29" Type="http://schemas.openxmlformats.org/officeDocument/2006/relationships/image" Target="../media/image-6-29.png"/><Relationship Id="rId30" Type="http://schemas.openxmlformats.org/officeDocument/2006/relationships/image" Target="../media/image-6-30.png"/><Relationship Id="rId31" Type="http://schemas.openxmlformats.org/officeDocument/2006/relationships/image" Target="../media/image-6-31.png"/><Relationship Id="rId32" Type="http://schemas.openxmlformats.org/officeDocument/2006/relationships/image" Target="../media/image-6-32.png"/><Relationship Id="rId33" Type="http://schemas.openxmlformats.org/officeDocument/2006/relationships/image" Target="../media/image-6-33.png"/><Relationship Id="rId34" Type="http://schemas.openxmlformats.org/officeDocument/2006/relationships/image" Target="../media/image-6-34.png"/><Relationship Id="rId35" Type="http://schemas.openxmlformats.org/officeDocument/2006/relationships/image" Target="../media/image-6-35.png"/><Relationship Id="rId36" Type="http://schemas.openxmlformats.org/officeDocument/2006/relationships/image" Target="../media/image-6-36.png"/><Relationship Id="rId37" Type="http://schemas.openxmlformats.org/officeDocument/2006/relationships/image" Target="../media/image-6-37.png"/><Relationship Id="rId38" Type="http://schemas.openxmlformats.org/officeDocument/2006/relationships/image" Target="../media/image-6-38.png"/><Relationship Id="rId39" Type="http://schemas.openxmlformats.org/officeDocument/2006/relationships/image" Target="../media/image-6-39.png"/><Relationship Id="rId40" Type="http://schemas.openxmlformats.org/officeDocument/2006/relationships/image" Target="../media/image-6-40.png"/><Relationship Id="rId41" Type="http://schemas.openxmlformats.org/officeDocument/2006/relationships/slideLayout" Target="../slideLayouts/slideLayout1.xml"/><Relationship Id="rId4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image" Target="../media/image-7-17.png"/><Relationship Id="rId18" Type="http://schemas.openxmlformats.org/officeDocument/2006/relationships/image" Target="../media/image-7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image" Target="../media/image-9-16.png"/><Relationship Id="rId17" Type="http://schemas.openxmlformats.org/officeDocument/2006/relationships/image" Target="../media/image-9-17.png"/><Relationship Id="rId18" Type="http://schemas.openxmlformats.org/officeDocument/2006/relationships/image" Target="../media/image-9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image" Target="../media/image-13-13.png"/><Relationship Id="rId14" Type="http://schemas.openxmlformats.org/officeDocument/2006/relationships/image" Target="../media/image-13-14.png"/><Relationship Id="rId15" Type="http://schemas.openxmlformats.org/officeDocument/2006/relationships/image" Target="../media/image-13-15.png"/><Relationship Id="rId16" Type="http://schemas.openxmlformats.org/officeDocument/2006/relationships/image" Target="../media/image-13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image" Target="../media/image-17-9.png"/><Relationship Id="rId10" Type="http://schemas.openxmlformats.org/officeDocument/2006/relationships/image" Target="../media/image-17-10.png"/><Relationship Id="rId11" Type="http://schemas.openxmlformats.org/officeDocument/2006/relationships/image" Target="../media/image-17-11.png"/><Relationship Id="rId12" Type="http://schemas.openxmlformats.org/officeDocument/2006/relationships/image" Target="../media/image-17-12.png"/><Relationship Id="rId13" Type="http://schemas.openxmlformats.org/officeDocument/2006/relationships/image" Target="../media/image-17-13.png"/><Relationship Id="rId14" Type="http://schemas.openxmlformats.org/officeDocument/2006/relationships/image" Target="../media/image-17-14.png"/><Relationship Id="rId15" Type="http://schemas.openxmlformats.org/officeDocument/2006/relationships/image" Target="../media/image-17-15.png"/><Relationship Id="rId16" Type="http://schemas.openxmlformats.org/officeDocument/2006/relationships/image" Target="../media/image-17-16.png"/><Relationship Id="rId17" Type="http://schemas.openxmlformats.org/officeDocument/2006/relationships/image" Target="../media/image-17-17.png"/><Relationship Id="rId18" Type="http://schemas.openxmlformats.org/officeDocument/2006/relationships/image" Target="../media/image-17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image" Target="../media/image-18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image" Target="../media/image-19-8.png"/><Relationship Id="rId9" Type="http://schemas.openxmlformats.org/officeDocument/2006/relationships/image" Target="../media/image-19-9.png"/><Relationship Id="rId10" Type="http://schemas.openxmlformats.org/officeDocument/2006/relationships/image" Target="../media/image-19-10.png"/><Relationship Id="rId11" Type="http://schemas.openxmlformats.org/officeDocument/2006/relationships/image" Target="../media/image-19-11.png"/><Relationship Id="rId12" Type="http://schemas.openxmlformats.org/officeDocument/2006/relationships/image" Target="../media/image-19-12.png"/><Relationship Id="rId13" Type="http://schemas.openxmlformats.org/officeDocument/2006/relationships/image" Target="../media/image-19-13.png"/><Relationship Id="rId14" Type="http://schemas.openxmlformats.org/officeDocument/2006/relationships/image" Target="../media/image-19-14.png"/><Relationship Id="rId15" Type="http://schemas.openxmlformats.org/officeDocument/2006/relationships/image" Target="../media/image-19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image" Target="../media/image-21-8.png"/><Relationship Id="rId9" Type="http://schemas.openxmlformats.org/officeDocument/2006/relationships/image" Target="../media/image-21-9.png"/><Relationship Id="rId10" Type="http://schemas.openxmlformats.org/officeDocument/2006/relationships/image" Target="../media/image-21-10.png"/><Relationship Id="rId11" Type="http://schemas.openxmlformats.org/officeDocument/2006/relationships/image" Target="../media/image-21-11.png"/><Relationship Id="rId12" Type="http://schemas.openxmlformats.org/officeDocument/2006/relationships/image" Target="../media/image-21-12.png"/><Relationship Id="rId13" Type="http://schemas.openxmlformats.org/officeDocument/2006/relationships/image" Target="../media/image-2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image" Target="../media/image-22-7.png"/><Relationship Id="rId8" Type="http://schemas.openxmlformats.org/officeDocument/2006/relationships/image" Target="../media/image-22-8.png"/><Relationship Id="rId9" Type="http://schemas.openxmlformats.org/officeDocument/2006/relationships/image" Target="../media/image-2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image" Target="../media/image-23-7.png"/><Relationship Id="rId8" Type="http://schemas.openxmlformats.org/officeDocument/2006/relationships/image" Target="../media/image-23-8.png"/><Relationship Id="rId9" Type="http://schemas.openxmlformats.org/officeDocument/2006/relationships/image" Target="../media/image-23-9.png"/><Relationship Id="rId10" Type="http://schemas.openxmlformats.org/officeDocument/2006/relationships/image" Target="../media/image-23-10.png"/><Relationship Id="rId11" Type="http://schemas.openxmlformats.org/officeDocument/2006/relationships/image" Target="../media/image-23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image" Target="../media/image-24-7.png"/><Relationship Id="rId8" Type="http://schemas.openxmlformats.org/officeDocument/2006/relationships/image" Target="../media/image-24-8.png"/><Relationship Id="rId9" Type="http://schemas.openxmlformats.org/officeDocument/2006/relationships/image" Target="../media/image-2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image" Target="../media/image-25-7.png"/><Relationship Id="rId8" Type="http://schemas.openxmlformats.org/officeDocument/2006/relationships/image" Target="../media/image-25-8.png"/><Relationship Id="rId9" Type="http://schemas.openxmlformats.org/officeDocument/2006/relationships/image" Target="../media/image-25-9.png"/><Relationship Id="rId10" Type="http://schemas.openxmlformats.org/officeDocument/2006/relationships/image" Target="../media/image-25-10.png"/><Relationship Id="rId11" Type="http://schemas.openxmlformats.org/officeDocument/2006/relationships/image" Target="../media/image-25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image" Target="../media/image-26-7.png"/><Relationship Id="rId8" Type="http://schemas.openxmlformats.org/officeDocument/2006/relationships/image" Target="../media/image-26-8.png"/><Relationship Id="rId9" Type="http://schemas.openxmlformats.org/officeDocument/2006/relationships/image" Target="../media/image-26-9.png"/><Relationship Id="rId10" Type="http://schemas.openxmlformats.org/officeDocument/2006/relationships/image" Target="../media/image-26-10.png"/><Relationship Id="rId11" Type="http://schemas.openxmlformats.org/officeDocument/2006/relationships/image" Target="../media/image-26-11.png"/><Relationship Id="rId12" Type="http://schemas.openxmlformats.org/officeDocument/2006/relationships/image" Target="../media/image-26-12.png"/><Relationship Id="rId13" Type="http://schemas.openxmlformats.org/officeDocument/2006/relationships/image" Target="../media/image-26-13.png"/><Relationship Id="rId14" Type="http://schemas.openxmlformats.org/officeDocument/2006/relationships/image" Target="../media/image-26-14.png"/><Relationship Id="rId15" Type="http://schemas.openxmlformats.org/officeDocument/2006/relationships/image" Target="../media/image-26-15.png"/><Relationship Id="rId16" Type="http://schemas.openxmlformats.org/officeDocument/2006/relationships/image" Target="../media/image-26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image" Target="../media/image-2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-3-9.png"/><Relationship Id="rId13" Type="http://schemas.openxmlformats.org/officeDocument/2006/relationships/slideLayout" Target="../media/media1.vid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-13-1.png"/><Relationship Id="rId8" Type="http://schemas.openxmlformats.org/officeDocument/2006/relationships/image" Target="../media/image16.png"/><Relationship Id="rId9" Type="http://schemas.openxmlformats.org/officeDocument/2006/relationships/image" Target="../media/image-3-9.png"/><Relationship Id="rId10" Type="http://schemas.openxmlformats.org/officeDocument/2006/relationships/slideLayout" Target="../media/media2.vid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-3-9.png"/><Relationship Id="rId6" Type="http://schemas.openxmlformats.org/officeDocument/2006/relationships/slideLayout" Target="../media/media3.vid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4-1.png"/><Relationship Id="rId3" Type="http://schemas.openxmlformats.org/officeDocument/2006/relationships/image" Target="../media/image-4-2.png"/><Relationship Id="rId4" Type="http://schemas.openxmlformats.org/officeDocument/2006/relationships/image" Target="../media/image20.png"/><Relationship Id="rId5" Type="http://schemas.openxmlformats.org/officeDocument/2006/relationships/image" Target="../media/image-3-9.png"/><Relationship Id="rId6" Type="http://schemas.openxmlformats.org/officeDocument/2006/relationships/slideLayout" Target="../media/media4.vid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image" Target="../media/image28.png"/><Relationship Id="rId10" Type="http://schemas.openxmlformats.org/officeDocument/2006/relationships/image" Target="../media/image-3-9.png"/><Relationship Id="rId11" Type="http://schemas.openxmlformats.org/officeDocument/2006/relationships/slideLayout" Target="../media/media5.vid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Relationship Id="rId8" Type="http://schemas.openxmlformats.org/officeDocument/2006/relationships/image" Target="../media/image-3-9.png"/><Relationship Id="rId9" Type="http://schemas.openxmlformats.org/officeDocument/2006/relationships/slideLayout" Target="../media/media6.vid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7-1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-27-2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Relationship Id="rId9" Type="http://schemas.openxmlformats.org/officeDocument/2006/relationships/image" Target="../media/image40.png"/><Relationship Id="rId10" Type="http://schemas.openxmlformats.org/officeDocument/2006/relationships/image" Target="../media/image41.png"/><Relationship Id="rId11" Type="http://schemas.openxmlformats.org/officeDocument/2006/relationships/image" Target="../media/image42.png"/><Relationship Id="rId12" Type="http://schemas.openxmlformats.org/officeDocument/2006/relationships/image" Target="../media/image43.png"/><Relationship Id="rId13" Type="http://schemas.openxmlformats.org/officeDocument/2006/relationships/image" Target="../media/image-3-9.png"/><Relationship Id="rId14" Type="http://schemas.openxmlformats.org/officeDocument/2006/relationships/slideLayout" Target="../media/media7.vid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-7-11.png"/><Relationship Id="rId6" Type="http://schemas.openxmlformats.org/officeDocument/2006/relationships/image" Target="../media/image47.png"/><Relationship Id="rId7" Type="http://schemas.openxmlformats.org/officeDocument/2006/relationships/image" Target="../media/image48.png"/><Relationship Id="rId8" Type="http://schemas.openxmlformats.org/officeDocument/2006/relationships/image" Target="../media/image-15-6.png"/><Relationship Id="rId9" Type="http://schemas.openxmlformats.org/officeDocument/2006/relationships/image" Target="../media/image-15-8.png"/><Relationship Id="rId10" Type="http://schemas.openxmlformats.org/officeDocument/2006/relationships/image" Target="../media/image-3-9.png"/><Relationship Id="rId11" Type="http://schemas.openxmlformats.org/officeDocument/2006/relationships/slideLayout" Target="../media/media8.vid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Relationship Id="rId7" Type="http://schemas.openxmlformats.org/officeDocument/2006/relationships/image" Target="../media/image-3-9.png"/><Relationship Id="rId8" Type="http://schemas.openxmlformats.org/officeDocument/2006/relationships/slideLayout" Target="../media/media9.vid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4.png"/><Relationship Id="rId3" Type="http://schemas.openxmlformats.org/officeDocument/2006/relationships/image" Target="../media/image55.png"/><Relationship Id="rId4" Type="http://schemas.openxmlformats.org/officeDocument/2006/relationships/image" Target="../media/image56.png"/><Relationship Id="rId5" Type="http://schemas.openxmlformats.org/officeDocument/2006/relationships/slideLayout" Target="../media/media10.vid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7.png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Relationship Id="rId6" Type="http://schemas.openxmlformats.org/officeDocument/2006/relationships/image" Target="../media/image61.png"/><Relationship Id="rId7" Type="http://schemas.openxmlformats.org/officeDocument/2006/relationships/image" Target="../media/image-3-9.png"/><Relationship Id="rId8" Type="http://schemas.openxmlformats.org/officeDocument/2006/relationships/slideLayout" Target="../media/media11.vid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4-1.png"/><Relationship Id="rId3" Type="http://schemas.openxmlformats.org/officeDocument/2006/relationships/image" Target="../media/image-4-2.png"/><Relationship Id="rId4" Type="http://schemas.openxmlformats.org/officeDocument/2006/relationships/image" Target="../media/image62.png"/><Relationship Id="rId5" Type="http://schemas.openxmlformats.org/officeDocument/2006/relationships/image" Target="../media/image-3-9.png"/><Relationship Id="rId6" Type="http://schemas.openxmlformats.org/officeDocument/2006/relationships/slideLayout" Target="../media/media12.vid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3.png"/><Relationship Id="rId3" Type="http://schemas.openxmlformats.org/officeDocument/2006/relationships/image" Target="../media/image64.png"/><Relationship Id="rId4" Type="http://schemas.openxmlformats.org/officeDocument/2006/relationships/image" Target="../media/image65.png"/><Relationship Id="rId5" Type="http://schemas.openxmlformats.org/officeDocument/2006/relationships/image" Target="../media/image66.png"/><Relationship Id="rId6" Type="http://schemas.openxmlformats.org/officeDocument/2006/relationships/image" Target="../media/image67.png"/><Relationship Id="rId7" Type="http://schemas.openxmlformats.org/officeDocument/2006/relationships/image" Target="../media/image68.png"/><Relationship Id="rId8" Type="http://schemas.openxmlformats.org/officeDocument/2006/relationships/image" Target="../media/image-3-9.png"/><Relationship Id="rId9" Type="http://schemas.openxmlformats.org/officeDocument/2006/relationships/slideLayout" Target="../media/media13.vid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3-1.png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Relationship Id="rId6" Type="http://schemas.openxmlformats.org/officeDocument/2006/relationships/image" Target="../media/image72.png"/><Relationship Id="rId7" Type="http://schemas.openxmlformats.org/officeDocument/2006/relationships/image" Target="../media/image73.png"/><Relationship Id="rId8" Type="http://schemas.openxmlformats.org/officeDocument/2006/relationships/image" Target="../media/image74.png"/><Relationship Id="rId9" Type="http://schemas.openxmlformats.org/officeDocument/2006/relationships/image" Target="../media/image75.png"/><Relationship Id="rId10" Type="http://schemas.openxmlformats.org/officeDocument/2006/relationships/image" Target="../media/image76.png"/><Relationship Id="rId11" Type="http://schemas.openxmlformats.org/officeDocument/2006/relationships/image" Target="../media/image77.png"/><Relationship Id="rId12" Type="http://schemas.openxmlformats.org/officeDocument/2006/relationships/image" Target="../media/image78.png"/><Relationship Id="rId13" Type="http://schemas.openxmlformats.org/officeDocument/2006/relationships/image" Target="../media/image-3-9.png"/><Relationship Id="rId14" Type="http://schemas.openxmlformats.org/officeDocument/2006/relationships/slideLayout" Target="../media/media14.vid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9.png"/><Relationship Id="rId3" Type="http://schemas.openxmlformats.org/officeDocument/2006/relationships/image" Target="../media/image80.png"/><Relationship Id="rId4" Type="http://schemas.openxmlformats.org/officeDocument/2006/relationships/image" Target="../media/image81.png"/><Relationship Id="rId5" Type="http://schemas.openxmlformats.org/officeDocument/2006/relationships/image" Target="../media/image82.png"/><Relationship Id="rId6" Type="http://schemas.openxmlformats.org/officeDocument/2006/relationships/image" Target="../media/image83.png"/><Relationship Id="rId7" Type="http://schemas.openxmlformats.org/officeDocument/2006/relationships/image" Target="../media/image84.png"/><Relationship Id="rId8" Type="http://schemas.openxmlformats.org/officeDocument/2006/relationships/image" Target="../media/image85.png"/><Relationship Id="rId9" Type="http://schemas.openxmlformats.org/officeDocument/2006/relationships/image" Target="../media/image86.png"/><Relationship Id="rId10" Type="http://schemas.openxmlformats.org/officeDocument/2006/relationships/image" Target="../media/image-3-9.png"/><Relationship Id="rId11" Type="http://schemas.openxmlformats.org/officeDocument/2006/relationships/slideLayout" Target="../media/media15.vid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7.png"/><Relationship Id="rId3" Type="http://schemas.openxmlformats.org/officeDocument/2006/relationships/image" Target="../media/image88.png"/><Relationship Id="rId4" Type="http://schemas.openxmlformats.org/officeDocument/2006/relationships/image" Target="../media/image-7-1.png"/><Relationship Id="rId5" Type="http://schemas.openxmlformats.org/officeDocument/2006/relationships/image" Target="../media/image89.png"/><Relationship Id="rId6" Type="http://schemas.openxmlformats.org/officeDocument/2006/relationships/image" Target="../media/image90.png"/><Relationship Id="rId7" Type="http://schemas.openxmlformats.org/officeDocument/2006/relationships/image" Target="../media/image-3-9.png"/><Relationship Id="rId8" Type="http://schemas.openxmlformats.org/officeDocument/2006/relationships/slideLayout" Target="../media/media16.vid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1.png"/><Relationship Id="rId3" Type="http://schemas.openxmlformats.org/officeDocument/2006/relationships/image" Target="../media/image92.png"/><Relationship Id="rId4" Type="http://schemas.openxmlformats.org/officeDocument/2006/relationships/image" Target="../media/image93.png"/><Relationship Id="rId5" Type="http://schemas.openxmlformats.org/officeDocument/2006/relationships/image" Target="../media/image94.png"/><Relationship Id="rId6" Type="http://schemas.openxmlformats.org/officeDocument/2006/relationships/image" Target="../media/image95.png"/><Relationship Id="rId7" Type="http://schemas.openxmlformats.org/officeDocument/2006/relationships/image" Target="../media/image96.png"/><Relationship Id="rId8" Type="http://schemas.openxmlformats.org/officeDocument/2006/relationships/image" Target="../media/image97.png"/><Relationship Id="rId9" Type="http://schemas.openxmlformats.org/officeDocument/2006/relationships/image" Target="../media/image98.png"/><Relationship Id="rId10" Type="http://schemas.openxmlformats.org/officeDocument/2006/relationships/image" Target="../media/image1.png"/><Relationship Id="rId11" Type="http://schemas.openxmlformats.org/officeDocument/2006/relationships/image" Target="../media/image99.png"/><Relationship Id="rId12" Type="http://schemas.openxmlformats.org/officeDocument/2006/relationships/image" Target="../media/image3.png"/><Relationship Id="rId13" Type="http://schemas.openxmlformats.org/officeDocument/2006/relationships/image" Target="../media/image100.png"/><Relationship Id="rId14" Type="http://schemas.openxmlformats.org/officeDocument/2006/relationships/image" Target="../media/image-3-9.png"/><Relationship Id="rId15" Type="http://schemas.openxmlformats.org/officeDocument/2006/relationships/slideLayout" Target="../media/media17.vid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5.png"/><Relationship Id="rId3" Type="http://schemas.openxmlformats.org/officeDocument/2006/relationships/image" Target="../media/image101.png"/><Relationship Id="rId4" Type="http://schemas.openxmlformats.org/officeDocument/2006/relationships/image" Target="../media/image102.png"/><Relationship Id="rId5" Type="http://schemas.openxmlformats.org/officeDocument/2006/relationships/image" Target="../media/image103.png"/><Relationship Id="rId6" Type="http://schemas.openxmlformats.org/officeDocument/2006/relationships/image" Target="../media/image104.png"/><Relationship Id="rId7" Type="http://schemas.openxmlformats.org/officeDocument/2006/relationships/image" Target="../media/image105.png"/><Relationship Id="rId8" Type="http://schemas.openxmlformats.org/officeDocument/2006/relationships/image" Target="../media/image106.png"/><Relationship Id="rId9" Type="http://schemas.openxmlformats.org/officeDocument/2006/relationships/image" Target="../media/image107.png"/><Relationship Id="rId10" Type="http://schemas.openxmlformats.org/officeDocument/2006/relationships/image" Target="../media/image108.png"/><Relationship Id="rId11" Type="http://schemas.openxmlformats.org/officeDocument/2006/relationships/image" Target="../media/image-3-9.png"/><Relationship Id="rId12" Type="http://schemas.openxmlformats.org/officeDocument/2006/relationships/slideLayout" Target="../media/media18.vid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110.png"/><Relationship Id="rId7" Type="http://schemas.openxmlformats.org/officeDocument/2006/relationships/image" Target="../media/image111.png"/><Relationship Id="rId8" Type="http://schemas.openxmlformats.org/officeDocument/2006/relationships/image" Target="../media/image112.png"/><Relationship Id="rId9" Type="http://schemas.openxmlformats.org/officeDocument/2006/relationships/image" Target="../media/image113.png"/><Relationship Id="rId10" Type="http://schemas.openxmlformats.org/officeDocument/2006/relationships/image" Target="../media/image114.png"/><Relationship Id="rId11" Type="http://schemas.openxmlformats.org/officeDocument/2006/relationships/image" Target="../media/image115.png"/><Relationship Id="rId12" Type="http://schemas.openxmlformats.org/officeDocument/2006/relationships/image" Target="../media/image116.png"/><Relationship Id="rId13" Type="http://schemas.openxmlformats.org/officeDocument/2006/relationships/image" Target="../media/image117.png"/><Relationship Id="rId14" Type="http://schemas.openxmlformats.org/officeDocument/2006/relationships/image" Target="../media/image-3-9.png"/><Relationship Id="rId15" Type="http://schemas.openxmlformats.org/officeDocument/2006/relationships/slideLayout" Target="../media/media19.vid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4-1.png"/><Relationship Id="rId3" Type="http://schemas.openxmlformats.org/officeDocument/2006/relationships/image" Target="../media/image118.png"/><Relationship Id="rId4" Type="http://schemas.openxmlformats.org/officeDocument/2006/relationships/image" Target="../media/image119.png"/><Relationship Id="rId5" Type="http://schemas.openxmlformats.org/officeDocument/2006/relationships/image" Target="../media/image120.png"/><Relationship Id="rId6" Type="http://schemas.openxmlformats.org/officeDocument/2006/relationships/image" Target="../media/image121.png"/><Relationship Id="rId7" Type="http://schemas.openxmlformats.org/officeDocument/2006/relationships/image" Target="../media/image122.png"/><Relationship Id="rId8" Type="http://schemas.openxmlformats.org/officeDocument/2006/relationships/image" Target="../media/image123.png"/><Relationship Id="rId9" Type="http://schemas.openxmlformats.org/officeDocument/2006/relationships/image" Target="../media/image-3-9.png"/><Relationship Id="rId10" Type="http://schemas.openxmlformats.org/officeDocument/2006/relationships/slideLayout" Target="../media/media20.vid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9.png"/><Relationship Id="rId3" Type="http://schemas.openxmlformats.org/officeDocument/2006/relationships/image" Target="../media/image124.png"/><Relationship Id="rId4" Type="http://schemas.openxmlformats.org/officeDocument/2006/relationships/image" Target="../media/image125.png"/><Relationship Id="rId5" Type="http://schemas.openxmlformats.org/officeDocument/2006/relationships/image" Target="../media/image126.png"/><Relationship Id="rId6" Type="http://schemas.openxmlformats.org/officeDocument/2006/relationships/image" Target="../media/image127.png"/><Relationship Id="rId7" Type="http://schemas.openxmlformats.org/officeDocument/2006/relationships/image" Target="../media/image128.png"/><Relationship Id="rId8" Type="http://schemas.openxmlformats.org/officeDocument/2006/relationships/image" Target="../media/image129.png"/><Relationship Id="rId9" Type="http://schemas.openxmlformats.org/officeDocument/2006/relationships/image" Target="../media/image130.png"/><Relationship Id="rId10" Type="http://schemas.openxmlformats.org/officeDocument/2006/relationships/image" Target="../media/image131.png"/><Relationship Id="rId11" Type="http://schemas.openxmlformats.org/officeDocument/2006/relationships/image" Target="../media/image132.png"/><Relationship Id="rId12" Type="http://schemas.openxmlformats.org/officeDocument/2006/relationships/image" Target="../media/image133.png"/><Relationship Id="rId13" Type="http://schemas.openxmlformats.org/officeDocument/2006/relationships/image" Target="../media/image134.png"/><Relationship Id="rId14" Type="http://schemas.openxmlformats.org/officeDocument/2006/relationships/image" Target="../media/image135.png"/><Relationship Id="rId15" Type="http://schemas.openxmlformats.org/officeDocument/2006/relationships/image" Target="../media/image136.png"/><Relationship Id="rId16" Type="http://schemas.openxmlformats.org/officeDocument/2006/relationships/image" Target="../media/image137.png"/><Relationship Id="rId17" Type="http://schemas.openxmlformats.org/officeDocument/2006/relationships/image" Target="../media/image138.png"/><Relationship Id="rId18" Type="http://schemas.openxmlformats.org/officeDocument/2006/relationships/image" Target="../media/image139.png"/><Relationship Id="rId19" Type="http://schemas.openxmlformats.org/officeDocument/2006/relationships/image" Target="../media/image-3-9.png"/><Relationship Id="rId20" Type="http://schemas.openxmlformats.org/officeDocument/2006/relationships/slideLayout" Target="../media/media21.vid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4-1.png"/><Relationship Id="rId3" Type="http://schemas.openxmlformats.org/officeDocument/2006/relationships/image" Target="../media/image-4-2.png"/><Relationship Id="rId4" Type="http://schemas.openxmlformats.org/officeDocument/2006/relationships/image" Target="../media/image140.png"/><Relationship Id="rId5" Type="http://schemas.openxmlformats.org/officeDocument/2006/relationships/image" Target="../media/image141.png"/><Relationship Id="rId6" Type="http://schemas.openxmlformats.org/officeDocument/2006/relationships/image" Target="../media/image142.png"/><Relationship Id="rId7" Type="http://schemas.openxmlformats.org/officeDocument/2006/relationships/image" Target="../media/image143.png"/><Relationship Id="rId8" Type="http://schemas.openxmlformats.org/officeDocument/2006/relationships/image" Target="../media/image-3-9.png"/><Relationship Id="rId9" Type="http://schemas.openxmlformats.org/officeDocument/2006/relationships/slideLayout" Target="../media/media22.vid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4.png"/><Relationship Id="rId3" Type="http://schemas.openxmlformats.org/officeDocument/2006/relationships/image" Target="../media/image145.png"/><Relationship Id="rId4" Type="http://schemas.openxmlformats.org/officeDocument/2006/relationships/image" Target="../media/image146.png"/><Relationship Id="rId5" Type="http://schemas.openxmlformats.org/officeDocument/2006/relationships/image" Target="../media/image147.png"/><Relationship Id="rId6" Type="http://schemas.openxmlformats.org/officeDocument/2006/relationships/image" Target="../media/image148.png"/><Relationship Id="rId7" Type="http://schemas.openxmlformats.org/officeDocument/2006/relationships/image" Target="../media/image-3-9.png"/><Relationship Id="rId8" Type="http://schemas.openxmlformats.org/officeDocument/2006/relationships/slideLayout" Target="../media/media23.vid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29500" y="-1904695"/>
            <a:ext cx="5715000" cy="5715000"/>
          </a:xfrm>
          <a:prstGeom prst="ellipse">
            <a:avLst/>
          </a:prstGeom>
          <a:solidFill>
            <a:srgbClr val="EFF6FF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952805" y="4476902"/>
            <a:ext cx="2857500" cy="2857500"/>
          </a:xfrm>
          <a:prstGeom prst="ellipse">
            <a:avLst/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658600" y="381305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61695" y="1114654"/>
            <a:ext cx="10840212" cy="1343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AI가 코드를 만들어주는 시대,</a:t>
            </a:r>
            <a:pPr algn="l" indent="0" marL="0">
              <a:buNone/>
            </a:pPr>
            <a:endParaRPr lang="en-US" sz="4800" dirty="0"/>
          </a:p>
          <a:p>
            <a:pPr algn="l" indent="0" marL="0">
              <a:buNone/>
            </a:pPr>
            <a:r>
              <a:rPr lang="en-US" sz="4800" b="1" spc="-96" kern="0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더 중요한 것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761695" y="2684678"/>
            <a:ext cx="8651138" cy="1010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코드를 많이 아는 것보다 중요한 것은 </a:t>
            </a:r>
            <a:pPr algn="l"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문제를 정의</a:t>
            </a:r>
            <a:pPr algn="l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하고, </a:t>
            </a:r>
            <a:pPr algn="l"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적절한 도구를 선택</a:t>
            </a:r>
            <a:pPr algn="l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하며, </a:t>
            </a:r>
            <a:pPr algn="l"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결과를 실무에 연결</a:t>
            </a:r>
            <a:pPr algn="l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하는 능력입니다. 이 강의는 단순 구현을 넘어 데이터 기반의 사고방식과 판단 기준을 익히는 과정입니다.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1695" y="571500"/>
            <a:ext cx="1152144" cy="314554"/>
          </a:xfrm>
          <a:prstGeom prst="roundRect">
            <a:avLst>
              <a:gd name="adj" fmla="val 290697"/>
            </a:avLst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3349" y="571500"/>
            <a:ext cx="1209751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63500" rIns="152400" bIns="63500" rtlCol="0" anchor="ctr"/>
          <a:lstStyle/>
          <a:p>
            <a:pPr algn="ctr" indent="0" marL="0">
              <a:buNone/>
            </a:pPr>
            <a:r>
              <a:rPr lang="en-US" sz="1000" b="1" spc="105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Prologue</a:t>
            </a:r>
            <a:endParaRPr lang="en-US" sz="10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0" b="-10"/>
          <a:stretch/>
        </p:blipFill>
        <p:spPr>
          <a:xfrm>
            <a:off x="761695" y="4166006"/>
            <a:ext cx="2495398" cy="2095805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761695" y="4166006"/>
            <a:ext cx="2476195" cy="57607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00354" y="4461358"/>
            <a:ext cx="476402" cy="457200"/>
          </a:xfrm>
          <a:prstGeom prst="roundRect">
            <a:avLst>
              <a:gd name="adj" fmla="val 100000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45" b="-45"/>
          <a:stretch/>
        </p:blipFill>
        <p:spPr>
          <a:xfrm>
            <a:off x="1110082" y="4575658"/>
            <a:ext cx="256946" cy="2286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000354" y="5109667"/>
            <a:ext cx="218175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관점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1000354" y="5509260"/>
            <a:ext cx="20958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단순한 숫자가 아닌 비즈니스 맥락에서 데이터를 해석하는 시각</a:t>
            </a:r>
            <a:endParaRPr lang="en-US" sz="12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10" b="-10"/>
          <a:stretch/>
        </p:blipFill>
        <p:spPr>
          <a:xfrm>
            <a:off x="3486607" y="4166006"/>
            <a:ext cx="2495398" cy="2095805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3486607" y="4166006"/>
            <a:ext cx="2476195" cy="57607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3724351" y="4461358"/>
            <a:ext cx="476402" cy="457200"/>
          </a:xfrm>
          <a:prstGeom prst="roundRect">
            <a:avLst>
              <a:gd name="adj" fmla="val 100000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847795" y="4575658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3724351" y="5109667"/>
            <a:ext cx="218175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구조화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3724351" y="5509260"/>
            <a:ext cx="20958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추상적인 비즈니스 문제를 분석 가능한 형태(Form)로 바꾸는 힘</a:t>
            </a:r>
            <a:endParaRPr lang="en-US" sz="12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10" b="-10"/>
          <a:stretch/>
        </p:blipFill>
        <p:spPr>
          <a:xfrm>
            <a:off x="6210605" y="4166006"/>
            <a:ext cx="2495398" cy="2095805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6210605" y="4166006"/>
            <a:ext cx="2476195" cy="57607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6448349" y="4461358"/>
            <a:ext cx="476402" cy="457200"/>
          </a:xfrm>
          <a:prstGeom prst="roundRect">
            <a:avLst>
              <a:gd name="adj" fmla="val 100000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6448349" y="5109667"/>
            <a:ext cx="218175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의사결정 연결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6448349" y="5509260"/>
            <a:ext cx="20958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예측 결과와 분석 인사이트를 실제 액션 플랜으로 전환하는 방법</a:t>
            </a:r>
            <a:endParaRPr lang="en-US" sz="120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10" b="-10"/>
          <a:stretch/>
        </p:blipFill>
        <p:spPr>
          <a:xfrm>
            <a:off x="8934602" y="4166006"/>
            <a:ext cx="2495398" cy="2095805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8934602" y="4166006"/>
            <a:ext cx="2476195" cy="57607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9172346" y="4461358"/>
            <a:ext cx="476402" cy="228600"/>
          </a:xfrm>
          <a:prstGeom prst="roundRect">
            <a:avLst>
              <a:gd name="adj" fmla="val 400000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rcRect l="-80" r="-80" t="0" b="0"/>
          <a:stretch/>
        </p:blipFill>
        <p:spPr>
          <a:xfrm>
            <a:off x="9267444" y="4461358"/>
            <a:ext cx="286207" cy="228600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9172346" y="4881067"/>
            <a:ext cx="210037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실무 적용</a:t>
            </a:r>
            <a:endParaRPr lang="en-US" sz="1500" dirty="0"/>
          </a:p>
        </p:txBody>
      </p:sp>
      <p:sp>
        <p:nvSpPr>
          <p:cNvPr id="33" name="Text 24"/>
          <p:cNvSpPr txBox="1"/>
          <p:nvPr/>
        </p:nvSpPr>
        <p:spPr>
          <a:xfrm>
            <a:off x="9172346" y="5280660"/>
            <a:ext cx="20958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도구(RAG, LLM)를 업무 워크플로우에 최적화하여 적용하는 감각</a:t>
            </a:r>
            <a:endParaRPr lang="en-US" sz="1200" dirty="0"/>
          </a:p>
        </p:txBody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32" b="-32"/>
          <a:stretch/>
        </p:blipFill>
        <p:spPr>
          <a:xfrm>
            <a:off x="0" y="7023506"/>
            <a:ext cx="12191695" cy="743407"/>
          </a:xfrm>
          <a:prstGeom prst="rect">
            <a:avLst/>
          </a:prstGeom>
        </p:spPr>
      </p:pic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rcRect l="-1648" r="-1648" t="0" b="0"/>
          <a:stretch/>
        </p:blipFill>
        <p:spPr>
          <a:xfrm>
            <a:off x="761695" y="7300570"/>
            <a:ext cx="171907" cy="190195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1086307" y="7252106"/>
            <a:ext cx="80778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결국 중요한 것은 코드를 짜는 행위가 아니라, 문제를 해결하여 가치를 만드는 것입니다.</a:t>
            </a:r>
            <a:endParaRPr lang="en-US" sz="1500" dirty="0"/>
          </a:p>
        </p:txBody>
      </p:sp>
      <p:sp>
        <p:nvSpPr>
          <p:cNvPr id="37" name="Text 26"/>
          <p:cNvSpPr txBox="1"/>
          <p:nvPr/>
        </p:nvSpPr>
        <p:spPr>
          <a:xfrm>
            <a:off x="9608515" y="7281367"/>
            <a:ext cx="2176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 Analysis &amp; AI Practice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52805" y="-952805"/>
            <a:ext cx="4286707" cy="4286707"/>
          </a:xfrm>
          <a:prstGeom prst="ellipse">
            <a:avLst/>
          </a:prstGeom>
          <a:solidFill>
            <a:srgbClr val="1E3A8A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05902" y="2572207"/>
            <a:ext cx="4762195" cy="4762195"/>
          </a:xfrm>
          <a:prstGeom prst="ellipse">
            <a:avLst/>
          </a:prstGeom>
          <a:solidFill>
            <a:srgbClr val="2563EB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657807" y="394106"/>
            <a:ext cx="88779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50" kern="0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 Analysis &amp; Growth Strategy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628546" y="889711"/>
            <a:ext cx="8934602" cy="1515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spc="-108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1. 데이터 이해 </a:t>
            </a:r>
            <a:pPr algn="ctr" indent="0" marL="0">
              <a:buNone/>
            </a:pPr>
            <a:endParaRPr lang="en-US" sz="5400" dirty="0"/>
          </a:p>
          <a:p>
            <a:pPr algn="ctr" indent="0" marL="0">
              <a:buNone/>
            </a:pPr>
            <a:r>
              <a:rPr lang="en-US" sz="5400" b="1" spc="-108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그로스 분석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1561795" y="2627071"/>
            <a:ext cx="9068105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실무형 데이터 분석 교육 핸드아웃</a:t>
            </a:r>
            <a:endParaRPr lang="en-US" sz="27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-6" r="-6" t="0" b="0"/>
          <a:stretch/>
        </p:blipFill>
        <p:spPr>
          <a:xfrm>
            <a:off x="1714500" y="3712464"/>
            <a:ext cx="8762695" cy="275051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086246" y="4376318"/>
            <a:ext cx="9144" cy="1423721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486254" y="4246474"/>
            <a:ext cx="190195" cy="19019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790749" y="4198925"/>
            <a:ext cx="93543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목표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2486254" y="4636922"/>
            <a:ext cx="3403397" cy="1343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비즈니스 성장 둔화의 원인을 규명하고,</a:t>
            </a:r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데이터 기반의 </a:t>
            </a:r>
            <a:pPr algn="l" indent="0" marL="0">
              <a:buNone/>
            </a:pPr>
            <a:r>
              <a:rPr lang="en-US" sz="16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복구 및 성장 액션 플랜</a:t>
            </a:r>
            <a:pPr algn="l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수립 </a:t>
            </a:r>
            <a:endParaRPr lang="en-US" sz="16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381598" y="4246474"/>
            <a:ext cx="142646" cy="19019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638544" y="4198925"/>
            <a:ext cx="113842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산출물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6381598" y="4636922"/>
            <a:ext cx="3403397" cy="1343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트렌드/세그먼트 분석 리포트</a:t>
            </a:r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성장 기여도 분해</a:t>
            </a:r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인사이트 요약(MD) 및 데이터셋(CSV) 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0" y="6705295"/>
            <a:ext cx="12191695" cy="152705"/>
          </a:xfrm>
          <a:prstGeom prst="rect">
            <a:avLst/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34195" y="-952805"/>
            <a:ext cx="3810305" cy="3810305"/>
          </a:xfrm>
          <a:prstGeom prst="ellipse">
            <a:avLst/>
          </a:prstGeom>
          <a:solidFill>
            <a:srgbClr val="F1F5F9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476402" y="4476902"/>
            <a:ext cx="2857500" cy="2857500"/>
          </a:xfrm>
          <a:prstGeom prst="ellipse">
            <a:avLst/>
          </a:prstGeom>
          <a:solidFill>
            <a:srgbClr val="E2E8F0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476402"/>
            <a:ext cx="113541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spc="-72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오늘의 아젠다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257300"/>
            <a:ext cx="112398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이해부터 인사이트 도출까지, 체계적인 그로스 분석 여정</a:t>
            </a:r>
            <a:endParaRPr lang="en-US" sz="1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8" b="-8"/>
          <a:stretch/>
        </p:blipFill>
        <p:spPr>
          <a:xfrm>
            <a:off x="857707" y="2419502"/>
            <a:ext cx="5048402" cy="152430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57707" y="2419502"/>
            <a:ext cx="57607" cy="1505102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2714854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-685" r="-685" t="0" b="0"/>
          <a:stretch/>
        </p:blipFill>
        <p:spPr>
          <a:xfrm>
            <a:off x="1285646" y="2866644"/>
            <a:ext cx="304495" cy="26700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952244" y="2714854"/>
            <a:ext cx="38487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그로스 분석 프레임워크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1952244" y="3133649"/>
            <a:ext cx="37344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비즈니스 문제를 체계적으로 진단하는 4단계 방법론 (트렌드 → 영향 요인 → 세그먼트 → 액션)</a:t>
            </a:r>
            <a:endParaRPr lang="en-US" sz="13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8" b="-8"/>
          <a:stretch/>
        </p:blipFill>
        <p:spPr>
          <a:xfrm>
            <a:off x="6286500" y="2419502"/>
            <a:ext cx="5048402" cy="1524305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286500" y="2419502"/>
            <a:ext cx="57607" cy="1505102"/>
          </a:xfrm>
          <a:prstGeom prst="rect">
            <a:avLst/>
          </a:prstGeom>
          <a:solidFill>
            <a:srgbClr val="06B6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581851" y="2714854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ECF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rcRect l="-881" r="-881" t="0" b="0"/>
          <a:stretch/>
        </p:blipFill>
        <p:spPr>
          <a:xfrm>
            <a:off x="6748272" y="2866644"/>
            <a:ext cx="237744" cy="26700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381951" y="2714854"/>
            <a:ext cx="38487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구조와 전처리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7381951" y="3133649"/>
            <a:ext cx="37344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5개 핵심 테이블의 관계 파악 및 시계열 데이터 조인 기법 (merge vs merge_asof)</a:t>
            </a:r>
            <a:endParaRPr lang="en-US" sz="13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8" b="-8"/>
          <a:stretch/>
        </p:blipFill>
        <p:spPr>
          <a:xfrm>
            <a:off x="857707" y="4324198"/>
            <a:ext cx="5048402" cy="1524305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857707" y="4324198"/>
            <a:ext cx="57607" cy="1505102"/>
          </a:xfrm>
          <a:prstGeom prst="rect">
            <a:avLst/>
          </a:prstGeom>
          <a:solidFill>
            <a:srgbClr val="8B5C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1152144" y="4619549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F5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304849" y="4772254"/>
            <a:ext cx="267005" cy="267005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952244" y="4619549"/>
            <a:ext cx="38487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심층 데이터 분석</a:t>
            </a:r>
            <a:endParaRPr lang="en-US" sz="1800" dirty="0"/>
          </a:p>
        </p:txBody>
      </p:sp>
      <p:sp>
        <p:nvSpPr>
          <p:cNvPr id="26" name="Text 18"/>
          <p:cNvSpPr txBox="1"/>
          <p:nvPr/>
        </p:nvSpPr>
        <p:spPr>
          <a:xfrm>
            <a:off x="1952244" y="5038344"/>
            <a:ext cx="37344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YoY 트렌드, 프로모션 리프트, 계절성 히트맵, 성장 기여도 등 핵심 지표 분석</a:t>
            </a:r>
            <a:endParaRPr lang="en-US" sz="130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8" b="-8"/>
          <a:stretch/>
        </p:blipFill>
        <p:spPr>
          <a:xfrm>
            <a:off x="6286500" y="4324198"/>
            <a:ext cx="5048402" cy="1524305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6286500" y="4324198"/>
            <a:ext cx="57607" cy="1505102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0"/>
          <p:cNvSpPr/>
          <p:nvPr/>
        </p:nvSpPr>
        <p:spPr>
          <a:xfrm>
            <a:off x="6581851" y="4619549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6700723" y="4772254"/>
            <a:ext cx="333756" cy="267005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7381951" y="4619549"/>
            <a:ext cx="38487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 요약 및 활용</a:t>
            </a:r>
            <a:endParaRPr lang="en-US" sz="1800" dirty="0"/>
          </a:p>
        </p:txBody>
      </p:sp>
      <p:sp>
        <p:nvSpPr>
          <p:cNvPr id="32" name="Text 22"/>
          <p:cNvSpPr txBox="1"/>
          <p:nvPr/>
        </p:nvSpPr>
        <p:spPr>
          <a:xfrm>
            <a:off x="7381951" y="5038344"/>
            <a:ext cx="37344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인사이트를 요약하여 액션 플랜 수립 및 AI 챗봇(Part 3) 연동을 위한 데이터 준비</a:t>
            </a:r>
            <a:endParaRPr lang="en-US" sz="1300" dirty="0"/>
          </a:p>
        </p:txBody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5000"/>
          </a:blip>
          <a:srcRect l="0" r="0" t="0" b="0"/>
          <a:stretch/>
        </p:blipFill>
        <p:spPr>
          <a:xfrm>
            <a:off x="9905695" y="381305"/>
            <a:ext cx="1904695" cy="190469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71500" y="381305"/>
            <a:ext cx="113541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spc="-63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그로스 분석 프레임워크</a:t>
            </a:r>
            <a:endParaRPr lang="en-US" sz="3100" dirty="0"/>
          </a:p>
        </p:txBody>
      </p:sp>
      <p:sp>
        <p:nvSpPr>
          <p:cNvPr id="7" name="Text 4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비즈니스 문제 해결을 위한 체계적인 4단계 접근 방식</a:t>
            </a:r>
            <a:endParaRPr lang="en-US" sz="15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-1923" r="-1923" t="0" b="0"/>
          <a:stretch/>
        </p:blipFill>
        <p:spPr>
          <a:xfrm>
            <a:off x="3124505" y="3957523"/>
            <a:ext cx="123444" cy="190195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-1923" r="-1923" t="0" b="0"/>
          <a:stretch/>
        </p:blipFill>
        <p:spPr>
          <a:xfrm>
            <a:off x="6034126" y="3957523"/>
            <a:ext cx="123444" cy="190195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rcRect l="-1923" r="-1923" t="0" b="0"/>
          <a:stretch/>
        </p:blipFill>
        <p:spPr>
          <a:xfrm>
            <a:off x="8943746" y="3957523"/>
            <a:ext cx="123444" cy="190195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10" b="-10"/>
          <a:stretch/>
        </p:blipFill>
        <p:spPr>
          <a:xfrm>
            <a:off x="571500" y="2590495"/>
            <a:ext cx="2318918" cy="2924251"/>
          </a:xfrm>
          <a:prstGeom prst="rect">
            <a:avLst/>
          </a:prstGeom>
        </p:spPr>
      </p:pic>
      <p:sp>
        <p:nvSpPr>
          <p:cNvPr id="12" name="Shape 5"/>
          <p:cNvSpPr/>
          <p:nvPr/>
        </p:nvSpPr>
        <p:spPr>
          <a:xfrm>
            <a:off x="771754" y="3247949"/>
            <a:ext cx="1923898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13" name="Shape 6"/>
          <p:cNvSpPr/>
          <p:nvPr/>
        </p:nvSpPr>
        <p:spPr>
          <a:xfrm>
            <a:off x="771754" y="2829154"/>
            <a:ext cx="304495" cy="304495"/>
          </a:xfrm>
          <a:prstGeom prst="ellipse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7"/>
          <p:cNvSpPr/>
          <p:nvPr/>
        </p:nvSpPr>
        <p:spPr>
          <a:xfrm>
            <a:off x="733349" y="2829154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8"/>
          <p:cNvSpPr txBox="1"/>
          <p:nvPr/>
        </p:nvSpPr>
        <p:spPr>
          <a:xfrm>
            <a:off x="1171346" y="2852928"/>
            <a:ext cx="102412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트렌드 파악</a:t>
            </a:r>
            <a:endParaRPr lang="en-US" sz="1300" dirty="0"/>
          </a:p>
        </p:txBody>
      </p:sp>
      <p:sp>
        <p:nvSpPr>
          <p:cNvPr id="16" name="Shape 9"/>
          <p:cNvSpPr/>
          <p:nvPr/>
        </p:nvSpPr>
        <p:spPr>
          <a:xfrm>
            <a:off x="771754" y="3419856"/>
            <a:ext cx="1923898" cy="629107"/>
          </a:xfrm>
          <a:prstGeom prst="roundRect">
            <a:avLst>
              <a:gd name="adj" fmla="val 35236"/>
            </a:avLst>
          </a:prstGeom>
          <a:solidFill>
            <a:srgbClr val="F8FAFC"/>
          </a:solidFill>
          <a:ln/>
        </p:spPr>
      </p:sp>
      <p:sp>
        <p:nvSpPr>
          <p:cNvPr id="17" name="Shape 10"/>
          <p:cNvSpPr/>
          <p:nvPr/>
        </p:nvSpPr>
        <p:spPr>
          <a:xfrm>
            <a:off x="771754" y="3419856"/>
            <a:ext cx="38405" cy="629107"/>
          </a:xfrm>
          <a:prstGeom prst="roundRect">
            <a:avLst>
              <a:gd name="adj" fmla="val 577198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8" name="Text 11"/>
          <p:cNvSpPr txBox="1"/>
          <p:nvPr/>
        </p:nvSpPr>
        <p:spPr>
          <a:xfrm>
            <a:off x="923544" y="3534156"/>
            <a:ext cx="1723644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"언제부터, 얼마나 떨어졌나?"</a:t>
            </a:r>
            <a:endParaRPr lang="en-US" sz="1100" dirty="0"/>
          </a:p>
        </p:txBody>
      </p:sp>
      <p:sp>
        <p:nvSpPr>
          <p:cNvPr id="19" name="Text 12"/>
          <p:cNvSpPr txBox="1"/>
          <p:nvPr/>
        </p:nvSpPr>
        <p:spPr>
          <a:xfrm>
            <a:off x="771754" y="4200754"/>
            <a:ext cx="20784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 방법</a:t>
            </a:r>
            <a:endParaRPr lang="en-US" sz="900" dirty="0"/>
          </a:p>
        </p:txBody>
      </p:sp>
      <p:sp>
        <p:nvSpPr>
          <p:cNvPr id="20" name="Text 13"/>
          <p:cNvSpPr txBox="1"/>
          <p:nvPr/>
        </p:nvSpPr>
        <p:spPr>
          <a:xfrm>
            <a:off x="771754" y="4462272"/>
            <a:ext cx="20784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일별/월별 매출 추이</a:t>
            </a:r>
            <a:endParaRPr lang="en-US" sz="1100" dirty="0"/>
          </a:p>
        </p:txBody>
      </p:sp>
      <p:sp>
        <p:nvSpPr>
          <p:cNvPr id="21" name="Text 14"/>
          <p:cNvSpPr txBox="1"/>
          <p:nvPr/>
        </p:nvSpPr>
        <p:spPr>
          <a:xfrm>
            <a:off x="771754" y="4733849"/>
            <a:ext cx="20016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YoY / MoM 성장률</a:t>
            </a:r>
            <a:endParaRPr lang="en-US" sz="1100" dirty="0"/>
          </a:p>
        </p:txBody>
      </p:sp>
      <p:sp>
        <p:nvSpPr>
          <p:cNvPr id="22" name="Text 15"/>
          <p:cNvSpPr txBox="1"/>
          <p:nvPr/>
        </p:nvSpPr>
        <p:spPr>
          <a:xfrm>
            <a:off x="771754" y="5005426"/>
            <a:ext cx="20784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이동평균 추세선</a:t>
            </a:r>
            <a:endParaRPr lang="en-US" sz="11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10" b="-10"/>
          <a:stretch/>
        </p:blipFill>
        <p:spPr>
          <a:xfrm>
            <a:off x="3481121" y="2590495"/>
            <a:ext cx="2318918" cy="2924251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3681374" y="3247949"/>
            <a:ext cx="1923898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25" name="Shape 17"/>
          <p:cNvSpPr/>
          <p:nvPr/>
        </p:nvSpPr>
        <p:spPr>
          <a:xfrm>
            <a:off x="3681374" y="2829154"/>
            <a:ext cx="304495" cy="304495"/>
          </a:xfrm>
          <a:prstGeom prst="ellipse">
            <a:avLst/>
          </a:prstGeom>
          <a:solidFill>
            <a:srgbClr val="ECF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18"/>
          <p:cNvSpPr/>
          <p:nvPr/>
        </p:nvSpPr>
        <p:spPr>
          <a:xfrm>
            <a:off x="3642970" y="2829154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19"/>
          <p:cNvSpPr txBox="1"/>
          <p:nvPr/>
        </p:nvSpPr>
        <p:spPr>
          <a:xfrm>
            <a:off x="4081882" y="2852928"/>
            <a:ext cx="131765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영향 요인 분해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3681374" y="3419856"/>
            <a:ext cx="1923898" cy="428854"/>
          </a:xfrm>
          <a:prstGeom prst="roundRect">
            <a:avLst>
              <a:gd name="adj" fmla="val 75811"/>
            </a:avLst>
          </a:prstGeom>
          <a:solidFill>
            <a:srgbClr val="F8FAFC"/>
          </a:solidFill>
          <a:ln/>
        </p:spPr>
      </p:sp>
      <p:sp>
        <p:nvSpPr>
          <p:cNvPr id="29" name="Shape 21"/>
          <p:cNvSpPr/>
          <p:nvPr/>
        </p:nvSpPr>
        <p:spPr>
          <a:xfrm>
            <a:off x="3681374" y="3419856"/>
            <a:ext cx="38405" cy="428854"/>
          </a:xfrm>
          <a:prstGeom prst="roundRect">
            <a:avLst>
              <a:gd name="adj" fmla="val 846556"/>
            </a:avLst>
          </a:prstGeom>
          <a:solidFill>
            <a:srgbClr val="0891B2"/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30" name="Text 22"/>
          <p:cNvSpPr txBox="1"/>
          <p:nvPr/>
        </p:nvSpPr>
        <p:spPr>
          <a:xfrm>
            <a:off x="3834079" y="3534156"/>
            <a:ext cx="17903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"왜 떨어졌나?"</a:t>
            </a:r>
            <a:endParaRPr lang="en-US" sz="1100" dirty="0"/>
          </a:p>
        </p:txBody>
      </p:sp>
      <p:sp>
        <p:nvSpPr>
          <p:cNvPr id="31" name="Text 23"/>
          <p:cNvSpPr txBox="1"/>
          <p:nvPr/>
        </p:nvSpPr>
        <p:spPr>
          <a:xfrm>
            <a:off x="3681374" y="4000500"/>
            <a:ext cx="20784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 방법</a:t>
            </a:r>
            <a:endParaRPr lang="en-US" sz="900" dirty="0"/>
          </a:p>
        </p:txBody>
      </p:sp>
      <p:sp>
        <p:nvSpPr>
          <p:cNvPr id="32" name="Text 24"/>
          <p:cNvSpPr txBox="1"/>
          <p:nvPr/>
        </p:nvSpPr>
        <p:spPr>
          <a:xfrm>
            <a:off x="3681374" y="4262018"/>
            <a:ext cx="20016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프로모션 효과 (Lift)</a:t>
            </a:r>
            <a:endParaRPr lang="en-US" sz="1100" dirty="0"/>
          </a:p>
        </p:txBody>
      </p:sp>
      <p:sp>
        <p:nvSpPr>
          <p:cNvPr id="33" name="Text 25"/>
          <p:cNvSpPr txBox="1"/>
          <p:nvPr/>
        </p:nvSpPr>
        <p:spPr>
          <a:xfrm>
            <a:off x="3681374" y="4533595"/>
            <a:ext cx="20784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휴일/계절성/유가 분석</a:t>
            </a:r>
            <a:endParaRPr lang="en-US" sz="1100" dirty="0"/>
          </a:p>
        </p:txBody>
      </p:sp>
      <p:sp>
        <p:nvSpPr>
          <p:cNvPr id="34" name="Text 26"/>
          <p:cNvSpPr txBox="1"/>
          <p:nvPr/>
        </p:nvSpPr>
        <p:spPr>
          <a:xfrm>
            <a:off x="3681374" y="4805172"/>
            <a:ext cx="20784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성장 기여도 분해</a:t>
            </a:r>
            <a:endParaRPr lang="en-US" sz="1100" dirty="0"/>
          </a:p>
        </p:txBody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10" b="-10"/>
          <a:stretch/>
        </p:blipFill>
        <p:spPr>
          <a:xfrm>
            <a:off x="6391656" y="2590495"/>
            <a:ext cx="2318918" cy="2924251"/>
          </a:xfrm>
          <a:prstGeom prst="rect">
            <a:avLst/>
          </a:prstGeom>
        </p:spPr>
      </p:pic>
      <p:sp>
        <p:nvSpPr>
          <p:cNvPr id="36" name="Shape 27"/>
          <p:cNvSpPr/>
          <p:nvPr/>
        </p:nvSpPr>
        <p:spPr>
          <a:xfrm>
            <a:off x="6590995" y="3247949"/>
            <a:ext cx="1923898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37" name="Shape 28"/>
          <p:cNvSpPr/>
          <p:nvPr/>
        </p:nvSpPr>
        <p:spPr>
          <a:xfrm>
            <a:off x="6590995" y="2829154"/>
            <a:ext cx="304495" cy="304495"/>
          </a:xfrm>
          <a:prstGeom prst="ellipse">
            <a:avLst/>
          </a:prstGeom>
          <a:solidFill>
            <a:srgbClr val="F0F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6553505" y="2829154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200" dirty="0"/>
          </a:p>
        </p:txBody>
      </p:sp>
      <p:sp>
        <p:nvSpPr>
          <p:cNvPr id="39" name="Text 30"/>
          <p:cNvSpPr txBox="1"/>
          <p:nvPr/>
        </p:nvSpPr>
        <p:spPr>
          <a:xfrm>
            <a:off x="6991502" y="2852928"/>
            <a:ext cx="120700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세그먼트 심화</a:t>
            </a:r>
            <a:endParaRPr lang="en-US" sz="1300" dirty="0"/>
          </a:p>
        </p:txBody>
      </p:sp>
      <p:sp>
        <p:nvSpPr>
          <p:cNvPr id="40" name="Shape 31"/>
          <p:cNvSpPr/>
          <p:nvPr/>
        </p:nvSpPr>
        <p:spPr>
          <a:xfrm>
            <a:off x="6590995" y="3419856"/>
            <a:ext cx="1923898" cy="428854"/>
          </a:xfrm>
          <a:prstGeom prst="roundRect">
            <a:avLst>
              <a:gd name="adj" fmla="val 75811"/>
            </a:avLst>
          </a:prstGeom>
          <a:solidFill>
            <a:srgbClr val="F8FAFC"/>
          </a:solidFill>
          <a:ln/>
        </p:spPr>
      </p:sp>
      <p:sp>
        <p:nvSpPr>
          <p:cNvPr id="41" name="Shape 32"/>
          <p:cNvSpPr/>
          <p:nvPr/>
        </p:nvSpPr>
        <p:spPr>
          <a:xfrm>
            <a:off x="6590995" y="3419856"/>
            <a:ext cx="38405" cy="428854"/>
          </a:xfrm>
          <a:prstGeom prst="roundRect">
            <a:avLst>
              <a:gd name="adj" fmla="val 846556"/>
            </a:avLst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42" name="Text 33"/>
          <p:cNvSpPr txBox="1"/>
          <p:nvPr/>
        </p:nvSpPr>
        <p:spPr>
          <a:xfrm>
            <a:off x="6743700" y="3534156"/>
            <a:ext cx="17903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"어디서 떨어졌나?"</a:t>
            </a:r>
            <a:endParaRPr lang="en-US" sz="1100" dirty="0"/>
          </a:p>
        </p:txBody>
      </p:sp>
      <p:sp>
        <p:nvSpPr>
          <p:cNvPr id="43" name="Text 34"/>
          <p:cNvSpPr txBox="1"/>
          <p:nvPr/>
        </p:nvSpPr>
        <p:spPr>
          <a:xfrm>
            <a:off x="6590995" y="4000500"/>
            <a:ext cx="20784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 방법</a:t>
            </a:r>
            <a:endParaRPr lang="en-US" sz="900" dirty="0"/>
          </a:p>
        </p:txBody>
      </p:sp>
      <p:sp>
        <p:nvSpPr>
          <p:cNvPr id="44" name="Text 35"/>
          <p:cNvSpPr txBox="1"/>
          <p:nvPr/>
        </p:nvSpPr>
        <p:spPr>
          <a:xfrm>
            <a:off x="6590995" y="4262018"/>
            <a:ext cx="20784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매장 클러스터/타입 분석</a:t>
            </a:r>
            <a:endParaRPr lang="en-US" sz="1100" dirty="0"/>
          </a:p>
        </p:txBody>
      </p:sp>
      <p:sp>
        <p:nvSpPr>
          <p:cNvPr id="45" name="Text 36"/>
          <p:cNvSpPr txBox="1"/>
          <p:nvPr/>
        </p:nvSpPr>
        <p:spPr>
          <a:xfrm>
            <a:off x="6590995" y="4533595"/>
            <a:ext cx="20784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거래건수 vs 객단가 분해</a:t>
            </a:r>
            <a:endParaRPr lang="en-US" sz="1100" dirty="0"/>
          </a:p>
        </p:txBody>
      </p:sp>
      <p:sp>
        <p:nvSpPr>
          <p:cNvPr id="46" name="Text 37"/>
          <p:cNvSpPr txBox="1"/>
          <p:nvPr/>
        </p:nvSpPr>
        <p:spPr>
          <a:xfrm>
            <a:off x="6590995" y="4805172"/>
            <a:ext cx="20784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4분면 포지셔닝</a:t>
            </a:r>
            <a:endParaRPr lang="en-US" sz="1100" dirty="0"/>
          </a:p>
        </p:txBody>
      </p:sp>
      <p:pic>
        <p:nvPicPr>
          <p:cNvPr id="47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10" b="-10"/>
          <a:stretch/>
        </p:blipFill>
        <p:spPr>
          <a:xfrm>
            <a:off x="9301277" y="2590495"/>
            <a:ext cx="2318918" cy="2924251"/>
          </a:xfrm>
          <a:prstGeom prst="rect">
            <a:avLst/>
          </a:prstGeom>
        </p:spPr>
      </p:pic>
      <p:sp>
        <p:nvSpPr>
          <p:cNvPr id="48" name="Shape 38"/>
          <p:cNvSpPr/>
          <p:nvPr/>
        </p:nvSpPr>
        <p:spPr>
          <a:xfrm>
            <a:off x="9501530" y="3247949"/>
            <a:ext cx="1923898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49" name="Shape 39"/>
          <p:cNvSpPr/>
          <p:nvPr/>
        </p:nvSpPr>
        <p:spPr>
          <a:xfrm>
            <a:off x="9501530" y="2829154"/>
            <a:ext cx="304495" cy="304495"/>
          </a:xfrm>
          <a:prstGeom prst="ellipse">
            <a:avLst/>
          </a:prstGeom>
          <a:solidFill>
            <a:srgbClr val="FFF1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Text 40"/>
          <p:cNvSpPr/>
          <p:nvPr/>
        </p:nvSpPr>
        <p:spPr>
          <a:xfrm>
            <a:off x="9463126" y="2829154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1D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200" dirty="0"/>
          </a:p>
        </p:txBody>
      </p:sp>
      <p:sp>
        <p:nvSpPr>
          <p:cNvPr id="51" name="Text 41"/>
          <p:cNvSpPr txBox="1"/>
          <p:nvPr/>
        </p:nvSpPr>
        <p:spPr>
          <a:xfrm>
            <a:off x="9901123" y="2852928"/>
            <a:ext cx="84216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액션 플랜</a:t>
            </a:r>
            <a:endParaRPr lang="en-US" sz="1300" dirty="0"/>
          </a:p>
        </p:txBody>
      </p:sp>
      <p:sp>
        <p:nvSpPr>
          <p:cNvPr id="52" name="Shape 42"/>
          <p:cNvSpPr/>
          <p:nvPr/>
        </p:nvSpPr>
        <p:spPr>
          <a:xfrm>
            <a:off x="9501530" y="3419856"/>
            <a:ext cx="1923898" cy="428854"/>
          </a:xfrm>
          <a:prstGeom prst="roundRect">
            <a:avLst>
              <a:gd name="adj" fmla="val 75811"/>
            </a:avLst>
          </a:prstGeom>
          <a:solidFill>
            <a:srgbClr val="F8FAFC"/>
          </a:solidFill>
          <a:ln/>
        </p:spPr>
      </p:sp>
      <p:sp>
        <p:nvSpPr>
          <p:cNvPr id="53" name="Shape 43"/>
          <p:cNvSpPr/>
          <p:nvPr/>
        </p:nvSpPr>
        <p:spPr>
          <a:xfrm>
            <a:off x="9501530" y="3419856"/>
            <a:ext cx="38405" cy="428854"/>
          </a:xfrm>
          <a:prstGeom prst="roundRect">
            <a:avLst>
              <a:gd name="adj" fmla="val 846556"/>
            </a:avLst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54" name="Text 44"/>
          <p:cNvSpPr txBox="1"/>
          <p:nvPr/>
        </p:nvSpPr>
        <p:spPr>
          <a:xfrm>
            <a:off x="9653321" y="3534156"/>
            <a:ext cx="18516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"어떻게 회복할 것인가?"</a:t>
            </a:r>
            <a:endParaRPr lang="en-US" sz="1100" dirty="0"/>
          </a:p>
        </p:txBody>
      </p:sp>
      <p:sp>
        <p:nvSpPr>
          <p:cNvPr id="55" name="Text 45"/>
          <p:cNvSpPr txBox="1"/>
          <p:nvPr/>
        </p:nvSpPr>
        <p:spPr>
          <a:xfrm>
            <a:off x="9501530" y="4000500"/>
            <a:ext cx="20784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 방법</a:t>
            </a:r>
            <a:endParaRPr lang="en-US" sz="900" dirty="0"/>
          </a:p>
        </p:txBody>
      </p:sp>
      <p:sp>
        <p:nvSpPr>
          <p:cNvPr id="56" name="Text 46"/>
          <p:cNvSpPr txBox="1"/>
          <p:nvPr/>
        </p:nvSpPr>
        <p:spPr>
          <a:xfrm>
            <a:off x="9501530" y="4262018"/>
            <a:ext cx="20784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기반 전략 권고</a:t>
            </a:r>
            <a:endParaRPr lang="en-US" sz="1100" dirty="0"/>
          </a:p>
        </p:txBody>
      </p:sp>
      <p:sp>
        <p:nvSpPr>
          <p:cNvPr id="57" name="Text 47"/>
          <p:cNvSpPr txBox="1"/>
          <p:nvPr/>
        </p:nvSpPr>
        <p:spPr>
          <a:xfrm>
            <a:off x="9501530" y="4533595"/>
            <a:ext cx="20784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타겟 세그먼트 선정</a:t>
            </a:r>
            <a:endParaRPr lang="en-US" sz="1100" dirty="0"/>
          </a:p>
        </p:txBody>
      </p:sp>
      <p:sp>
        <p:nvSpPr>
          <p:cNvPr id="58" name="Text 48"/>
          <p:cNvSpPr txBox="1"/>
          <p:nvPr/>
        </p:nvSpPr>
        <p:spPr>
          <a:xfrm>
            <a:off x="9501530" y="4805172"/>
            <a:ext cx="20784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예상 효과 시뮬레이션</a:t>
            </a:r>
            <a:endParaRPr lang="en-US" sz="1100" dirty="0"/>
          </a:p>
        </p:txBody>
      </p:sp>
      <p:pic>
        <p:nvPicPr>
          <p:cNvPr id="59" name="Image 8" descr="preencoded.png">    </p:cNvPr>
          <p:cNvPicPr>
            <a:picLocks noChangeAspect="1"/>
          </p:cNvPicPr>
          <p:nvPr/>
        </p:nvPicPr>
        <p:blipFill>
          <a:blip r:embed="rId9"/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58707" y="-1429207"/>
            <a:ext cx="4762195" cy="4762195"/>
          </a:xfrm>
          <a:prstGeom prst="ellipse">
            <a:avLst/>
          </a:prstGeom>
          <a:solidFill>
            <a:srgbClr val="F1F5F9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476402" y="4476902"/>
            <a:ext cx="2857500" cy="2857500"/>
          </a:xfrm>
          <a:prstGeom prst="ellipse">
            <a:avLst/>
          </a:prstGeom>
          <a:solidFill>
            <a:srgbClr val="E2E8F0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476402"/>
            <a:ext cx="113541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spc="-72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프레임워크 핵심 포인트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257300"/>
            <a:ext cx="112398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데이터를 올바르게 해석하기 위해 반드시 지켜야 할 두 가지 원칙</a:t>
            </a:r>
            <a:endParaRPr lang="en-US" sz="1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-2" r="-2" t="0" b="0"/>
          <a:stretch/>
        </p:blipFill>
        <p:spPr>
          <a:xfrm>
            <a:off x="857707" y="2076602"/>
            <a:ext cx="5000854" cy="49149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57707" y="2076602"/>
            <a:ext cx="4981651" cy="75895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248156" y="2467051"/>
            <a:ext cx="761695" cy="761695"/>
          </a:xfrm>
          <a:prstGeom prst="roundRect">
            <a:avLst>
              <a:gd name="adj" fmla="val 48019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-607" r="-607" t="0" b="0"/>
          <a:stretch/>
        </p:blipFill>
        <p:spPr>
          <a:xfrm>
            <a:off x="1433779" y="2676449"/>
            <a:ext cx="390449" cy="3429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248156" y="3514954"/>
            <a:ext cx="45893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분해(Decomposition)가 핵심</a:t>
            </a:r>
            <a:endParaRPr lang="en-US" sz="2400" dirty="0"/>
          </a:p>
        </p:txBody>
      </p:sp>
      <p:sp>
        <p:nvSpPr>
          <p:cNvPr id="14" name="Text 10"/>
          <p:cNvSpPr txBox="1"/>
          <p:nvPr/>
        </p:nvSpPr>
        <p:spPr>
          <a:xfrm>
            <a:off x="1248156" y="4162349"/>
            <a:ext cx="4295851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전체 숫자(Total Number)만 보면 원인을 놓치기 쉽습니다. 평균은 데이터의 변동성을 감춥니다. 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데이터를 </a:t>
            </a:r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시계열, 상품 카테고리, 지역, 고객 세그먼트</a:t>
            </a:r>
            <a:pPr algn="l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등 다양한 차원으로 쪼개어(Drill-down) 구체적인 변화의 근원을 찾아야 합니다. </a:t>
            </a:r>
            <a:endParaRPr lang="en-US" sz="15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-2" r="-2" t="0" b="0"/>
          <a:stretch/>
        </p:blipFill>
        <p:spPr>
          <a:xfrm>
            <a:off x="6334049" y="2076602"/>
            <a:ext cx="5000854" cy="491490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334049" y="2076602"/>
            <a:ext cx="4981651" cy="75895"/>
          </a:xfrm>
          <a:prstGeom prst="rect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724498" y="2467051"/>
            <a:ext cx="761695" cy="761695"/>
          </a:xfrm>
          <a:prstGeom prst="roundRect">
            <a:avLst>
              <a:gd name="adj" fmla="val 48019"/>
            </a:avLst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933895" y="2676449"/>
            <a:ext cx="342900" cy="34290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724498" y="3514954"/>
            <a:ext cx="44101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현상 vs 원인 구분</a:t>
            </a:r>
            <a:endParaRPr lang="en-US" sz="2400" dirty="0"/>
          </a:p>
        </p:txBody>
      </p:sp>
      <p:sp>
        <p:nvSpPr>
          <p:cNvPr id="20" name="Text 14"/>
          <p:cNvSpPr txBox="1"/>
          <p:nvPr/>
        </p:nvSpPr>
        <p:spPr>
          <a:xfrm>
            <a:off x="6724498" y="4162349"/>
            <a:ext cx="4295851" cy="2438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"매출이 떨어졌다"는 것은 눈에 보이는 </a:t>
            </a:r>
            <a:pPr algn="l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현상(Symptom)</a:t>
            </a:r>
            <a:pPr algn="l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 뿐입니다. 이것 자체가 문제는 아닙니다. 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진짜 </a:t>
            </a:r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원인(Root Cause)</a:t>
            </a:r>
            <a:pPr algn="l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은 무엇입니까? 거래건수의 감소입니까, 객단가의 하락입니까, 아니면 특정 고수익 상품군의 이탈입니까? 원인을 좁혀야 해결책이 나옵니다. </a:t>
            </a:r>
            <a:endParaRPr lang="en-US" sz="15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71500" y="381305"/>
            <a:ext cx="113541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spc="-63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구조와 시계열 조인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1057046"/>
            <a:ext cx="111639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에콰도르 대형 유통사(Corporación Favorita) 5개 테이블의 관계도</a:t>
            </a:r>
            <a:endParaRPr lang="en-US" sz="15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1500" y="1533449"/>
            <a:ext cx="11048695" cy="4943246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8" b="-8"/>
          <a:stretch/>
        </p:blipFill>
        <p:spPr>
          <a:xfrm>
            <a:off x="1524305" y="2726741"/>
            <a:ext cx="2476195" cy="2557577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533449" y="2735885"/>
            <a:ext cx="2457907" cy="466344"/>
          </a:xfrm>
          <a:prstGeom prst="roundRect">
            <a:avLst>
              <a:gd name="adj" fmla="val 96038"/>
            </a:avLst>
          </a:prstGeom>
          <a:solidFill>
            <a:srgbClr val="F0FDF4"/>
          </a:solidFill>
          <a:ln/>
        </p:spPr>
      </p:sp>
      <p:sp>
        <p:nvSpPr>
          <p:cNvPr id="10" name="Shape 6"/>
          <p:cNvSpPr/>
          <p:nvPr/>
        </p:nvSpPr>
        <p:spPr>
          <a:xfrm>
            <a:off x="1533449" y="3193085"/>
            <a:ext cx="2457907" cy="9144"/>
          </a:xfrm>
          <a:prstGeom prst="roundRect">
            <a:avLst>
              <a:gd name="adj" fmla="val 4897959"/>
            </a:avLst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1686154" y="2735885"/>
            <a:ext cx="514807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stores</a:t>
            </a:r>
            <a:endParaRPr lang="en-US" sz="12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-33" r="-33" t="0" b="0"/>
          <a:stretch/>
        </p:blipFill>
        <p:spPr>
          <a:xfrm>
            <a:off x="3666744" y="2888590"/>
            <a:ext cx="171907" cy="152705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1533449" y="3203143"/>
            <a:ext cx="2457907" cy="35204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4" name="Shape 9"/>
          <p:cNvSpPr/>
          <p:nvPr/>
        </p:nvSpPr>
        <p:spPr>
          <a:xfrm>
            <a:off x="1533449" y="3546043"/>
            <a:ext cx="2457907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1533449" y="3203143"/>
            <a:ext cx="2533802" cy="26791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매장 메타데이터</a:t>
            </a:r>
            <a:endParaRPr lang="en-US" sz="900" dirty="0"/>
          </a:p>
        </p:txBody>
      </p:sp>
      <p:sp>
        <p:nvSpPr>
          <p:cNvPr id="16" name="Text 11"/>
          <p:cNvSpPr txBox="1"/>
          <p:nvPr/>
        </p:nvSpPr>
        <p:spPr>
          <a:xfrm>
            <a:off x="1876349" y="3626510"/>
            <a:ext cx="21909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store_nbr</a:t>
            </a:r>
            <a:endParaRPr lang="en-US" sz="10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rcRect l="-49999" r="-49999" t="0" b="0"/>
          <a:stretch/>
        </p:blipFill>
        <p:spPr>
          <a:xfrm>
            <a:off x="1686154" y="3736238"/>
            <a:ext cx="190195" cy="9509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876349" y="3941064"/>
            <a:ext cx="21909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city</a:t>
            </a:r>
            <a:endParaRPr lang="en-US" sz="10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rcRect l="-30000" r="-30000" t="0" b="0"/>
          <a:stretch/>
        </p:blipFill>
        <p:spPr>
          <a:xfrm>
            <a:off x="1686154" y="4050792"/>
            <a:ext cx="190195" cy="95098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876349" y="4255618"/>
            <a:ext cx="21909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state</a:t>
            </a:r>
            <a:endParaRPr lang="en-US" sz="10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rcRect l="-38888" r="-38888" t="0" b="0"/>
          <a:stretch/>
        </p:blipFill>
        <p:spPr>
          <a:xfrm>
            <a:off x="1686154" y="4364431"/>
            <a:ext cx="190195" cy="95098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1876349" y="4569257"/>
            <a:ext cx="21909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type</a:t>
            </a:r>
            <a:endParaRPr lang="en-US" sz="100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rcRect l="-64285" r="-64285" t="0" b="0"/>
          <a:stretch/>
        </p:blipFill>
        <p:spPr>
          <a:xfrm>
            <a:off x="1686154" y="4678985"/>
            <a:ext cx="190195" cy="95098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876349" y="4883810"/>
            <a:ext cx="21909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cluster</a:t>
            </a:r>
            <a:endParaRPr lang="en-US" sz="100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rcRect l="-38888" r="-38888" t="0" b="0"/>
          <a:stretch/>
        </p:blipFill>
        <p:spPr>
          <a:xfrm>
            <a:off x="1686154" y="4993538"/>
            <a:ext cx="190195" cy="95098"/>
          </a:xfrm>
          <a:prstGeom prst="rect">
            <a:avLst/>
          </a:prstGeom>
        </p:spPr>
      </p:pic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17" b="-17"/>
          <a:stretch/>
        </p:blipFill>
        <p:spPr>
          <a:xfrm>
            <a:off x="2000707" y="2104949"/>
            <a:ext cx="2476195" cy="1614830"/>
          </a:xfrm>
          <a:prstGeom prst="rect">
            <a:avLst/>
          </a:prstGeom>
        </p:spPr>
      </p:pic>
      <p:sp>
        <p:nvSpPr>
          <p:cNvPr id="27" name="Shape 16"/>
          <p:cNvSpPr/>
          <p:nvPr/>
        </p:nvSpPr>
        <p:spPr>
          <a:xfrm>
            <a:off x="2009851" y="2115007"/>
            <a:ext cx="2457907" cy="466344"/>
          </a:xfrm>
          <a:prstGeom prst="roundRect">
            <a:avLst>
              <a:gd name="adj" fmla="val 96038"/>
            </a:avLst>
          </a:prstGeom>
          <a:solidFill>
            <a:srgbClr val="FFF7ED"/>
          </a:solidFill>
          <a:ln/>
        </p:spPr>
      </p:sp>
      <p:sp>
        <p:nvSpPr>
          <p:cNvPr id="28" name="Shape 17"/>
          <p:cNvSpPr/>
          <p:nvPr/>
        </p:nvSpPr>
        <p:spPr>
          <a:xfrm>
            <a:off x="2009851" y="2572207"/>
            <a:ext cx="2457907" cy="9144"/>
          </a:xfrm>
          <a:prstGeom prst="roundRect">
            <a:avLst>
              <a:gd name="adj" fmla="val 4897959"/>
            </a:avLst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Text 18"/>
          <p:cNvSpPr txBox="1"/>
          <p:nvPr/>
        </p:nvSpPr>
        <p:spPr>
          <a:xfrm>
            <a:off x="2162556" y="2115007"/>
            <a:ext cx="247802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A34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oil</a:t>
            </a:r>
            <a:endParaRPr lang="en-US" sz="1200" dirty="0"/>
          </a:p>
        </p:txBody>
      </p:sp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-180" b="-180"/>
          <a:stretch/>
        </p:blipFill>
        <p:spPr>
          <a:xfrm>
            <a:off x="4123944" y="2266798"/>
            <a:ext cx="190195" cy="152705"/>
          </a:xfrm>
          <a:prstGeom prst="rect">
            <a:avLst/>
          </a:prstGeom>
        </p:spPr>
      </p:pic>
      <p:sp>
        <p:nvSpPr>
          <p:cNvPr id="31" name="Shape 19"/>
          <p:cNvSpPr/>
          <p:nvPr/>
        </p:nvSpPr>
        <p:spPr>
          <a:xfrm>
            <a:off x="2009851" y="2581351"/>
            <a:ext cx="2457907" cy="35204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2" name="Shape 20"/>
          <p:cNvSpPr/>
          <p:nvPr/>
        </p:nvSpPr>
        <p:spPr>
          <a:xfrm>
            <a:off x="2009851" y="2924251"/>
            <a:ext cx="2457907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33" name="Text 21"/>
          <p:cNvSpPr txBox="1"/>
          <p:nvPr/>
        </p:nvSpPr>
        <p:spPr>
          <a:xfrm>
            <a:off x="2009851" y="2581351"/>
            <a:ext cx="2533802" cy="26791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일별 WTI 유가</a:t>
            </a:r>
            <a:endParaRPr lang="en-US" sz="900" dirty="0"/>
          </a:p>
        </p:txBody>
      </p:sp>
      <p:sp>
        <p:nvSpPr>
          <p:cNvPr id="34" name="Text 22"/>
          <p:cNvSpPr txBox="1"/>
          <p:nvPr/>
        </p:nvSpPr>
        <p:spPr>
          <a:xfrm>
            <a:off x="2352751" y="3004718"/>
            <a:ext cx="21909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date</a:t>
            </a:r>
            <a:endParaRPr lang="en-US" sz="1000" dirty="0"/>
          </a:p>
        </p:txBody>
      </p:sp>
      <p:pic>
        <p:nvPicPr>
          <p:cNvPr id="35" name="Image 10" descr="preencoded.png">    </p:cNvPr>
          <p:cNvPicPr>
            <a:picLocks noChangeAspect="1"/>
          </p:cNvPicPr>
          <p:nvPr/>
        </p:nvPicPr>
        <p:blipFill>
          <a:blip r:embed="rId11"/>
          <a:srcRect l="-64285" r="-64285" t="0" b="0"/>
          <a:stretch/>
        </p:blipFill>
        <p:spPr>
          <a:xfrm>
            <a:off x="2162556" y="3114446"/>
            <a:ext cx="190195" cy="95098"/>
          </a:xfrm>
          <a:prstGeom prst="rect">
            <a:avLst/>
          </a:prstGeom>
        </p:spPr>
      </p:pic>
      <p:sp>
        <p:nvSpPr>
          <p:cNvPr id="36" name="Text 23"/>
          <p:cNvSpPr txBox="1"/>
          <p:nvPr/>
        </p:nvSpPr>
        <p:spPr>
          <a:xfrm>
            <a:off x="2352751" y="3319272"/>
            <a:ext cx="21909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dcoilwtico</a:t>
            </a:r>
            <a:endParaRPr lang="en-US" sz="1000" dirty="0"/>
          </a:p>
        </p:txBody>
      </p:sp>
      <p:pic>
        <p:nvPicPr>
          <p:cNvPr id="37" name="Image 11" descr="preencoded.png">    </p:cNvPr>
          <p:cNvPicPr>
            <a:picLocks noChangeAspect="1"/>
          </p:cNvPicPr>
          <p:nvPr/>
        </p:nvPicPr>
        <p:blipFill>
          <a:blip r:embed="rId12"/>
          <a:srcRect l="-109999" r="-109999" t="0" b="0"/>
          <a:stretch/>
        </p:blipFill>
        <p:spPr>
          <a:xfrm>
            <a:off x="2162556" y="3429000"/>
            <a:ext cx="190195" cy="95098"/>
          </a:xfrm>
          <a:prstGeom prst="rect">
            <a:avLst/>
          </a:prstGeom>
        </p:spPr>
      </p:pic>
      <p:pic>
        <p:nvPicPr>
          <p:cNvPr id="38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-4" b="-4"/>
          <a:stretch/>
        </p:blipFill>
        <p:spPr>
          <a:xfrm>
            <a:off x="7715707" y="2104949"/>
            <a:ext cx="2476195" cy="2243023"/>
          </a:xfrm>
          <a:prstGeom prst="rect">
            <a:avLst/>
          </a:prstGeom>
        </p:spPr>
      </p:pic>
      <p:sp>
        <p:nvSpPr>
          <p:cNvPr id="39" name="Shape 24"/>
          <p:cNvSpPr/>
          <p:nvPr/>
        </p:nvSpPr>
        <p:spPr>
          <a:xfrm>
            <a:off x="7724851" y="2115007"/>
            <a:ext cx="2457907" cy="466344"/>
          </a:xfrm>
          <a:prstGeom prst="roundRect">
            <a:avLst>
              <a:gd name="adj" fmla="val 96038"/>
            </a:avLst>
          </a:prstGeom>
          <a:solidFill>
            <a:srgbClr val="FDF2F8"/>
          </a:solidFill>
          <a:ln/>
        </p:spPr>
      </p:sp>
      <p:sp>
        <p:nvSpPr>
          <p:cNvPr id="40" name="Shape 25"/>
          <p:cNvSpPr/>
          <p:nvPr/>
        </p:nvSpPr>
        <p:spPr>
          <a:xfrm>
            <a:off x="7724851" y="2572207"/>
            <a:ext cx="2457907" cy="9144"/>
          </a:xfrm>
          <a:prstGeom prst="roundRect">
            <a:avLst>
              <a:gd name="adj" fmla="val 4897959"/>
            </a:avLst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Text 26"/>
          <p:cNvSpPr txBox="1"/>
          <p:nvPr/>
        </p:nvSpPr>
        <p:spPr>
          <a:xfrm>
            <a:off x="7877556" y="2115007"/>
            <a:ext cx="1286561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holidays_events</a:t>
            </a:r>
            <a:endParaRPr lang="en-US" sz="1200" dirty="0"/>
          </a:p>
        </p:txBody>
      </p:sp>
      <p:pic>
        <p:nvPicPr>
          <p:cNvPr id="42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-43" b="-43"/>
          <a:stretch/>
        </p:blipFill>
        <p:spPr>
          <a:xfrm>
            <a:off x="9896551" y="2266798"/>
            <a:ext cx="133502" cy="152705"/>
          </a:xfrm>
          <a:prstGeom prst="rect">
            <a:avLst/>
          </a:prstGeom>
        </p:spPr>
      </p:pic>
      <p:sp>
        <p:nvSpPr>
          <p:cNvPr id="43" name="Shape 27"/>
          <p:cNvSpPr/>
          <p:nvPr/>
        </p:nvSpPr>
        <p:spPr>
          <a:xfrm>
            <a:off x="7724851" y="2581351"/>
            <a:ext cx="2457907" cy="35204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4" name="Shape 28"/>
          <p:cNvSpPr/>
          <p:nvPr/>
        </p:nvSpPr>
        <p:spPr>
          <a:xfrm>
            <a:off x="7724851" y="2924251"/>
            <a:ext cx="2457907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45" name="Text 29"/>
          <p:cNvSpPr txBox="1"/>
          <p:nvPr/>
        </p:nvSpPr>
        <p:spPr>
          <a:xfrm>
            <a:off x="7724851" y="2581351"/>
            <a:ext cx="2533802" cy="26791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휴일 및 이벤트 정보</a:t>
            </a:r>
            <a:endParaRPr lang="en-US" sz="900" dirty="0"/>
          </a:p>
        </p:txBody>
      </p:sp>
      <p:sp>
        <p:nvSpPr>
          <p:cNvPr id="46" name="Text 30"/>
          <p:cNvSpPr txBox="1"/>
          <p:nvPr/>
        </p:nvSpPr>
        <p:spPr>
          <a:xfrm>
            <a:off x="8067751" y="3004718"/>
            <a:ext cx="21909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date</a:t>
            </a:r>
            <a:endParaRPr lang="en-US" sz="1000" dirty="0"/>
          </a:p>
        </p:txBody>
      </p:sp>
      <p:pic>
        <p:nvPicPr>
          <p:cNvPr id="47" name="Image 14" descr="preencoded.png">    </p:cNvPr>
          <p:cNvPicPr>
            <a:picLocks noChangeAspect="1"/>
          </p:cNvPicPr>
          <p:nvPr/>
        </p:nvPicPr>
        <p:blipFill>
          <a:blip r:embed="rId15"/>
          <a:srcRect l="-64285" r="-64285" t="0" b="0"/>
          <a:stretch/>
        </p:blipFill>
        <p:spPr>
          <a:xfrm>
            <a:off x="7877556" y="3114446"/>
            <a:ext cx="190195" cy="95098"/>
          </a:xfrm>
          <a:prstGeom prst="rect">
            <a:avLst/>
          </a:prstGeom>
        </p:spPr>
      </p:pic>
      <p:sp>
        <p:nvSpPr>
          <p:cNvPr id="48" name="Text 31"/>
          <p:cNvSpPr txBox="1"/>
          <p:nvPr/>
        </p:nvSpPr>
        <p:spPr>
          <a:xfrm>
            <a:off x="8067751" y="3319272"/>
            <a:ext cx="21909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type</a:t>
            </a:r>
            <a:endParaRPr lang="en-US" sz="1000" dirty="0"/>
          </a:p>
        </p:txBody>
      </p:sp>
      <p:pic>
        <p:nvPicPr>
          <p:cNvPr id="49" name="Image 15" descr="preencoded.png">    </p:cNvPr>
          <p:cNvPicPr>
            <a:picLocks noChangeAspect="1"/>
          </p:cNvPicPr>
          <p:nvPr/>
        </p:nvPicPr>
        <p:blipFill>
          <a:blip r:embed="rId16"/>
          <a:srcRect l="-49999" r="-49999" t="0" b="0"/>
          <a:stretch/>
        </p:blipFill>
        <p:spPr>
          <a:xfrm>
            <a:off x="7877556" y="3429000"/>
            <a:ext cx="190195" cy="95098"/>
          </a:xfrm>
          <a:prstGeom prst="rect">
            <a:avLst/>
          </a:prstGeom>
        </p:spPr>
      </p:pic>
      <p:sp>
        <p:nvSpPr>
          <p:cNvPr id="50" name="Text 32"/>
          <p:cNvSpPr txBox="1"/>
          <p:nvPr/>
        </p:nvSpPr>
        <p:spPr>
          <a:xfrm>
            <a:off x="8067751" y="3633826"/>
            <a:ext cx="21909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locale</a:t>
            </a:r>
            <a:endParaRPr lang="en-US" sz="1000" dirty="0"/>
          </a:p>
        </p:txBody>
      </p:sp>
      <p:pic>
        <p:nvPicPr>
          <p:cNvPr id="51" name="Image 16" descr="preencoded.png">    </p:cNvPr>
          <p:cNvPicPr>
            <a:picLocks noChangeAspect="1"/>
          </p:cNvPicPr>
          <p:nvPr/>
        </p:nvPicPr>
        <p:blipFill>
          <a:blip r:embed="rId17"/>
          <a:srcRect l="-83333" r="-83333" t="0" b="0"/>
          <a:stretch/>
        </p:blipFill>
        <p:spPr>
          <a:xfrm>
            <a:off x="7877556" y="3743554"/>
            <a:ext cx="190195" cy="95098"/>
          </a:xfrm>
          <a:prstGeom prst="rect">
            <a:avLst/>
          </a:prstGeom>
        </p:spPr>
      </p:pic>
      <p:sp>
        <p:nvSpPr>
          <p:cNvPr id="52" name="Text 33"/>
          <p:cNvSpPr txBox="1"/>
          <p:nvPr/>
        </p:nvSpPr>
        <p:spPr>
          <a:xfrm>
            <a:off x="8067751" y="3948379"/>
            <a:ext cx="21909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transferred</a:t>
            </a:r>
            <a:endParaRPr lang="en-US" sz="1000" dirty="0"/>
          </a:p>
        </p:txBody>
      </p:sp>
      <p:pic>
        <p:nvPicPr>
          <p:cNvPr id="53" name="Image 17" descr="preencoded.png">    </p:cNvPr>
          <p:cNvPicPr>
            <a:picLocks noChangeAspect="1"/>
          </p:cNvPicPr>
          <p:nvPr/>
        </p:nvPicPr>
        <p:blipFill>
          <a:blip r:embed="rId18"/>
          <a:srcRect l="-49999" r="-49999" t="0" b="0"/>
          <a:stretch/>
        </p:blipFill>
        <p:spPr>
          <a:xfrm>
            <a:off x="7877556" y="4058107"/>
            <a:ext cx="190195" cy="95098"/>
          </a:xfrm>
          <a:prstGeom prst="rect">
            <a:avLst/>
          </a:prstGeom>
        </p:spPr>
      </p:pic>
      <p:pic>
        <p:nvPicPr>
          <p:cNvPr id="54" name="Image 18" descr="preencoded.png">    </p:cNvPr>
          <p:cNvPicPr>
            <a:picLocks noChangeAspect="1"/>
          </p:cNvPicPr>
          <p:nvPr/>
        </p:nvPicPr>
        <p:blipFill>
          <a:blip r:embed="rId19"/>
          <a:srcRect l="-3" r="-3" t="0" b="0"/>
          <a:stretch/>
        </p:blipFill>
        <p:spPr>
          <a:xfrm>
            <a:off x="7715707" y="3976726"/>
            <a:ext cx="2476195" cy="1928470"/>
          </a:xfrm>
          <a:prstGeom prst="rect">
            <a:avLst/>
          </a:prstGeom>
        </p:spPr>
      </p:pic>
      <p:sp>
        <p:nvSpPr>
          <p:cNvPr id="55" name="Shape 34"/>
          <p:cNvSpPr/>
          <p:nvPr/>
        </p:nvSpPr>
        <p:spPr>
          <a:xfrm>
            <a:off x="7724851" y="3985870"/>
            <a:ext cx="2457907" cy="466344"/>
          </a:xfrm>
          <a:prstGeom prst="roundRect">
            <a:avLst>
              <a:gd name="adj" fmla="val 96038"/>
            </a:avLst>
          </a:prstGeom>
          <a:solidFill>
            <a:srgbClr val="FAF5FF"/>
          </a:solidFill>
          <a:ln/>
        </p:spPr>
      </p:sp>
      <p:sp>
        <p:nvSpPr>
          <p:cNvPr id="56" name="Shape 35"/>
          <p:cNvSpPr/>
          <p:nvPr/>
        </p:nvSpPr>
        <p:spPr>
          <a:xfrm>
            <a:off x="7724851" y="4443070"/>
            <a:ext cx="2457907" cy="9144"/>
          </a:xfrm>
          <a:prstGeom prst="roundRect">
            <a:avLst>
              <a:gd name="adj" fmla="val 4897959"/>
            </a:avLst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Text 36"/>
          <p:cNvSpPr txBox="1"/>
          <p:nvPr/>
        </p:nvSpPr>
        <p:spPr>
          <a:xfrm>
            <a:off x="7877556" y="3985870"/>
            <a:ext cx="1000354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21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transactions</a:t>
            </a:r>
            <a:endParaRPr lang="en-US" sz="1200" dirty="0"/>
          </a:p>
        </p:txBody>
      </p:sp>
      <p:pic>
        <p:nvPicPr>
          <p:cNvPr id="58" name="Image 19" descr="preencoded.png">    </p:cNvPr>
          <p:cNvPicPr>
            <a:picLocks noChangeAspect="1"/>
          </p:cNvPicPr>
          <p:nvPr/>
        </p:nvPicPr>
        <p:blipFill>
          <a:blip r:embed="rId20"/>
          <a:srcRect l="0" r="0" t="-100" b="-100"/>
          <a:stretch/>
        </p:blipFill>
        <p:spPr>
          <a:xfrm>
            <a:off x="9915754" y="4138574"/>
            <a:ext cx="114300" cy="152705"/>
          </a:xfrm>
          <a:prstGeom prst="rect">
            <a:avLst/>
          </a:prstGeom>
        </p:spPr>
      </p:pic>
      <p:sp>
        <p:nvSpPr>
          <p:cNvPr id="59" name="Shape 37"/>
          <p:cNvSpPr/>
          <p:nvPr/>
        </p:nvSpPr>
        <p:spPr>
          <a:xfrm>
            <a:off x="7724851" y="4453128"/>
            <a:ext cx="2457907" cy="35204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0" name="Shape 38"/>
          <p:cNvSpPr/>
          <p:nvPr/>
        </p:nvSpPr>
        <p:spPr>
          <a:xfrm>
            <a:off x="7724851" y="4796028"/>
            <a:ext cx="2457907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61" name="Text 39"/>
          <p:cNvSpPr txBox="1"/>
          <p:nvPr/>
        </p:nvSpPr>
        <p:spPr>
          <a:xfrm>
            <a:off x="7724851" y="4453128"/>
            <a:ext cx="2533802" cy="26791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일별 매장 거래건수</a:t>
            </a:r>
            <a:endParaRPr lang="en-US" sz="900" dirty="0"/>
          </a:p>
        </p:txBody>
      </p:sp>
      <p:sp>
        <p:nvSpPr>
          <p:cNvPr id="62" name="Text 40"/>
          <p:cNvSpPr txBox="1"/>
          <p:nvPr/>
        </p:nvSpPr>
        <p:spPr>
          <a:xfrm>
            <a:off x="8067751" y="4876495"/>
            <a:ext cx="21909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date</a:t>
            </a:r>
            <a:endParaRPr lang="en-US" sz="1000" dirty="0"/>
          </a:p>
        </p:txBody>
      </p:sp>
      <p:pic>
        <p:nvPicPr>
          <p:cNvPr id="63" name="Image 20" descr="preencoded.png">    </p:cNvPr>
          <p:cNvPicPr>
            <a:picLocks noChangeAspect="1"/>
          </p:cNvPicPr>
          <p:nvPr/>
        </p:nvPicPr>
        <p:blipFill>
          <a:blip r:embed="rId21"/>
          <a:srcRect l="-64285" r="-64285" t="0" b="0"/>
          <a:stretch/>
        </p:blipFill>
        <p:spPr>
          <a:xfrm>
            <a:off x="7877556" y="4986223"/>
            <a:ext cx="190195" cy="95098"/>
          </a:xfrm>
          <a:prstGeom prst="rect">
            <a:avLst/>
          </a:prstGeom>
        </p:spPr>
      </p:pic>
      <p:sp>
        <p:nvSpPr>
          <p:cNvPr id="64" name="Text 41"/>
          <p:cNvSpPr txBox="1"/>
          <p:nvPr/>
        </p:nvSpPr>
        <p:spPr>
          <a:xfrm>
            <a:off x="8067751" y="5191049"/>
            <a:ext cx="21909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store_nbr</a:t>
            </a:r>
            <a:endParaRPr lang="en-US" sz="1000" dirty="0"/>
          </a:p>
        </p:txBody>
      </p:sp>
      <p:pic>
        <p:nvPicPr>
          <p:cNvPr id="65" name="Image 21" descr="preencoded.png">    </p:cNvPr>
          <p:cNvPicPr>
            <a:picLocks noChangeAspect="1"/>
          </p:cNvPicPr>
          <p:nvPr/>
        </p:nvPicPr>
        <p:blipFill>
          <a:blip r:embed="rId22"/>
          <a:srcRect l="-38888" r="-38888" t="0" b="0"/>
          <a:stretch/>
        </p:blipFill>
        <p:spPr>
          <a:xfrm>
            <a:off x="7877556" y="5300777"/>
            <a:ext cx="190195" cy="95098"/>
          </a:xfrm>
          <a:prstGeom prst="rect">
            <a:avLst/>
          </a:prstGeom>
        </p:spPr>
      </p:pic>
      <p:sp>
        <p:nvSpPr>
          <p:cNvPr id="66" name="Text 42"/>
          <p:cNvSpPr txBox="1"/>
          <p:nvPr/>
        </p:nvSpPr>
        <p:spPr>
          <a:xfrm>
            <a:off x="8067751" y="5505602"/>
            <a:ext cx="21909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transactions</a:t>
            </a:r>
            <a:endParaRPr lang="en-US" sz="1000" dirty="0"/>
          </a:p>
        </p:txBody>
      </p:sp>
      <p:pic>
        <p:nvPicPr>
          <p:cNvPr id="67" name="Image 22" descr="preencoded.png">    </p:cNvPr>
          <p:cNvPicPr>
            <a:picLocks noChangeAspect="1"/>
          </p:cNvPicPr>
          <p:nvPr/>
        </p:nvPicPr>
        <p:blipFill>
          <a:blip r:embed="rId23"/>
          <a:srcRect l="-30000" r="-30000" t="0" b="0"/>
          <a:stretch/>
        </p:blipFill>
        <p:spPr>
          <a:xfrm>
            <a:off x="7877556" y="5615330"/>
            <a:ext cx="190195" cy="95098"/>
          </a:xfrm>
          <a:prstGeom prst="rect">
            <a:avLst/>
          </a:prstGeom>
        </p:spPr>
      </p:pic>
      <p:pic>
        <p:nvPicPr>
          <p:cNvPr id="68" name="Image 23" descr="preencoded.png">    </p:cNvPr>
          <p:cNvPicPr>
            <a:picLocks noChangeAspect="1"/>
          </p:cNvPicPr>
          <p:nvPr/>
        </p:nvPicPr>
        <p:blipFill>
          <a:blip r:embed="rId24"/>
          <a:srcRect l="-287" r="-287" t="0" b="0"/>
          <a:stretch/>
        </p:blipFill>
        <p:spPr>
          <a:xfrm>
            <a:off x="4190695" y="3906317"/>
            <a:ext cx="914400" cy="267005"/>
          </a:xfrm>
          <a:prstGeom prst="rect">
            <a:avLst/>
          </a:prstGeom>
        </p:spPr>
      </p:pic>
      <p:sp>
        <p:nvSpPr>
          <p:cNvPr id="69" name="Text 43"/>
          <p:cNvSpPr txBox="1"/>
          <p:nvPr/>
        </p:nvSpPr>
        <p:spPr>
          <a:xfrm>
            <a:off x="4447642" y="3906317"/>
            <a:ext cx="7150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store_nbr </a:t>
            </a:r>
            <a:endParaRPr lang="en-US" sz="900" dirty="0"/>
          </a:p>
        </p:txBody>
      </p:sp>
      <p:pic>
        <p:nvPicPr>
          <p:cNvPr id="70" name="Image 24" descr="preencoded.png">    </p:cNvPr>
          <p:cNvPicPr>
            <a:picLocks noChangeAspect="1"/>
          </p:cNvPicPr>
          <p:nvPr/>
        </p:nvPicPr>
        <p:blipFill>
          <a:blip r:embed="rId25"/>
          <a:srcRect l="0" r="0" t="0" b="0"/>
          <a:stretch/>
        </p:blipFill>
        <p:spPr>
          <a:xfrm>
            <a:off x="4295851" y="3982212"/>
            <a:ext cx="114300" cy="114300"/>
          </a:xfrm>
          <a:prstGeom prst="rect">
            <a:avLst/>
          </a:prstGeom>
        </p:spPr>
      </p:pic>
      <p:pic>
        <p:nvPicPr>
          <p:cNvPr id="71" name="Image 25" descr="preencoded.png">    </p:cNvPr>
          <p:cNvPicPr>
            <a:picLocks noChangeAspect="1"/>
          </p:cNvPicPr>
          <p:nvPr/>
        </p:nvPicPr>
        <p:blipFill>
          <a:blip r:embed="rId26"/>
          <a:srcRect l="-560" r="-560" t="0" b="0"/>
          <a:stretch/>
        </p:blipFill>
        <p:spPr>
          <a:xfrm>
            <a:off x="4381805" y="3115361"/>
            <a:ext cx="609905" cy="267005"/>
          </a:xfrm>
          <a:prstGeom prst="rect">
            <a:avLst/>
          </a:prstGeom>
        </p:spPr>
      </p:pic>
      <p:sp>
        <p:nvSpPr>
          <p:cNvPr id="72" name="Text 44"/>
          <p:cNvSpPr txBox="1"/>
          <p:nvPr/>
        </p:nvSpPr>
        <p:spPr>
          <a:xfrm>
            <a:off x="4629607" y="3115361"/>
            <a:ext cx="4197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date </a:t>
            </a:r>
            <a:endParaRPr lang="en-US" sz="900" dirty="0"/>
          </a:p>
        </p:txBody>
      </p:sp>
      <p:pic>
        <p:nvPicPr>
          <p:cNvPr id="73" name="Image 26" descr="preencoded.png">    </p:cNvPr>
          <p:cNvPicPr>
            <a:picLocks noChangeAspect="1"/>
          </p:cNvPicPr>
          <p:nvPr/>
        </p:nvPicPr>
        <p:blipFill>
          <a:blip r:embed="rId27"/>
          <a:srcRect l="-2571" r="-2571" t="0" b="0"/>
          <a:stretch/>
        </p:blipFill>
        <p:spPr>
          <a:xfrm>
            <a:off x="4486046" y="3191256"/>
            <a:ext cx="105156" cy="114300"/>
          </a:xfrm>
          <a:prstGeom prst="rect">
            <a:avLst/>
          </a:prstGeom>
        </p:spPr>
      </p:pic>
      <p:pic>
        <p:nvPicPr>
          <p:cNvPr id="74" name="Image 27" descr="preencoded.png">    </p:cNvPr>
          <p:cNvPicPr>
            <a:picLocks noChangeAspect="1"/>
          </p:cNvPicPr>
          <p:nvPr/>
        </p:nvPicPr>
        <p:blipFill>
          <a:blip r:embed="rId28"/>
          <a:srcRect l="-560" r="-560" t="0" b="0"/>
          <a:stretch/>
        </p:blipFill>
        <p:spPr>
          <a:xfrm>
            <a:off x="7208215" y="3115361"/>
            <a:ext cx="609905" cy="267005"/>
          </a:xfrm>
          <a:prstGeom prst="rect">
            <a:avLst/>
          </a:prstGeom>
        </p:spPr>
      </p:pic>
      <p:sp>
        <p:nvSpPr>
          <p:cNvPr id="75" name="Text 45"/>
          <p:cNvSpPr txBox="1"/>
          <p:nvPr/>
        </p:nvSpPr>
        <p:spPr>
          <a:xfrm>
            <a:off x="7456018" y="3115361"/>
            <a:ext cx="4197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date </a:t>
            </a:r>
            <a:endParaRPr lang="en-US" sz="900" dirty="0"/>
          </a:p>
        </p:txBody>
      </p:sp>
      <p:pic>
        <p:nvPicPr>
          <p:cNvPr id="76" name="Image 28" descr="preencoded.png">    </p:cNvPr>
          <p:cNvPicPr>
            <a:picLocks noChangeAspect="1"/>
          </p:cNvPicPr>
          <p:nvPr/>
        </p:nvPicPr>
        <p:blipFill>
          <a:blip r:embed="rId29"/>
          <a:srcRect l="-2571" r="-2571" t="0" b="0"/>
          <a:stretch/>
        </p:blipFill>
        <p:spPr>
          <a:xfrm>
            <a:off x="7312457" y="3191256"/>
            <a:ext cx="105156" cy="114300"/>
          </a:xfrm>
          <a:prstGeom prst="rect">
            <a:avLst/>
          </a:prstGeom>
        </p:spPr>
      </p:pic>
      <p:pic>
        <p:nvPicPr>
          <p:cNvPr id="77" name="Image 29" descr="preencoded.png">    </p:cNvPr>
          <p:cNvPicPr>
            <a:picLocks noChangeAspect="1"/>
          </p:cNvPicPr>
          <p:nvPr/>
        </p:nvPicPr>
        <p:blipFill>
          <a:blip r:embed="rId30"/>
          <a:srcRect l="0" r="0" t="-4" b="-4"/>
          <a:stretch/>
        </p:blipFill>
        <p:spPr>
          <a:xfrm>
            <a:off x="6554419" y="4746650"/>
            <a:ext cx="1257300" cy="267005"/>
          </a:xfrm>
          <a:prstGeom prst="rect">
            <a:avLst/>
          </a:prstGeom>
        </p:spPr>
      </p:pic>
      <p:sp>
        <p:nvSpPr>
          <p:cNvPr id="78" name="Text 46"/>
          <p:cNvSpPr txBox="1"/>
          <p:nvPr/>
        </p:nvSpPr>
        <p:spPr>
          <a:xfrm>
            <a:off x="6840626" y="4746650"/>
            <a:ext cx="1028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date, store_nbr </a:t>
            </a:r>
            <a:endParaRPr lang="en-US" sz="900" dirty="0"/>
          </a:p>
        </p:txBody>
      </p:sp>
      <p:pic>
        <p:nvPicPr>
          <p:cNvPr id="79" name="Image 30" descr="preencoded.png">    </p:cNvPr>
          <p:cNvPicPr>
            <a:picLocks noChangeAspect="1"/>
          </p:cNvPicPr>
          <p:nvPr/>
        </p:nvPicPr>
        <p:blipFill>
          <a:blip r:embed="rId31"/>
          <a:srcRect l="0" r="0" t="-80" b="-80"/>
          <a:stretch/>
        </p:blipFill>
        <p:spPr>
          <a:xfrm>
            <a:off x="6659575" y="4822546"/>
            <a:ext cx="142646" cy="114300"/>
          </a:xfrm>
          <a:prstGeom prst="rect">
            <a:avLst/>
          </a:prstGeom>
        </p:spPr>
      </p:pic>
      <p:pic>
        <p:nvPicPr>
          <p:cNvPr id="80" name="Image 31" descr="preencoded.png">    </p:cNvPr>
          <p:cNvPicPr>
            <a:picLocks noChangeAspect="1"/>
          </p:cNvPicPr>
          <p:nvPr/>
        </p:nvPicPr>
        <p:blipFill>
          <a:blip r:embed="rId32"/>
          <a:srcRect l="0" r="0" t="0" b="0"/>
          <a:stretch/>
        </p:blipFill>
        <p:spPr>
          <a:xfrm>
            <a:off x="4762195" y="2569464"/>
            <a:ext cx="2667305" cy="2872130"/>
          </a:xfrm>
          <a:prstGeom prst="rect">
            <a:avLst/>
          </a:prstGeom>
        </p:spPr>
      </p:pic>
      <p:sp>
        <p:nvSpPr>
          <p:cNvPr id="81" name="Shape 47"/>
          <p:cNvSpPr/>
          <p:nvPr/>
        </p:nvSpPr>
        <p:spPr>
          <a:xfrm>
            <a:off x="4772254" y="2578608"/>
            <a:ext cx="2648102" cy="466344"/>
          </a:xfrm>
          <a:prstGeom prst="roundRect">
            <a:avLst>
              <a:gd name="adj" fmla="val 96038"/>
            </a:avLst>
          </a:prstGeom>
          <a:solidFill>
            <a:srgbClr val="EFF6FF"/>
          </a:solidFill>
          <a:ln/>
        </p:spPr>
      </p:sp>
      <p:sp>
        <p:nvSpPr>
          <p:cNvPr id="82" name="Shape 48"/>
          <p:cNvSpPr/>
          <p:nvPr/>
        </p:nvSpPr>
        <p:spPr>
          <a:xfrm>
            <a:off x="4772254" y="3035808"/>
            <a:ext cx="2648102" cy="9144"/>
          </a:xfrm>
          <a:prstGeom prst="roundRect">
            <a:avLst>
              <a:gd name="adj" fmla="val 4897959"/>
            </a:avLst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Text 49"/>
          <p:cNvSpPr txBox="1"/>
          <p:nvPr/>
        </p:nvSpPr>
        <p:spPr>
          <a:xfrm>
            <a:off x="4924044" y="2578608"/>
            <a:ext cx="419710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</a:t>
            </a:r>
            <a:endParaRPr lang="en-US" sz="1200" dirty="0"/>
          </a:p>
        </p:txBody>
      </p:sp>
      <p:pic>
        <p:nvPicPr>
          <p:cNvPr id="84" name="Image 32" descr="preencoded.png">    </p:cNvPr>
          <p:cNvPicPr>
            <a:picLocks noChangeAspect="1"/>
          </p:cNvPicPr>
          <p:nvPr/>
        </p:nvPicPr>
        <p:blipFill>
          <a:blip r:embed="rId33"/>
          <a:srcRect l="0" r="0" t="-43" b="-43"/>
          <a:stretch/>
        </p:blipFill>
        <p:spPr>
          <a:xfrm>
            <a:off x="7134149" y="2731313"/>
            <a:ext cx="133502" cy="152705"/>
          </a:xfrm>
          <a:prstGeom prst="rect">
            <a:avLst/>
          </a:prstGeom>
        </p:spPr>
      </p:pic>
      <p:sp>
        <p:nvSpPr>
          <p:cNvPr id="85" name="Shape 50"/>
          <p:cNvSpPr/>
          <p:nvPr/>
        </p:nvSpPr>
        <p:spPr>
          <a:xfrm>
            <a:off x="4772254" y="3045866"/>
            <a:ext cx="2648102" cy="35204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86" name="Shape 51"/>
          <p:cNvSpPr/>
          <p:nvPr/>
        </p:nvSpPr>
        <p:spPr>
          <a:xfrm>
            <a:off x="4772254" y="3388766"/>
            <a:ext cx="2648102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87" name="Text 52"/>
          <p:cNvSpPr txBox="1"/>
          <p:nvPr/>
        </p:nvSpPr>
        <p:spPr>
          <a:xfrm>
            <a:off x="4772254" y="3045866"/>
            <a:ext cx="2724912" cy="26791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일별 매장-카테고리 매출 (Target)</a:t>
            </a:r>
            <a:endParaRPr lang="en-US" sz="900" dirty="0"/>
          </a:p>
        </p:txBody>
      </p:sp>
      <p:sp>
        <p:nvSpPr>
          <p:cNvPr id="88" name="Text 53"/>
          <p:cNvSpPr txBox="1"/>
          <p:nvPr/>
        </p:nvSpPr>
        <p:spPr>
          <a:xfrm>
            <a:off x="5115154" y="3469234"/>
            <a:ext cx="238201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id</a:t>
            </a:r>
            <a:endParaRPr lang="en-US" sz="1000" dirty="0"/>
          </a:p>
        </p:txBody>
      </p:sp>
      <p:pic>
        <p:nvPicPr>
          <p:cNvPr id="89" name="Image 33" descr="preencoded.png">    </p:cNvPr>
          <p:cNvPicPr>
            <a:picLocks noChangeAspect="1"/>
          </p:cNvPicPr>
          <p:nvPr/>
        </p:nvPicPr>
        <p:blipFill>
          <a:blip r:embed="rId34"/>
          <a:srcRect l="-49999" r="-49999" t="0" b="0"/>
          <a:stretch/>
        </p:blipFill>
        <p:spPr>
          <a:xfrm>
            <a:off x="4924044" y="3578962"/>
            <a:ext cx="190195" cy="95098"/>
          </a:xfrm>
          <a:prstGeom prst="rect">
            <a:avLst/>
          </a:prstGeom>
        </p:spPr>
      </p:pic>
      <p:sp>
        <p:nvSpPr>
          <p:cNvPr id="90" name="Text 54"/>
          <p:cNvSpPr txBox="1"/>
          <p:nvPr/>
        </p:nvSpPr>
        <p:spPr>
          <a:xfrm>
            <a:off x="5115154" y="3783787"/>
            <a:ext cx="238201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date</a:t>
            </a:r>
            <a:endParaRPr lang="en-US" sz="1000" dirty="0"/>
          </a:p>
        </p:txBody>
      </p:sp>
      <p:pic>
        <p:nvPicPr>
          <p:cNvPr id="91" name="Image 34" descr="preencoded.png">    </p:cNvPr>
          <p:cNvPicPr>
            <a:picLocks noChangeAspect="1"/>
          </p:cNvPicPr>
          <p:nvPr/>
        </p:nvPicPr>
        <p:blipFill>
          <a:blip r:embed="rId35"/>
          <a:srcRect l="-64285" r="-64285" t="0" b="0"/>
          <a:stretch/>
        </p:blipFill>
        <p:spPr>
          <a:xfrm>
            <a:off x="4924044" y="3893515"/>
            <a:ext cx="190195" cy="95098"/>
          </a:xfrm>
          <a:prstGeom prst="rect">
            <a:avLst/>
          </a:prstGeom>
        </p:spPr>
      </p:pic>
      <p:sp>
        <p:nvSpPr>
          <p:cNvPr id="92" name="Text 55"/>
          <p:cNvSpPr txBox="1"/>
          <p:nvPr/>
        </p:nvSpPr>
        <p:spPr>
          <a:xfrm>
            <a:off x="5115154" y="4098341"/>
            <a:ext cx="238201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store_nbr</a:t>
            </a:r>
            <a:endParaRPr lang="en-US" sz="1000" dirty="0"/>
          </a:p>
        </p:txBody>
      </p:sp>
      <p:pic>
        <p:nvPicPr>
          <p:cNvPr id="93" name="Image 35" descr="preencoded.png">    </p:cNvPr>
          <p:cNvPicPr>
            <a:picLocks noChangeAspect="1"/>
          </p:cNvPicPr>
          <p:nvPr/>
        </p:nvPicPr>
        <p:blipFill>
          <a:blip r:embed="rId36"/>
          <a:srcRect l="-38888" r="-38888" t="0" b="0"/>
          <a:stretch/>
        </p:blipFill>
        <p:spPr>
          <a:xfrm>
            <a:off x="4924044" y="4208069"/>
            <a:ext cx="190195" cy="95098"/>
          </a:xfrm>
          <a:prstGeom prst="rect">
            <a:avLst/>
          </a:prstGeom>
        </p:spPr>
      </p:pic>
      <p:sp>
        <p:nvSpPr>
          <p:cNvPr id="94" name="Text 56"/>
          <p:cNvSpPr txBox="1"/>
          <p:nvPr/>
        </p:nvSpPr>
        <p:spPr>
          <a:xfrm>
            <a:off x="5115154" y="4412894"/>
            <a:ext cx="238201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family (category)</a:t>
            </a:r>
            <a:endParaRPr lang="en-US" sz="1000" dirty="0"/>
          </a:p>
        </p:txBody>
      </p:sp>
      <p:pic>
        <p:nvPicPr>
          <p:cNvPr id="95" name="Image 36" descr="preencoded.png">    </p:cNvPr>
          <p:cNvPicPr>
            <a:picLocks noChangeAspect="1"/>
          </p:cNvPicPr>
          <p:nvPr/>
        </p:nvPicPr>
        <p:blipFill>
          <a:blip r:embed="rId37"/>
          <a:srcRect l="-64285" r="-64285" t="0" b="0"/>
          <a:stretch/>
        </p:blipFill>
        <p:spPr>
          <a:xfrm>
            <a:off x="4924044" y="4521708"/>
            <a:ext cx="190195" cy="95098"/>
          </a:xfrm>
          <a:prstGeom prst="rect">
            <a:avLst/>
          </a:prstGeom>
        </p:spPr>
      </p:pic>
      <p:sp>
        <p:nvSpPr>
          <p:cNvPr id="96" name="Text 57"/>
          <p:cNvSpPr txBox="1"/>
          <p:nvPr/>
        </p:nvSpPr>
        <p:spPr>
          <a:xfrm>
            <a:off x="5115154" y="4726534"/>
            <a:ext cx="238201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sales (Target)</a:t>
            </a:r>
            <a:endParaRPr lang="en-US" sz="1000" dirty="0"/>
          </a:p>
        </p:txBody>
      </p:sp>
      <p:pic>
        <p:nvPicPr>
          <p:cNvPr id="97" name="Image 37" descr="preencoded.png">    </p:cNvPr>
          <p:cNvPicPr>
            <a:picLocks noChangeAspect="1"/>
          </p:cNvPicPr>
          <p:nvPr/>
        </p:nvPicPr>
        <p:blipFill>
          <a:blip r:embed="rId38"/>
          <a:srcRect l="-49999" r="-49999" t="0" b="0"/>
          <a:stretch/>
        </p:blipFill>
        <p:spPr>
          <a:xfrm>
            <a:off x="4924044" y="4836262"/>
            <a:ext cx="190195" cy="95098"/>
          </a:xfrm>
          <a:prstGeom prst="rect">
            <a:avLst/>
          </a:prstGeom>
        </p:spPr>
      </p:pic>
      <p:sp>
        <p:nvSpPr>
          <p:cNvPr id="98" name="Text 58"/>
          <p:cNvSpPr txBox="1"/>
          <p:nvPr/>
        </p:nvSpPr>
        <p:spPr>
          <a:xfrm>
            <a:off x="5115154" y="5041087"/>
            <a:ext cx="238201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onpromotion</a:t>
            </a:r>
            <a:endParaRPr lang="en-US" sz="1000" dirty="0"/>
          </a:p>
        </p:txBody>
      </p:sp>
      <p:pic>
        <p:nvPicPr>
          <p:cNvPr id="99" name="Image 38" descr="preencoded.png">    </p:cNvPr>
          <p:cNvPicPr>
            <a:picLocks noChangeAspect="1"/>
          </p:cNvPicPr>
          <p:nvPr/>
        </p:nvPicPr>
        <p:blipFill>
          <a:blip r:embed="rId39"/>
          <a:srcRect l="-49999" r="-49999" t="0" b="0"/>
          <a:stretch/>
        </p:blipFill>
        <p:spPr>
          <a:xfrm>
            <a:off x="4924044" y="5150815"/>
            <a:ext cx="190195" cy="95098"/>
          </a:xfrm>
          <a:prstGeom prst="rect">
            <a:avLst/>
          </a:prstGeom>
        </p:spPr>
      </p:pic>
      <p:pic>
        <p:nvPicPr>
          <p:cNvPr id="100" name="Image 39" descr="preencoded.png">    </p:cNvPr>
          <p:cNvPicPr>
            <a:picLocks noChangeAspect="1"/>
          </p:cNvPicPr>
          <p:nvPr/>
        </p:nvPicPr>
        <p:blipFill>
          <a:blip r:embed="rId40"/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10598" y="-476402"/>
            <a:ext cx="2857500" cy="2857500"/>
          </a:xfrm>
          <a:prstGeom prst="ellipse">
            <a:avLst/>
          </a:prstGeom>
          <a:solidFill>
            <a:srgbClr val="3B82F6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-476402" y="5429707"/>
            <a:ext cx="1904695" cy="1904695"/>
          </a:xfrm>
          <a:prstGeom prst="rect">
            <a:avLst/>
          </a:prstGeom>
          <a:solidFill>
            <a:srgbClr val="10B981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381305"/>
            <a:ext cx="11239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spc="-63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merge vs merge_asof</a:t>
            </a:r>
            <a:endParaRPr lang="en-US" sz="31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시계열 데이터 결합을 위한 핵심 함수 비교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71500" y="5915254"/>
            <a:ext cx="11048695" cy="1285646"/>
          </a:xfrm>
          <a:prstGeom prst="roundRect">
            <a:avLst>
              <a:gd name="adj" fmla="val 12644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228954" y="6344107"/>
            <a:ext cx="3600907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 데이터프레임 모두 반드시 </a:t>
            </a:r>
            <a:pPr algn="l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조인 키(날짜)를 기준으로 오름차순 정렬(sort_values)</a:t>
            </a:r>
            <a:pPr algn="l"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되어 있어야 정확하게 동작합니다.</a:t>
            </a:r>
            <a:endParaRPr lang="en-US" sz="11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9244" y="6452921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228954" y="6077102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주의: merge_asof 사용 조건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71500" y="1628546"/>
            <a:ext cx="5333695" cy="4000500"/>
          </a:xfrm>
          <a:prstGeom prst="roundRect">
            <a:avLst>
              <a:gd name="adj" fmla="val 17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71500" y="1628546"/>
            <a:ext cx="5333695" cy="57607"/>
          </a:xfrm>
          <a:prstGeom prst="roundRect">
            <a:avLst>
              <a:gd name="adj" fmla="val 120938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66851" y="2743200"/>
            <a:ext cx="4743907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66851" y="2048256"/>
            <a:ext cx="476402" cy="476402"/>
          </a:xfrm>
          <a:prstGeom prst="roundRect">
            <a:avLst>
              <a:gd name="adj" fmla="val 92131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90295" y="2171700"/>
            <a:ext cx="228600" cy="2286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495044" y="1971446"/>
            <a:ext cx="14484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pd.merge()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1495044" y="2352751"/>
            <a:ext cx="972007" cy="247802"/>
          </a:xfrm>
          <a:prstGeom prst="roundRect">
            <a:avLst>
              <a:gd name="adj" fmla="val 170310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1495044" y="2352751"/>
            <a:ext cx="1028700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Exact Match</a:t>
            </a:r>
            <a:endParaRPr lang="en-US" sz="9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1100" b="-1100"/>
          <a:stretch/>
        </p:blipFill>
        <p:spPr>
          <a:xfrm>
            <a:off x="866851" y="2952598"/>
            <a:ext cx="114300" cy="13350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81151" y="2952598"/>
            <a:ext cx="27715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키 값이 </a:t>
            </a:r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정확히 일치하는 행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 결합</a:t>
            </a:r>
            <a:endParaRPr lang="en-US" sz="12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1100" b="-1100"/>
          <a:stretch/>
        </p:blipFill>
        <p:spPr>
          <a:xfrm>
            <a:off x="866851" y="3295498"/>
            <a:ext cx="114300" cy="13350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81151" y="3295498"/>
            <a:ext cx="3940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매장 정보, 지역 코드 등 </a:t>
            </a:r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마스터 데이터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조인에 적합</a:t>
            </a:r>
            <a:endParaRPr lang="en-US" sz="12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rcRect l="-2512" r="-2512" t="0" b="0"/>
          <a:stretch/>
        </p:blipFill>
        <p:spPr>
          <a:xfrm>
            <a:off x="866851" y="3638398"/>
            <a:ext cx="105156" cy="13350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72007" y="3638398"/>
            <a:ext cx="46716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시계열에서 날짜가 하루라도 어긋나면 결합 불가 (데이터 유실)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866851" y="4448556"/>
            <a:ext cx="4743907" cy="886054"/>
          </a:xfrm>
          <a:prstGeom prst="roundRect">
            <a:avLst>
              <a:gd name="adj" fmla="val 1775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1019556" y="4600346"/>
            <a:ext cx="46296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동작 방식</a:t>
            </a:r>
            <a:endParaRPr lang="en-US" sz="900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rcRect l="-602" r="-602" t="0" b="0"/>
          <a:stretch/>
        </p:blipFill>
        <p:spPr>
          <a:xfrm>
            <a:off x="2026310" y="4848149"/>
            <a:ext cx="657454" cy="333756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2026310" y="4848149"/>
            <a:ext cx="71506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Key: A</a:t>
            </a:r>
            <a:endParaRPr lang="en-US" sz="1000" dirty="0"/>
          </a:p>
        </p:txBody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1100" b="-1100"/>
          <a:stretch/>
        </p:blipFill>
        <p:spPr>
          <a:xfrm>
            <a:off x="2770632" y="4947818"/>
            <a:ext cx="114300" cy="133502"/>
          </a:xfrm>
          <a:prstGeom prst="rect">
            <a:avLst/>
          </a:prstGeom>
        </p:spPr>
      </p:pic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rcRect l="-602" r="-602" t="0" b="0"/>
          <a:stretch/>
        </p:blipFill>
        <p:spPr>
          <a:xfrm>
            <a:off x="2980030" y="4848149"/>
            <a:ext cx="657454" cy="333756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2980030" y="4848149"/>
            <a:ext cx="71506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Key: A</a:t>
            </a:r>
            <a:endParaRPr lang="en-US" sz="1000" dirty="0"/>
          </a:p>
        </p:txBody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1100" b="-1100"/>
          <a:stretch/>
        </p:blipFill>
        <p:spPr>
          <a:xfrm>
            <a:off x="3724351" y="4947818"/>
            <a:ext cx="114300" cy="133502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3933749" y="4848149"/>
            <a:ext cx="58155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Join OK</a:t>
            </a:r>
            <a:endParaRPr lang="en-US" sz="1000" dirty="0"/>
          </a:p>
        </p:txBody>
      </p:sp>
      <p:sp>
        <p:nvSpPr>
          <p:cNvPr id="36" name="Shape 25"/>
          <p:cNvSpPr/>
          <p:nvPr/>
        </p:nvSpPr>
        <p:spPr>
          <a:xfrm>
            <a:off x="6286500" y="1628546"/>
            <a:ext cx="5333695" cy="4000500"/>
          </a:xfrm>
          <a:prstGeom prst="roundRect">
            <a:avLst>
              <a:gd name="adj" fmla="val 17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37" name="Shape 26"/>
          <p:cNvSpPr/>
          <p:nvPr/>
        </p:nvSpPr>
        <p:spPr>
          <a:xfrm>
            <a:off x="6286500" y="1628546"/>
            <a:ext cx="5333695" cy="57607"/>
          </a:xfrm>
          <a:prstGeom prst="roundRect">
            <a:avLst>
              <a:gd name="adj" fmla="val 120938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38" name="Shape 27"/>
          <p:cNvSpPr/>
          <p:nvPr/>
        </p:nvSpPr>
        <p:spPr>
          <a:xfrm>
            <a:off x="6581851" y="2743200"/>
            <a:ext cx="4743907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39" name="Shape 28"/>
          <p:cNvSpPr/>
          <p:nvPr/>
        </p:nvSpPr>
        <p:spPr>
          <a:xfrm>
            <a:off x="6581851" y="2048256"/>
            <a:ext cx="476402" cy="476402"/>
          </a:xfrm>
          <a:prstGeom prst="roundRect">
            <a:avLst>
              <a:gd name="adj" fmla="val 92131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0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6705295" y="2171700"/>
            <a:ext cx="228600" cy="228600"/>
          </a:xfrm>
          <a:prstGeom prst="rect">
            <a:avLst/>
          </a:prstGeom>
        </p:spPr>
      </p:pic>
      <p:sp>
        <p:nvSpPr>
          <p:cNvPr id="41" name="Text 29"/>
          <p:cNvSpPr txBox="1"/>
          <p:nvPr/>
        </p:nvSpPr>
        <p:spPr>
          <a:xfrm>
            <a:off x="7210044" y="1971446"/>
            <a:ext cx="213969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pd.merge_asof()</a:t>
            </a:r>
            <a:endParaRPr lang="en-US" sz="1800" dirty="0"/>
          </a:p>
        </p:txBody>
      </p:sp>
      <p:sp>
        <p:nvSpPr>
          <p:cNvPr id="42" name="Shape 30"/>
          <p:cNvSpPr/>
          <p:nvPr/>
        </p:nvSpPr>
        <p:spPr>
          <a:xfrm>
            <a:off x="7210044" y="2352751"/>
            <a:ext cx="1133856" cy="247802"/>
          </a:xfrm>
          <a:prstGeom prst="roundRect">
            <a:avLst>
              <a:gd name="adj" fmla="val 170310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31"/>
          <p:cNvSpPr txBox="1"/>
          <p:nvPr/>
        </p:nvSpPr>
        <p:spPr>
          <a:xfrm>
            <a:off x="7210044" y="2352751"/>
            <a:ext cx="1191463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Nearest Match</a:t>
            </a:r>
            <a:endParaRPr lang="en-US" sz="900" dirty="0"/>
          </a:p>
        </p:txBody>
      </p:sp>
      <p:pic>
        <p:nvPicPr>
          <p:cNvPr id="44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-1100" b="-1100"/>
          <a:stretch/>
        </p:blipFill>
        <p:spPr>
          <a:xfrm>
            <a:off x="6581851" y="2952598"/>
            <a:ext cx="114300" cy="133502"/>
          </a:xfrm>
          <a:prstGeom prst="rect">
            <a:avLst/>
          </a:prstGeom>
        </p:spPr>
      </p:pic>
      <p:sp>
        <p:nvSpPr>
          <p:cNvPr id="45" name="Text 32"/>
          <p:cNvSpPr txBox="1"/>
          <p:nvPr/>
        </p:nvSpPr>
        <p:spPr>
          <a:xfrm>
            <a:off x="6696151" y="2952598"/>
            <a:ext cx="35561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키 값이 없으면 </a:t>
            </a:r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가장 가까운 과거 값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가져옴</a:t>
            </a:r>
            <a:endParaRPr lang="en-US" sz="1200" dirty="0"/>
          </a:p>
        </p:txBody>
      </p:sp>
      <p:pic>
        <p:nvPicPr>
          <p:cNvPr id="46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-1100" b="-1100"/>
          <a:stretch/>
        </p:blipFill>
        <p:spPr>
          <a:xfrm>
            <a:off x="6581851" y="3295498"/>
            <a:ext cx="114300" cy="133502"/>
          </a:xfrm>
          <a:prstGeom prst="rect">
            <a:avLst/>
          </a:prstGeom>
        </p:spPr>
      </p:pic>
      <p:sp>
        <p:nvSpPr>
          <p:cNvPr id="47" name="Text 33"/>
          <p:cNvSpPr txBox="1"/>
          <p:nvPr/>
        </p:nvSpPr>
        <p:spPr>
          <a:xfrm>
            <a:off x="6696151" y="3295498"/>
            <a:ext cx="43241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유가, 환율, 센서 등 </a:t>
            </a:r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비정기적 시계열 데이터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조인에 필수</a:t>
            </a:r>
            <a:endParaRPr lang="en-US" sz="1200" dirty="0"/>
          </a:p>
        </p:txBody>
      </p:sp>
      <p:pic>
        <p:nvPicPr>
          <p:cNvPr id="48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-1100" b="-1100"/>
          <a:stretch/>
        </p:blipFill>
        <p:spPr>
          <a:xfrm>
            <a:off x="6581851" y="3638398"/>
            <a:ext cx="114300" cy="133502"/>
          </a:xfrm>
          <a:prstGeom prst="rect">
            <a:avLst/>
          </a:prstGeom>
        </p:spPr>
      </p:pic>
      <p:sp>
        <p:nvSpPr>
          <p:cNvPr id="49" name="Text 34"/>
          <p:cNvSpPr txBox="1"/>
          <p:nvPr/>
        </p:nvSpPr>
        <p:spPr>
          <a:xfrm>
            <a:off x="6696151" y="3638398"/>
            <a:ext cx="39950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"주말이라 유가 데이터가 없어도 금요일 가격을 적용"</a:t>
            </a:r>
            <a:endParaRPr lang="en-US" sz="1200" dirty="0"/>
          </a:p>
        </p:txBody>
      </p:sp>
      <p:sp>
        <p:nvSpPr>
          <p:cNvPr id="50" name="Shape 35"/>
          <p:cNvSpPr/>
          <p:nvPr/>
        </p:nvSpPr>
        <p:spPr>
          <a:xfrm>
            <a:off x="6581851" y="4448556"/>
            <a:ext cx="4743907" cy="886054"/>
          </a:xfrm>
          <a:prstGeom prst="roundRect">
            <a:avLst>
              <a:gd name="adj" fmla="val 1775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1" name="Text 36"/>
          <p:cNvSpPr txBox="1"/>
          <p:nvPr/>
        </p:nvSpPr>
        <p:spPr>
          <a:xfrm>
            <a:off x="6734556" y="4600346"/>
            <a:ext cx="46296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동작 방식</a:t>
            </a:r>
            <a:endParaRPr lang="en-US" sz="900" dirty="0"/>
          </a:p>
        </p:txBody>
      </p:sp>
      <p:pic>
        <p:nvPicPr>
          <p:cNvPr id="52" name="Image 13" descr="preencoded.png">    </p:cNvPr>
          <p:cNvPicPr>
            <a:picLocks noChangeAspect="1"/>
          </p:cNvPicPr>
          <p:nvPr/>
        </p:nvPicPr>
        <p:blipFill>
          <a:blip r:embed="rId14"/>
          <a:srcRect l="-436" r="-436" t="0" b="0"/>
          <a:stretch/>
        </p:blipFill>
        <p:spPr>
          <a:xfrm>
            <a:off x="7409383" y="4848149"/>
            <a:ext cx="838505" cy="333756"/>
          </a:xfrm>
          <a:prstGeom prst="rect">
            <a:avLst/>
          </a:prstGeom>
        </p:spPr>
      </p:pic>
      <p:sp>
        <p:nvSpPr>
          <p:cNvPr id="53" name="Text 37"/>
          <p:cNvSpPr txBox="1"/>
          <p:nvPr/>
        </p:nvSpPr>
        <p:spPr>
          <a:xfrm>
            <a:off x="7409383" y="4848149"/>
            <a:ext cx="89611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Date: 1/3</a:t>
            </a:r>
            <a:endParaRPr lang="en-US" sz="1000" dirty="0"/>
          </a:p>
        </p:txBody>
      </p:sp>
      <p:pic>
        <p:nvPicPr>
          <p:cNvPr id="54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8334756" y="4947818"/>
            <a:ext cx="133502" cy="133502"/>
          </a:xfrm>
          <a:prstGeom prst="rect">
            <a:avLst/>
          </a:prstGeom>
        </p:spPr>
      </p:pic>
      <p:pic>
        <p:nvPicPr>
          <p:cNvPr id="55" name="Image 15" descr="preencoded.png">    </p:cNvPr>
          <p:cNvPicPr>
            <a:picLocks noChangeAspect="1"/>
          </p:cNvPicPr>
          <p:nvPr/>
        </p:nvPicPr>
        <p:blipFill>
          <a:blip r:embed="rId16"/>
          <a:srcRect l="-528" r="-528" t="0" b="0"/>
          <a:stretch/>
        </p:blipFill>
        <p:spPr>
          <a:xfrm>
            <a:off x="8563356" y="4848149"/>
            <a:ext cx="752551" cy="333756"/>
          </a:xfrm>
          <a:prstGeom prst="rect">
            <a:avLst/>
          </a:prstGeom>
        </p:spPr>
      </p:pic>
      <p:sp>
        <p:nvSpPr>
          <p:cNvPr id="56" name="Text 38"/>
          <p:cNvSpPr txBox="1"/>
          <p:nvPr/>
        </p:nvSpPr>
        <p:spPr>
          <a:xfrm>
            <a:off x="8563356" y="4848149"/>
            <a:ext cx="81015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Ref: 1/2</a:t>
            </a:r>
            <a:endParaRPr lang="en-US" sz="1000" dirty="0"/>
          </a:p>
        </p:txBody>
      </p:sp>
      <p:pic>
        <p:nvPicPr>
          <p:cNvPr id="57" name="Image 16" descr="preencoded.png">    </p:cNvPr>
          <p:cNvPicPr>
            <a:picLocks noChangeAspect="1"/>
          </p:cNvPicPr>
          <p:nvPr/>
        </p:nvPicPr>
        <p:blipFill>
          <a:blip r:embed="rId17"/>
          <a:srcRect l="0" r="0" t="-1100" b="-1100"/>
          <a:stretch/>
        </p:blipFill>
        <p:spPr>
          <a:xfrm>
            <a:off x="9402775" y="4947818"/>
            <a:ext cx="114300" cy="133502"/>
          </a:xfrm>
          <a:prstGeom prst="rect">
            <a:avLst/>
          </a:prstGeom>
        </p:spPr>
      </p:pic>
      <p:sp>
        <p:nvSpPr>
          <p:cNvPr id="58" name="Text 39"/>
          <p:cNvSpPr txBox="1"/>
          <p:nvPr/>
        </p:nvSpPr>
        <p:spPr>
          <a:xfrm>
            <a:off x="9612173" y="4848149"/>
            <a:ext cx="94366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Use 1/2 Value</a:t>
            </a:r>
            <a:endParaRPr lang="en-US" sz="1000" dirty="0"/>
          </a:p>
        </p:txBody>
      </p:sp>
      <p:pic>
        <p:nvPicPr>
          <p:cNvPr id="59" name="Image 17" descr="preencoded.png">    </p:cNvPr>
          <p:cNvPicPr>
            <a:picLocks noChangeAspect="1"/>
          </p:cNvPicPr>
          <p:nvPr/>
        </p:nvPicPr>
        <p:blipFill>
          <a:blip r:embed="rId18"/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34195" y="-952805"/>
            <a:ext cx="3810305" cy="3810305"/>
          </a:xfrm>
          <a:prstGeom prst="ellipse">
            <a:avLst/>
          </a:prstGeom>
          <a:solidFill>
            <a:srgbClr val="F1F5F9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476402" y="4476902"/>
            <a:ext cx="2857500" cy="2857500"/>
          </a:xfrm>
          <a:prstGeom prst="ellipse">
            <a:avLst/>
          </a:prstGeom>
          <a:solidFill>
            <a:srgbClr val="E2E8F0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476402"/>
            <a:ext cx="113541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spc="-72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불완전 데이터 처리 원칙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257300"/>
            <a:ext cx="112398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분석의 왜곡을 막기 위한 데이터 컷오프(Cut-off) 및 정제 기준</a:t>
            </a:r>
            <a:endParaRPr lang="en-US" sz="1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8" b="-8"/>
          <a:stretch/>
        </p:blipFill>
        <p:spPr>
          <a:xfrm>
            <a:off x="857707" y="2419502"/>
            <a:ext cx="5048402" cy="152430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57707" y="2419502"/>
            <a:ext cx="57607" cy="1505102"/>
          </a:xfrm>
          <a:prstGeom prst="rect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2714854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304849" y="2866644"/>
            <a:ext cx="267005" cy="26700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952244" y="2714854"/>
            <a:ext cx="38487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불완전 구간 제거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1952244" y="3133649"/>
            <a:ext cx="37344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데이터가 누락된 기간을 포함하면 "매출 급감"이라는 잘못된 신호 발생. 과감히 제외하는 것이 원칙.</a:t>
            </a:r>
            <a:endParaRPr lang="en-US" sz="13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8" b="-8"/>
          <a:stretch/>
        </p:blipFill>
        <p:spPr>
          <a:xfrm>
            <a:off x="6286500" y="2419502"/>
            <a:ext cx="5048402" cy="1524305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286500" y="2419502"/>
            <a:ext cx="57607" cy="1505102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581851" y="2714854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FFFB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rcRect l="-7143" r="-7143" t="0" b="0"/>
          <a:stretch/>
        </p:blipFill>
        <p:spPr>
          <a:xfrm>
            <a:off x="6734556" y="2866644"/>
            <a:ext cx="267005" cy="26700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381951" y="2714854"/>
            <a:ext cx="3771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사례: 2017년 8월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7381951" y="3133649"/>
            <a:ext cx="37344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2017-08-15 이후 일부 매장 및 카테고리 데이터 누락 확인 → 해당 월 전체를 분석 대상에서 제외.</a:t>
            </a:r>
            <a:endParaRPr lang="en-US" sz="13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8" b="-8"/>
          <a:stretch/>
        </p:blipFill>
        <p:spPr>
          <a:xfrm>
            <a:off x="857707" y="4324198"/>
            <a:ext cx="5048402" cy="1524305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857707" y="4324198"/>
            <a:ext cx="57607" cy="1505102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1152144" y="4619549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304849" y="4772254"/>
            <a:ext cx="267005" cy="267005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952244" y="4619549"/>
            <a:ext cx="38487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기준 수립 방법</a:t>
            </a:r>
            <a:endParaRPr lang="en-US" sz="1800" dirty="0"/>
          </a:p>
        </p:txBody>
      </p:sp>
      <p:sp>
        <p:nvSpPr>
          <p:cNvPr id="26" name="Text 18"/>
          <p:cNvSpPr txBox="1"/>
          <p:nvPr/>
        </p:nvSpPr>
        <p:spPr>
          <a:xfrm>
            <a:off x="1952244" y="5038344"/>
            <a:ext cx="37344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최소 관측일수(예: 월 28일 이상), 전체 매장의 95% 이상 리포팅 여부를 기준으로 컷오프 설정.</a:t>
            </a:r>
            <a:endParaRPr lang="en-US" sz="130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8" b="-8"/>
          <a:stretch/>
        </p:blipFill>
        <p:spPr>
          <a:xfrm>
            <a:off x="6286500" y="4324198"/>
            <a:ext cx="5048402" cy="1524305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6286500" y="4324198"/>
            <a:ext cx="57607" cy="1505102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0"/>
          <p:cNvSpPr/>
          <p:nvPr/>
        </p:nvSpPr>
        <p:spPr>
          <a:xfrm>
            <a:off x="6581851" y="4619549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6700723" y="4772254"/>
            <a:ext cx="333756" cy="267005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7381951" y="4619549"/>
            <a:ext cx="38487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 신뢰도 확보</a:t>
            </a:r>
            <a:endParaRPr lang="en-US" sz="1800" dirty="0"/>
          </a:p>
        </p:txBody>
      </p:sp>
      <p:sp>
        <p:nvSpPr>
          <p:cNvPr id="32" name="Text 22"/>
          <p:cNvSpPr txBox="1"/>
          <p:nvPr/>
        </p:nvSpPr>
        <p:spPr>
          <a:xfrm>
            <a:off x="7381951" y="5038344"/>
            <a:ext cx="37344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노이즈를 제거해야 트렌드 분석과 예측 모델의 학습 정확도가 향상됨 (GIGO 원칙 준수).</a:t>
            </a:r>
            <a:endParaRPr lang="en-US" sz="1300" dirty="0"/>
          </a:p>
        </p:txBody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0" r="0" t="0" b="0"/>
          <a:stretch/>
        </p:blipFill>
        <p:spPr>
          <a:xfrm>
            <a:off x="9810598" y="-476402"/>
            <a:ext cx="2857500" cy="28575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l="0" r="0" t="0" b="0"/>
          <a:stretch/>
        </p:blipFill>
        <p:spPr>
          <a:xfrm>
            <a:off x="-476402" y="4476902"/>
            <a:ext cx="2857500" cy="28575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571500" y="381305"/>
            <a:ext cx="113541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spc="-63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트렌드 분석 핵심 KPI</a:t>
            </a:r>
            <a:endParaRPr lang="en-US" sz="3100" dirty="0"/>
          </a:p>
        </p:txBody>
      </p:sp>
      <p:sp>
        <p:nvSpPr>
          <p:cNvPr id="8" name="Text 4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시계열 데이터의 변화를 포착하고 해석하기 위한 3가지 관점의 지표</a:t>
            </a:r>
            <a:endParaRPr lang="en-US" sz="15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-7" r="-7" t="0" b="0"/>
          <a:stretch/>
        </p:blipFill>
        <p:spPr>
          <a:xfrm>
            <a:off x="571500" y="1719072"/>
            <a:ext cx="3480206" cy="457200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886054" y="2033626"/>
            <a:ext cx="533095" cy="533095"/>
          </a:xfrm>
          <a:prstGeom prst="roundRect">
            <a:avLst>
              <a:gd name="adj" fmla="val 85763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037844" y="2186330"/>
            <a:ext cx="228600" cy="22860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571854" y="2049170"/>
            <a:ext cx="1516075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성장률 지표</a:t>
            </a:r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(Growth Rate)</a:t>
            </a:r>
            <a:endParaRPr lang="en-US" sz="1600" dirty="0"/>
          </a:p>
        </p:txBody>
      </p:sp>
      <p:sp>
        <p:nvSpPr>
          <p:cNvPr id="13" name="Text 7"/>
          <p:cNvSpPr txBox="1"/>
          <p:nvPr/>
        </p:nvSpPr>
        <p:spPr>
          <a:xfrm>
            <a:off x="886054" y="2795321"/>
            <a:ext cx="2934310" cy="86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과거 시점 대비 현재의 변화량을 측정하여 비즈니스의 성장 또는 쇠퇴 속도를 파악합니다.</a:t>
            </a:r>
            <a:endParaRPr lang="en-US" sz="1200" dirty="0"/>
          </a:p>
        </p:txBody>
      </p:sp>
      <p:sp>
        <p:nvSpPr>
          <p:cNvPr id="14" name="Shape 8"/>
          <p:cNvSpPr/>
          <p:nvPr/>
        </p:nvSpPr>
        <p:spPr>
          <a:xfrm>
            <a:off x="886054" y="3886200"/>
            <a:ext cx="2857500" cy="1524305"/>
          </a:xfrm>
          <a:prstGeom prst="roundRect">
            <a:avLst>
              <a:gd name="adj" fmla="val 8998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1086307" y="4420210"/>
            <a:ext cx="2457907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1086307" y="4086454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YoY (전년 대비)</a:t>
            </a:r>
            <a:endParaRPr lang="en-US" sz="1100" dirty="0"/>
          </a:p>
        </p:txBody>
      </p:sp>
      <p:sp>
        <p:nvSpPr>
          <p:cNvPr id="17" name="Text 11"/>
          <p:cNvSpPr txBox="1"/>
          <p:nvPr/>
        </p:nvSpPr>
        <p:spPr>
          <a:xfrm>
            <a:off x="2839212" y="4086454"/>
            <a:ext cx="8540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장기 성장세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1086307" y="4872838"/>
            <a:ext cx="2457907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1086307" y="4539082"/>
            <a:ext cx="12289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MoM (전월 대비)</a:t>
            </a:r>
            <a:endParaRPr lang="en-US" sz="1100" dirty="0"/>
          </a:p>
        </p:txBody>
      </p:sp>
      <p:sp>
        <p:nvSpPr>
          <p:cNvPr id="20" name="Text 14"/>
          <p:cNvSpPr txBox="1"/>
          <p:nvPr/>
        </p:nvSpPr>
        <p:spPr>
          <a:xfrm>
            <a:off x="2839212" y="4539082"/>
            <a:ext cx="8540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최근 모멘텀</a:t>
            </a:r>
            <a:endParaRPr lang="en-US" sz="1100" dirty="0"/>
          </a:p>
        </p:txBody>
      </p:sp>
      <p:sp>
        <p:nvSpPr>
          <p:cNvPr id="21" name="Text 15"/>
          <p:cNvSpPr txBox="1"/>
          <p:nvPr/>
        </p:nvSpPr>
        <p:spPr>
          <a:xfrm>
            <a:off x="1086307" y="4990795"/>
            <a:ext cx="12298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WoW (전주 대비)</a:t>
            </a:r>
            <a:endParaRPr lang="en-US" sz="1100" dirty="0"/>
          </a:p>
        </p:txBody>
      </p:sp>
      <p:sp>
        <p:nvSpPr>
          <p:cNvPr id="22" name="Text 16"/>
          <p:cNvSpPr txBox="1"/>
          <p:nvPr/>
        </p:nvSpPr>
        <p:spPr>
          <a:xfrm>
            <a:off x="2839212" y="4990795"/>
            <a:ext cx="8540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단기 변동성</a:t>
            </a:r>
            <a:endParaRPr lang="en-US" sz="11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>
            <a:alphaModFix amt="20000"/>
          </a:blip>
          <a:srcRect l="0" r="0" t="-3" b="-3"/>
          <a:stretch/>
        </p:blipFill>
        <p:spPr>
          <a:xfrm>
            <a:off x="886054" y="5862218"/>
            <a:ext cx="443484" cy="114300"/>
          </a:xfrm>
          <a:prstGeom prst="rect">
            <a:avLst/>
          </a:prstGeom>
        </p:spPr>
      </p:pic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>
            <a:alphaModFix amt="20000"/>
          </a:blip>
          <a:srcRect l="0" r="0" t="-136" b="-136"/>
          <a:stretch/>
        </p:blipFill>
        <p:spPr>
          <a:xfrm>
            <a:off x="1367028" y="5805526"/>
            <a:ext cx="443484" cy="171907"/>
          </a:xfrm>
          <a:prstGeom prst="rect">
            <a:avLst/>
          </a:prstGeom>
        </p:spPr>
      </p:pic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>
            <a:alphaModFix amt="20000"/>
          </a:blip>
          <a:srcRect l="0" r="0" t="-103" b="-103"/>
          <a:stretch/>
        </p:blipFill>
        <p:spPr>
          <a:xfrm>
            <a:off x="1848917" y="5824728"/>
            <a:ext cx="443484" cy="152705"/>
          </a:xfrm>
          <a:prstGeom prst="rect">
            <a:avLst/>
          </a:prstGeom>
        </p:spPr>
      </p:pic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>
            <a:alphaModFix amt="20000"/>
          </a:blip>
          <a:srcRect l="0" r="0" t="-3" b="-3"/>
          <a:stretch/>
        </p:blipFill>
        <p:spPr>
          <a:xfrm>
            <a:off x="2330806" y="5747918"/>
            <a:ext cx="443484" cy="228600"/>
          </a:xfrm>
          <a:prstGeom prst="rect">
            <a:avLst/>
          </a:prstGeom>
        </p:spPr>
      </p:pic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>
            <a:alphaModFix amt="20000"/>
          </a:blip>
          <a:srcRect l="-34" r="-34" t="0" b="0"/>
          <a:stretch/>
        </p:blipFill>
        <p:spPr>
          <a:xfrm>
            <a:off x="2812694" y="5767121"/>
            <a:ext cx="443484" cy="209398"/>
          </a:xfrm>
          <a:prstGeom prst="rect">
            <a:avLst/>
          </a:prstGeom>
        </p:spPr>
      </p:pic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0">
            <a:alphaModFix amt="80000"/>
          </a:blip>
          <a:srcRect l="-47" r="-47" t="0" b="0"/>
          <a:stretch/>
        </p:blipFill>
        <p:spPr>
          <a:xfrm>
            <a:off x="3293669" y="5672023"/>
            <a:ext cx="443484" cy="304495"/>
          </a:xfrm>
          <a:prstGeom prst="rect">
            <a:avLst/>
          </a:prstGeom>
        </p:spPr>
      </p:pic>
      <p:pic>
        <p:nvPicPr>
          <p:cNvPr id="29" name="Image 10" descr="preencoded.png">    </p:cNvPr>
          <p:cNvPicPr>
            <a:picLocks noChangeAspect="1"/>
          </p:cNvPicPr>
          <p:nvPr/>
        </p:nvPicPr>
        <p:blipFill>
          <a:blip r:embed="rId11"/>
          <a:srcRect l="-7" r="-7" t="0" b="0"/>
          <a:stretch/>
        </p:blipFill>
        <p:spPr>
          <a:xfrm>
            <a:off x="4356202" y="1719072"/>
            <a:ext cx="3480206" cy="4572000"/>
          </a:xfrm>
          <a:prstGeom prst="rect">
            <a:avLst/>
          </a:prstGeom>
        </p:spPr>
      </p:pic>
      <p:sp>
        <p:nvSpPr>
          <p:cNvPr id="30" name="Shape 17"/>
          <p:cNvSpPr/>
          <p:nvPr/>
        </p:nvSpPr>
        <p:spPr>
          <a:xfrm>
            <a:off x="4670755" y="2033626"/>
            <a:ext cx="533095" cy="533095"/>
          </a:xfrm>
          <a:prstGeom prst="roundRect">
            <a:avLst>
              <a:gd name="adj" fmla="val 85763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1" name="Image 11" descr="preencoded.png">    </p:cNvPr>
          <p:cNvPicPr>
            <a:picLocks noChangeAspect="1"/>
          </p:cNvPicPr>
          <p:nvPr/>
        </p:nvPicPr>
        <p:blipFill>
          <a:blip r:embed="rId12"/>
          <a:srcRect l="-80" r="-80" t="0" b="0"/>
          <a:stretch/>
        </p:blipFill>
        <p:spPr>
          <a:xfrm>
            <a:off x="4794199" y="2186330"/>
            <a:ext cx="286207" cy="228600"/>
          </a:xfrm>
          <a:prstGeom prst="rect">
            <a:avLst/>
          </a:prstGeom>
        </p:spPr>
      </p:pic>
      <p:sp>
        <p:nvSpPr>
          <p:cNvPr id="32" name="Text 18"/>
          <p:cNvSpPr txBox="1"/>
          <p:nvPr/>
        </p:nvSpPr>
        <p:spPr>
          <a:xfrm>
            <a:off x="5356555" y="2049170"/>
            <a:ext cx="1862633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추세 지표</a:t>
            </a:r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(Moving Average)</a:t>
            </a:r>
            <a:endParaRPr lang="en-US" sz="1600" dirty="0"/>
          </a:p>
        </p:txBody>
      </p:sp>
      <p:sp>
        <p:nvSpPr>
          <p:cNvPr id="33" name="Text 19"/>
          <p:cNvSpPr txBox="1"/>
          <p:nvPr/>
        </p:nvSpPr>
        <p:spPr>
          <a:xfrm>
            <a:off x="4670755" y="2795321"/>
            <a:ext cx="2934310" cy="86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일별 데이터의 노이즈(불규칙 변동)를 제거하고 근본적인 방향성을 확인합니다.</a:t>
            </a:r>
            <a:endParaRPr lang="en-US" sz="1200" dirty="0"/>
          </a:p>
        </p:txBody>
      </p:sp>
      <p:sp>
        <p:nvSpPr>
          <p:cNvPr id="34" name="Shape 20"/>
          <p:cNvSpPr/>
          <p:nvPr/>
        </p:nvSpPr>
        <p:spPr>
          <a:xfrm>
            <a:off x="4670755" y="3886200"/>
            <a:ext cx="2857500" cy="1524305"/>
          </a:xfrm>
          <a:prstGeom prst="roundRect">
            <a:avLst>
              <a:gd name="adj" fmla="val 8998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5" name="Shape 21"/>
          <p:cNvSpPr/>
          <p:nvPr/>
        </p:nvSpPr>
        <p:spPr>
          <a:xfrm>
            <a:off x="4870094" y="4420210"/>
            <a:ext cx="2457907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6" name="Text 22"/>
          <p:cNvSpPr txBox="1"/>
          <p:nvPr/>
        </p:nvSpPr>
        <p:spPr>
          <a:xfrm>
            <a:off x="4870094" y="4086454"/>
            <a:ext cx="94914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7일 이동평균</a:t>
            </a:r>
            <a:endParaRPr lang="en-US" sz="1100" dirty="0"/>
          </a:p>
        </p:txBody>
      </p:sp>
      <p:sp>
        <p:nvSpPr>
          <p:cNvPr id="37" name="Text 23"/>
          <p:cNvSpPr txBox="1"/>
          <p:nvPr/>
        </p:nvSpPr>
        <p:spPr>
          <a:xfrm>
            <a:off x="6452921" y="4086454"/>
            <a:ext cx="10981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요일 효과 제거</a:t>
            </a:r>
            <a:endParaRPr lang="en-US" sz="1100" dirty="0"/>
          </a:p>
        </p:txBody>
      </p:sp>
      <p:sp>
        <p:nvSpPr>
          <p:cNvPr id="38" name="Shape 24"/>
          <p:cNvSpPr/>
          <p:nvPr/>
        </p:nvSpPr>
        <p:spPr>
          <a:xfrm>
            <a:off x="4870094" y="4872838"/>
            <a:ext cx="2457907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9" name="Text 25"/>
          <p:cNvSpPr txBox="1"/>
          <p:nvPr/>
        </p:nvSpPr>
        <p:spPr>
          <a:xfrm>
            <a:off x="4870094" y="4539082"/>
            <a:ext cx="104424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30일 이동평균</a:t>
            </a:r>
            <a:endParaRPr lang="en-US" sz="1100" dirty="0"/>
          </a:p>
        </p:txBody>
      </p:sp>
      <p:sp>
        <p:nvSpPr>
          <p:cNvPr id="40" name="Text 26"/>
          <p:cNvSpPr txBox="1"/>
          <p:nvPr/>
        </p:nvSpPr>
        <p:spPr>
          <a:xfrm>
            <a:off x="6623914" y="4539082"/>
            <a:ext cx="8540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월간 트렌드</a:t>
            </a:r>
            <a:endParaRPr lang="en-US" sz="1100" dirty="0"/>
          </a:p>
        </p:txBody>
      </p:sp>
      <p:sp>
        <p:nvSpPr>
          <p:cNvPr id="41" name="Text 27"/>
          <p:cNvSpPr txBox="1"/>
          <p:nvPr/>
        </p:nvSpPr>
        <p:spPr>
          <a:xfrm>
            <a:off x="4870094" y="4990795"/>
            <a:ext cx="104424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90일 이동평균</a:t>
            </a:r>
            <a:endParaRPr lang="en-US" sz="1100" dirty="0"/>
          </a:p>
        </p:txBody>
      </p:sp>
      <p:sp>
        <p:nvSpPr>
          <p:cNvPr id="42" name="Text 28"/>
          <p:cNvSpPr txBox="1"/>
          <p:nvPr/>
        </p:nvSpPr>
        <p:spPr>
          <a:xfrm>
            <a:off x="6623914" y="4990795"/>
            <a:ext cx="8540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분기 방향성</a:t>
            </a:r>
            <a:endParaRPr lang="en-US" sz="1100" dirty="0"/>
          </a:p>
        </p:txBody>
      </p:sp>
      <p:pic>
        <p:nvPicPr>
          <p:cNvPr id="43" name="Image 12" descr="preencoded.png">    </p:cNvPr>
          <p:cNvPicPr>
            <a:picLocks noChangeAspect="1"/>
          </p:cNvPicPr>
          <p:nvPr/>
        </p:nvPicPr>
        <p:blipFill>
          <a:blip r:embed="rId13"/>
          <a:srcRect l="-174820" r="-174820" t="0" b="0"/>
          <a:stretch/>
        </p:blipFill>
        <p:spPr>
          <a:xfrm>
            <a:off x="4670755" y="5596128"/>
            <a:ext cx="2857500" cy="381305"/>
          </a:xfrm>
          <a:prstGeom prst="rect">
            <a:avLst/>
          </a:prstGeom>
        </p:spPr>
      </p:pic>
      <p:pic>
        <p:nvPicPr>
          <p:cNvPr id="44" name="Image 13" descr="preencoded.png">    </p:cNvPr>
          <p:cNvPicPr>
            <a:picLocks noChangeAspect="1"/>
          </p:cNvPicPr>
          <p:nvPr/>
        </p:nvPicPr>
        <p:blipFill>
          <a:blip r:embed="rId14"/>
          <a:srcRect l="-4" r="-4" t="0" b="0"/>
          <a:stretch/>
        </p:blipFill>
        <p:spPr>
          <a:xfrm>
            <a:off x="8140903" y="1719072"/>
            <a:ext cx="3480206" cy="4572000"/>
          </a:xfrm>
          <a:prstGeom prst="rect">
            <a:avLst/>
          </a:prstGeom>
        </p:spPr>
      </p:pic>
      <p:sp>
        <p:nvSpPr>
          <p:cNvPr id="45" name="Shape 29"/>
          <p:cNvSpPr/>
          <p:nvPr/>
        </p:nvSpPr>
        <p:spPr>
          <a:xfrm>
            <a:off x="8454542" y="2033626"/>
            <a:ext cx="533095" cy="533095"/>
          </a:xfrm>
          <a:prstGeom prst="roundRect">
            <a:avLst>
              <a:gd name="adj" fmla="val 85763"/>
            </a:avLst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6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8607247" y="2186330"/>
            <a:ext cx="228600" cy="228600"/>
          </a:xfrm>
          <a:prstGeom prst="rect">
            <a:avLst/>
          </a:prstGeom>
        </p:spPr>
      </p:pic>
      <p:sp>
        <p:nvSpPr>
          <p:cNvPr id="47" name="Text 30"/>
          <p:cNvSpPr txBox="1"/>
          <p:nvPr/>
        </p:nvSpPr>
        <p:spPr>
          <a:xfrm>
            <a:off x="9140342" y="2049170"/>
            <a:ext cx="1209751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9A34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편차 지표</a:t>
            </a:r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9A34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(Deviation)</a:t>
            </a:r>
            <a:endParaRPr lang="en-US" sz="1600" dirty="0"/>
          </a:p>
        </p:txBody>
      </p:sp>
      <p:sp>
        <p:nvSpPr>
          <p:cNvPr id="48" name="Text 31"/>
          <p:cNvSpPr txBox="1"/>
          <p:nvPr/>
        </p:nvSpPr>
        <p:spPr>
          <a:xfrm>
            <a:off x="8454542" y="2795321"/>
            <a:ext cx="2934310" cy="86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평상시 패턴(Baseline)에서 얼마나 벗어났는지를 통해 이상 징후를 감지합니다.</a:t>
            </a:r>
            <a:endParaRPr lang="en-US" sz="1200" dirty="0"/>
          </a:p>
        </p:txBody>
      </p:sp>
      <p:sp>
        <p:nvSpPr>
          <p:cNvPr id="49" name="Shape 32"/>
          <p:cNvSpPr/>
          <p:nvPr/>
        </p:nvSpPr>
        <p:spPr>
          <a:xfrm>
            <a:off x="8454542" y="3886200"/>
            <a:ext cx="2857500" cy="1524305"/>
          </a:xfrm>
          <a:prstGeom prst="roundRect">
            <a:avLst>
              <a:gd name="adj" fmla="val 8998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0" name="Shape 33"/>
          <p:cNvSpPr/>
          <p:nvPr/>
        </p:nvSpPr>
        <p:spPr>
          <a:xfrm>
            <a:off x="8654796" y="4420210"/>
            <a:ext cx="2457907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51" name="Text 34"/>
          <p:cNvSpPr txBox="1"/>
          <p:nvPr/>
        </p:nvSpPr>
        <p:spPr>
          <a:xfrm>
            <a:off x="8654796" y="4086454"/>
            <a:ext cx="10981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평균 대비 편차</a:t>
            </a:r>
            <a:endParaRPr lang="en-US" sz="1100" dirty="0"/>
          </a:p>
        </p:txBody>
      </p:sp>
      <p:sp>
        <p:nvSpPr>
          <p:cNvPr id="52" name="Text 35"/>
          <p:cNvSpPr txBox="1"/>
          <p:nvPr/>
        </p:nvSpPr>
        <p:spPr>
          <a:xfrm>
            <a:off x="10062972" y="4086454"/>
            <a:ext cx="12472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수준(Level) 변화</a:t>
            </a:r>
            <a:endParaRPr lang="en-US" sz="1100" dirty="0"/>
          </a:p>
        </p:txBody>
      </p:sp>
      <p:sp>
        <p:nvSpPr>
          <p:cNvPr id="53" name="Shape 36"/>
          <p:cNvSpPr/>
          <p:nvPr/>
        </p:nvSpPr>
        <p:spPr>
          <a:xfrm>
            <a:off x="8654796" y="4872838"/>
            <a:ext cx="2457907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54" name="Text 37"/>
          <p:cNvSpPr txBox="1"/>
          <p:nvPr/>
        </p:nvSpPr>
        <p:spPr>
          <a:xfrm>
            <a:off x="8654796" y="4539082"/>
            <a:ext cx="6355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Z-Score</a:t>
            </a:r>
            <a:endParaRPr lang="en-US" sz="1100" dirty="0"/>
          </a:p>
        </p:txBody>
      </p:sp>
      <p:sp>
        <p:nvSpPr>
          <p:cNvPr id="55" name="Text 38"/>
          <p:cNvSpPr txBox="1"/>
          <p:nvPr/>
        </p:nvSpPr>
        <p:spPr>
          <a:xfrm>
            <a:off x="10108692" y="4539082"/>
            <a:ext cx="119054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이상치(Outlier)</a:t>
            </a:r>
            <a:endParaRPr lang="en-US" sz="1100" dirty="0"/>
          </a:p>
        </p:txBody>
      </p:sp>
      <p:sp>
        <p:nvSpPr>
          <p:cNvPr id="56" name="Text 39"/>
          <p:cNvSpPr txBox="1"/>
          <p:nvPr/>
        </p:nvSpPr>
        <p:spPr>
          <a:xfrm>
            <a:off x="8654796" y="4990795"/>
            <a:ext cx="10204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CV (변동계수)</a:t>
            </a:r>
            <a:endParaRPr lang="en-US" sz="1100" dirty="0"/>
          </a:p>
        </p:txBody>
      </p:sp>
      <p:sp>
        <p:nvSpPr>
          <p:cNvPr id="57" name="Text 40"/>
          <p:cNvSpPr txBox="1"/>
          <p:nvPr/>
        </p:nvSpPr>
        <p:spPr>
          <a:xfrm>
            <a:off x="10408615" y="4990795"/>
            <a:ext cx="8540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안정성 평가</a:t>
            </a:r>
            <a:endParaRPr lang="en-US" sz="1100" dirty="0"/>
          </a:p>
        </p:txBody>
      </p:sp>
      <p:pic>
        <p:nvPicPr>
          <p:cNvPr id="58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-403" b="-403"/>
          <a:stretch/>
        </p:blipFill>
        <p:spPr>
          <a:xfrm>
            <a:off x="8454542" y="5777179"/>
            <a:ext cx="2851099" cy="19202"/>
          </a:xfrm>
          <a:prstGeom prst="rect">
            <a:avLst/>
          </a:prstGeom>
        </p:spPr>
      </p:pic>
      <p:sp>
        <p:nvSpPr>
          <p:cNvPr id="59" name="Shape 41"/>
          <p:cNvSpPr/>
          <p:nvPr/>
        </p:nvSpPr>
        <p:spPr>
          <a:xfrm>
            <a:off x="9025128" y="5747918"/>
            <a:ext cx="75895" cy="75895"/>
          </a:xfrm>
          <a:prstGeom prst="ellipse">
            <a:avLst/>
          </a:prstGeom>
          <a:solidFill>
            <a:srgbClr val="EA58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42"/>
          <p:cNvSpPr/>
          <p:nvPr/>
        </p:nvSpPr>
        <p:spPr>
          <a:xfrm>
            <a:off x="9881006" y="5747918"/>
            <a:ext cx="75895" cy="75895"/>
          </a:xfrm>
          <a:prstGeom prst="ellipse">
            <a:avLst/>
          </a:prstGeom>
          <a:solidFill>
            <a:srgbClr val="EA58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1" name="Image 16" descr="preencoded.png">    </p:cNvPr>
          <p:cNvPicPr>
            <a:picLocks noChangeAspect="1"/>
          </p:cNvPicPr>
          <p:nvPr/>
        </p:nvPicPr>
        <p:blipFill>
          <a:blip r:embed="rId17"/>
          <a:srcRect l="0" r="0" t="0" b="0"/>
          <a:stretch/>
        </p:blipFill>
        <p:spPr>
          <a:xfrm>
            <a:off x="10878617" y="5729630"/>
            <a:ext cx="114300" cy="114300"/>
          </a:xfrm>
          <a:prstGeom prst="rect">
            <a:avLst/>
          </a:prstGeom>
        </p:spPr>
      </p:pic>
      <p:pic>
        <p:nvPicPr>
          <p:cNvPr id="62" name="Image 17" descr="preencoded.png">    </p:cNvPr>
          <p:cNvPicPr>
            <a:picLocks noChangeAspect="1"/>
          </p:cNvPicPr>
          <p:nvPr/>
        </p:nvPicPr>
        <p:blipFill>
          <a:blip r:embed="rId18"/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0" r="0" t="0" b="0"/>
          <a:stretch/>
        </p:blipFill>
        <p:spPr>
          <a:xfrm>
            <a:off x="9810598" y="-476402"/>
            <a:ext cx="2857500" cy="28575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71500" y="381305"/>
            <a:ext cx="113541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spc="-63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YoY 성장률 계산과 해석</a:t>
            </a:r>
            <a:endParaRPr lang="en-US" sz="3100" dirty="0"/>
          </a:p>
        </p:txBody>
      </p:sp>
      <p:sp>
        <p:nvSpPr>
          <p:cNvPr id="7" name="Text 4"/>
          <p:cNvSpPr txBox="1"/>
          <p:nvPr/>
        </p:nvSpPr>
        <p:spPr>
          <a:xfrm>
            <a:off x="571500" y="1057046"/>
            <a:ext cx="111639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Year-over-Year: 전년 동기 대비 변화율을 통한 성장 추세 파악</a:t>
            </a:r>
            <a:endParaRPr lang="en-US" sz="15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-7" r="-7" t="0" b="0"/>
          <a:stretch/>
        </p:blipFill>
        <p:spPr>
          <a:xfrm>
            <a:off x="1333195" y="1628546"/>
            <a:ext cx="9525305" cy="2338121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086246" y="1514246"/>
            <a:ext cx="951890" cy="247802"/>
          </a:xfrm>
          <a:prstGeom prst="roundRect">
            <a:avLst>
              <a:gd name="adj" fmla="val 369004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2206447" y="2338121"/>
            <a:ext cx="3124505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E3A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YoY 성장률(%) =</a:t>
            </a:r>
            <a:endParaRPr lang="en-US" sz="2700" dirty="0"/>
          </a:p>
        </p:txBody>
      </p:sp>
      <p:sp>
        <p:nvSpPr>
          <p:cNvPr id="11" name="Shape 7"/>
          <p:cNvSpPr/>
          <p:nvPr/>
        </p:nvSpPr>
        <p:spPr>
          <a:xfrm>
            <a:off x="5341925" y="2581351"/>
            <a:ext cx="3295498" cy="2834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068519" y="2085746"/>
            <a:ext cx="200345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596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올해 매출</a:t>
            </a:r>
            <a:endParaRPr lang="en-US" sz="2700" dirty="0"/>
          </a:p>
        </p:txBody>
      </p:sp>
      <p:sp>
        <p:nvSpPr>
          <p:cNvPr id="13" name="Text 9"/>
          <p:cNvSpPr txBox="1"/>
          <p:nvPr/>
        </p:nvSpPr>
        <p:spPr>
          <a:xfrm>
            <a:off x="6894576" y="2085746"/>
            <a:ext cx="1911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</a:t>
            </a:r>
            <a:endParaRPr lang="en-US" sz="2700" dirty="0"/>
          </a:p>
        </p:txBody>
      </p:sp>
      <p:sp>
        <p:nvSpPr>
          <p:cNvPr id="14" name="Text 10"/>
          <p:cNvSpPr txBox="1"/>
          <p:nvPr/>
        </p:nvSpPr>
        <p:spPr>
          <a:xfrm>
            <a:off x="6907378" y="2085746"/>
            <a:ext cx="200345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DC26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작년 매출</a:t>
            </a:r>
            <a:endParaRPr lang="en-US" sz="2700" dirty="0"/>
          </a:p>
        </p:txBody>
      </p:sp>
      <p:sp>
        <p:nvSpPr>
          <p:cNvPr id="15" name="Text 11"/>
          <p:cNvSpPr txBox="1"/>
          <p:nvPr/>
        </p:nvSpPr>
        <p:spPr>
          <a:xfrm>
            <a:off x="5988406" y="2657246"/>
            <a:ext cx="200345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DC26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작년 매출</a:t>
            </a:r>
            <a:endParaRPr lang="en-US" sz="2700" dirty="0"/>
          </a:p>
        </p:txBody>
      </p:sp>
      <p:sp>
        <p:nvSpPr>
          <p:cNvPr id="16" name="Text 12"/>
          <p:cNvSpPr txBox="1"/>
          <p:nvPr/>
        </p:nvSpPr>
        <p:spPr>
          <a:xfrm>
            <a:off x="8759952" y="2338121"/>
            <a:ext cx="1127455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E3A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× 100</a:t>
            </a:r>
            <a:endParaRPr lang="en-US" sz="2700" dirty="0"/>
          </a:p>
        </p:txBody>
      </p:sp>
      <p:sp>
        <p:nvSpPr>
          <p:cNvPr id="17" name="Text 13"/>
          <p:cNvSpPr txBox="1"/>
          <p:nvPr/>
        </p:nvSpPr>
        <p:spPr>
          <a:xfrm>
            <a:off x="1628546" y="3362249"/>
            <a:ext cx="89346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*전년 동월(또는 동일 기간) 데이터와 비교하여 계절성을 제거한 순수 성장률 측정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57707" y="4347972"/>
            <a:ext cx="5095951" cy="3514954"/>
          </a:xfrm>
          <a:prstGeom prst="roundRect">
            <a:avLst>
              <a:gd name="adj" fmla="val 22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57707" y="4347972"/>
            <a:ext cx="5095951" cy="47549"/>
          </a:xfrm>
          <a:prstGeom prst="roundRect">
            <a:avLst>
              <a:gd name="adj" fmla="val 166770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1590142" y="4681728"/>
            <a:ext cx="42583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왜 절대값 대신 성장률인가? </a:t>
            </a:r>
            <a:endParaRPr lang="en-US" sz="15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rcRect l="-30000" r="-30000" t="0" b="0"/>
          <a:stretch/>
        </p:blipFill>
        <p:spPr>
          <a:xfrm>
            <a:off x="1152144" y="4681728"/>
            <a:ext cx="342900" cy="342900"/>
          </a:xfrm>
          <a:prstGeom prst="rect">
            <a:avLst/>
          </a:prstGeom>
        </p:spPr>
      </p:pic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1100" b="-1100"/>
          <a:stretch/>
        </p:blipFill>
        <p:spPr>
          <a:xfrm>
            <a:off x="1152144" y="5167274"/>
            <a:ext cx="114300" cy="13350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419149" y="5167274"/>
            <a:ext cx="4315054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규모에 관계없는 비교: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매출 규모가 다른 매장 간 성과를 공정하게 비교할 수 있습니다.</a:t>
            </a:r>
            <a:endParaRPr lang="en-US" sz="120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1100" b="-1100"/>
          <a:stretch/>
        </p:blipFill>
        <p:spPr>
          <a:xfrm>
            <a:off x="1152144" y="5768950"/>
            <a:ext cx="114300" cy="133502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419149" y="5768950"/>
            <a:ext cx="4315054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계절성 제거: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전월 대비(MoM)는 계절 효과로 왜곡될 수 있으나, 전년 동기는 계절 조건이 유사합니다.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1152144" y="6399886"/>
            <a:ext cx="4505249" cy="1162202"/>
          </a:xfrm>
          <a:prstGeom prst="roundRect">
            <a:avLst>
              <a:gd name="adj" fmla="val 1289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1304849" y="6799478"/>
            <a:ext cx="4200754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1304849" y="6551676"/>
            <a:ext cx="3246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상황</a:t>
            </a:r>
            <a:endParaRPr lang="en-US" sz="1000" dirty="0"/>
          </a:p>
        </p:txBody>
      </p:sp>
      <p:sp>
        <p:nvSpPr>
          <p:cNvPr id="29" name="Text 22"/>
          <p:cNvSpPr txBox="1"/>
          <p:nvPr/>
        </p:nvSpPr>
        <p:spPr>
          <a:xfrm>
            <a:off x="2876702" y="6551676"/>
            <a:ext cx="79735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절대값 평가</a:t>
            </a:r>
            <a:endParaRPr lang="en-US" sz="1000" dirty="0"/>
          </a:p>
        </p:txBody>
      </p:sp>
      <p:sp>
        <p:nvSpPr>
          <p:cNvPr id="30" name="Text 23"/>
          <p:cNvSpPr txBox="1"/>
          <p:nvPr/>
        </p:nvSpPr>
        <p:spPr>
          <a:xfrm>
            <a:off x="4854550" y="6551676"/>
            <a:ext cx="79735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성장률 평가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1304849" y="7104888"/>
            <a:ext cx="4200754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1304849" y="6857086"/>
            <a:ext cx="127833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A매장 (10억→11억)</a:t>
            </a:r>
            <a:endParaRPr lang="en-US" sz="1000" dirty="0"/>
          </a:p>
        </p:txBody>
      </p:sp>
      <p:sp>
        <p:nvSpPr>
          <p:cNvPr id="33" name="Text 26"/>
          <p:cNvSpPr txBox="1"/>
          <p:nvPr/>
        </p:nvSpPr>
        <p:spPr>
          <a:xfrm>
            <a:off x="3385109" y="6857086"/>
            <a:ext cx="96377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+1억 증가 (큼)</a:t>
            </a:r>
            <a:endParaRPr lang="en-US" sz="1000" dirty="0"/>
          </a:p>
        </p:txBody>
      </p:sp>
      <p:sp>
        <p:nvSpPr>
          <p:cNvPr id="34" name="Text 27"/>
          <p:cNvSpPr txBox="1"/>
          <p:nvPr/>
        </p:nvSpPr>
        <p:spPr>
          <a:xfrm>
            <a:off x="5140757" y="6857086"/>
            <a:ext cx="4480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+10%</a:t>
            </a:r>
            <a:endParaRPr lang="en-US" sz="1000" dirty="0"/>
          </a:p>
        </p:txBody>
      </p:sp>
      <p:sp>
        <p:nvSpPr>
          <p:cNvPr id="35" name="Text 28"/>
          <p:cNvSpPr txBox="1"/>
          <p:nvPr/>
        </p:nvSpPr>
        <p:spPr>
          <a:xfrm>
            <a:off x="1304849" y="7161581"/>
            <a:ext cx="12765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B매장 (1억→1.5억)</a:t>
            </a:r>
            <a:endParaRPr lang="en-US" sz="1000" dirty="0"/>
          </a:p>
        </p:txBody>
      </p:sp>
      <p:sp>
        <p:nvSpPr>
          <p:cNvPr id="36" name="Text 29"/>
          <p:cNvSpPr txBox="1"/>
          <p:nvPr/>
        </p:nvSpPr>
        <p:spPr>
          <a:xfrm>
            <a:off x="3000146" y="7161581"/>
            <a:ext cx="123626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+0.5억 증가 (작음)</a:t>
            </a:r>
            <a:endParaRPr lang="en-US" sz="1000" dirty="0"/>
          </a:p>
        </p:txBody>
      </p:sp>
      <p:sp>
        <p:nvSpPr>
          <p:cNvPr id="37" name="Text 30"/>
          <p:cNvSpPr txBox="1"/>
          <p:nvPr/>
        </p:nvSpPr>
        <p:spPr>
          <a:xfrm>
            <a:off x="4635094" y="7161581"/>
            <a:ext cx="101132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+50% (고성장)</a:t>
            </a:r>
            <a:endParaRPr lang="en-US" sz="1000" dirty="0"/>
          </a:p>
        </p:txBody>
      </p:sp>
      <p:sp>
        <p:nvSpPr>
          <p:cNvPr id="38" name="Shape 31"/>
          <p:cNvSpPr/>
          <p:nvPr/>
        </p:nvSpPr>
        <p:spPr>
          <a:xfrm>
            <a:off x="6238951" y="4347972"/>
            <a:ext cx="5095951" cy="3514954"/>
          </a:xfrm>
          <a:prstGeom prst="roundRect">
            <a:avLst>
              <a:gd name="adj" fmla="val 2256"/>
            </a:avLst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39" name="Shape 32"/>
          <p:cNvSpPr/>
          <p:nvPr/>
        </p:nvSpPr>
        <p:spPr>
          <a:xfrm>
            <a:off x="6238951" y="4347972"/>
            <a:ext cx="5095951" cy="47549"/>
          </a:xfrm>
          <a:prstGeom prst="roundRect">
            <a:avLst>
              <a:gd name="adj" fmla="val 166770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972300" y="4681728"/>
            <a:ext cx="42583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해석 시 주의사항 </a:t>
            </a:r>
            <a:endParaRPr lang="en-US" sz="1500" dirty="0"/>
          </a:p>
        </p:txBody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534302" y="4681728"/>
            <a:ext cx="342900" cy="342900"/>
          </a:xfrm>
          <a:prstGeom prst="rect">
            <a:avLst/>
          </a:prstGeom>
        </p:spPr>
      </p:pic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534302" y="5167274"/>
            <a:ext cx="133502" cy="133502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6820510" y="5167274"/>
            <a:ext cx="429585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기저 효과 (Base Effect):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작년 매출(분모)이 비정상적으로 낮았다면, 올해 조금만 팔아도 성장률이 폭등해 보입니다.</a:t>
            </a:r>
            <a:endParaRPr lang="en-US" sz="1200" dirty="0"/>
          </a:p>
        </p:txBody>
      </p:sp>
      <p:pic>
        <p:nvPicPr>
          <p:cNvPr id="44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6534302" y="5768950"/>
            <a:ext cx="133502" cy="133502"/>
          </a:xfrm>
          <a:prstGeom prst="rect">
            <a:avLst/>
          </a:prstGeom>
        </p:spPr>
      </p:pic>
      <p:sp>
        <p:nvSpPr>
          <p:cNvPr id="45" name="Text 35"/>
          <p:cNvSpPr txBox="1"/>
          <p:nvPr/>
        </p:nvSpPr>
        <p:spPr>
          <a:xfrm>
            <a:off x="6820510" y="5768950"/>
            <a:ext cx="429585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작은 모수의 함정: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매출이 적은 신규 카테고리는 1~2개만 더 팔려도 100%, 200% 성장으로 과장될 수 있습니다.</a:t>
            </a:r>
            <a:endParaRPr lang="en-US" sz="1200" dirty="0"/>
          </a:p>
        </p:txBody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6534302" y="6370625"/>
            <a:ext cx="133502" cy="133502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6820510" y="6370625"/>
            <a:ext cx="429585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누락: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작년 데이터가 없는 신규 매장은 YoY 계산이 불가능하므로 별도 그룹으로 분석해야 합니다.</a:t>
            </a:r>
            <a:endParaRPr lang="en-US" sz="1200" dirty="0"/>
          </a:p>
        </p:txBody>
      </p:sp>
      <p:pic>
        <p:nvPicPr>
          <p:cNvPr id="48" name="Image 9" descr="preencoded.png">    </p:cNvPr>
          <p:cNvPicPr>
            <a:picLocks noChangeAspect="1"/>
          </p:cNvPicPr>
          <p:nvPr/>
        </p:nvPicPr>
        <p:blipFill>
          <a:blip r:embed="rId10"/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71500" y="381305"/>
            <a:ext cx="113541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spc="-63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월×연도 히트맵 분석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시각적으로 계절성 패턴과 이상치를 한눈에 파악하는 방법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71500" y="1628546"/>
            <a:ext cx="3810305" cy="1580998"/>
          </a:xfrm>
          <a:prstGeom prst="roundRect">
            <a:avLst>
              <a:gd name="adj" fmla="val 83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1057046" y="1867205"/>
            <a:ext cx="32772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구조와 원리 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9244" y="1910182"/>
            <a:ext cx="171907" cy="17190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09244" y="2238451"/>
            <a:ext cx="3410712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두 개의 범주(월, 연도)를 축으로 설정하고, 매출의 크기를 </a:t>
            </a:r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색상의 농도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표현합니다. 숫자만으로는 보이지 않는 거시적인 패턴을 직관적으로 보여줍니다. 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71500" y="3397910"/>
            <a:ext cx="3810305" cy="3314700"/>
          </a:xfrm>
          <a:prstGeom prst="roundRect">
            <a:avLst>
              <a:gd name="adj" fmla="val 19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1057046" y="3636569"/>
            <a:ext cx="32772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해석 포인트 </a:t>
            </a:r>
            <a:endParaRPr lang="en-US" sz="13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09244" y="3679546"/>
            <a:ext cx="171907" cy="171907"/>
          </a:xfrm>
          <a:prstGeom prst="rect">
            <a:avLst/>
          </a:prstGeom>
        </p:spPr>
      </p:pic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rcRect l="-760" r="-760" t="0" b="0"/>
          <a:stretch/>
        </p:blipFill>
        <p:spPr>
          <a:xfrm>
            <a:off x="809244" y="4046220"/>
            <a:ext cx="152705" cy="17190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076249" y="4007815"/>
            <a:ext cx="3182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계절성 (Seasonality)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1076249" y="4274820"/>
            <a:ext cx="31437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특정 월(행)의 색상이 매년 진하게 나타나는지 확인합니다. (예: 12월 연말 특수)</a:t>
            </a:r>
            <a:endParaRPr lang="en-US" sz="10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09244" y="4865522"/>
            <a:ext cx="171907" cy="171907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095451" y="4827118"/>
            <a:ext cx="3162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장기 트렌드 (Trend)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1095451" y="5094122"/>
            <a:ext cx="31245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왼쪽(과거)에서 오른쪽(최근)으로 갈수록 전체적인 색상이 진해진다면 성장 추세입니다.</a:t>
            </a:r>
            <a:endParaRPr lang="en-US" sz="10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09244" y="5683910"/>
            <a:ext cx="171907" cy="171907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095451" y="5646420"/>
            <a:ext cx="3162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이상치 (Outlier)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1095451" y="5912510"/>
            <a:ext cx="31245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패턴에서 벗어난 유독 진하거나 옅은 스팟을 찾습니다. (예: 지진, 파업 등 외부 요인)</a:t>
            </a:r>
            <a:endParaRPr lang="en-US" sz="10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rcRect l="-4" r="-4" t="0" b="0"/>
          <a:stretch/>
        </p:blipFill>
        <p:spPr>
          <a:xfrm>
            <a:off x="4762195" y="1628546"/>
            <a:ext cx="6858000" cy="5266944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4962449" y="1828800"/>
            <a:ext cx="2276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예시: 연도별 월 매출 히트맵</a:t>
            </a:r>
            <a:endParaRPr lang="en-US" sz="1200" dirty="0"/>
          </a:p>
        </p:txBody>
      </p:sp>
      <p:sp>
        <p:nvSpPr>
          <p:cNvPr id="25" name="Text 17"/>
          <p:cNvSpPr txBox="1"/>
          <p:nvPr/>
        </p:nvSpPr>
        <p:spPr>
          <a:xfrm>
            <a:off x="9532620" y="1857146"/>
            <a:ext cx="3054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Low</a:t>
            </a:r>
            <a:endParaRPr lang="en-US" sz="90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rcRect l="-217" r="-217" t="0" b="0"/>
          <a:stretch/>
        </p:blipFill>
        <p:spPr>
          <a:xfrm>
            <a:off x="9829800" y="1904695"/>
            <a:ext cx="952805" cy="75895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10858500" y="1857146"/>
            <a:ext cx="68031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High Sales</a:t>
            </a:r>
            <a:endParaRPr lang="en-US" sz="90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rcRect l="-1" r="-1" t="0" b="0"/>
          <a:stretch/>
        </p:blipFill>
        <p:spPr>
          <a:xfrm>
            <a:off x="4962449" y="2152498"/>
            <a:ext cx="6458407" cy="4543654"/>
          </a:xfrm>
          <a:prstGeom prst="rect">
            <a:avLst/>
          </a:prstGeom>
        </p:spPr>
      </p:pic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10598" y="-476402"/>
            <a:ext cx="2857500" cy="2857500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381305"/>
            <a:ext cx="113541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spc="-63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프로모션 리프트(Lift) 분석</a:t>
            </a:r>
            <a:endParaRPr lang="en-US" sz="31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프로모션 유무에 따른 매출 성과 차이를 측정하여 마케팅 효율성 판단</a:t>
            </a:r>
            <a:endParaRPr lang="en-US" sz="15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-7" r="-7" t="0" b="0"/>
          <a:stretch/>
        </p:blipFill>
        <p:spPr>
          <a:xfrm>
            <a:off x="1333195" y="1628546"/>
            <a:ext cx="9525305" cy="2338121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086246" y="1514246"/>
            <a:ext cx="951890" cy="247802"/>
          </a:xfrm>
          <a:prstGeom prst="roundRect">
            <a:avLst>
              <a:gd name="adj" fmla="val 369004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896466" y="2338121"/>
            <a:ext cx="20263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E3A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Lift(%) =</a:t>
            </a:r>
            <a:endParaRPr lang="en-US" sz="2700" dirty="0"/>
          </a:p>
        </p:txBody>
      </p:sp>
      <p:sp>
        <p:nvSpPr>
          <p:cNvPr id="11" name="Shape 8"/>
          <p:cNvSpPr/>
          <p:nvPr/>
        </p:nvSpPr>
        <p:spPr>
          <a:xfrm>
            <a:off x="3895344" y="2581351"/>
            <a:ext cx="5009998" cy="2834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520440" y="2085746"/>
            <a:ext cx="289407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596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프로모션 매출</a:t>
            </a:r>
            <a:endParaRPr lang="en-US" sz="2700" dirty="0"/>
          </a:p>
        </p:txBody>
      </p:sp>
      <p:sp>
        <p:nvSpPr>
          <p:cNvPr id="13" name="Text 10"/>
          <p:cNvSpPr txBox="1"/>
          <p:nvPr/>
        </p:nvSpPr>
        <p:spPr>
          <a:xfrm>
            <a:off x="6133795" y="2085746"/>
            <a:ext cx="1911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</a:t>
            </a:r>
            <a:endParaRPr lang="en-US" sz="2700" dirty="0"/>
          </a:p>
        </p:txBody>
      </p:sp>
      <p:sp>
        <p:nvSpPr>
          <p:cNvPr id="14" name="Text 11"/>
          <p:cNvSpPr txBox="1"/>
          <p:nvPr/>
        </p:nvSpPr>
        <p:spPr>
          <a:xfrm>
            <a:off x="5993892" y="2085746"/>
            <a:ext cx="333847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DC26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비프로모션 매출</a:t>
            </a:r>
            <a:endParaRPr lang="en-US" sz="2700" dirty="0"/>
          </a:p>
        </p:txBody>
      </p:sp>
      <p:sp>
        <p:nvSpPr>
          <p:cNvPr id="15" name="Text 12"/>
          <p:cNvSpPr txBox="1"/>
          <p:nvPr/>
        </p:nvSpPr>
        <p:spPr>
          <a:xfrm>
            <a:off x="4731106" y="2657246"/>
            <a:ext cx="3338474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DC26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비프로모션 매출</a:t>
            </a:r>
            <a:endParaRPr lang="en-US" sz="2700" dirty="0"/>
          </a:p>
        </p:txBody>
      </p:sp>
      <p:sp>
        <p:nvSpPr>
          <p:cNvPr id="16" name="Text 13"/>
          <p:cNvSpPr txBox="1"/>
          <p:nvPr/>
        </p:nvSpPr>
        <p:spPr>
          <a:xfrm>
            <a:off x="9027871" y="2338121"/>
            <a:ext cx="1127455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E3A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× 100</a:t>
            </a:r>
            <a:endParaRPr lang="en-US" sz="2700" dirty="0"/>
          </a:p>
        </p:txBody>
      </p:sp>
      <p:sp>
        <p:nvSpPr>
          <p:cNvPr id="17" name="Text 14"/>
          <p:cNvSpPr txBox="1"/>
          <p:nvPr/>
        </p:nvSpPr>
        <p:spPr>
          <a:xfrm>
            <a:off x="1628546" y="3362249"/>
            <a:ext cx="89346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*평상시 대비 프로모션 기간 동안 매출이 얼마나 "들어 올려졌는지(Lift)" 측정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57707" y="4347972"/>
            <a:ext cx="5095951" cy="3514954"/>
          </a:xfrm>
          <a:prstGeom prst="roundRect">
            <a:avLst>
              <a:gd name="adj" fmla="val 22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57707" y="4347972"/>
            <a:ext cx="5095951" cy="47549"/>
          </a:xfrm>
          <a:prstGeom prst="roundRect">
            <a:avLst>
              <a:gd name="adj" fmla="val 166770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590142" y="4681728"/>
            <a:ext cx="42583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리프트 지수의 해석 </a:t>
            </a:r>
            <a:endParaRPr lang="en-US" sz="15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152144" y="4681728"/>
            <a:ext cx="342900" cy="342900"/>
          </a:xfrm>
          <a:prstGeom prst="rect">
            <a:avLst/>
          </a:prstGeom>
        </p:spPr>
      </p:pic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1100" b="-1100"/>
          <a:stretch/>
        </p:blipFill>
        <p:spPr>
          <a:xfrm>
            <a:off x="1152144" y="5167274"/>
            <a:ext cx="114300" cy="133502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1419149" y="5167274"/>
            <a:ext cx="4315054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+50%의 의미: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프로모션을 진행했을 때 평소보다 매출이 1.5배 높았다는 뜻입니다.</a:t>
            </a:r>
            <a:endParaRPr lang="en-US" sz="12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1100" b="-1100"/>
          <a:stretch/>
        </p:blipFill>
        <p:spPr>
          <a:xfrm>
            <a:off x="1152144" y="5768950"/>
            <a:ext cx="114300" cy="13350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419149" y="5768950"/>
            <a:ext cx="4315054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민감도 파악: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카테고리별로 리프트를 비교하면, 할인에 민감한 상품군(탄력적)을 식별할 수 있습니다.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1152144" y="6399886"/>
            <a:ext cx="4505249" cy="1162202"/>
          </a:xfrm>
          <a:prstGeom prst="roundRect">
            <a:avLst>
              <a:gd name="adj" fmla="val 1289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1304849" y="6799478"/>
            <a:ext cx="4200754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1304849" y="6551676"/>
            <a:ext cx="5715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카테고리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3301898" y="6551676"/>
            <a:ext cx="54406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Lift(%)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5259629" y="6551676"/>
            <a:ext cx="3246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해석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1304849" y="7104888"/>
            <a:ext cx="4200754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1304849" y="6857086"/>
            <a:ext cx="11338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식료품(Grocery)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3201314" y="6857086"/>
            <a:ext cx="4480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+15%</a:t>
            </a:r>
            <a:endParaRPr lang="en-US" sz="1000" dirty="0"/>
          </a:p>
        </p:txBody>
      </p:sp>
      <p:sp>
        <p:nvSpPr>
          <p:cNvPr id="34" name="Text 28"/>
          <p:cNvSpPr txBox="1"/>
          <p:nvPr/>
        </p:nvSpPr>
        <p:spPr>
          <a:xfrm>
            <a:off x="4518965" y="6857086"/>
            <a:ext cx="121615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비탄력적 (필수재)</a:t>
            </a:r>
            <a:endParaRPr lang="en-US" sz="1000" dirty="0"/>
          </a:p>
        </p:txBody>
      </p:sp>
      <p:sp>
        <p:nvSpPr>
          <p:cNvPr id="35" name="Text 29"/>
          <p:cNvSpPr txBox="1"/>
          <p:nvPr/>
        </p:nvSpPr>
        <p:spPr>
          <a:xfrm>
            <a:off x="1304849" y="7161581"/>
            <a:ext cx="150784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전자제품(Electronics)</a:t>
            </a:r>
            <a:endParaRPr lang="en-US" sz="1000" dirty="0"/>
          </a:p>
        </p:txBody>
      </p:sp>
      <p:sp>
        <p:nvSpPr>
          <p:cNvPr id="36" name="Text 30"/>
          <p:cNvSpPr txBox="1"/>
          <p:nvPr/>
        </p:nvSpPr>
        <p:spPr>
          <a:xfrm>
            <a:off x="3083357" y="7161581"/>
            <a:ext cx="5239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+120%</a:t>
            </a:r>
            <a:endParaRPr lang="en-US" sz="1000" dirty="0"/>
          </a:p>
        </p:txBody>
      </p:sp>
      <p:sp>
        <p:nvSpPr>
          <p:cNvPr id="37" name="Text 31"/>
          <p:cNvSpPr txBox="1"/>
          <p:nvPr/>
        </p:nvSpPr>
        <p:spPr>
          <a:xfrm>
            <a:off x="4038905" y="7161581"/>
            <a:ext cx="187817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매우 탄력적 (할인 효과 큼)</a:t>
            </a:r>
            <a:endParaRPr lang="en-US" sz="1000" dirty="0"/>
          </a:p>
        </p:txBody>
      </p:sp>
      <p:sp>
        <p:nvSpPr>
          <p:cNvPr id="38" name="Shape 32"/>
          <p:cNvSpPr/>
          <p:nvPr/>
        </p:nvSpPr>
        <p:spPr>
          <a:xfrm>
            <a:off x="6238951" y="4347972"/>
            <a:ext cx="5095951" cy="3514954"/>
          </a:xfrm>
          <a:prstGeom prst="roundRect">
            <a:avLst>
              <a:gd name="adj" fmla="val 2256"/>
            </a:avLst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39" name="Shape 33"/>
          <p:cNvSpPr/>
          <p:nvPr/>
        </p:nvSpPr>
        <p:spPr>
          <a:xfrm>
            <a:off x="6238951" y="4347972"/>
            <a:ext cx="5095951" cy="47549"/>
          </a:xfrm>
          <a:prstGeom prst="roundRect">
            <a:avLst>
              <a:gd name="adj" fmla="val 166770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0" name="Text 34"/>
          <p:cNvSpPr txBox="1"/>
          <p:nvPr/>
        </p:nvSpPr>
        <p:spPr>
          <a:xfrm>
            <a:off x="6972300" y="4681728"/>
            <a:ext cx="42583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상관관계 vs 인과관계의 함정 </a:t>
            </a:r>
            <a:endParaRPr lang="en-US" sz="1500" dirty="0"/>
          </a:p>
        </p:txBody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534302" y="4681728"/>
            <a:ext cx="342900" cy="342900"/>
          </a:xfrm>
          <a:prstGeom prst="rect">
            <a:avLst/>
          </a:prstGeom>
        </p:spPr>
      </p:pic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534302" y="5167274"/>
            <a:ext cx="133502" cy="133502"/>
          </a:xfrm>
          <a:prstGeom prst="rect">
            <a:avLst/>
          </a:prstGeom>
        </p:spPr>
      </p:pic>
      <p:sp>
        <p:nvSpPr>
          <p:cNvPr id="43" name="Text 35"/>
          <p:cNvSpPr txBox="1"/>
          <p:nvPr/>
        </p:nvSpPr>
        <p:spPr>
          <a:xfrm>
            <a:off x="6820510" y="5167274"/>
            <a:ext cx="429585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타깃팅 바이어스(Bias):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"원래 잘 팔리는 인기 상품"에 프로모션을 거는 경향이 있어 효과가 과장될 수 있습니다.</a:t>
            </a:r>
            <a:endParaRPr lang="en-US" sz="1200" dirty="0"/>
          </a:p>
        </p:txBody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534302" y="5768950"/>
            <a:ext cx="133502" cy="133502"/>
          </a:xfrm>
          <a:prstGeom prst="rect">
            <a:avLst/>
          </a:prstGeom>
        </p:spPr>
      </p:pic>
      <p:sp>
        <p:nvSpPr>
          <p:cNvPr id="45" name="Text 36"/>
          <p:cNvSpPr txBox="1"/>
          <p:nvPr/>
        </p:nvSpPr>
        <p:spPr>
          <a:xfrm>
            <a:off x="6820510" y="5768950"/>
            <a:ext cx="429585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교란 변수: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크리스마스 같은 성수기에 프로모션을 하면, 매출 증가는 '시즌 효과'인지 '할인 효과'인지 구분하기 어렵습니다.</a:t>
            </a:r>
            <a:endParaRPr lang="en-US" sz="1200" dirty="0"/>
          </a:p>
        </p:txBody>
      </p:sp>
      <p:pic>
        <p:nvPicPr>
          <p:cNvPr id="46" name="Image 7" descr="preencoded.png">    </p:cNvPr>
          <p:cNvPicPr>
            <a:picLocks noChangeAspect="1"/>
          </p:cNvPicPr>
          <p:nvPr/>
        </p:nvPicPr>
        <p:blipFill>
          <a:blip r:embed="rId8"/>
          <a:srcRect l="-2512" r="-2512" t="0" b="0"/>
          <a:stretch/>
        </p:blipFill>
        <p:spPr>
          <a:xfrm>
            <a:off x="6534302" y="6370625"/>
            <a:ext cx="105156" cy="133502"/>
          </a:xfrm>
          <a:prstGeom prst="rect">
            <a:avLst/>
          </a:prstGeom>
        </p:spPr>
      </p:pic>
      <p:sp>
        <p:nvSpPr>
          <p:cNvPr id="47" name="Text 37"/>
          <p:cNvSpPr txBox="1"/>
          <p:nvPr/>
        </p:nvSpPr>
        <p:spPr>
          <a:xfrm>
            <a:off x="6791249" y="6370625"/>
            <a:ext cx="4324198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해결책: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정확한 인과관계 파악을 위해서는 프로모션을 하지 않은 유사 매장/기간과 비교(A/B 테스트)해야 합니다.</a:t>
            </a:r>
            <a:endParaRPr lang="en-US" sz="1200" dirty="0"/>
          </a:p>
        </p:txBody>
      </p:sp>
      <p:pic>
        <p:nvPicPr>
          <p:cNvPr id="48" name="Image 8" descr="preencoded.png">    </p:cNvPr>
          <p:cNvPicPr>
            <a:picLocks noChangeAspect="1"/>
          </p:cNvPicPr>
          <p:nvPr/>
        </p:nvPicPr>
        <p:blipFill>
          <a:blip r:embed="rId9"/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10598" y="-476402"/>
            <a:ext cx="2857500" cy="2857500"/>
          </a:xfrm>
          <a:prstGeom prst="ellipse">
            <a:avLst/>
          </a:prstGeom>
          <a:solidFill>
            <a:srgbClr val="3B82F6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-476402" y="5429707"/>
            <a:ext cx="1904695" cy="1904695"/>
          </a:xfrm>
          <a:prstGeom prst="rect">
            <a:avLst/>
          </a:prstGeom>
          <a:solidFill>
            <a:srgbClr val="E11D48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381305"/>
            <a:ext cx="113541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spc="-63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교란 변수: 휴일 vs 프로모션</a:t>
            </a:r>
            <a:endParaRPr lang="en-US" sz="31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휴일이라서 잘 팔린 것일까? 데이터로 검증하는 인과관계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71500" y="5915254"/>
            <a:ext cx="11048695" cy="1285646"/>
          </a:xfrm>
          <a:prstGeom prst="roundRect">
            <a:avLst>
              <a:gd name="adj" fmla="val 12644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71346" y="6344107"/>
            <a:ext cx="6848856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 변수(휴일-매출) 사이의 관계를 왜곡하는 제3의 변수(프로모션)를 말합니다. A/B 테스트나 데이터 분석 시 반드시 </a:t>
            </a:r>
            <a:pPr algn="l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통제 변수</a:t>
            </a:r>
            <a:pPr algn="l"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설정하여 순수한 효과를 측정해야 합니다.</a:t>
            </a:r>
            <a:endParaRPr lang="en-US" sz="11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-133" r="-133" t="0" b="0"/>
          <a:stretch/>
        </p:blipFill>
        <p:spPr>
          <a:xfrm>
            <a:off x="809244" y="6452921"/>
            <a:ext cx="171907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171346" y="6077102"/>
            <a:ext cx="28456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교란 변수 (Confounding Variable)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71500" y="1628546"/>
            <a:ext cx="5333695" cy="4000500"/>
          </a:xfrm>
          <a:prstGeom prst="roundRect">
            <a:avLst>
              <a:gd name="adj" fmla="val 17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71500" y="1628546"/>
            <a:ext cx="5333695" cy="57607"/>
          </a:xfrm>
          <a:prstGeom prst="roundRect">
            <a:avLst>
              <a:gd name="adj" fmla="val 120938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66851" y="2743200"/>
            <a:ext cx="4743907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66851" y="2048256"/>
            <a:ext cx="476402" cy="476402"/>
          </a:xfrm>
          <a:prstGeom prst="roundRect">
            <a:avLst>
              <a:gd name="adj" fmla="val 92131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45" b="-45"/>
          <a:stretch/>
        </p:blipFill>
        <p:spPr>
          <a:xfrm>
            <a:off x="976579" y="2171700"/>
            <a:ext cx="256946" cy="2286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495044" y="1971446"/>
            <a:ext cx="323240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관찰된 현상 (Phenomenon)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1495044" y="2352751"/>
            <a:ext cx="923544" cy="247802"/>
          </a:xfrm>
          <a:prstGeom prst="roundRect">
            <a:avLst>
              <a:gd name="adj" fmla="val 170310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1495044" y="2352751"/>
            <a:ext cx="981151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가설: 휴일 효과</a:t>
            </a:r>
            <a:endParaRPr lang="en-US" sz="9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1100" b="-1100"/>
          <a:stretch/>
        </p:blipFill>
        <p:spPr>
          <a:xfrm>
            <a:off x="866851" y="2952598"/>
            <a:ext cx="114300" cy="13350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81151" y="2952598"/>
            <a:ext cx="41934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휴일(Holiday) 기간에 매출이 평소보다 높게 나타남</a:t>
            </a:r>
            <a:endParaRPr lang="en-US" sz="12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66851" y="3338474"/>
            <a:ext cx="133502" cy="13350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000354" y="3338474"/>
            <a:ext cx="366948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"쉬는 날이라 고객이 많다"고 직관적으로 해석</a:t>
            </a:r>
            <a:endParaRPr lang="en-US" sz="12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66851" y="3724351"/>
            <a:ext cx="133502" cy="13350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000354" y="3724351"/>
            <a:ext cx="388254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하지만 휴일에는 </a:t>
            </a:r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대규모 프로모션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 함께 진행됨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866851" y="4448556"/>
            <a:ext cx="4743907" cy="886054"/>
          </a:xfrm>
          <a:prstGeom prst="roundRect">
            <a:avLst>
              <a:gd name="adj" fmla="val 1775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1019556" y="4600346"/>
            <a:ext cx="46296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일반적 해석 오류</a:t>
            </a:r>
            <a:endParaRPr lang="en-US" sz="900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rcRect l="-99" r="-99" t="0" b="0"/>
          <a:stretch/>
        </p:blipFill>
        <p:spPr>
          <a:xfrm>
            <a:off x="2297887" y="4848149"/>
            <a:ext cx="666598" cy="333756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2593238" y="4848149"/>
            <a:ext cx="42885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휴일</a:t>
            </a:r>
            <a:endParaRPr lang="en-US" sz="1000" dirty="0"/>
          </a:p>
        </p:txBody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1100" b="-1100"/>
          <a:stretch/>
        </p:blipFill>
        <p:spPr>
          <a:xfrm>
            <a:off x="2421331" y="4947818"/>
            <a:ext cx="114300" cy="133502"/>
          </a:xfrm>
          <a:prstGeom prst="rect">
            <a:avLst/>
          </a:prstGeom>
        </p:spPr>
      </p:pic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1100" b="-1100"/>
          <a:stretch/>
        </p:blipFill>
        <p:spPr>
          <a:xfrm>
            <a:off x="3057754" y="4947818"/>
            <a:ext cx="114300" cy="133502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3267151" y="4848149"/>
            <a:ext cx="9720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매출 상승 (오해)</a:t>
            </a:r>
            <a:endParaRPr lang="en-US" sz="1000" dirty="0"/>
          </a:p>
        </p:txBody>
      </p:sp>
      <p:sp>
        <p:nvSpPr>
          <p:cNvPr id="34" name="Shape 24"/>
          <p:cNvSpPr/>
          <p:nvPr/>
        </p:nvSpPr>
        <p:spPr>
          <a:xfrm>
            <a:off x="6286500" y="1628546"/>
            <a:ext cx="5333695" cy="4000500"/>
          </a:xfrm>
          <a:prstGeom prst="roundRect">
            <a:avLst>
              <a:gd name="adj" fmla="val 17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6286500" y="1628546"/>
            <a:ext cx="5333695" cy="57607"/>
          </a:xfrm>
          <a:prstGeom prst="roundRect">
            <a:avLst>
              <a:gd name="adj" fmla="val 120938"/>
            </a:avLst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36" name="Shape 26"/>
          <p:cNvSpPr/>
          <p:nvPr/>
        </p:nvSpPr>
        <p:spPr>
          <a:xfrm>
            <a:off x="6581851" y="2743200"/>
            <a:ext cx="4743907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37" name="Shape 27"/>
          <p:cNvSpPr/>
          <p:nvPr/>
        </p:nvSpPr>
        <p:spPr>
          <a:xfrm>
            <a:off x="6581851" y="2048256"/>
            <a:ext cx="476402" cy="476402"/>
          </a:xfrm>
          <a:prstGeom prst="roundRect">
            <a:avLst>
              <a:gd name="adj" fmla="val 92131"/>
            </a:avLst>
          </a:prstGeom>
          <a:solidFill>
            <a:srgbClr val="FFE4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6705295" y="2171700"/>
            <a:ext cx="228600" cy="228600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7210044" y="1971446"/>
            <a:ext cx="315193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검증 (Verification)</a:t>
            </a:r>
            <a:endParaRPr lang="en-US" sz="1800" dirty="0"/>
          </a:p>
        </p:txBody>
      </p:sp>
      <p:sp>
        <p:nvSpPr>
          <p:cNvPr id="40" name="Shape 29"/>
          <p:cNvSpPr/>
          <p:nvPr/>
        </p:nvSpPr>
        <p:spPr>
          <a:xfrm>
            <a:off x="7210044" y="2352751"/>
            <a:ext cx="1133856" cy="247802"/>
          </a:xfrm>
          <a:prstGeom prst="roundRect">
            <a:avLst>
              <a:gd name="adj" fmla="val 170310"/>
            </a:avLst>
          </a:prstGeom>
          <a:solidFill>
            <a:srgbClr val="FECDD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0"/>
          <p:cNvSpPr txBox="1"/>
          <p:nvPr/>
        </p:nvSpPr>
        <p:spPr>
          <a:xfrm>
            <a:off x="7210044" y="2352751"/>
            <a:ext cx="1191463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F123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진실: 프로모션 효과</a:t>
            </a:r>
            <a:endParaRPr lang="en-US" sz="900" dirty="0"/>
          </a:p>
        </p:txBody>
      </p:sp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6581851" y="2952598"/>
            <a:ext cx="133502" cy="133502"/>
          </a:xfrm>
          <a:prstGeom prst="rect">
            <a:avLst/>
          </a:prstGeom>
        </p:spPr>
      </p:pic>
      <p:sp>
        <p:nvSpPr>
          <p:cNvPr id="43" name="Text 31"/>
          <p:cNvSpPr txBox="1"/>
          <p:nvPr/>
        </p:nvSpPr>
        <p:spPr>
          <a:xfrm>
            <a:off x="6715354" y="2952598"/>
            <a:ext cx="464240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통제 변수: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프로모션 없는 휴일(OnPromotion=0)만 필터링</a:t>
            </a:r>
            <a:endParaRPr lang="en-US" sz="1200" dirty="0"/>
          </a:p>
        </p:txBody>
      </p:sp>
      <p:pic>
        <p:nvPicPr>
          <p:cNvPr id="44" name="Image 10" descr="preencoded.png">    </p:cNvPr>
          <p:cNvPicPr>
            <a:picLocks noChangeAspect="1"/>
          </p:cNvPicPr>
          <p:nvPr/>
        </p:nvPicPr>
        <p:blipFill>
          <a:blip r:embed="rId11"/>
          <a:srcRect l="-2512" r="-2512" t="0" b="0"/>
          <a:stretch/>
        </p:blipFill>
        <p:spPr>
          <a:xfrm>
            <a:off x="6581851" y="3338474"/>
            <a:ext cx="105156" cy="133502"/>
          </a:xfrm>
          <a:prstGeom prst="rect">
            <a:avLst/>
          </a:prstGeom>
        </p:spPr>
      </p:pic>
      <p:sp>
        <p:nvSpPr>
          <p:cNvPr id="45" name="Text 32"/>
          <p:cNvSpPr txBox="1"/>
          <p:nvPr/>
        </p:nvSpPr>
        <p:spPr>
          <a:xfrm>
            <a:off x="6687007" y="3338474"/>
            <a:ext cx="491307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 결과, 프로모션 없는 휴일 매출은 평일 대비 </a:t>
            </a:r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-6.2% 감소</a:t>
            </a:r>
            <a:endParaRPr lang="en-US" sz="1200" dirty="0"/>
          </a:p>
        </p:txBody>
      </p:sp>
      <p:pic>
        <p:nvPicPr>
          <p:cNvPr id="46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6581851" y="3724351"/>
            <a:ext cx="133502" cy="133502"/>
          </a:xfrm>
          <a:prstGeom prst="rect">
            <a:avLst/>
          </a:prstGeom>
        </p:spPr>
      </p:pic>
      <p:sp>
        <p:nvSpPr>
          <p:cNvPr id="47" name="Text 33"/>
          <p:cNvSpPr txBox="1"/>
          <p:nvPr/>
        </p:nvSpPr>
        <p:spPr>
          <a:xfrm>
            <a:off x="6715354" y="3724351"/>
            <a:ext cx="398038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매출 상승의 진짜 원인은 휴일이 아닌 </a:t>
            </a:r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프로모션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</a:t>
            </a:r>
            <a:endParaRPr lang="en-US" sz="1200" dirty="0"/>
          </a:p>
        </p:txBody>
      </p:sp>
      <p:sp>
        <p:nvSpPr>
          <p:cNvPr id="48" name="Shape 34"/>
          <p:cNvSpPr/>
          <p:nvPr/>
        </p:nvSpPr>
        <p:spPr>
          <a:xfrm>
            <a:off x="6581851" y="4448556"/>
            <a:ext cx="4743907" cy="886054"/>
          </a:xfrm>
          <a:prstGeom prst="roundRect">
            <a:avLst>
              <a:gd name="adj" fmla="val 1775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9" name="Text 35"/>
          <p:cNvSpPr txBox="1"/>
          <p:nvPr/>
        </p:nvSpPr>
        <p:spPr>
          <a:xfrm>
            <a:off x="6734556" y="4600346"/>
            <a:ext cx="46296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교란 요인 통제 후</a:t>
            </a:r>
            <a:endParaRPr lang="en-US" sz="900" dirty="0"/>
          </a:p>
        </p:txBody>
      </p:sp>
      <p:pic>
        <p:nvPicPr>
          <p:cNvPr id="50" name="Image 12" descr="preencoded.png">    </p:cNvPr>
          <p:cNvPicPr>
            <a:picLocks noChangeAspect="1"/>
          </p:cNvPicPr>
          <p:nvPr/>
        </p:nvPicPr>
        <p:blipFill>
          <a:blip r:embed="rId13"/>
          <a:srcRect l="-99" r="-99" t="0" b="0"/>
          <a:stretch/>
        </p:blipFill>
        <p:spPr>
          <a:xfrm>
            <a:off x="7543800" y="4848149"/>
            <a:ext cx="666598" cy="333756"/>
          </a:xfrm>
          <a:prstGeom prst="rect">
            <a:avLst/>
          </a:prstGeom>
        </p:spPr>
      </p:pic>
      <p:sp>
        <p:nvSpPr>
          <p:cNvPr id="51" name="Text 36"/>
          <p:cNvSpPr txBox="1"/>
          <p:nvPr/>
        </p:nvSpPr>
        <p:spPr>
          <a:xfrm>
            <a:off x="7839151" y="4848149"/>
            <a:ext cx="42885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휴일</a:t>
            </a:r>
            <a:endParaRPr lang="en-US" sz="1000" dirty="0"/>
          </a:p>
        </p:txBody>
      </p:sp>
      <p:pic>
        <p:nvPicPr>
          <p:cNvPr id="52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-1100" b="-1100"/>
          <a:stretch/>
        </p:blipFill>
        <p:spPr>
          <a:xfrm>
            <a:off x="7667244" y="4947818"/>
            <a:ext cx="114300" cy="133502"/>
          </a:xfrm>
          <a:prstGeom prst="rect">
            <a:avLst/>
          </a:prstGeom>
        </p:spPr>
      </p:pic>
      <p:sp>
        <p:nvSpPr>
          <p:cNvPr id="53" name="Text 37"/>
          <p:cNvSpPr txBox="1"/>
          <p:nvPr/>
        </p:nvSpPr>
        <p:spPr>
          <a:xfrm>
            <a:off x="8303666" y="4848149"/>
            <a:ext cx="90525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without Promo</a:t>
            </a:r>
            <a:endParaRPr lang="en-US" sz="900" dirty="0"/>
          </a:p>
        </p:txBody>
      </p:sp>
      <p:pic>
        <p:nvPicPr>
          <p:cNvPr id="54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-1100" b="-1100"/>
          <a:stretch/>
        </p:blipFill>
        <p:spPr>
          <a:xfrm>
            <a:off x="9241841" y="4947818"/>
            <a:ext cx="114300" cy="133502"/>
          </a:xfrm>
          <a:prstGeom prst="rect">
            <a:avLst/>
          </a:prstGeom>
        </p:spPr>
      </p:pic>
      <p:sp>
        <p:nvSpPr>
          <p:cNvPr id="55" name="Text 38"/>
          <p:cNvSpPr txBox="1"/>
          <p:nvPr/>
        </p:nvSpPr>
        <p:spPr>
          <a:xfrm>
            <a:off x="9451238" y="4848149"/>
            <a:ext cx="9720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매출 감소 (진실)</a:t>
            </a:r>
            <a:endParaRPr lang="en-US" sz="1000" dirty="0"/>
          </a:p>
        </p:txBody>
      </p:sp>
      <p:pic>
        <p:nvPicPr>
          <p:cNvPr id="56" name="Image 15" descr="preencoded.png">    </p:cNvPr>
          <p:cNvPicPr>
            <a:picLocks noChangeAspect="1"/>
          </p:cNvPicPr>
          <p:nvPr/>
        </p:nvPicPr>
        <p:blipFill>
          <a:blip r:embed="rId16"/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10598" y="1904695"/>
            <a:ext cx="2857500" cy="2857500"/>
          </a:xfrm>
          <a:prstGeom prst="ellipse">
            <a:avLst/>
          </a:prstGeom>
          <a:solidFill>
            <a:srgbClr val="F0F9FF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381305"/>
            <a:ext cx="113541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spc="-63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성장 기여도 분해</a:t>
            </a:r>
            <a:endParaRPr lang="en-US" sz="31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어떤 세그먼트가 전체 성장을 견인했는지 파악하는 정량적 분석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71500" y="1628546"/>
            <a:ext cx="11048695" cy="1028700"/>
          </a:xfrm>
          <a:prstGeom prst="roundRect">
            <a:avLst>
              <a:gd name="adj" fmla="val 19753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05710" y="1928470"/>
            <a:ext cx="1343254" cy="428854"/>
          </a:xfrm>
          <a:prstGeom prst="roundRect">
            <a:avLst>
              <a:gd name="adj" fmla="val 75811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048610" y="1928470"/>
            <a:ext cx="1057961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기여도 공식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333342" y="1971446"/>
            <a:ext cx="158557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기여도(%p) =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111850" y="2133295"/>
            <a:ext cx="2266798" cy="1920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11850" y="1828800"/>
            <a:ext cx="2803550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해당 세그먼트의 매출 변화량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882335" y="2171700"/>
            <a:ext cx="324246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매출 변화량 (Total Growth)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795614" y="1971446"/>
            <a:ext cx="7717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× 100</a:t>
            </a:r>
            <a:endParaRPr lang="en-US" sz="18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4" b="-4"/>
          <a:stretch/>
        </p:blipFill>
        <p:spPr>
          <a:xfrm>
            <a:off x="571500" y="2943454"/>
            <a:ext cx="11048695" cy="3767328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580644" y="2952598"/>
            <a:ext cx="2762402" cy="53309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8" name="Shape 15"/>
          <p:cNvSpPr/>
          <p:nvPr/>
        </p:nvSpPr>
        <p:spPr>
          <a:xfrm>
            <a:off x="580644" y="3466490"/>
            <a:ext cx="2762402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80644" y="2952598"/>
            <a:ext cx="2839212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카테고리 (Category)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338474" y="2952598"/>
            <a:ext cx="1657807" cy="53309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1" name="Shape 18"/>
          <p:cNvSpPr/>
          <p:nvPr/>
        </p:nvSpPr>
        <p:spPr>
          <a:xfrm>
            <a:off x="3338474" y="3466490"/>
            <a:ext cx="1657807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272638" y="2952598"/>
            <a:ext cx="1723644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매출 변화량 ($)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992624" y="2952598"/>
            <a:ext cx="1324051" cy="53309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4" name="Shape 21"/>
          <p:cNvSpPr/>
          <p:nvPr/>
        </p:nvSpPr>
        <p:spPr>
          <a:xfrm>
            <a:off x="4992624" y="3466490"/>
            <a:ext cx="1324051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964278" y="2952598"/>
            <a:ext cx="1381658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성장률 (%)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316675" y="2952598"/>
            <a:ext cx="5296205" cy="53309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7" name="Shape 24"/>
          <p:cNvSpPr/>
          <p:nvPr/>
        </p:nvSpPr>
        <p:spPr>
          <a:xfrm>
            <a:off x="6316675" y="3466490"/>
            <a:ext cx="5296205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316675" y="2952598"/>
            <a:ext cx="5372100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성장에 대한 기여도 (Contribution)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80644" y="4024274"/>
            <a:ext cx="2762402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190549" y="3481121"/>
            <a:ext cx="2229307" cy="4105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GROCERY I</a:t>
            </a:r>
            <a:endParaRPr lang="en-US" sz="1100" dirty="0"/>
          </a:p>
        </p:txBody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rcRect l="-837" r="-837" t="0" b="0"/>
          <a:stretch/>
        </p:blipFill>
        <p:spPr>
          <a:xfrm>
            <a:off x="866851" y="3690518"/>
            <a:ext cx="152705" cy="133502"/>
          </a:xfrm>
          <a:prstGeom prst="rect">
            <a:avLst/>
          </a:prstGeom>
        </p:spPr>
      </p:pic>
      <p:sp>
        <p:nvSpPr>
          <p:cNvPr id="32" name="Shape 28"/>
          <p:cNvSpPr/>
          <p:nvPr/>
        </p:nvSpPr>
        <p:spPr>
          <a:xfrm>
            <a:off x="3338474" y="4024274"/>
            <a:ext cx="1657807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3272638" y="3481121"/>
            <a:ext cx="1723644" cy="4105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+500K</a:t>
            </a:r>
            <a:endParaRPr 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4992624" y="4024274"/>
            <a:ext cx="1324051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4964278" y="3481121"/>
            <a:ext cx="1381658" cy="4105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+8.5%</a:t>
            </a:r>
            <a:endParaRPr lang="en-US" sz="1100" dirty="0"/>
          </a:p>
        </p:txBody>
      </p:sp>
      <p:sp>
        <p:nvSpPr>
          <p:cNvPr id="36" name="Shape 32"/>
          <p:cNvSpPr/>
          <p:nvPr/>
        </p:nvSpPr>
        <p:spPr>
          <a:xfrm>
            <a:off x="6316675" y="4024274"/>
            <a:ext cx="529620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580644" y="4562856"/>
            <a:ext cx="2762402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1229868" y="4028846"/>
            <a:ext cx="2189988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BEVERAGES </a:t>
            </a:r>
            <a:endParaRPr lang="en-US" sz="1100" dirty="0"/>
          </a:p>
        </p:txBody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75995" y="4233672"/>
            <a:ext cx="133502" cy="133502"/>
          </a:xfrm>
          <a:prstGeom prst="rect">
            <a:avLst/>
          </a:prstGeom>
        </p:spPr>
      </p:pic>
      <p:sp>
        <p:nvSpPr>
          <p:cNvPr id="40" name="Shape 35"/>
          <p:cNvSpPr/>
          <p:nvPr/>
        </p:nvSpPr>
        <p:spPr>
          <a:xfrm>
            <a:off x="3338474" y="4562856"/>
            <a:ext cx="1657807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41" name="Text 36"/>
          <p:cNvSpPr txBox="1"/>
          <p:nvPr/>
        </p:nvSpPr>
        <p:spPr>
          <a:xfrm>
            <a:off x="3272638" y="4028846"/>
            <a:ext cx="1723644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+150K</a:t>
            </a:r>
            <a:endParaRPr lang="en-US" sz="1100" dirty="0"/>
          </a:p>
        </p:txBody>
      </p:sp>
      <p:sp>
        <p:nvSpPr>
          <p:cNvPr id="42" name="Shape 37"/>
          <p:cNvSpPr/>
          <p:nvPr/>
        </p:nvSpPr>
        <p:spPr>
          <a:xfrm>
            <a:off x="4992624" y="4562856"/>
            <a:ext cx="1324051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43" name="Text 38"/>
          <p:cNvSpPr txBox="1"/>
          <p:nvPr/>
        </p:nvSpPr>
        <p:spPr>
          <a:xfrm>
            <a:off x="4964278" y="4028846"/>
            <a:ext cx="1381658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+12.0%</a:t>
            </a:r>
            <a:endParaRPr lang="en-US" sz="1100" dirty="0"/>
          </a:p>
        </p:txBody>
      </p:sp>
      <p:sp>
        <p:nvSpPr>
          <p:cNvPr id="44" name="Shape 39"/>
          <p:cNvSpPr/>
          <p:nvPr/>
        </p:nvSpPr>
        <p:spPr>
          <a:xfrm>
            <a:off x="6316675" y="4562856"/>
            <a:ext cx="529620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580644" y="5106010"/>
            <a:ext cx="2762402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1229868" y="4572000"/>
            <a:ext cx="2189988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CLEANING </a:t>
            </a:r>
            <a:endParaRPr lang="en-US" sz="1100" dirty="0"/>
          </a:p>
        </p:txBody>
      </p:sp>
      <p:pic>
        <p:nvPicPr>
          <p:cNvPr id="4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1100" b="-1100"/>
          <a:stretch/>
        </p:blipFill>
        <p:spPr>
          <a:xfrm>
            <a:off x="886054" y="4776826"/>
            <a:ext cx="114300" cy="133502"/>
          </a:xfrm>
          <a:prstGeom prst="rect">
            <a:avLst/>
          </a:prstGeom>
        </p:spPr>
      </p:pic>
      <p:sp>
        <p:nvSpPr>
          <p:cNvPr id="48" name="Shape 42"/>
          <p:cNvSpPr/>
          <p:nvPr/>
        </p:nvSpPr>
        <p:spPr>
          <a:xfrm>
            <a:off x="3338474" y="5106010"/>
            <a:ext cx="1657807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49" name="Text 43"/>
          <p:cNvSpPr txBox="1"/>
          <p:nvPr/>
        </p:nvSpPr>
        <p:spPr>
          <a:xfrm>
            <a:off x="3272638" y="4572000"/>
            <a:ext cx="1723644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+100K</a:t>
            </a:r>
            <a:endParaRPr lang="en-US" sz="1100" dirty="0"/>
          </a:p>
        </p:txBody>
      </p:sp>
      <p:sp>
        <p:nvSpPr>
          <p:cNvPr id="50" name="Shape 44"/>
          <p:cNvSpPr/>
          <p:nvPr/>
        </p:nvSpPr>
        <p:spPr>
          <a:xfrm>
            <a:off x="4992624" y="5106010"/>
            <a:ext cx="1324051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51" name="Text 45"/>
          <p:cNvSpPr txBox="1"/>
          <p:nvPr/>
        </p:nvSpPr>
        <p:spPr>
          <a:xfrm>
            <a:off x="4964278" y="4572000"/>
            <a:ext cx="1381658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+5.2%</a:t>
            </a:r>
            <a:endParaRPr lang="en-US" sz="1100" dirty="0"/>
          </a:p>
        </p:txBody>
      </p:sp>
      <p:sp>
        <p:nvSpPr>
          <p:cNvPr id="52" name="Shape 46"/>
          <p:cNvSpPr/>
          <p:nvPr/>
        </p:nvSpPr>
        <p:spPr>
          <a:xfrm>
            <a:off x="6316675" y="5106010"/>
            <a:ext cx="529620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53" name="Shape 47"/>
          <p:cNvSpPr/>
          <p:nvPr/>
        </p:nvSpPr>
        <p:spPr>
          <a:xfrm>
            <a:off x="580644" y="5649163"/>
            <a:ext cx="2762402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54" name="Text 48"/>
          <p:cNvSpPr txBox="1"/>
          <p:nvPr/>
        </p:nvSpPr>
        <p:spPr>
          <a:xfrm>
            <a:off x="1229868" y="5115154"/>
            <a:ext cx="2189988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BAKERY </a:t>
            </a:r>
            <a:endParaRPr lang="en-US" sz="1100" dirty="0"/>
          </a:p>
        </p:txBody>
      </p:sp>
      <p:pic>
        <p:nvPicPr>
          <p:cNvPr id="5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75995" y="5319979"/>
            <a:ext cx="133502" cy="133502"/>
          </a:xfrm>
          <a:prstGeom prst="rect">
            <a:avLst/>
          </a:prstGeom>
        </p:spPr>
      </p:pic>
      <p:sp>
        <p:nvSpPr>
          <p:cNvPr id="56" name="Shape 49"/>
          <p:cNvSpPr/>
          <p:nvPr/>
        </p:nvSpPr>
        <p:spPr>
          <a:xfrm>
            <a:off x="3338474" y="5649163"/>
            <a:ext cx="1657807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57" name="Text 50"/>
          <p:cNvSpPr txBox="1"/>
          <p:nvPr/>
        </p:nvSpPr>
        <p:spPr>
          <a:xfrm>
            <a:off x="3272638" y="5115154"/>
            <a:ext cx="1723644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+80K</a:t>
            </a:r>
            <a:endParaRPr lang="en-US" sz="1100" dirty="0"/>
          </a:p>
        </p:txBody>
      </p:sp>
      <p:sp>
        <p:nvSpPr>
          <p:cNvPr id="58" name="Shape 51"/>
          <p:cNvSpPr/>
          <p:nvPr/>
        </p:nvSpPr>
        <p:spPr>
          <a:xfrm>
            <a:off x="4992624" y="5649163"/>
            <a:ext cx="1324051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59" name="Text 52"/>
          <p:cNvSpPr txBox="1"/>
          <p:nvPr/>
        </p:nvSpPr>
        <p:spPr>
          <a:xfrm>
            <a:off x="4964278" y="5115154"/>
            <a:ext cx="1381658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+4.1%</a:t>
            </a:r>
            <a:endParaRPr lang="en-US" sz="1100" dirty="0"/>
          </a:p>
        </p:txBody>
      </p:sp>
      <p:sp>
        <p:nvSpPr>
          <p:cNvPr id="60" name="Shape 53"/>
          <p:cNvSpPr/>
          <p:nvPr/>
        </p:nvSpPr>
        <p:spPr>
          <a:xfrm>
            <a:off x="6316675" y="5649163"/>
            <a:ext cx="529620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61" name="Shape 54"/>
          <p:cNvSpPr/>
          <p:nvPr/>
        </p:nvSpPr>
        <p:spPr>
          <a:xfrm>
            <a:off x="580644" y="6192317"/>
            <a:ext cx="2762402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62" name="Text 55"/>
          <p:cNvSpPr txBox="1"/>
          <p:nvPr/>
        </p:nvSpPr>
        <p:spPr>
          <a:xfrm>
            <a:off x="1229868" y="5658307"/>
            <a:ext cx="2189988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CLOTHING </a:t>
            </a:r>
            <a:endParaRPr lang="en-US" sz="1100" dirty="0"/>
          </a:p>
        </p:txBody>
      </p:sp>
      <p:pic>
        <p:nvPicPr>
          <p:cNvPr id="63" name="Image 5" descr="preencoded.png">    </p:cNvPr>
          <p:cNvPicPr>
            <a:picLocks noChangeAspect="1"/>
          </p:cNvPicPr>
          <p:nvPr/>
        </p:nvPicPr>
        <p:blipFill>
          <a:blip r:embed="rId6"/>
          <a:srcRect l="-1507" r="-1507" t="0" b="0"/>
          <a:stretch/>
        </p:blipFill>
        <p:spPr>
          <a:xfrm>
            <a:off x="857707" y="5862218"/>
            <a:ext cx="171907" cy="133502"/>
          </a:xfrm>
          <a:prstGeom prst="rect">
            <a:avLst/>
          </a:prstGeom>
        </p:spPr>
      </p:pic>
      <p:sp>
        <p:nvSpPr>
          <p:cNvPr id="64" name="Shape 56"/>
          <p:cNvSpPr/>
          <p:nvPr/>
        </p:nvSpPr>
        <p:spPr>
          <a:xfrm>
            <a:off x="3338474" y="6192317"/>
            <a:ext cx="1657807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65" name="Text 57"/>
          <p:cNvSpPr txBox="1"/>
          <p:nvPr/>
        </p:nvSpPr>
        <p:spPr>
          <a:xfrm>
            <a:off x="3272638" y="5658307"/>
            <a:ext cx="1723644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-5K</a:t>
            </a:r>
            <a:endParaRPr lang="en-US" sz="1100" dirty="0"/>
          </a:p>
        </p:txBody>
      </p:sp>
      <p:sp>
        <p:nvSpPr>
          <p:cNvPr id="66" name="Shape 58"/>
          <p:cNvSpPr/>
          <p:nvPr/>
        </p:nvSpPr>
        <p:spPr>
          <a:xfrm>
            <a:off x="4992624" y="6192317"/>
            <a:ext cx="1324051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67" name="Text 59"/>
          <p:cNvSpPr txBox="1"/>
          <p:nvPr/>
        </p:nvSpPr>
        <p:spPr>
          <a:xfrm>
            <a:off x="4964278" y="5658307"/>
            <a:ext cx="1381658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-1.2%</a:t>
            </a:r>
            <a:endParaRPr lang="en-US" sz="1100" dirty="0"/>
          </a:p>
        </p:txBody>
      </p:sp>
      <p:sp>
        <p:nvSpPr>
          <p:cNvPr id="68" name="Shape 60"/>
          <p:cNvSpPr/>
          <p:nvPr/>
        </p:nvSpPr>
        <p:spPr>
          <a:xfrm>
            <a:off x="6316675" y="6192317"/>
            <a:ext cx="529620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69" name="Shape 61"/>
          <p:cNvSpPr/>
          <p:nvPr/>
        </p:nvSpPr>
        <p:spPr>
          <a:xfrm>
            <a:off x="580644" y="6200546"/>
            <a:ext cx="11030407" cy="504749"/>
          </a:xfrm>
          <a:prstGeom prst="roundRect">
            <a:avLst>
              <a:gd name="adj" fmla="val 109379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Text 62"/>
          <p:cNvSpPr txBox="1"/>
          <p:nvPr/>
        </p:nvSpPr>
        <p:spPr>
          <a:xfrm>
            <a:off x="580644" y="6200546"/>
            <a:ext cx="2839212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TOTAL</a:t>
            </a:r>
            <a:endParaRPr lang="en-US" sz="1100" dirty="0"/>
          </a:p>
        </p:txBody>
      </p:sp>
      <p:sp>
        <p:nvSpPr>
          <p:cNvPr id="71" name="Text 63"/>
          <p:cNvSpPr txBox="1"/>
          <p:nvPr/>
        </p:nvSpPr>
        <p:spPr>
          <a:xfrm>
            <a:off x="3272638" y="6200546"/>
            <a:ext cx="1723644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+825K</a:t>
            </a:r>
            <a:endParaRPr lang="en-US" sz="1100" dirty="0"/>
          </a:p>
        </p:txBody>
      </p:sp>
      <p:sp>
        <p:nvSpPr>
          <p:cNvPr id="72" name="Text 64"/>
          <p:cNvSpPr txBox="1"/>
          <p:nvPr/>
        </p:nvSpPr>
        <p:spPr>
          <a:xfrm>
            <a:off x="4964278" y="6200546"/>
            <a:ext cx="1381658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+6.8%</a:t>
            </a:r>
            <a:endParaRPr lang="en-US" sz="1100" dirty="0"/>
          </a:p>
        </p:txBody>
      </p:sp>
      <p:pic>
        <p:nvPicPr>
          <p:cNvPr id="73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8" b="-8"/>
          <a:stretch/>
        </p:blipFill>
        <p:spPr>
          <a:xfrm>
            <a:off x="571500" y="6996074"/>
            <a:ext cx="11048695" cy="868680"/>
          </a:xfrm>
          <a:prstGeom prst="rect">
            <a:avLst/>
          </a:prstGeom>
        </p:spPr>
      </p:pic>
      <p:pic>
        <p:nvPicPr>
          <p:cNvPr id="74" name="Image 7" descr="preencoded.png">    </p:cNvPr>
          <p:cNvPicPr>
            <a:picLocks noChangeAspect="1"/>
          </p:cNvPicPr>
          <p:nvPr/>
        </p:nvPicPr>
        <p:blipFill>
          <a:blip r:embed="rId8"/>
          <a:srcRect l="-133" r="-133" t="0" b="0"/>
          <a:stretch/>
        </p:blipFill>
        <p:spPr>
          <a:xfrm>
            <a:off x="914400" y="7224674"/>
            <a:ext cx="171907" cy="228600"/>
          </a:xfrm>
          <a:prstGeom prst="rect">
            <a:avLst/>
          </a:prstGeom>
        </p:spPr>
      </p:pic>
      <p:sp>
        <p:nvSpPr>
          <p:cNvPr id="75" name="Text 65"/>
          <p:cNvSpPr txBox="1"/>
          <p:nvPr/>
        </p:nvSpPr>
        <p:spPr>
          <a:xfrm>
            <a:off x="1276502" y="7186270"/>
            <a:ext cx="1013521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 인사이트:</a:t>
            </a:r>
            <a:pPr algn="l" indent="0" marL="0">
              <a:buNone/>
            </a:pPr>
            <a:r>
              <a:rPr lang="en-US" sz="1200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전체 매출이 약 6.8% 성장했지만, </a:t>
            </a:r>
            <a:pPr algn="l" indent="0" marL="0">
              <a:buNone/>
            </a:pPr>
            <a:r>
              <a:rPr lang="en-US" sz="1200" b="1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성장의 60%는 'GROCERY I' 단일 카테고리에서 발생</a:t>
            </a:r>
            <a:pPr algn="l" indent="0" marL="0">
              <a:buNone/>
            </a:pPr>
            <a:r>
              <a:rPr lang="en-US" sz="1200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했습니다. 반면 'BEVERAGES'는 성장률(+12.0%)은 가장 높지만 규모가 작아 기여도는 18%에 그쳤습니다. 전략적으로 'GROCERY I'의 성장세를 유지하면서 고성장 카테고리의 볼륨을 키우는 것이 중요합니다. </a:t>
            </a:r>
            <a:endParaRPr lang="en-US" sz="1200" dirty="0"/>
          </a:p>
        </p:txBody>
      </p:sp>
      <p:pic>
        <p:nvPicPr>
          <p:cNvPr id="76" name="Image 8" descr="preencoded.png">    </p:cNvPr>
          <p:cNvPicPr>
            <a:picLocks noChangeAspect="1"/>
          </p:cNvPicPr>
          <p:nvPr/>
        </p:nvPicPr>
        <p:blipFill>
          <a:blip r:embed="rId9"/>
          <a:srcRect l="-1773" r="-1773" t="0" b="0"/>
          <a:stretch/>
        </p:blipFill>
        <p:spPr>
          <a:xfrm>
            <a:off x="2867558" y="2064715"/>
            <a:ext cx="133502" cy="171907"/>
          </a:xfrm>
          <a:prstGeom prst="rect">
            <a:avLst/>
          </a:prstGeom>
        </p:spPr>
      </p:pic>
      <p:sp>
        <p:nvSpPr>
          <p:cNvPr id="77" name="Shape 66"/>
          <p:cNvSpPr/>
          <p:nvPr/>
        </p:nvSpPr>
        <p:spPr>
          <a:xfrm>
            <a:off x="6545275" y="3642970"/>
            <a:ext cx="4839005" cy="228600"/>
          </a:xfrm>
          <a:prstGeom prst="roundRect">
            <a:avLst>
              <a:gd name="adj" fmla="val 13333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Shape 67"/>
          <p:cNvSpPr/>
          <p:nvPr/>
        </p:nvSpPr>
        <p:spPr>
          <a:xfrm>
            <a:off x="6545275" y="3642970"/>
            <a:ext cx="2905049" cy="228600"/>
          </a:xfrm>
          <a:prstGeom prst="roundRect">
            <a:avLst>
              <a:gd name="adj" fmla="val 133333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Text 68"/>
          <p:cNvSpPr txBox="1"/>
          <p:nvPr/>
        </p:nvSpPr>
        <p:spPr>
          <a:xfrm>
            <a:off x="6545275" y="3642970"/>
            <a:ext cx="3020263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7620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60.0%</a:t>
            </a:r>
            <a:endParaRPr lang="en-US" sz="900" dirty="0"/>
          </a:p>
        </p:txBody>
      </p:sp>
      <p:sp>
        <p:nvSpPr>
          <p:cNvPr id="80" name="Shape 69"/>
          <p:cNvSpPr/>
          <p:nvPr/>
        </p:nvSpPr>
        <p:spPr>
          <a:xfrm>
            <a:off x="6545275" y="4186123"/>
            <a:ext cx="4839005" cy="228600"/>
          </a:xfrm>
          <a:prstGeom prst="roundRect">
            <a:avLst>
              <a:gd name="adj" fmla="val 13333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Shape 70"/>
          <p:cNvSpPr/>
          <p:nvPr/>
        </p:nvSpPr>
        <p:spPr>
          <a:xfrm>
            <a:off x="6545275" y="4186123"/>
            <a:ext cx="875995" cy="228600"/>
          </a:xfrm>
          <a:prstGeom prst="roundRect">
            <a:avLst>
              <a:gd name="adj" fmla="val 133333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" name="Text 71"/>
          <p:cNvSpPr txBox="1"/>
          <p:nvPr/>
        </p:nvSpPr>
        <p:spPr>
          <a:xfrm>
            <a:off x="6545275" y="4186123"/>
            <a:ext cx="952805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7620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18.0%</a:t>
            </a:r>
            <a:endParaRPr lang="en-US" sz="900" dirty="0"/>
          </a:p>
        </p:txBody>
      </p:sp>
      <p:sp>
        <p:nvSpPr>
          <p:cNvPr id="83" name="Shape 72"/>
          <p:cNvSpPr/>
          <p:nvPr/>
        </p:nvSpPr>
        <p:spPr>
          <a:xfrm>
            <a:off x="6545275" y="4729277"/>
            <a:ext cx="4839005" cy="228600"/>
          </a:xfrm>
          <a:prstGeom prst="roundRect">
            <a:avLst>
              <a:gd name="adj" fmla="val 13333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4" name="Shape 73"/>
          <p:cNvSpPr/>
          <p:nvPr/>
        </p:nvSpPr>
        <p:spPr>
          <a:xfrm>
            <a:off x="6545275" y="4729277"/>
            <a:ext cx="580644" cy="228600"/>
          </a:xfrm>
          <a:prstGeom prst="roundRect">
            <a:avLst>
              <a:gd name="adj" fmla="val 133333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" name="Text 74"/>
          <p:cNvSpPr txBox="1"/>
          <p:nvPr/>
        </p:nvSpPr>
        <p:spPr>
          <a:xfrm>
            <a:off x="6545275" y="4729277"/>
            <a:ext cx="657454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7620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12.0%</a:t>
            </a:r>
            <a:endParaRPr lang="en-US" sz="900" dirty="0"/>
          </a:p>
        </p:txBody>
      </p:sp>
      <p:sp>
        <p:nvSpPr>
          <p:cNvPr id="86" name="Shape 75"/>
          <p:cNvSpPr/>
          <p:nvPr/>
        </p:nvSpPr>
        <p:spPr>
          <a:xfrm>
            <a:off x="6545275" y="5272430"/>
            <a:ext cx="4839005" cy="228600"/>
          </a:xfrm>
          <a:prstGeom prst="roundRect">
            <a:avLst>
              <a:gd name="adj" fmla="val 13333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7" name="Shape 76"/>
          <p:cNvSpPr/>
          <p:nvPr/>
        </p:nvSpPr>
        <p:spPr>
          <a:xfrm>
            <a:off x="6545275" y="5272430"/>
            <a:ext cx="466344" cy="228600"/>
          </a:xfrm>
          <a:prstGeom prst="roundRect">
            <a:avLst>
              <a:gd name="adj" fmla="val 133333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8" name="Text 77"/>
          <p:cNvSpPr txBox="1"/>
          <p:nvPr/>
        </p:nvSpPr>
        <p:spPr>
          <a:xfrm>
            <a:off x="6545275" y="5272430"/>
            <a:ext cx="543154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7620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9.6%</a:t>
            </a:r>
            <a:endParaRPr lang="en-US" sz="900" dirty="0"/>
          </a:p>
        </p:txBody>
      </p:sp>
      <p:sp>
        <p:nvSpPr>
          <p:cNvPr id="89" name="Shape 78"/>
          <p:cNvSpPr/>
          <p:nvPr/>
        </p:nvSpPr>
        <p:spPr>
          <a:xfrm>
            <a:off x="6545275" y="5814670"/>
            <a:ext cx="4839005" cy="228600"/>
          </a:xfrm>
          <a:prstGeom prst="roundRect">
            <a:avLst>
              <a:gd name="adj" fmla="val 13333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0" name="Shape 79"/>
          <p:cNvSpPr/>
          <p:nvPr/>
        </p:nvSpPr>
        <p:spPr>
          <a:xfrm>
            <a:off x="6545275" y="5814670"/>
            <a:ext cx="75895" cy="228600"/>
          </a:xfrm>
          <a:prstGeom prst="roundRect">
            <a:avLst>
              <a:gd name="adj" fmla="val 1204822"/>
            </a:avLst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1" name="Image 9" descr="preencoded.png">    </p:cNvPr>
          <p:cNvPicPr>
            <a:picLocks noChangeAspect="1"/>
          </p:cNvPicPr>
          <p:nvPr/>
        </p:nvPicPr>
        <p:blipFill>
          <a:blip r:embed="rId10"/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10598" y="-476402"/>
            <a:ext cx="2857500" cy="2857500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381305"/>
            <a:ext cx="113541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spc="-63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매출 분해: 거래건수 × 객단가</a:t>
            </a:r>
            <a:endParaRPr lang="en-US" sz="31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총매출을 구성 요소로 분해하여 성장의 질(Quality)과 원인을 규명</a:t>
            </a:r>
            <a:endParaRPr lang="en-US" sz="15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-4" r="-4" t="0" b="0"/>
          <a:stretch/>
        </p:blipFill>
        <p:spPr>
          <a:xfrm>
            <a:off x="1333195" y="1628546"/>
            <a:ext cx="9525305" cy="2357323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086246" y="1514246"/>
            <a:ext cx="951890" cy="247802"/>
          </a:xfrm>
          <a:prstGeom prst="roundRect">
            <a:avLst>
              <a:gd name="adj" fmla="val 369004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695298" y="2033626"/>
            <a:ext cx="12390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40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총매출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3055925" y="2318918"/>
            <a:ext cx="29535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=</a:t>
            </a:r>
            <a:endParaRPr lang="en-US" sz="3000" dirty="0"/>
          </a:p>
        </p:txBody>
      </p:sp>
      <p:sp>
        <p:nvSpPr>
          <p:cNvPr id="12" name="Shape 9"/>
          <p:cNvSpPr/>
          <p:nvPr/>
        </p:nvSpPr>
        <p:spPr>
          <a:xfrm>
            <a:off x="3499409" y="3161995"/>
            <a:ext cx="2781605" cy="2834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443630" y="2018995"/>
            <a:ext cx="2893162" cy="11439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596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거래건수 (Traffic)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6427318" y="2318918"/>
            <a:ext cx="29535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×</a:t>
            </a:r>
            <a:endParaRPr lang="en-US" sz="3000" dirty="0"/>
          </a:p>
        </p:txBody>
      </p:sp>
      <p:sp>
        <p:nvSpPr>
          <p:cNvPr id="15" name="Shape 12"/>
          <p:cNvSpPr/>
          <p:nvPr/>
        </p:nvSpPr>
        <p:spPr>
          <a:xfrm>
            <a:off x="6870802" y="3161995"/>
            <a:ext cx="3600907" cy="2834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799478" y="2018995"/>
            <a:ext cx="3743554" cy="11439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770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객단가 (Average Ticket)</a:t>
            </a:r>
            <a:endParaRPr lang="en-US" sz="3000" dirty="0"/>
          </a:p>
        </p:txBody>
      </p:sp>
      <p:sp>
        <p:nvSpPr>
          <p:cNvPr id="17" name="Text 14"/>
          <p:cNvSpPr txBox="1"/>
          <p:nvPr/>
        </p:nvSpPr>
        <p:spPr>
          <a:xfrm>
            <a:off x="1628546" y="3381451"/>
            <a:ext cx="89346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*매출 변동의 원인이 '고객 수 변화'인지 '구매 금액 변화'인지 파악하는 핵심 공식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57707" y="4367174"/>
            <a:ext cx="5095951" cy="3191256"/>
          </a:xfrm>
          <a:prstGeom prst="roundRect">
            <a:avLst>
              <a:gd name="adj" fmla="val 27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57707" y="4367174"/>
            <a:ext cx="5095951" cy="47549"/>
          </a:xfrm>
          <a:prstGeom prst="roundRect">
            <a:avLst>
              <a:gd name="adj" fmla="val 183696"/>
            </a:avLst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590142" y="4700930"/>
            <a:ext cx="41824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성장의 질(Quality) 해석 </a:t>
            </a:r>
            <a:endParaRPr lang="en-US" sz="15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152144" y="4700930"/>
            <a:ext cx="342900" cy="342900"/>
          </a:xfrm>
          <a:prstGeom prst="rect">
            <a:avLst/>
          </a:prstGeom>
        </p:spPr>
      </p:pic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rcRect l="-1507" r="-1507" t="0" b="0"/>
          <a:stretch/>
        </p:blipFill>
        <p:spPr>
          <a:xfrm>
            <a:off x="1152144" y="5186477"/>
            <a:ext cx="171907" cy="133502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1476756" y="5186477"/>
            <a:ext cx="4257446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거래건수 증가: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신규 고객 유입 또는 재방문 증가. 장기적으로 가장 건전하고 지속 가능한 성장 신호입니다.</a:t>
            </a:r>
            <a:endParaRPr lang="en-US" sz="12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1100" b="-1100"/>
          <a:stretch/>
        </p:blipFill>
        <p:spPr>
          <a:xfrm>
            <a:off x="1152144" y="5788152"/>
            <a:ext cx="114300" cy="13350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419149" y="5788152"/>
            <a:ext cx="4315054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객단가 증가: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가격 인상이나 대량 구매 유도. 단기 매출엔 좋으나, 고객 이탈 위험이 있는지 확인해야 합니다.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1152144" y="6389827"/>
            <a:ext cx="4505249" cy="866851"/>
          </a:xfrm>
          <a:prstGeom prst="roundRect">
            <a:avLst>
              <a:gd name="adj" fmla="val 2318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1304849" y="6819595"/>
            <a:ext cx="4200754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1304849" y="6542532"/>
            <a:ext cx="10287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Traffic ↑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2257654" y="6542532"/>
            <a:ext cx="34390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마케팅 성공, 시장 확대, 브랜드 인지도 상승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1304849" y="6904634"/>
            <a:ext cx="10287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Ticket ↑</a:t>
            </a:r>
            <a:endParaRPr lang="en-US" sz="1000" dirty="0"/>
          </a:p>
        </p:txBody>
      </p:sp>
      <p:sp>
        <p:nvSpPr>
          <p:cNvPr id="31" name="Text 25"/>
          <p:cNvSpPr txBox="1"/>
          <p:nvPr/>
        </p:nvSpPr>
        <p:spPr>
          <a:xfrm>
            <a:off x="2257654" y="6904634"/>
            <a:ext cx="364754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가격 정책 변화, 묶음 상품(Bundle) 효과, 프리미엄화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6238951" y="4367174"/>
            <a:ext cx="5095951" cy="3191256"/>
          </a:xfrm>
          <a:prstGeom prst="roundRect">
            <a:avLst>
              <a:gd name="adj" fmla="val 2737"/>
            </a:avLst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6238951" y="4367174"/>
            <a:ext cx="5095951" cy="47549"/>
          </a:xfrm>
          <a:prstGeom prst="roundRect">
            <a:avLst>
              <a:gd name="adj" fmla="val 183696"/>
            </a:avLst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6972300" y="4700930"/>
            <a:ext cx="41824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전략적 활용 (Action Plan) </a:t>
            </a:r>
            <a:endParaRPr lang="en-US" sz="1500" dirty="0"/>
          </a:p>
        </p:txBody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rcRect l="-7143" r="-7143" t="0" b="0"/>
          <a:stretch/>
        </p:blipFill>
        <p:spPr>
          <a:xfrm>
            <a:off x="6534302" y="4700930"/>
            <a:ext cx="342900" cy="342900"/>
          </a:xfrm>
          <a:prstGeom prst="rect">
            <a:avLst/>
          </a:prstGeom>
        </p:spPr>
      </p:pic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1100" b="-1100"/>
          <a:stretch/>
        </p:blipFill>
        <p:spPr>
          <a:xfrm>
            <a:off x="6534302" y="5186477"/>
            <a:ext cx="114300" cy="133502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6801307" y="5186477"/>
            <a:ext cx="4315054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거래건수 부족 시: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트래픽 유도 마케팅, 첫 구매 프로모션, 로열티 프로그램(재방문 유도) 강화.</a:t>
            </a:r>
            <a:endParaRPr lang="en-US" sz="1200" dirty="0"/>
          </a:p>
        </p:txBody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1100" b="-1100"/>
          <a:stretch/>
        </p:blipFill>
        <p:spPr>
          <a:xfrm>
            <a:off x="6534302" y="5788152"/>
            <a:ext cx="114300" cy="133502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6801307" y="5788152"/>
            <a:ext cx="4315054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객단가 부족 시: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크로스셀링(Cross-selling), 업셀링(Up-selling), '3만원 이상 무료배송' 등의 장바구니 확대 전략.</a:t>
            </a:r>
            <a:endParaRPr lang="en-US" sz="1200" dirty="0"/>
          </a:p>
        </p:txBody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rcRect l="-2512" r="-2512" t="0" b="0"/>
          <a:stretch/>
        </p:blipFill>
        <p:spPr>
          <a:xfrm>
            <a:off x="6534302" y="6389827"/>
            <a:ext cx="105156" cy="133502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6791249" y="6389827"/>
            <a:ext cx="4324198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주의: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전체 매출은 늘어도 특정 세그먼트의 거래건수가 급감하고 있다면(가격 인상 효과), 곧 위기가 올 수 있습니다.</a:t>
            </a:r>
            <a:endParaRPr lang="en-US" sz="1200" dirty="0"/>
          </a:p>
        </p:txBody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9"/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34195" y="-952805"/>
            <a:ext cx="3810305" cy="3810305"/>
          </a:xfrm>
          <a:prstGeom prst="ellipse">
            <a:avLst/>
          </a:prstGeom>
          <a:solidFill>
            <a:srgbClr val="F1F5F9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17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381305"/>
            <a:ext cx="113541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spc="-63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4분면 분석: 매장 포지셔닝</a:t>
            </a:r>
            <a:endParaRPr lang="en-US" sz="31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1057046"/>
            <a:ext cx="111639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거래건수(Traffic)와 객단가(Ticket Size)를 축으로 매장별 전략 수립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71500" y="1628546"/>
            <a:ext cx="6391656" cy="5629046"/>
          </a:xfrm>
          <a:prstGeom prst="roundRect">
            <a:avLst>
              <a:gd name="adj" fmla="val 88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3" b="-3"/>
          <a:stretch/>
        </p:blipFill>
        <p:spPr>
          <a:xfrm>
            <a:off x="771754" y="1828800"/>
            <a:ext cx="5991149" cy="522945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343546" y="1628546"/>
            <a:ext cx="4276649" cy="1295705"/>
          </a:xfrm>
          <a:prstGeom prst="roundRect">
            <a:avLst>
              <a:gd name="adj" fmla="val 12454"/>
            </a:avLst>
          </a:prstGeom>
          <a:solidFill>
            <a:srgbClr val="F5F3FF"/>
          </a:solidFill>
          <a:ln/>
        </p:spPr>
      </p:sp>
      <p:sp>
        <p:nvSpPr>
          <p:cNvPr id="11" name="Shape 8"/>
          <p:cNvSpPr/>
          <p:nvPr/>
        </p:nvSpPr>
        <p:spPr>
          <a:xfrm>
            <a:off x="7343546" y="1628546"/>
            <a:ext cx="57607" cy="1295705"/>
          </a:xfrm>
          <a:prstGeom prst="roundRect">
            <a:avLst>
              <a:gd name="adj" fmla="val 280113"/>
            </a:avLst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591349" y="1781251"/>
            <a:ext cx="220096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2사분면: 유입 강화 필요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9731959" y="1824228"/>
            <a:ext cx="19010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5" kern="0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High Price / Low Traffic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7591349" y="2095805"/>
            <a:ext cx="391546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객단가는 높으나 방문객이 적은 매장입니다. 브랜드 충성도가 높거나 입지가 외진 곳일 수 있습니다.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7749540" y="254569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21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Action: 모객 마케팅, 첫 구매 프로모션 </a:t>
            </a:r>
            <a:endParaRPr lang="en-US" sz="9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591349" y="2598725"/>
            <a:ext cx="123444" cy="123444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7343546" y="3074213"/>
            <a:ext cx="4276649" cy="1295705"/>
          </a:xfrm>
          <a:prstGeom prst="roundRect">
            <a:avLst>
              <a:gd name="adj" fmla="val 12454"/>
            </a:avLst>
          </a:prstGeom>
          <a:solidFill>
            <a:srgbClr val="EFF6FF"/>
          </a:solidFill>
          <a:ln/>
        </p:spPr>
      </p:sp>
      <p:sp>
        <p:nvSpPr>
          <p:cNvPr id="18" name="Shape 14"/>
          <p:cNvSpPr/>
          <p:nvPr/>
        </p:nvSpPr>
        <p:spPr>
          <a:xfrm>
            <a:off x="7343546" y="3074213"/>
            <a:ext cx="57607" cy="1295705"/>
          </a:xfrm>
          <a:prstGeom prst="roundRect">
            <a:avLst>
              <a:gd name="adj" fmla="val 28011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7591349" y="3226918"/>
            <a:ext cx="224485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1사분면: 우수 매장 (Star)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9683496" y="3269894"/>
            <a:ext cx="197967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5" kern="0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High Price / High Traffic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7591349" y="3541471"/>
            <a:ext cx="391546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가장 이상적인 상태의 매장입니다. 현재 전략을 유지하며 다른 매장의 벤치마킹 모델로 활용합니다.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7749540" y="399044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Action: VIP 멤버십 강화, 재고 우선 배정 </a:t>
            </a:r>
            <a:endParaRPr lang="en-US" sz="9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591349" y="4044391"/>
            <a:ext cx="123444" cy="123444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7343546" y="4519879"/>
            <a:ext cx="4276649" cy="1295705"/>
          </a:xfrm>
          <a:prstGeom prst="roundRect">
            <a:avLst>
              <a:gd name="adj" fmla="val 12454"/>
            </a:avLst>
          </a:prstGeom>
          <a:solidFill>
            <a:srgbClr val="F8FAFC"/>
          </a:solidFill>
          <a:ln/>
        </p:spPr>
      </p:sp>
      <p:sp>
        <p:nvSpPr>
          <p:cNvPr id="25" name="Shape 20"/>
          <p:cNvSpPr/>
          <p:nvPr/>
        </p:nvSpPr>
        <p:spPr>
          <a:xfrm>
            <a:off x="7343546" y="4519879"/>
            <a:ext cx="57607" cy="1295705"/>
          </a:xfrm>
          <a:prstGeom prst="roundRect">
            <a:avLst>
              <a:gd name="adj" fmla="val 280113"/>
            </a:avLst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7591349" y="4672584"/>
            <a:ext cx="238384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3사분면: 구조적 개선 필요</a:t>
            </a:r>
            <a:endParaRPr lang="en-US" sz="1300" dirty="0"/>
          </a:p>
        </p:txBody>
      </p:sp>
      <p:sp>
        <p:nvSpPr>
          <p:cNvPr id="27" name="Text 22"/>
          <p:cNvSpPr txBox="1"/>
          <p:nvPr/>
        </p:nvSpPr>
        <p:spPr>
          <a:xfrm>
            <a:off x="9779508" y="4715561"/>
            <a:ext cx="182239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5" kern="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Low Price / Low Traffic</a:t>
            </a:r>
            <a:endParaRPr lang="en-US" sz="900" dirty="0"/>
          </a:p>
        </p:txBody>
      </p:sp>
      <p:sp>
        <p:nvSpPr>
          <p:cNvPr id="28" name="Text 23"/>
          <p:cNvSpPr txBox="1"/>
          <p:nvPr/>
        </p:nvSpPr>
        <p:spPr>
          <a:xfrm>
            <a:off x="7591349" y="4986223"/>
            <a:ext cx="391546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방문객도 적고 구매 금액도 낮습니다. 상품 구성(MD) 문제이거나 상권 쇠퇴가 원인일 수 있습니다.</a:t>
            </a:r>
            <a:endParaRPr lang="en-US" sz="1000" dirty="0"/>
          </a:p>
        </p:txBody>
      </p:sp>
      <p:sp>
        <p:nvSpPr>
          <p:cNvPr id="29" name="Text 24"/>
          <p:cNvSpPr txBox="1"/>
          <p:nvPr/>
        </p:nvSpPr>
        <p:spPr>
          <a:xfrm>
            <a:off x="7768742" y="5436108"/>
            <a:ext cx="37755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Action: 근본 원인 진단, 카테고리 리뉴얼 </a:t>
            </a:r>
            <a:endParaRPr lang="en-US" sz="900" dirty="0"/>
          </a:p>
        </p:txBody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rcRect l="-1358" r="-1358" t="0" b="0"/>
          <a:stretch/>
        </p:blipFill>
        <p:spPr>
          <a:xfrm>
            <a:off x="7591349" y="5490058"/>
            <a:ext cx="142646" cy="123444"/>
          </a:xfrm>
          <a:prstGeom prst="rect">
            <a:avLst/>
          </a:prstGeom>
        </p:spPr>
      </p:pic>
      <p:sp>
        <p:nvSpPr>
          <p:cNvPr id="31" name="Shape 25"/>
          <p:cNvSpPr/>
          <p:nvPr/>
        </p:nvSpPr>
        <p:spPr>
          <a:xfrm>
            <a:off x="7343546" y="5964631"/>
            <a:ext cx="4276649" cy="1295705"/>
          </a:xfrm>
          <a:prstGeom prst="roundRect">
            <a:avLst>
              <a:gd name="adj" fmla="val 12454"/>
            </a:avLst>
          </a:prstGeom>
          <a:solidFill>
            <a:srgbClr val="FFFBEB"/>
          </a:solidFill>
          <a:ln/>
        </p:spPr>
      </p:sp>
      <p:sp>
        <p:nvSpPr>
          <p:cNvPr id="32" name="Shape 26"/>
          <p:cNvSpPr/>
          <p:nvPr/>
        </p:nvSpPr>
        <p:spPr>
          <a:xfrm>
            <a:off x="7343546" y="5964631"/>
            <a:ext cx="57607" cy="1295705"/>
          </a:xfrm>
          <a:prstGeom prst="roundRect">
            <a:avLst>
              <a:gd name="adj" fmla="val 280113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7591349" y="6117336"/>
            <a:ext cx="190835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4사분면: 업셀링 기회</a:t>
            </a:r>
            <a:endParaRPr lang="en-US" sz="1300" dirty="0"/>
          </a:p>
        </p:txBody>
      </p:sp>
      <p:sp>
        <p:nvSpPr>
          <p:cNvPr id="34" name="Text 28"/>
          <p:cNvSpPr txBox="1"/>
          <p:nvPr/>
        </p:nvSpPr>
        <p:spPr>
          <a:xfrm>
            <a:off x="9731959" y="6160313"/>
            <a:ext cx="19010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5" kern="0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Low Price / High Traffic</a:t>
            </a:r>
            <a:endParaRPr lang="en-US" sz="900" dirty="0"/>
          </a:p>
        </p:txBody>
      </p:sp>
      <p:sp>
        <p:nvSpPr>
          <p:cNvPr id="35" name="Text 29"/>
          <p:cNvSpPr txBox="1"/>
          <p:nvPr/>
        </p:nvSpPr>
        <p:spPr>
          <a:xfrm>
            <a:off x="7591349" y="6431890"/>
            <a:ext cx="391546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사람은 많이 오지만 저가 상품 위주로 구매합니다. 번화가나 소형 편의점 타입에서 자주 보입니다.</a:t>
            </a:r>
            <a:endParaRPr lang="en-US" sz="1000" dirty="0"/>
          </a:p>
        </p:txBody>
      </p:sp>
      <p:sp>
        <p:nvSpPr>
          <p:cNvPr id="36" name="Text 30"/>
          <p:cNvSpPr txBox="1"/>
          <p:nvPr/>
        </p:nvSpPr>
        <p:spPr>
          <a:xfrm>
            <a:off x="7721194" y="6881774"/>
            <a:ext cx="38231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Action: 묶음 판매(Bundling), 계산대 옆 상품 배치 </a:t>
            </a:r>
            <a:endParaRPr lang="en-US" sz="900" dirty="0"/>
          </a:p>
        </p:txBody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rcRect l="-1358" r="-1358" t="0" b="0"/>
          <a:stretch/>
        </p:blipFill>
        <p:spPr>
          <a:xfrm>
            <a:off x="7591349" y="6934810"/>
            <a:ext cx="95098" cy="123444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961949" y="2018995"/>
            <a:ext cx="92445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B5CF6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Q2. Potential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8B5CF6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고급화/마니아층</a:t>
            </a:r>
            <a:endParaRPr lang="en-US" sz="1000" dirty="0"/>
          </a:p>
        </p:txBody>
      </p:sp>
      <p:sp>
        <p:nvSpPr>
          <p:cNvPr id="39" name="Text 32"/>
          <p:cNvSpPr txBox="1"/>
          <p:nvPr/>
        </p:nvSpPr>
        <p:spPr>
          <a:xfrm>
            <a:off x="961949" y="2238451"/>
            <a:ext cx="89977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5CF6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고급화/마니아층</a:t>
            </a:r>
            <a:endParaRPr lang="en-US" sz="900" dirty="0"/>
          </a:p>
        </p:txBody>
      </p:sp>
      <p:sp>
        <p:nvSpPr>
          <p:cNvPr id="40" name="Text 33"/>
          <p:cNvSpPr txBox="1"/>
          <p:nvPr/>
        </p:nvSpPr>
        <p:spPr>
          <a:xfrm>
            <a:off x="5984748" y="2018995"/>
            <a:ext cx="5907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563EB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Q1. Star</a:t>
            </a:r>
            <a:pPr algn="r" indent="0" marL="0">
              <a:buNone/>
            </a:pPr>
            <a:endParaRPr lang="en-US" sz="1000" dirty="0"/>
          </a:p>
          <a:p>
            <a:pPr algn="r" indent="0" marL="0">
              <a:buNone/>
            </a:pPr>
            <a:r>
              <a:rPr lang="en-US" sz="900" b="1" dirty="0">
                <a:solidFill>
                  <a:srgbClr val="2563EB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우수 매장</a:t>
            </a:r>
            <a:endParaRPr lang="en-US" sz="1000" dirty="0"/>
          </a:p>
        </p:txBody>
      </p:sp>
      <p:sp>
        <p:nvSpPr>
          <p:cNvPr id="41" name="Text 34"/>
          <p:cNvSpPr txBox="1"/>
          <p:nvPr/>
        </p:nvSpPr>
        <p:spPr>
          <a:xfrm>
            <a:off x="6032297" y="2238451"/>
            <a:ext cx="54406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563EB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우수 매장</a:t>
            </a:r>
            <a:endParaRPr lang="en-US" sz="900" dirty="0"/>
          </a:p>
        </p:txBody>
      </p:sp>
      <p:sp>
        <p:nvSpPr>
          <p:cNvPr id="42" name="Text 35"/>
          <p:cNvSpPr txBox="1"/>
          <p:nvPr/>
        </p:nvSpPr>
        <p:spPr>
          <a:xfrm>
            <a:off x="961949" y="6467551"/>
            <a:ext cx="886054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Q3. Problem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64748B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구조적 문제</a:t>
            </a:r>
            <a:endParaRPr lang="en-US" sz="1000" dirty="0"/>
          </a:p>
        </p:txBody>
      </p:sp>
      <p:sp>
        <p:nvSpPr>
          <p:cNvPr id="43" name="Text 36"/>
          <p:cNvSpPr txBox="1"/>
          <p:nvPr/>
        </p:nvSpPr>
        <p:spPr>
          <a:xfrm>
            <a:off x="961949" y="6687007"/>
            <a:ext cx="66294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구조적 문제</a:t>
            </a:r>
            <a:endParaRPr lang="en-US" sz="900" dirty="0"/>
          </a:p>
        </p:txBody>
      </p:sp>
      <p:sp>
        <p:nvSpPr>
          <p:cNvPr id="44" name="Text 37"/>
          <p:cNvSpPr txBox="1"/>
          <p:nvPr/>
        </p:nvSpPr>
        <p:spPr>
          <a:xfrm>
            <a:off x="5437022" y="6467551"/>
            <a:ext cx="11430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Q4. Opportunity</a:t>
            </a:r>
            <a:pPr algn="r" indent="0" marL="0">
              <a:buNone/>
            </a:pPr>
            <a:endParaRPr lang="en-US" sz="1000" dirty="0"/>
          </a:p>
          <a:p>
            <a:pPr algn="r" indent="0" marL="0">
              <a:buNone/>
            </a:pPr>
            <a:r>
              <a:rPr lang="en-US" sz="900" b="1" dirty="0">
                <a:solidFill>
                  <a:srgbClr val="F59E0B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박리다매형</a:t>
            </a:r>
            <a:endParaRPr lang="en-US" sz="1000" dirty="0"/>
          </a:p>
        </p:txBody>
      </p:sp>
      <p:sp>
        <p:nvSpPr>
          <p:cNvPr id="45" name="Text 38"/>
          <p:cNvSpPr txBox="1"/>
          <p:nvPr/>
        </p:nvSpPr>
        <p:spPr>
          <a:xfrm>
            <a:off x="5970118" y="6687007"/>
            <a:ext cx="6099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9E0B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박리다매형</a:t>
            </a:r>
            <a:endParaRPr lang="en-US" sz="900" dirty="0"/>
          </a:p>
        </p:txBody>
      </p:sp>
      <p:sp>
        <p:nvSpPr>
          <p:cNvPr id="46" name="Shape 39"/>
          <p:cNvSpPr/>
          <p:nvPr/>
        </p:nvSpPr>
        <p:spPr>
          <a:xfrm>
            <a:off x="771754" y="1828800"/>
            <a:ext cx="2048256" cy="323698"/>
          </a:xfrm>
          <a:prstGeom prst="roundRect">
            <a:avLst>
              <a:gd name="adj" fmla="val 2824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1123798" y="1828800"/>
            <a:ext cx="1772107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Store Clustering Map</a:t>
            </a:r>
            <a:endParaRPr lang="en-US" sz="1200" dirty="0"/>
          </a:p>
        </p:txBody>
      </p:sp>
      <p:pic>
        <p:nvPicPr>
          <p:cNvPr id="48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95198" y="1923898"/>
            <a:ext cx="152705" cy="152705"/>
          </a:xfrm>
          <a:prstGeom prst="rect">
            <a:avLst/>
          </a:prstGeom>
        </p:spPr>
      </p:pic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76402" y="952805"/>
            <a:ext cx="1904695" cy="1904695"/>
          </a:xfrm>
          <a:prstGeom prst="ellipse">
            <a:avLst/>
          </a:prstGeom>
          <a:solidFill>
            <a:srgbClr val="E0F2FE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10598" y="3524098"/>
            <a:ext cx="2857500" cy="2857500"/>
          </a:xfrm>
          <a:prstGeom prst="ellipse">
            <a:avLst/>
          </a:prstGeom>
          <a:solidFill>
            <a:srgbClr val="F0FDF4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381305"/>
            <a:ext cx="113541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spc="-63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인사이트 → 액션 플랜으로</a:t>
            </a:r>
            <a:endParaRPr lang="en-US" sz="31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 결과를 실제 비즈니스 성과로 연결하는 3단계 실행 프레임워크</a:t>
            </a:r>
            <a:endParaRPr lang="en-US" sz="15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80" b="-80"/>
          <a:stretch/>
        </p:blipFill>
        <p:spPr>
          <a:xfrm>
            <a:off x="4056278" y="3938321"/>
            <a:ext cx="142646" cy="228600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80" b="-80"/>
          <a:stretch/>
        </p:blipFill>
        <p:spPr>
          <a:xfrm>
            <a:off x="7992770" y="3938321"/>
            <a:ext cx="142646" cy="228600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2" b="-2"/>
          <a:stretch/>
        </p:blipFill>
        <p:spPr>
          <a:xfrm>
            <a:off x="571500" y="1766621"/>
            <a:ext cx="3174797" cy="45720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80644" y="4034333"/>
            <a:ext cx="316199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2006194" y="2042770"/>
            <a:ext cx="304495" cy="304495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1977847" y="2042770"/>
            <a:ext cx="36210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1825142" y="2462479"/>
            <a:ext cx="666598" cy="666598"/>
          </a:xfrm>
          <a:prstGeom prst="ellipse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016252" y="2652674"/>
            <a:ext cx="286207" cy="286207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591970" y="3281782"/>
            <a:ext cx="113842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명확화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1800454" y="3605479"/>
            <a:ext cx="7260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Diagnosis</a:t>
            </a:r>
            <a:endParaRPr lang="en-US" sz="10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09244" y="4272077"/>
            <a:ext cx="133502" cy="133502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942746" y="4272077"/>
            <a:ext cx="2648102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어디서(Where)?</a:t>
            </a:r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특정 도시, 매장 타입, 카테고리 등 문제 영역 핀포인트</a:t>
            </a:r>
            <a:endParaRPr lang="en-US" sz="11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09244" y="5067605"/>
            <a:ext cx="133502" cy="133502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942746" y="5067605"/>
            <a:ext cx="2648102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무엇이(What)?</a:t>
            </a:r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거래건수 감소 vs 객단가 하락 vs 이탈률 증가</a:t>
            </a:r>
            <a:endParaRPr lang="en-US" sz="110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rcRect l="-2512" r="-2512" t="0" b="0"/>
          <a:stretch/>
        </p:blipFill>
        <p:spPr>
          <a:xfrm>
            <a:off x="809244" y="5862218"/>
            <a:ext cx="105156" cy="133502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914400" y="5862218"/>
            <a:ext cx="265816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얼마나(How much)?</a:t>
            </a:r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전년 대비 -5% 하락, 경쟁사 대비 10% 열위</a:t>
            </a:r>
            <a:endParaRPr lang="en-US" sz="1100" dirty="0"/>
          </a:p>
        </p:txBody>
      </p:sp>
      <p:sp>
        <p:nvSpPr>
          <p:cNvPr id="25" name="Shape 16"/>
          <p:cNvSpPr/>
          <p:nvPr/>
        </p:nvSpPr>
        <p:spPr>
          <a:xfrm>
            <a:off x="809244" y="6291072"/>
            <a:ext cx="2704795" cy="790956"/>
          </a:xfrm>
          <a:prstGeom prst="roundRect">
            <a:avLst>
              <a:gd name="adj" fmla="val 2228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17"/>
          <p:cNvSpPr txBox="1"/>
          <p:nvPr/>
        </p:nvSpPr>
        <p:spPr>
          <a:xfrm>
            <a:off x="771754" y="6291072"/>
            <a:ext cx="2781605" cy="7909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Output</a:t>
            </a:r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"A타입 매장의 식품 카테고리 객단가가 5% 하락함" </a:t>
            </a:r>
            <a:endParaRPr lang="en-US" sz="90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2" b="-2"/>
          <a:stretch/>
        </p:blipFill>
        <p:spPr>
          <a:xfrm>
            <a:off x="4508906" y="1766621"/>
            <a:ext cx="3174797" cy="4572000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4518050" y="4034333"/>
            <a:ext cx="316199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29" name="Shape 19"/>
          <p:cNvSpPr/>
          <p:nvPr/>
        </p:nvSpPr>
        <p:spPr>
          <a:xfrm>
            <a:off x="5943600" y="2042770"/>
            <a:ext cx="304495" cy="304495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0"/>
          <p:cNvSpPr/>
          <p:nvPr/>
        </p:nvSpPr>
        <p:spPr>
          <a:xfrm>
            <a:off x="5915254" y="2042770"/>
            <a:ext cx="36210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000" dirty="0"/>
          </a:p>
        </p:txBody>
      </p:sp>
      <p:sp>
        <p:nvSpPr>
          <p:cNvPr id="31" name="Shape 21"/>
          <p:cNvSpPr/>
          <p:nvPr/>
        </p:nvSpPr>
        <p:spPr>
          <a:xfrm>
            <a:off x="5762549" y="2462479"/>
            <a:ext cx="666598" cy="666598"/>
          </a:xfrm>
          <a:prstGeom prst="ellipse">
            <a:avLst/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5952744" y="2652674"/>
            <a:ext cx="286207" cy="286207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5529377" y="3281782"/>
            <a:ext cx="113842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레버별 액션</a:t>
            </a:r>
            <a:endParaRPr lang="en-US" sz="1500" dirty="0"/>
          </a:p>
        </p:txBody>
      </p:sp>
      <p:sp>
        <p:nvSpPr>
          <p:cNvPr id="34" name="Text 23"/>
          <p:cNvSpPr txBox="1"/>
          <p:nvPr/>
        </p:nvSpPr>
        <p:spPr>
          <a:xfrm>
            <a:off x="5599786" y="3605479"/>
            <a:ext cx="9976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Action Levers</a:t>
            </a:r>
            <a:endParaRPr lang="en-US" sz="1000" dirty="0"/>
          </a:p>
        </p:txBody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rcRect l="-1507" r="-1507" t="0" b="0"/>
          <a:stretch/>
        </p:blipFill>
        <p:spPr>
          <a:xfrm>
            <a:off x="4746650" y="4272077"/>
            <a:ext cx="171907" cy="133502"/>
          </a:xfrm>
          <a:prstGeom prst="rect">
            <a:avLst/>
          </a:prstGeom>
        </p:spPr>
      </p:pic>
      <p:sp>
        <p:nvSpPr>
          <p:cNvPr id="36" name="Text 24"/>
          <p:cNvSpPr txBox="1"/>
          <p:nvPr/>
        </p:nvSpPr>
        <p:spPr>
          <a:xfrm>
            <a:off x="4917643" y="4272077"/>
            <a:ext cx="2610612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유입 (Traffic)</a:t>
            </a:r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타깃 마케팅, 매장 내 동선 개선, 전단지 배포</a:t>
            </a:r>
            <a:endParaRPr lang="en-US" sz="1100" dirty="0"/>
          </a:p>
        </p:txBody>
      </p:sp>
      <p:pic>
        <p:nvPicPr>
          <p:cNvPr id="37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4746650" y="5067605"/>
            <a:ext cx="133502" cy="133502"/>
          </a:xfrm>
          <a:prstGeom prst="rect">
            <a:avLst/>
          </a:prstGeom>
        </p:spPr>
      </p:pic>
      <p:sp>
        <p:nvSpPr>
          <p:cNvPr id="38" name="Text 25"/>
          <p:cNvSpPr txBox="1"/>
          <p:nvPr/>
        </p:nvSpPr>
        <p:spPr>
          <a:xfrm>
            <a:off x="4880153" y="5067605"/>
            <a:ext cx="2067458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전환 (Conversion)</a:t>
            </a:r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품절 방지, 시식 행사, 진열 최적화</a:t>
            </a:r>
            <a:endParaRPr lang="en-US" sz="1100" dirty="0"/>
          </a:p>
        </p:txBody>
      </p:sp>
      <p:pic>
        <p:nvPicPr>
          <p:cNvPr id="39" name="Image 11" descr="preencoded.png">    </p:cNvPr>
          <p:cNvPicPr>
            <a:picLocks noChangeAspect="1"/>
          </p:cNvPicPr>
          <p:nvPr/>
        </p:nvPicPr>
        <p:blipFill>
          <a:blip r:embed="rId12"/>
          <a:srcRect l="-837" r="-837" t="0" b="0"/>
          <a:stretch/>
        </p:blipFill>
        <p:spPr>
          <a:xfrm>
            <a:off x="4746650" y="5648249"/>
            <a:ext cx="152705" cy="133502"/>
          </a:xfrm>
          <a:prstGeom prst="rect">
            <a:avLst/>
          </a:prstGeom>
        </p:spPr>
      </p:pic>
      <p:sp>
        <p:nvSpPr>
          <p:cNvPr id="40" name="Text 26"/>
          <p:cNvSpPr txBox="1"/>
          <p:nvPr/>
        </p:nvSpPr>
        <p:spPr>
          <a:xfrm>
            <a:off x="4899355" y="5648249"/>
            <a:ext cx="262890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객단가 (AOV)</a:t>
            </a:r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번들 상품 기획, 크로스셀링, 계산대 앞 충동구매 유도</a:t>
            </a:r>
            <a:endParaRPr lang="en-US" sz="1100" dirty="0"/>
          </a:p>
        </p:txBody>
      </p:sp>
      <p:sp>
        <p:nvSpPr>
          <p:cNvPr id="41" name="Shape 27"/>
          <p:cNvSpPr/>
          <p:nvPr/>
        </p:nvSpPr>
        <p:spPr>
          <a:xfrm>
            <a:off x="4746650" y="6291072"/>
            <a:ext cx="2704795" cy="599846"/>
          </a:xfrm>
          <a:prstGeom prst="roundRect">
            <a:avLst>
              <a:gd name="adj" fmla="val 3871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28"/>
          <p:cNvSpPr txBox="1"/>
          <p:nvPr/>
        </p:nvSpPr>
        <p:spPr>
          <a:xfrm>
            <a:off x="4708246" y="6291072"/>
            <a:ext cx="2781605" cy="6007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Output</a:t>
            </a:r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"식품 번들 프로모션으로 객단가 회복 시도" </a:t>
            </a:r>
            <a:endParaRPr lang="en-US" sz="900" dirty="0"/>
          </a:p>
        </p:txBody>
      </p:sp>
      <p:pic>
        <p:nvPicPr>
          <p:cNvPr id="43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-2" b="-2"/>
          <a:stretch/>
        </p:blipFill>
        <p:spPr>
          <a:xfrm>
            <a:off x="8445398" y="1766621"/>
            <a:ext cx="3174797" cy="4572000"/>
          </a:xfrm>
          <a:prstGeom prst="rect">
            <a:avLst/>
          </a:prstGeom>
        </p:spPr>
      </p:pic>
      <p:sp>
        <p:nvSpPr>
          <p:cNvPr id="44" name="Shape 29"/>
          <p:cNvSpPr/>
          <p:nvPr/>
        </p:nvSpPr>
        <p:spPr>
          <a:xfrm>
            <a:off x="8454542" y="4034333"/>
            <a:ext cx="316199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45" name="Shape 30"/>
          <p:cNvSpPr/>
          <p:nvPr/>
        </p:nvSpPr>
        <p:spPr>
          <a:xfrm>
            <a:off x="9880092" y="2042770"/>
            <a:ext cx="304495" cy="304495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31"/>
          <p:cNvSpPr/>
          <p:nvPr/>
        </p:nvSpPr>
        <p:spPr>
          <a:xfrm>
            <a:off x="9851746" y="2042770"/>
            <a:ext cx="36210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000" dirty="0"/>
          </a:p>
        </p:txBody>
      </p:sp>
      <p:sp>
        <p:nvSpPr>
          <p:cNvPr id="47" name="Shape 32"/>
          <p:cNvSpPr/>
          <p:nvPr/>
        </p:nvSpPr>
        <p:spPr>
          <a:xfrm>
            <a:off x="9699041" y="2462479"/>
            <a:ext cx="666598" cy="666598"/>
          </a:xfrm>
          <a:prstGeom prst="ellipse">
            <a:avLst/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8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-530" b="-530"/>
          <a:stretch/>
        </p:blipFill>
        <p:spPr>
          <a:xfrm>
            <a:off x="9909353" y="2652674"/>
            <a:ext cx="247802" cy="286207"/>
          </a:xfrm>
          <a:prstGeom prst="rect">
            <a:avLst/>
          </a:prstGeom>
        </p:spPr>
      </p:pic>
      <p:sp>
        <p:nvSpPr>
          <p:cNvPr id="49" name="Text 33"/>
          <p:cNvSpPr txBox="1"/>
          <p:nvPr/>
        </p:nvSpPr>
        <p:spPr>
          <a:xfrm>
            <a:off x="9569196" y="3281782"/>
            <a:ext cx="93543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실험 설계</a:t>
            </a:r>
            <a:endParaRPr lang="en-US" sz="1500" dirty="0"/>
          </a:p>
        </p:txBody>
      </p:sp>
      <p:sp>
        <p:nvSpPr>
          <p:cNvPr id="50" name="Text 34"/>
          <p:cNvSpPr txBox="1"/>
          <p:nvPr/>
        </p:nvSpPr>
        <p:spPr>
          <a:xfrm>
            <a:off x="9334195" y="3605479"/>
            <a:ext cx="140634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Experiment Design</a:t>
            </a:r>
            <a:endParaRPr lang="en-US" sz="1000" dirty="0"/>
          </a:p>
        </p:txBody>
      </p:sp>
      <p:pic>
        <p:nvPicPr>
          <p:cNvPr id="51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8683142" y="4272077"/>
            <a:ext cx="133502" cy="133502"/>
          </a:xfrm>
          <a:prstGeom prst="rect">
            <a:avLst/>
          </a:prstGeom>
        </p:spPr>
      </p:pic>
      <p:sp>
        <p:nvSpPr>
          <p:cNvPr id="52" name="Text 35"/>
          <p:cNvSpPr txBox="1"/>
          <p:nvPr/>
        </p:nvSpPr>
        <p:spPr>
          <a:xfrm>
            <a:off x="8816645" y="4272077"/>
            <a:ext cx="2448763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타깃 &amp; 기간</a:t>
            </a:r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A타입 5개 매장 대상, 2주간 파일럿 운영</a:t>
            </a:r>
            <a:endParaRPr lang="en-US" sz="1100" dirty="0"/>
          </a:p>
        </p:txBody>
      </p:sp>
      <p:pic>
        <p:nvPicPr>
          <p:cNvPr id="53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0" b="0"/>
          <a:stretch/>
        </p:blipFill>
        <p:spPr>
          <a:xfrm>
            <a:off x="8683142" y="4852721"/>
            <a:ext cx="133502" cy="133502"/>
          </a:xfrm>
          <a:prstGeom prst="rect">
            <a:avLst/>
          </a:prstGeom>
        </p:spPr>
      </p:pic>
      <p:sp>
        <p:nvSpPr>
          <p:cNvPr id="54" name="Text 36"/>
          <p:cNvSpPr txBox="1"/>
          <p:nvPr/>
        </p:nvSpPr>
        <p:spPr>
          <a:xfrm>
            <a:off x="8816645" y="4852721"/>
            <a:ext cx="2371954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지표 (KPI)</a:t>
            </a:r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프로모션 기간 내 객단가 3% 상승 목표</a:t>
            </a:r>
            <a:endParaRPr lang="en-US" sz="1100" dirty="0"/>
          </a:p>
        </p:txBody>
      </p:sp>
      <p:pic>
        <p:nvPicPr>
          <p:cNvPr id="55" name="Image 16" descr="preencoded.png">    </p:cNvPr>
          <p:cNvPicPr>
            <a:picLocks noChangeAspect="1"/>
          </p:cNvPicPr>
          <p:nvPr/>
        </p:nvPicPr>
        <p:blipFill>
          <a:blip r:embed="rId17"/>
          <a:srcRect l="0" r="0" t="0" b="0"/>
          <a:stretch/>
        </p:blipFill>
        <p:spPr>
          <a:xfrm>
            <a:off x="8683142" y="5434279"/>
            <a:ext cx="133502" cy="133502"/>
          </a:xfrm>
          <a:prstGeom prst="rect">
            <a:avLst/>
          </a:prstGeom>
        </p:spPr>
      </p:pic>
      <p:sp>
        <p:nvSpPr>
          <p:cNvPr id="56" name="Text 37"/>
          <p:cNvSpPr txBox="1"/>
          <p:nvPr/>
        </p:nvSpPr>
        <p:spPr>
          <a:xfrm>
            <a:off x="8816645" y="5434279"/>
            <a:ext cx="2648102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예산 &amp; 리소스</a:t>
            </a:r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프로모션 할인 비용 및 POS 업데이트 공수 산정</a:t>
            </a:r>
            <a:endParaRPr lang="en-US" sz="1100" dirty="0"/>
          </a:p>
        </p:txBody>
      </p:sp>
      <p:sp>
        <p:nvSpPr>
          <p:cNvPr id="57" name="Shape 38"/>
          <p:cNvSpPr/>
          <p:nvPr/>
        </p:nvSpPr>
        <p:spPr>
          <a:xfrm>
            <a:off x="8683142" y="6077102"/>
            <a:ext cx="2704795" cy="599846"/>
          </a:xfrm>
          <a:prstGeom prst="roundRect">
            <a:avLst>
              <a:gd name="adj" fmla="val 3871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8" name="Text 39"/>
          <p:cNvSpPr txBox="1"/>
          <p:nvPr/>
        </p:nvSpPr>
        <p:spPr>
          <a:xfrm>
            <a:off x="8645652" y="6077102"/>
            <a:ext cx="2781605" cy="6007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Output</a:t>
            </a:r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"2주 후 객단가 변화 측정 및 전사 확대 결정" </a:t>
            </a:r>
            <a:endParaRPr lang="en-US" sz="900" dirty="0"/>
          </a:p>
        </p:txBody>
      </p:sp>
      <p:pic>
        <p:nvPicPr>
          <p:cNvPr id="59" name="Image 17" descr="preencoded.png">    </p:cNvPr>
          <p:cNvPicPr>
            <a:picLocks noChangeAspect="1"/>
          </p:cNvPicPr>
          <p:nvPr/>
        </p:nvPicPr>
        <p:blipFill>
          <a:blip r:embed="rId18"/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34195" y="-952805"/>
            <a:ext cx="3810305" cy="3810305"/>
          </a:xfrm>
          <a:prstGeom prst="ellipse">
            <a:avLst/>
          </a:prstGeom>
          <a:solidFill>
            <a:srgbClr val="F1F5F9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476402" y="4476902"/>
            <a:ext cx="2857500" cy="2857500"/>
          </a:xfrm>
          <a:prstGeom prst="ellipse">
            <a:avLst/>
          </a:prstGeom>
          <a:solidFill>
            <a:srgbClr val="E2E8F0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476402"/>
            <a:ext cx="112398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spc="-72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Executive Summary 작성법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257300"/>
            <a:ext cx="112398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의사결정자를 위한 피라미드 구조 보고서 작성 가이드</a:t>
            </a:r>
            <a:endParaRPr lang="en-US" sz="1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2" b="-2"/>
          <a:stretch/>
        </p:blipFill>
        <p:spPr>
          <a:xfrm>
            <a:off x="857707" y="1981505"/>
            <a:ext cx="5048402" cy="196230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57707" y="1981505"/>
            <a:ext cx="57607" cy="1943100"/>
          </a:xfrm>
          <a:prstGeom prst="rect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2276856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338682" y="2428646"/>
            <a:ext cx="200254" cy="267005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1952244" y="2305202"/>
            <a:ext cx="875995" cy="209398"/>
          </a:xfrm>
          <a:prstGeom prst="roundRect">
            <a:avLst>
              <a:gd name="adj" fmla="val 158793"/>
            </a:avLst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1952244" y="2305202"/>
            <a:ext cx="952805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Level 1: 결론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1952244" y="2572207"/>
            <a:ext cx="377190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메시지 (Key Message)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1952244" y="2962656"/>
            <a:ext cx="37344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"매출 둔화의 주 원인은 객단가 하락이며, 프로모션 최적화로 5% 회복 가능합니다."와 같이 결론을 1문장으로 압축하여 최상단에 제시합니다.</a:t>
            </a:r>
            <a:endParaRPr lang="en-US" sz="12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2" b="-2"/>
          <a:stretch/>
        </p:blipFill>
        <p:spPr>
          <a:xfrm>
            <a:off x="6286500" y="1981505"/>
            <a:ext cx="5048402" cy="1962302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6286500" y="1981505"/>
            <a:ext cx="57607" cy="1943100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581851" y="2276856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734556" y="2428646"/>
            <a:ext cx="267005" cy="267005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7381951" y="2305202"/>
            <a:ext cx="875995" cy="209398"/>
          </a:xfrm>
          <a:prstGeom prst="roundRect">
            <a:avLst>
              <a:gd name="adj" fmla="val 158793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7381951" y="2305202"/>
            <a:ext cx="952805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Level 2: 근거</a:t>
            </a:r>
            <a:endParaRPr lang="en-US" sz="900" dirty="0"/>
          </a:p>
        </p:txBody>
      </p:sp>
      <p:sp>
        <p:nvSpPr>
          <p:cNvPr id="23" name="Text 17"/>
          <p:cNvSpPr txBox="1"/>
          <p:nvPr/>
        </p:nvSpPr>
        <p:spPr>
          <a:xfrm>
            <a:off x="7381951" y="2572207"/>
            <a:ext cx="377190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근거 3가지 (Key Findings)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7381951" y="2962656"/>
            <a:ext cx="37344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메시지를 뒷받침하는 가장 강력한 데이터 발견점 3가지를 요약합니다. (예: 프로모션 효율 저하, 특정 세그먼트 이탈 등)</a:t>
            </a:r>
            <a:endParaRPr lang="en-US" sz="12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2" b="-2"/>
          <a:stretch/>
        </p:blipFill>
        <p:spPr>
          <a:xfrm>
            <a:off x="857707" y="4324198"/>
            <a:ext cx="5048402" cy="1962302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857707" y="4324198"/>
            <a:ext cx="57607" cy="1943100"/>
          </a:xfrm>
          <a:prstGeom prst="rect">
            <a:avLst/>
          </a:prstGeom>
          <a:solidFill>
            <a:srgbClr val="6474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1152144" y="4619549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rcRect l="-685" r="-685" t="0" b="0"/>
          <a:stretch/>
        </p:blipFill>
        <p:spPr>
          <a:xfrm>
            <a:off x="1285646" y="4772254"/>
            <a:ext cx="304495" cy="267005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1952244" y="4647895"/>
            <a:ext cx="875995" cy="209398"/>
          </a:xfrm>
          <a:prstGeom prst="roundRect">
            <a:avLst>
              <a:gd name="adj" fmla="val 15879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2"/>
          <p:cNvSpPr txBox="1"/>
          <p:nvPr/>
        </p:nvSpPr>
        <p:spPr>
          <a:xfrm>
            <a:off x="1952244" y="4647895"/>
            <a:ext cx="952805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Level 3: 상세</a:t>
            </a:r>
            <a:endParaRPr lang="en-US" sz="900" dirty="0"/>
          </a:p>
        </p:txBody>
      </p:sp>
      <p:sp>
        <p:nvSpPr>
          <p:cNvPr id="31" name="Text 23"/>
          <p:cNvSpPr txBox="1"/>
          <p:nvPr/>
        </p:nvSpPr>
        <p:spPr>
          <a:xfrm>
            <a:off x="1952244" y="4914900"/>
            <a:ext cx="377190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상세 분석 및 부록 (Details)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1952244" y="5305349"/>
            <a:ext cx="37344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주장에 대한 신뢰성을 높이는 상세 차트, 분석 방법론, 데이터 출처, 가정 및 한계점은 뒷부분에 배치하여 궁금할 때 찾아보게 합니다.</a:t>
            </a:r>
            <a:endParaRPr lang="en-US" sz="1200" dirty="0"/>
          </a:p>
        </p:txBody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2" b="-2"/>
          <a:stretch/>
        </p:blipFill>
        <p:spPr>
          <a:xfrm>
            <a:off x="6286500" y="4324198"/>
            <a:ext cx="5048402" cy="1962302"/>
          </a:xfrm>
          <a:prstGeom prst="rect">
            <a:avLst/>
          </a:prstGeom>
        </p:spPr>
      </p:pic>
      <p:sp>
        <p:nvSpPr>
          <p:cNvPr id="34" name="Shape 25"/>
          <p:cNvSpPr/>
          <p:nvPr/>
        </p:nvSpPr>
        <p:spPr>
          <a:xfrm>
            <a:off x="6286500" y="4324198"/>
            <a:ext cx="57607" cy="1943100"/>
          </a:xfrm>
          <a:prstGeom prst="rect">
            <a:avLst/>
          </a:prstGeom>
          <a:solidFill>
            <a:srgbClr val="8B5C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26"/>
          <p:cNvSpPr/>
          <p:nvPr/>
        </p:nvSpPr>
        <p:spPr>
          <a:xfrm>
            <a:off x="6581851" y="4619549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F5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rcRect l="-685" r="-685" t="0" b="0"/>
          <a:stretch/>
        </p:blipFill>
        <p:spPr>
          <a:xfrm>
            <a:off x="6715354" y="4772254"/>
            <a:ext cx="304495" cy="267005"/>
          </a:xfrm>
          <a:prstGeom prst="rect">
            <a:avLst/>
          </a:prstGeom>
        </p:spPr>
      </p:pic>
      <p:sp>
        <p:nvSpPr>
          <p:cNvPr id="37" name="Shape 27"/>
          <p:cNvSpPr/>
          <p:nvPr/>
        </p:nvSpPr>
        <p:spPr>
          <a:xfrm>
            <a:off x="7381951" y="4647895"/>
            <a:ext cx="761695" cy="209398"/>
          </a:xfrm>
          <a:prstGeom prst="roundRect">
            <a:avLst>
              <a:gd name="adj" fmla="val 158793"/>
            </a:avLst>
          </a:prstGeom>
          <a:solidFill>
            <a:srgbClr val="F5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28"/>
          <p:cNvSpPr txBox="1"/>
          <p:nvPr/>
        </p:nvSpPr>
        <p:spPr>
          <a:xfrm>
            <a:off x="7381951" y="4647895"/>
            <a:ext cx="838505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Principle</a:t>
            </a:r>
            <a:endParaRPr lang="en-US" sz="900" dirty="0"/>
          </a:p>
        </p:txBody>
      </p:sp>
      <p:sp>
        <p:nvSpPr>
          <p:cNvPr id="39" name="Text 29"/>
          <p:cNvSpPr txBox="1"/>
          <p:nvPr/>
        </p:nvSpPr>
        <p:spPr>
          <a:xfrm>
            <a:off x="7381951" y="4914900"/>
            <a:ext cx="4090111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피라미드 구조 (Pyramid Structure)</a:t>
            </a:r>
            <a:endParaRPr lang="en-US" sz="1600" dirty="0"/>
          </a:p>
        </p:txBody>
      </p:sp>
      <p:sp>
        <p:nvSpPr>
          <p:cNvPr id="40" name="Text 30"/>
          <p:cNvSpPr txBox="1"/>
          <p:nvPr/>
        </p:nvSpPr>
        <p:spPr>
          <a:xfrm>
            <a:off x="7381951" y="5305349"/>
            <a:ext cx="37344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Top-Down 커뮤니케이션: 결론부터 말하고(What), 이유를 설명하고(Why), 세부사항을 제시하는(How) 흐름을 유지해야 합니다.</a:t>
            </a:r>
            <a:endParaRPr lang="en-US" sz="1200" dirty="0"/>
          </a:p>
        </p:txBody>
      </p:sp>
      <p:pic>
        <p:nvPicPr>
          <p:cNvPr id="41" name="Image 8" descr="preencoded.png">    </p:cNvPr>
          <p:cNvPicPr>
            <a:picLocks noChangeAspect="1"/>
          </p:cNvPicPr>
          <p:nvPr/>
        </p:nvPicPr>
        <p:blipFill>
          <a:blip r:embed="rId9"/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34195" y="-952805"/>
            <a:ext cx="3810305" cy="3810305"/>
          </a:xfrm>
          <a:prstGeom prst="ellipse">
            <a:avLst/>
          </a:prstGeom>
          <a:solidFill>
            <a:srgbClr val="3B82F6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476402" y="4476902"/>
            <a:ext cx="2857500" cy="2857500"/>
          </a:xfrm>
          <a:prstGeom prst="ellipse">
            <a:avLst/>
          </a:prstGeom>
          <a:solidFill>
            <a:srgbClr val="10B981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381305"/>
            <a:ext cx="11239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spc="-63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CSV/MD Export로 Part 3와 연결</a:t>
            </a:r>
            <a:endParaRPr lang="en-US" sz="31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057046"/>
            <a:ext cx="111639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 결과를 RAG 챗봇의 지식 베이스(Knowledge Base)로 활용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71500" y="1723644"/>
            <a:ext cx="5333695" cy="4962449"/>
          </a:xfrm>
          <a:prstGeom prst="roundRect">
            <a:avLst>
              <a:gd name="adj" fmla="val 11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9244" y="2457907"/>
            <a:ext cx="4858207" cy="1920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9244" y="1962302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05256" y="2057400"/>
            <a:ext cx="190195" cy="190195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304849" y="1995221"/>
            <a:ext cx="195041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정량 데이터 (CSV)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09244" y="2667305"/>
            <a:ext cx="342900" cy="34290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43" b="-43"/>
          <a:stretch/>
        </p:blipFill>
        <p:spPr>
          <a:xfrm>
            <a:off x="914400" y="2762402"/>
            <a:ext cx="133502" cy="15270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304849" y="2667305"/>
            <a:ext cx="44961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저장 대상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1304849" y="2980944"/>
            <a:ext cx="494964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전처리된 </a:t>
            </a:r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train.csv</a:t>
            </a:r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transactions.csv</a:t>
            </a:r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등 실제 수치 데이터 파일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09244" y="3414370"/>
            <a:ext cx="342900" cy="34290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05256" y="3510382"/>
            <a:ext cx="152705" cy="15270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304849" y="3414370"/>
            <a:ext cx="40389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활용 도구: DuckDB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1304849" y="3728923"/>
            <a:ext cx="4562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In-memory SQL 데이터베이스에 적재하여 고성능 쿼리 환경 구축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809244" y="4134002"/>
            <a:ext cx="342900" cy="34290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05256" y="4229100"/>
            <a:ext cx="152705" cy="15270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304849" y="4134002"/>
            <a:ext cx="447690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대응 질문 유형 (Text-to-SQL)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1304849" y="4448556"/>
            <a:ext cx="443941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"2016년 총 매출은 얼마인가?", "가장 많이 팔린 카테고리 Top 5는?" 등 정확한 수치가 필요한 질문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6286500" y="1723644"/>
            <a:ext cx="5333695" cy="4962449"/>
          </a:xfrm>
          <a:prstGeom prst="roundRect">
            <a:avLst>
              <a:gd name="adj" fmla="val 11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6524244" y="2457907"/>
            <a:ext cx="4858207" cy="19202"/>
          </a:xfrm>
          <a:prstGeom prst="rect">
            <a:avLst/>
          </a:prstGeom>
          <a:solidFill>
            <a:srgbClr val="F3E8FF"/>
          </a:solidFill>
          <a:ln w="12700">
            <a:solidFill>
              <a:srgbClr val="F3E8FF">
                <a:alpha val="0"/>
              </a:srgbClr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6524244" y="1962302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F3E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644030" y="2057400"/>
            <a:ext cx="142646" cy="190195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7019849" y="1995221"/>
            <a:ext cx="269199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정성 데이터 (Markdown)</a:t>
            </a:r>
            <a:endParaRPr lang="en-US" sz="1600" dirty="0"/>
          </a:p>
        </p:txBody>
      </p:sp>
      <p:sp>
        <p:nvSpPr>
          <p:cNvPr id="31" name="Shape 24"/>
          <p:cNvSpPr/>
          <p:nvPr/>
        </p:nvSpPr>
        <p:spPr>
          <a:xfrm>
            <a:off x="6524244" y="2667305"/>
            <a:ext cx="342900" cy="342900"/>
          </a:xfrm>
          <a:prstGeom prst="ellipse">
            <a:avLst/>
          </a:prstGeom>
          <a:solidFill>
            <a:srgbClr val="F3E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43" b="-43"/>
          <a:stretch/>
        </p:blipFill>
        <p:spPr>
          <a:xfrm>
            <a:off x="6629400" y="2762402"/>
            <a:ext cx="133502" cy="152705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7019849" y="2667305"/>
            <a:ext cx="416326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저장 대상</a:t>
            </a:r>
            <a:endParaRPr lang="en-US" sz="1300" dirty="0"/>
          </a:p>
        </p:txBody>
      </p:sp>
      <p:sp>
        <p:nvSpPr>
          <p:cNvPr id="34" name="Text 26"/>
          <p:cNvSpPr txBox="1"/>
          <p:nvPr/>
        </p:nvSpPr>
        <p:spPr>
          <a:xfrm>
            <a:off x="7019849" y="2980944"/>
            <a:ext cx="460674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insight_report.md</a:t>
            </a:r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등 Part 1에서 도출한 분석 결과 요약 문서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6524244" y="3414370"/>
            <a:ext cx="342900" cy="342900"/>
          </a:xfrm>
          <a:prstGeom prst="ellipse">
            <a:avLst/>
          </a:prstGeom>
          <a:solidFill>
            <a:srgbClr val="F3E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43" b="-43"/>
          <a:stretch/>
        </p:blipFill>
        <p:spPr>
          <a:xfrm>
            <a:off x="6629400" y="3510382"/>
            <a:ext cx="133502" cy="152705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7019849" y="3414370"/>
            <a:ext cx="447690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활용 도구: ChromaDB</a:t>
            </a:r>
            <a:endParaRPr lang="en-US" sz="1300" dirty="0"/>
          </a:p>
        </p:txBody>
      </p:sp>
      <p:sp>
        <p:nvSpPr>
          <p:cNvPr id="38" name="Text 29"/>
          <p:cNvSpPr txBox="1"/>
          <p:nvPr/>
        </p:nvSpPr>
        <p:spPr>
          <a:xfrm>
            <a:off x="7019849" y="3728923"/>
            <a:ext cx="443941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문서를 벡터(Vector)로 임베딩하여 유사도 기반 검색(Retrieval) 환경 구축</a:t>
            </a:r>
            <a:endParaRPr lang="en-US" sz="1100" dirty="0"/>
          </a:p>
        </p:txBody>
      </p:sp>
      <p:sp>
        <p:nvSpPr>
          <p:cNvPr id="39" name="Shape 30"/>
          <p:cNvSpPr/>
          <p:nvPr/>
        </p:nvSpPr>
        <p:spPr>
          <a:xfrm>
            <a:off x="6524244" y="4347972"/>
            <a:ext cx="342900" cy="342900"/>
          </a:xfrm>
          <a:prstGeom prst="ellipse">
            <a:avLst/>
          </a:prstGeom>
          <a:solidFill>
            <a:srgbClr val="F3E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100" b="-100"/>
          <a:stretch/>
        </p:blipFill>
        <p:spPr>
          <a:xfrm>
            <a:off x="6638544" y="4443070"/>
            <a:ext cx="114300" cy="152705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7019849" y="4347972"/>
            <a:ext cx="447690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대응 질문 유형 (RAG)</a:t>
            </a:r>
            <a:endParaRPr lang="en-US" sz="1300" dirty="0"/>
          </a:p>
        </p:txBody>
      </p:sp>
      <p:sp>
        <p:nvSpPr>
          <p:cNvPr id="42" name="Text 32"/>
          <p:cNvSpPr txBox="1"/>
          <p:nvPr/>
        </p:nvSpPr>
        <p:spPr>
          <a:xfrm>
            <a:off x="7019849" y="4662526"/>
            <a:ext cx="443941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"매출 성장 둔화의 원인은 무엇인가?", "권장하는 프로모션 전략은?" 등 맥락과 해석이 필요한 질문</a:t>
            </a:r>
            <a:endParaRPr lang="en-US" sz="1100" dirty="0"/>
          </a:p>
        </p:txBody>
      </p:sp>
      <p:sp>
        <p:nvSpPr>
          <p:cNvPr id="43" name="Shape 33"/>
          <p:cNvSpPr/>
          <p:nvPr/>
        </p:nvSpPr>
        <p:spPr>
          <a:xfrm>
            <a:off x="809244" y="5091379"/>
            <a:ext cx="4858207" cy="1352398"/>
          </a:xfrm>
          <a:prstGeom prst="roundRect">
            <a:avLst>
              <a:gd name="adj" fmla="val 1142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4" name="Text 34"/>
          <p:cNvSpPr txBox="1"/>
          <p:nvPr/>
        </p:nvSpPr>
        <p:spPr>
          <a:xfrm>
            <a:off x="952805" y="5290718"/>
            <a:ext cx="45720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2" kern="0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CSV Flow</a:t>
            </a:r>
            <a:endParaRPr lang="en-US" sz="1000" dirty="0"/>
          </a:p>
        </p:txBody>
      </p:sp>
      <p:sp>
        <p:nvSpPr>
          <p:cNvPr id="45" name="Shape 35"/>
          <p:cNvSpPr/>
          <p:nvPr/>
        </p:nvSpPr>
        <p:spPr>
          <a:xfrm>
            <a:off x="1009498" y="5633618"/>
            <a:ext cx="1343254" cy="609905"/>
          </a:xfrm>
          <a:prstGeom prst="roundRect">
            <a:avLst>
              <a:gd name="adj" fmla="val 374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9"/>
          <a:srcRect l="-220433" r="-220433" t="0" b="0"/>
          <a:stretch/>
        </p:blipFill>
        <p:spPr>
          <a:xfrm>
            <a:off x="1164031" y="5747918"/>
            <a:ext cx="1028700" cy="190195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1123798" y="5967374"/>
            <a:ext cx="11146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CSV 파일</a:t>
            </a:r>
            <a:endParaRPr lang="en-US" sz="900" dirty="0"/>
          </a:p>
        </p:txBody>
      </p:sp>
      <p:sp>
        <p:nvSpPr>
          <p:cNvPr id="48" name="Shape 37"/>
          <p:cNvSpPr/>
          <p:nvPr/>
        </p:nvSpPr>
        <p:spPr>
          <a:xfrm>
            <a:off x="2442362" y="5928970"/>
            <a:ext cx="38405" cy="19202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38"/>
          <p:cNvSpPr/>
          <p:nvPr/>
        </p:nvSpPr>
        <p:spPr>
          <a:xfrm>
            <a:off x="2570378" y="5633618"/>
            <a:ext cx="1343254" cy="609905"/>
          </a:xfrm>
          <a:prstGeom prst="roundRect">
            <a:avLst>
              <a:gd name="adj" fmla="val 374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50" name="Image 9" descr="preencoded.png">    </p:cNvPr>
          <p:cNvPicPr>
            <a:picLocks noChangeAspect="1"/>
          </p:cNvPicPr>
          <p:nvPr/>
        </p:nvPicPr>
        <p:blipFill>
          <a:blip r:embed="rId10"/>
          <a:srcRect l="-259066" r="-259066" t="0" b="0"/>
          <a:stretch/>
        </p:blipFill>
        <p:spPr>
          <a:xfrm>
            <a:off x="2723998" y="5747918"/>
            <a:ext cx="1028700" cy="190195"/>
          </a:xfrm>
          <a:prstGeom prst="rect">
            <a:avLst/>
          </a:prstGeom>
        </p:spPr>
      </p:pic>
      <p:sp>
        <p:nvSpPr>
          <p:cNvPr id="51" name="Text 39"/>
          <p:cNvSpPr txBox="1"/>
          <p:nvPr/>
        </p:nvSpPr>
        <p:spPr>
          <a:xfrm>
            <a:off x="2684678" y="5967374"/>
            <a:ext cx="11146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DuckDB</a:t>
            </a:r>
            <a:endParaRPr lang="en-US" sz="900" dirty="0"/>
          </a:p>
        </p:txBody>
      </p:sp>
      <p:sp>
        <p:nvSpPr>
          <p:cNvPr id="52" name="Shape 40"/>
          <p:cNvSpPr/>
          <p:nvPr/>
        </p:nvSpPr>
        <p:spPr>
          <a:xfrm>
            <a:off x="4002329" y="5928970"/>
            <a:ext cx="38405" cy="19202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41"/>
          <p:cNvSpPr/>
          <p:nvPr/>
        </p:nvSpPr>
        <p:spPr>
          <a:xfrm>
            <a:off x="4130345" y="5633618"/>
            <a:ext cx="1343254" cy="609905"/>
          </a:xfrm>
          <a:prstGeom prst="roundRect">
            <a:avLst>
              <a:gd name="adj" fmla="val 374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54" name="Image 10" descr="preencoded.png">    </p:cNvPr>
          <p:cNvPicPr>
            <a:picLocks noChangeAspect="1"/>
          </p:cNvPicPr>
          <p:nvPr/>
        </p:nvPicPr>
        <p:blipFill>
          <a:blip r:embed="rId11"/>
          <a:srcRect l="-166346" r="-166346" t="0" b="0"/>
          <a:stretch/>
        </p:blipFill>
        <p:spPr>
          <a:xfrm>
            <a:off x="4284878" y="5747918"/>
            <a:ext cx="1028700" cy="190195"/>
          </a:xfrm>
          <a:prstGeom prst="rect">
            <a:avLst/>
          </a:prstGeom>
        </p:spPr>
      </p:pic>
      <p:sp>
        <p:nvSpPr>
          <p:cNvPr id="55" name="Text 42"/>
          <p:cNvSpPr txBox="1"/>
          <p:nvPr/>
        </p:nvSpPr>
        <p:spPr>
          <a:xfrm>
            <a:off x="4244645" y="5967374"/>
            <a:ext cx="11146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SQL 쿼리</a:t>
            </a:r>
            <a:endParaRPr lang="en-US" sz="900" dirty="0"/>
          </a:p>
        </p:txBody>
      </p:sp>
      <p:sp>
        <p:nvSpPr>
          <p:cNvPr id="56" name="Shape 43"/>
          <p:cNvSpPr/>
          <p:nvPr/>
        </p:nvSpPr>
        <p:spPr>
          <a:xfrm>
            <a:off x="6524244" y="5091379"/>
            <a:ext cx="4858207" cy="1352398"/>
          </a:xfrm>
          <a:prstGeom prst="roundRect">
            <a:avLst>
              <a:gd name="adj" fmla="val 11428"/>
            </a:avLst>
          </a:prstGeom>
          <a:solidFill>
            <a:srgbClr val="F3E8FF"/>
          </a:solidFill>
          <a:ln w="12700">
            <a:solidFill>
              <a:srgbClr val="D8B4FE"/>
            </a:solidFill>
            <a:prstDash val="solid"/>
          </a:ln>
        </p:spPr>
      </p:sp>
      <p:sp>
        <p:nvSpPr>
          <p:cNvPr id="57" name="Text 44"/>
          <p:cNvSpPr txBox="1"/>
          <p:nvPr/>
        </p:nvSpPr>
        <p:spPr>
          <a:xfrm>
            <a:off x="6667805" y="5290718"/>
            <a:ext cx="45720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2" kern="0" dirty="0">
                <a:solidFill>
                  <a:srgbClr val="A855F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Markdown Flow</a:t>
            </a:r>
            <a:endParaRPr lang="en-US" sz="1000" dirty="0"/>
          </a:p>
        </p:txBody>
      </p:sp>
      <p:sp>
        <p:nvSpPr>
          <p:cNvPr id="58" name="Shape 45"/>
          <p:cNvSpPr/>
          <p:nvPr/>
        </p:nvSpPr>
        <p:spPr>
          <a:xfrm>
            <a:off x="6724498" y="5633618"/>
            <a:ext cx="1343254" cy="609905"/>
          </a:xfrm>
          <a:prstGeom prst="roundRect">
            <a:avLst>
              <a:gd name="adj" fmla="val 374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59" name="Image 11" descr="preencoded.png">    </p:cNvPr>
          <p:cNvPicPr>
            <a:picLocks noChangeAspect="1"/>
          </p:cNvPicPr>
          <p:nvPr/>
        </p:nvPicPr>
        <p:blipFill>
          <a:blip r:embed="rId12"/>
          <a:srcRect l="-310577" r="-310577" t="0" b="0"/>
          <a:stretch/>
        </p:blipFill>
        <p:spPr>
          <a:xfrm>
            <a:off x="6879031" y="5747918"/>
            <a:ext cx="1028700" cy="190195"/>
          </a:xfrm>
          <a:prstGeom prst="rect">
            <a:avLst/>
          </a:prstGeom>
        </p:spPr>
      </p:pic>
      <p:sp>
        <p:nvSpPr>
          <p:cNvPr id="60" name="Text 46"/>
          <p:cNvSpPr txBox="1"/>
          <p:nvPr/>
        </p:nvSpPr>
        <p:spPr>
          <a:xfrm>
            <a:off x="6838798" y="5967374"/>
            <a:ext cx="11146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MD 문서</a:t>
            </a:r>
            <a:endParaRPr lang="en-US" sz="900" dirty="0"/>
          </a:p>
        </p:txBody>
      </p:sp>
      <p:sp>
        <p:nvSpPr>
          <p:cNvPr id="61" name="Shape 47"/>
          <p:cNvSpPr/>
          <p:nvPr/>
        </p:nvSpPr>
        <p:spPr>
          <a:xfrm>
            <a:off x="8157362" y="5928970"/>
            <a:ext cx="38405" cy="19202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48"/>
          <p:cNvSpPr/>
          <p:nvPr/>
        </p:nvSpPr>
        <p:spPr>
          <a:xfrm>
            <a:off x="8285378" y="5633618"/>
            <a:ext cx="1343254" cy="609905"/>
          </a:xfrm>
          <a:prstGeom prst="roundRect">
            <a:avLst>
              <a:gd name="adj" fmla="val 374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3" name="Image 12" descr="preencoded.png">    </p:cNvPr>
          <p:cNvPicPr>
            <a:picLocks noChangeAspect="1"/>
          </p:cNvPicPr>
          <p:nvPr/>
        </p:nvPicPr>
        <p:blipFill>
          <a:blip r:embed="rId13"/>
          <a:srcRect l="-190385" r="-190385" t="0" b="0"/>
          <a:stretch/>
        </p:blipFill>
        <p:spPr>
          <a:xfrm>
            <a:off x="8438998" y="5747918"/>
            <a:ext cx="1028700" cy="190195"/>
          </a:xfrm>
          <a:prstGeom prst="rect">
            <a:avLst/>
          </a:prstGeom>
        </p:spPr>
      </p:pic>
      <p:sp>
        <p:nvSpPr>
          <p:cNvPr id="64" name="Text 49"/>
          <p:cNvSpPr txBox="1"/>
          <p:nvPr/>
        </p:nvSpPr>
        <p:spPr>
          <a:xfrm>
            <a:off x="8399678" y="5967374"/>
            <a:ext cx="11146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ChromaDB</a:t>
            </a:r>
            <a:endParaRPr lang="en-US" sz="900" dirty="0"/>
          </a:p>
        </p:txBody>
      </p:sp>
      <p:sp>
        <p:nvSpPr>
          <p:cNvPr id="65" name="Shape 50"/>
          <p:cNvSpPr/>
          <p:nvPr/>
        </p:nvSpPr>
        <p:spPr>
          <a:xfrm>
            <a:off x="9717329" y="5928970"/>
            <a:ext cx="38405" cy="19202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51"/>
          <p:cNvSpPr/>
          <p:nvPr/>
        </p:nvSpPr>
        <p:spPr>
          <a:xfrm>
            <a:off x="9845345" y="5633618"/>
            <a:ext cx="1343254" cy="609905"/>
          </a:xfrm>
          <a:prstGeom prst="roundRect">
            <a:avLst>
              <a:gd name="adj" fmla="val 374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7" name="Image 13" descr="preencoded.png">    </p:cNvPr>
          <p:cNvPicPr>
            <a:picLocks noChangeAspect="1"/>
          </p:cNvPicPr>
          <p:nvPr/>
        </p:nvPicPr>
        <p:blipFill>
          <a:blip r:embed="rId14"/>
          <a:srcRect l="-220433" r="-220433" t="0" b="0"/>
          <a:stretch/>
        </p:blipFill>
        <p:spPr>
          <a:xfrm>
            <a:off x="9999878" y="5747918"/>
            <a:ext cx="1028700" cy="190195"/>
          </a:xfrm>
          <a:prstGeom prst="rect">
            <a:avLst/>
          </a:prstGeom>
        </p:spPr>
      </p:pic>
      <p:sp>
        <p:nvSpPr>
          <p:cNvPr id="68" name="Text 52"/>
          <p:cNvSpPr txBox="1"/>
          <p:nvPr/>
        </p:nvSpPr>
        <p:spPr>
          <a:xfrm>
            <a:off x="9955987" y="5967374"/>
            <a:ext cx="112196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벡터 검색</a:t>
            </a:r>
            <a:endParaRPr lang="en-US" sz="900" dirty="0"/>
          </a:p>
        </p:txBody>
      </p:sp>
      <p:pic>
        <p:nvPicPr>
          <p:cNvPr id="69" name="Image 14" descr="preencoded.png">    </p:cNvPr>
          <p:cNvPicPr>
            <a:picLocks noChangeAspect="1"/>
          </p:cNvPicPr>
          <p:nvPr/>
        </p:nvPicPr>
        <p:blipFill>
          <a:blip r:embed="rId15"/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52805" y="-952805"/>
            <a:ext cx="4286707" cy="4286707"/>
          </a:xfrm>
          <a:prstGeom prst="ellipse">
            <a:avLst/>
          </a:prstGeom>
          <a:solidFill>
            <a:srgbClr val="1E3A8A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05902" y="2572207"/>
            <a:ext cx="4762195" cy="4762195"/>
          </a:xfrm>
          <a:prstGeom prst="ellipse">
            <a:avLst/>
          </a:prstGeom>
          <a:solidFill>
            <a:srgbClr val="2563EB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81405" y="561442"/>
            <a:ext cx="98298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50" kern="0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Predictive Modeling &amp; Scenario Analysis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52144" y="1057046"/>
            <a:ext cx="9887407" cy="1515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spc="-108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2. 예측 모델 </a:t>
            </a:r>
            <a:pPr algn="ctr" indent="0" marL="0">
              <a:buNone/>
            </a:pPr>
            <a:endParaRPr lang="en-US" sz="5400" dirty="0"/>
          </a:p>
          <a:p>
            <a:pPr algn="ctr" indent="0" marL="0">
              <a:buNone/>
            </a:pPr>
            <a:r>
              <a:rPr lang="en-US" sz="5400" b="1" spc="-108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시나리오 분석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1086307" y="2794406"/>
            <a:ext cx="100209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실무형 데이터 분석 교육 핸드아웃</a:t>
            </a:r>
            <a:endParaRPr lang="en-US" sz="27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4" b="-4"/>
          <a:stretch/>
        </p:blipFill>
        <p:spPr>
          <a:xfrm>
            <a:off x="1238098" y="3880714"/>
            <a:ext cx="9715500" cy="241584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086246" y="4510735"/>
            <a:ext cx="9144" cy="1154887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009851" y="4413809"/>
            <a:ext cx="190195" cy="19019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314346" y="4366260"/>
            <a:ext cx="93543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목표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2009851" y="4804258"/>
            <a:ext cx="3879799" cy="1010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미래의 매출과 수요를 정밀하게 예측하고,</a:t>
            </a:r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What-if 시나리오</a:t>
            </a:r>
            <a:pPr algn="l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통해 데이터 기반의</a:t>
            </a:r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최적 의사결정을 지원 </a:t>
            </a:r>
            <a:endParaRPr lang="en-US" sz="16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381598" y="4413809"/>
            <a:ext cx="190195" cy="19019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687007" y="4366260"/>
            <a:ext cx="113842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산출물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6381598" y="4804258"/>
            <a:ext cx="3879799" cy="1010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베이스라인 예측 모델 및 성능 리포트</a:t>
            </a:r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시나리오별 임팩트 분석 결과</a:t>
            </a:r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SHAP 기반 모델 해석 및 최적화 제안 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0" y="6705295"/>
            <a:ext cx="12191695" cy="152705"/>
          </a:xfrm>
          <a:prstGeom prst="rect">
            <a:avLst/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34195" y="-952805"/>
            <a:ext cx="3810305" cy="3810305"/>
          </a:xfrm>
          <a:prstGeom prst="ellipse">
            <a:avLst/>
          </a:prstGeom>
          <a:solidFill>
            <a:srgbClr val="F1F5F9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476402" y="4476902"/>
            <a:ext cx="2857500" cy="2857500"/>
          </a:xfrm>
          <a:prstGeom prst="ellipse">
            <a:avLst/>
          </a:prstGeom>
          <a:solidFill>
            <a:srgbClr val="E2E8F0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381305"/>
            <a:ext cx="113541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spc="-63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오늘의 아젠다</a:t>
            </a:r>
            <a:endParaRPr lang="en-US" sz="31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057046"/>
            <a:ext cx="1123980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예측 모델링부터 시나리오 분석까지, 데이터 기반 의사결정의 핵심 과정</a:t>
            </a:r>
            <a:endParaRPr lang="en-US" sz="16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7" b="-7"/>
          <a:stretch/>
        </p:blipFill>
        <p:spPr>
          <a:xfrm>
            <a:off x="571500" y="2214677"/>
            <a:ext cx="3524098" cy="173370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71500" y="2214677"/>
            <a:ext cx="47549" cy="1714500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09244" y="2452421"/>
            <a:ext cx="457200" cy="457200"/>
          </a:xfrm>
          <a:prstGeom prst="roundRect">
            <a:avLst>
              <a:gd name="adj" fmla="val 83333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33602" y="2576779"/>
            <a:ext cx="209398" cy="20939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19149" y="2557577"/>
            <a:ext cx="26289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시계열 예측 개념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809244" y="3023921"/>
            <a:ext cx="31245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예측 모델의 비즈니스 활용과 시계열 데이터의 4가지 구성 요소 (트렌드, 계절성, 주기성, 잔차)</a:t>
            </a:r>
            <a:endParaRPr lang="en-US" sz="12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7" b="-7"/>
          <a:stretch/>
        </p:blipFill>
        <p:spPr>
          <a:xfrm>
            <a:off x="4334256" y="2214677"/>
            <a:ext cx="3524098" cy="1733702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334256" y="2214677"/>
            <a:ext cx="47549" cy="1714500"/>
          </a:xfrm>
          <a:prstGeom prst="rect">
            <a:avLst/>
          </a:prstGeom>
          <a:solidFill>
            <a:srgbClr val="06B6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4572000" y="2452421"/>
            <a:ext cx="457200" cy="457200"/>
          </a:xfrm>
          <a:prstGeom prst="roundRect">
            <a:avLst>
              <a:gd name="adj" fmla="val 83333"/>
            </a:avLst>
          </a:prstGeom>
          <a:solidFill>
            <a:srgbClr val="ECF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rcRect l="-1004" r="-1004" t="0" b="0"/>
          <a:stretch/>
        </p:blipFill>
        <p:spPr>
          <a:xfrm>
            <a:off x="4667098" y="2576779"/>
            <a:ext cx="267005" cy="20939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181905" y="2557577"/>
            <a:ext cx="26289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피처 엔지니어링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4572000" y="3023921"/>
            <a:ext cx="31245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성능을 좌우하는 시간/래그/롤링/외부 피처 생성 및 데이터 누수(Leakage) 방지 기법</a:t>
            </a:r>
            <a:endParaRPr lang="en-US" sz="12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7" b="-7"/>
          <a:stretch/>
        </p:blipFill>
        <p:spPr>
          <a:xfrm>
            <a:off x="8096098" y="2214677"/>
            <a:ext cx="3524098" cy="1733702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8096098" y="2214677"/>
            <a:ext cx="47549" cy="1714500"/>
          </a:xfrm>
          <a:prstGeom prst="rect">
            <a:avLst/>
          </a:prstGeom>
          <a:solidFill>
            <a:srgbClr val="8B5C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8334756" y="2452421"/>
            <a:ext cx="457200" cy="457200"/>
          </a:xfrm>
          <a:prstGeom prst="roundRect">
            <a:avLst>
              <a:gd name="adj" fmla="val 83333"/>
            </a:avLst>
          </a:prstGeom>
          <a:solidFill>
            <a:srgbClr val="F5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rcRect l="-1004" r="-1004" t="0" b="0"/>
          <a:stretch/>
        </p:blipFill>
        <p:spPr>
          <a:xfrm>
            <a:off x="8429854" y="2576779"/>
            <a:ext cx="267005" cy="209398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8943746" y="2557577"/>
            <a:ext cx="26289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선택과 비교</a:t>
            </a:r>
            <a:endParaRPr lang="en-US" sz="1500" dirty="0"/>
          </a:p>
        </p:txBody>
      </p:sp>
      <p:sp>
        <p:nvSpPr>
          <p:cNvPr id="26" name="Text 18"/>
          <p:cNvSpPr txBox="1"/>
          <p:nvPr/>
        </p:nvSpPr>
        <p:spPr>
          <a:xfrm>
            <a:off x="8334756" y="3023921"/>
            <a:ext cx="31245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Prophet vs GBMs(XGBoost, LightGBM, CatBoost)의 장단점 비교 및 최적 모델 선정 기준</a:t>
            </a:r>
            <a:endParaRPr lang="en-US" sz="120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7" b="-7"/>
          <a:stretch/>
        </p:blipFill>
        <p:spPr>
          <a:xfrm>
            <a:off x="571500" y="4186123"/>
            <a:ext cx="3524098" cy="1733702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571500" y="4186123"/>
            <a:ext cx="47549" cy="1714500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0"/>
          <p:cNvSpPr/>
          <p:nvPr/>
        </p:nvSpPr>
        <p:spPr>
          <a:xfrm>
            <a:off x="809244" y="4424782"/>
            <a:ext cx="457200" cy="457200"/>
          </a:xfrm>
          <a:prstGeom prst="roundRect">
            <a:avLst>
              <a:gd name="adj" fmla="val 83333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600" b="-600"/>
          <a:stretch/>
        </p:blipFill>
        <p:spPr>
          <a:xfrm>
            <a:off x="947318" y="4548226"/>
            <a:ext cx="181051" cy="209398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1419149" y="4529023"/>
            <a:ext cx="26289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 및 튜닝</a:t>
            </a:r>
            <a:endParaRPr lang="en-US" sz="1500" dirty="0"/>
          </a:p>
        </p:txBody>
      </p:sp>
      <p:sp>
        <p:nvSpPr>
          <p:cNvPr id="32" name="Text 22"/>
          <p:cNvSpPr txBox="1"/>
          <p:nvPr/>
        </p:nvSpPr>
        <p:spPr>
          <a:xfrm>
            <a:off x="809244" y="4996282"/>
            <a:ext cx="31245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시계열 교차 검증(TimeSeriesSplit)의 원리와 Optuna를 활용한 하이퍼파라미터 최적화</a:t>
            </a:r>
            <a:endParaRPr lang="en-US" sz="1200" dirty="0"/>
          </a:p>
        </p:txBody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7" b="-7"/>
          <a:stretch/>
        </p:blipFill>
        <p:spPr>
          <a:xfrm>
            <a:off x="4334256" y="4186123"/>
            <a:ext cx="3524098" cy="1733702"/>
          </a:xfrm>
          <a:prstGeom prst="rect">
            <a:avLst/>
          </a:prstGeom>
        </p:spPr>
      </p:pic>
      <p:sp>
        <p:nvSpPr>
          <p:cNvPr id="34" name="Shape 23"/>
          <p:cNvSpPr/>
          <p:nvPr/>
        </p:nvSpPr>
        <p:spPr>
          <a:xfrm>
            <a:off x="4334256" y="4186123"/>
            <a:ext cx="47549" cy="1714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24"/>
          <p:cNvSpPr/>
          <p:nvPr/>
        </p:nvSpPr>
        <p:spPr>
          <a:xfrm>
            <a:off x="4572000" y="4424782"/>
            <a:ext cx="457200" cy="457200"/>
          </a:xfrm>
          <a:prstGeom prst="roundRect">
            <a:avLst>
              <a:gd name="adj" fmla="val 83333"/>
            </a:avLst>
          </a:prstGeom>
          <a:solidFill>
            <a:srgbClr val="FFFB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6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4695444" y="4548226"/>
            <a:ext cx="209398" cy="209398"/>
          </a:xfrm>
          <a:prstGeom prst="rect">
            <a:avLst/>
          </a:prstGeom>
        </p:spPr>
      </p:pic>
      <p:sp>
        <p:nvSpPr>
          <p:cNvPr id="37" name="Text 25"/>
          <p:cNvSpPr txBox="1"/>
          <p:nvPr/>
        </p:nvSpPr>
        <p:spPr>
          <a:xfrm>
            <a:off x="5181905" y="4529023"/>
            <a:ext cx="253654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해석 (SHAP)</a:t>
            </a:r>
            <a:endParaRPr lang="en-US" sz="1500" dirty="0"/>
          </a:p>
        </p:txBody>
      </p:sp>
      <p:sp>
        <p:nvSpPr>
          <p:cNvPr id="38" name="Text 26"/>
          <p:cNvSpPr txBox="1"/>
          <p:nvPr/>
        </p:nvSpPr>
        <p:spPr>
          <a:xfrm>
            <a:off x="4572000" y="4996282"/>
            <a:ext cx="31245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블랙박스 모델의 예측 원인을 설명하는 SHAP 값의 개념과 주요 시각화 방법(Summary, Dependence)</a:t>
            </a:r>
            <a:endParaRPr lang="en-US" sz="1200" dirty="0"/>
          </a:p>
        </p:txBody>
      </p:sp>
      <p:pic>
        <p:nvPicPr>
          <p:cNvPr id="39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-7" b="-7"/>
          <a:stretch/>
        </p:blipFill>
        <p:spPr>
          <a:xfrm>
            <a:off x="8096098" y="4186123"/>
            <a:ext cx="3524098" cy="1733702"/>
          </a:xfrm>
          <a:prstGeom prst="rect">
            <a:avLst/>
          </a:prstGeom>
        </p:spPr>
      </p:pic>
      <p:sp>
        <p:nvSpPr>
          <p:cNvPr id="40" name="Shape 27"/>
          <p:cNvSpPr/>
          <p:nvPr/>
        </p:nvSpPr>
        <p:spPr>
          <a:xfrm>
            <a:off x="8096098" y="4186123"/>
            <a:ext cx="47549" cy="1714500"/>
          </a:xfrm>
          <a:prstGeom prst="rect">
            <a:avLst/>
          </a:prstGeom>
          <a:solidFill>
            <a:srgbClr val="EC489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28"/>
          <p:cNvSpPr/>
          <p:nvPr/>
        </p:nvSpPr>
        <p:spPr>
          <a:xfrm>
            <a:off x="8334756" y="4424782"/>
            <a:ext cx="457200" cy="457200"/>
          </a:xfrm>
          <a:prstGeom prst="roundRect">
            <a:avLst>
              <a:gd name="adj" fmla="val 83333"/>
            </a:avLst>
          </a:prstGeom>
          <a:solidFill>
            <a:srgbClr val="FDF2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2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-600" b="-600"/>
          <a:stretch/>
        </p:blipFill>
        <p:spPr>
          <a:xfrm>
            <a:off x="8472830" y="4548226"/>
            <a:ext cx="181051" cy="209398"/>
          </a:xfrm>
          <a:prstGeom prst="rect">
            <a:avLst/>
          </a:prstGeom>
        </p:spPr>
      </p:pic>
      <p:sp>
        <p:nvSpPr>
          <p:cNvPr id="43" name="Text 29"/>
          <p:cNvSpPr txBox="1"/>
          <p:nvPr/>
        </p:nvSpPr>
        <p:spPr>
          <a:xfrm>
            <a:off x="8943746" y="4529023"/>
            <a:ext cx="26289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시나리오 분석</a:t>
            </a:r>
            <a:endParaRPr lang="en-US" sz="1500" dirty="0"/>
          </a:p>
        </p:txBody>
      </p:sp>
      <p:sp>
        <p:nvSpPr>
          <p:cNvPr id="44" name="Text 30"/>
          <p:cNvSpPr txBox="1"/>
          <p:nvPr/>
        </p:nvSpPr>
        <p:spPr>
          <a:xfrm>
            <a:off x="8334756" y="4996282"/>
            <a:ext cx="31245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What-if 시뮬레이션을 통한 미래 예측 변화 분석 및 프로모션 ROI 최적화 전략 수립</a:t>
            </a:r>
            <a:endParaRPr lang="en-US" sz="1200" dirty="0"/>
          </a:p>
        </p:txBody>
      </p:sp>
      <p:pic>
        <p:nvPicPr>
          <p:cNvPr id="45" name="Image 12" descr="preencoded.png">    </p:cNvPr>
          <p:cNvPicPr>
            <a:picLocks noChangeAspect="1"/>
          </p:cNvPicPr>
          <p:nvPr/>
        </p:nvPicPr>
        <p:blipFill>
          <a:blip r:embed="rId13"/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34195" y="-952805"/>
            <a:ext cx="3810305" cy="3810305"/>
          </a:xfrm>
          <a:prstGeom prst="ellipse">
            <a:avLst/>
          </a:prstGeom>
          <a:solidFill>
            <a:srgbClr val="F1F5F9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476402" y="4476902"/>
            <a:ext cx="2857500" cy="2857500"/>
          </a:xfrm>
          <a:prstGeom prst="ellipse">
            <a:avLst/>
          </a:prstGeom>
          <a:solidFill>
            <a:srgbClr val="E2E8F0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23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476402"/>
            <a:ext cx="113541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spc="-72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예측 모델이 필요한가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257300"/>
            <a:ext cx="112398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단순한 분석을 넘어 미래를 대비하는 4가지 핵심 비즈니스 활용</a:t>
            </a:r>
            <a:endParaRPr lang="en-US" sz="1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8" b="-8"/>
          <a:stretch/>
        </p:blipFill>
        <p:spPr>
          <a:xfrm>
            <a:off x="857707" y="2419502"/>
            <a:ext cx="5048402" cy="152430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57707" y="2419502"/>
            <a:ext cx="57607" cy="1505102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2714854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-685" r="-685" t="0" b="0"/>
          <a:stretch/>
        </p:blipFill>
        <p:spPr>
          <a:xfrm>
            <a:off x="1285646" y="2866644"/>
            <a:ext cx="304495" cy="26700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952244" y="2714854"/>
            <a:ext cx="38487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재고 관리 최적화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1952244" y="3133649"/>
            <a:ext cx="37344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주 매출 예측 → 적정 재고 수준 결정 (결품 및 초과 재고 최소화)</a:t>
            </a:r>
            <a:endParaRPr lang="en-US" sz="13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8" b="-8"/>
          <a:stretch/>
        </p:blipFill>
        <p:spPr>
          <a:xfrm>
            <a:off x="6286500" y="2419502"/>
            <a:ext cx="5048402" cy="1524305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286500" y="2419502"/>
            <a:ext cx="57607" cy="1505102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581851" y="2714854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FFFB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700723" y="2866644"/>
            <a:ext cx="333756" cy="26700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381951" y="2714854"/>
            <a:ext cx="38487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인력 배치 효율화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7381951" y="3133649"/>
            <a:ext cx="37344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성수기/비수기 수요 예측 → 인력 스케줄링 최적화 및 운영 비용 절감</a:t>
            </a:r>
            <a:endParaRPr lang="en-US" sz="13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8" b="-8"/>
          <a:stretch/>
        </p:blipFill>
        <p:spPr>
          <a:xfrm>
            <a:off x="857707" y="4324198"/>
            <a:ext cx="5048402" cy="1524305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857707" y="4324198"/>
            <a:ext cx="57607" cy="1505102"/>
          </a:xfrm>
          <a:prstGeom prst="rect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1152144" y="4619549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304849" y="4772254"/>
            <a:ext cx="267005" cy="267005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952244" y="4619549"/>
            <a:ext cx="38487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프로모션 계획 수립</a:t>
            </a:r>
            <a:endParaRPr lang="en-US" sz="1800" dirty="0"/>
          </a:p>
        </p:txBody>
      </p:sp>
      <p:sp>
        <p:nvSpPr>
          <p:cNvPr id="26" name="Text 18"/>
          <p:cNvSpPr txBox="1"/>
          <p:nvPr/>
        </p:nvSpPr>
        <p:spPr>
          <a:xfrm>
            <a:off x="1952244" y="5038344"/>
            <a:ext cx="37344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프로모션 효과 사전 예측 → ROI(투자 대비 수익) 최적화 및 전략 수립</a:t>
            </a:r>
            <a:endParaRPr lang="en-US" sz="130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8" b="-8"/>
          <a:stretch/>
        </p:blipFill>
        <p:spPr>
          <a:xfrm>
            <a:off x="6286500" y="4324198"/>
            <a:ext cx="5048402" cy="1524305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6286500" y="4324198"/>
            <a:ext cx="57607" cy="1505102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0"/>
          <p:cNvSpPr/>
          <p:nvPr/>
        </p:nvSpPr>
        <p:spPr>
          <a:xfrm>
            <a:off x="6581851" y="4619549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rcRect l="-685" r="-685" t="0" b="0"/>
          <a:stretch/>
        </p:blipFill>
        <p:spPr>
          <a:xfrm>
            <a:off x="6715354" y="4772254"/>
            <a:ext cx="304495" cy="267005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7381951" y="4619549"/>
            <a:ext cx="38487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경영 계획 및 예산</a:t>
            </a:r>
            <a:endParaRPr lang="en-US" sz="1800" dirty="0"/>
          </a:p>
        </p:txBody>
      </p:sp>
      <p:sp>
        <p:nvSpPr>
          <p:cNvPr id="32" name="Text 22"/>
          <p:cNvSpPr txBox="1"/>
          <p:nvPr/>
        </p:nvSpPr>
        <p:spPr>
          <a:xfrm>
            <a:off x="7381951" y="5038344"/>
            <a:ext cx="37344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연간/분기 매출 예측 → 현실적인 목표 설정 및 예산 수립의 근거 마련</a:t>
            </a:r>
            <a:endParaRPr lang="en-US" sz="1300" dirty="0"/>
          </a:p>
        </p:txBody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0" r="0" t="0" b="0"/>
          <a:stretch/>
        </p:blipFill>
        <p:spPr>
          <a:xfrm>
            <a:off x="9810598" y="-476402"/>
            <a:ext cx="2857500" cy="28575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24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71500" y="381305"/>
            <a:ext cx="113541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spc="-63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시계열의 네 가지 구성 요소</a:t>
            </a:r>
            <a:endParaRPr lang="en-US" sz="3100" dirty="0"/>
          </a:p>
        </p:txBody>
      </p:sp>
      <p:sp>
        <p:nvSpPr>
          <p:cNvPr id="7" name="Text 4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관측된 데이터를 분해(Decomposition)하여 숨겨진 패턴을 파악하는 방법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57707" y="3448202"/>
            <a:ext cx="5143500" cy="1781251"/>
          </a:xfrm>
          <a:prstGeom prst="roundRect">
            <a:avLst>
              <a:gd name="adj" fmla="val 87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57707" y="3448202"/>
            <a:ext cx="47549" cy="1781251"/>
          </a:xfrm>
          <a:prstGeom prst="roundRect">
            <a:avLst>
              <a:gd name="adj" fmla="val 329081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143000" y="3696005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248156" y="3800246"/>
            <a:ext cx="171907" cy="17190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666951" y="3757270"/>
            <a:ext cx="136062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트렌드 (Trend)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1143000" y="4190695"/>
            <a:ext cx="46863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데이터가 장기적으로 상승하거나 하락하는 경향입니다. 일시적인 변동을 제외한 데이터의 주된 방향성을 나타냅니다.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1143000" y="4714646"/>
            <a:ext cx="2266798" cy="267005"/>
          </a:xfrm>
          <a:prstGeom prst="roundRect">
            <a:avLst>
              <a:gd name="adj" fmla="val 146771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1434694" y="4714646"/>
            <a:ext cx="2051914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예시: 매년 매출이 5%씩 꾸준히 성장 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6191402" y="3448202"/>
            <a:ext cx="5143500" cy="1781251"/>
          </a:xfrm>
          <a:prstGeom prst="roundRect">
            <a:avLst>
              <a:gd name="adj" fmla="val 87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91402" y="3448202"/>
            <a:ext cx="47549" cy="1781251"/>
          </a:xfrm>
          <a:prstGeom prst="roundRect">
            <a:avLst>
              <a:gd name="adj" fmla="val 329081"/>
            </a:avLst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476695" y="3696005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rcRect l="-760" r="-760" t="0" b="0"/>
          <a:stretch/>
        </p:blipFill>
        <p:spPr>
          <a:xfrm>
            <a:off x="6590995" y="3800246"/>
            <a:ext cx="152705" cy="171907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7000646" y="3757270"/>
            <a:ext cx="195041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계절성 (Seasonality)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6476695" y="4190695"/>
            <a:ext cx="46863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일정한 기간(1년, 1주, 하루 등)을 주기로 반복되는 패턴입니다. 달력의 날짜나 요일과 밀접한 관련이 있습니다.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476695" y="4714646"/>
            <a:ext cx="2333549" cy="267005"/>
          </a:xfrm>
          <a:prstGeom prst="roundRect">
            <a:avLst>
              <a:gd name="adj" fmla="val 146771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6768389" y="4714646"/>
            <a:ext cx="2118665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예시: 12월 크리스마스 시즌 매출 급증 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857707" y="5415077"/>
            <a:ext cx="5143500" cy="1781251"/>
          </a:xfrm>
          <a:prstGeom prst="roundRect">
            <a:avLst>
              <a:gd name="adj" fmla="val 87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857707" y="5415077"/>
            <a:ext cx="47549" cy="1781251"/>
          </a:xfrm>
          <a:prstGeom prst="roundRect">
            <a:avLst>
              <a:gd name="adj" fmla="val 329081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1143000" y="5662879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F5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rcRect l="-1064" r="-1064" t="0" b="0"/>
          <a:stretch/>
        </p:blipFill>
        <p:spPr>
          <a:xfrm>
            <a:off x="1224382" y="5767121"/>
            <a:ext cx="219456" cy="171907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1666951" y="5724144"/>
            <a:ext cx="163311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주기성 (Cyclicity)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1143000" y="6157570"/>
            <a:ext cx="46863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고정된 빈도가 없으며, 보통 1년 이상의 긴 기간에 걸쳐 나타나는 상승과 하락의 파동입니다. 경제적 요인에 주로 기인합니다.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1143000" y="6681521"/>
            <a:ext cx="2457907" cy="267005"/>
          </a:xfrm>
          <a:prstGeom prst="roundRect">
            <a:avLst>
              <a:gd name="adj" fmla="val 146771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1434694" y="6681521"/>
            <a:ext cx="2242109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예시: 경기 호황과 불황에 따른 소비 변동 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6191402" y="5415077"/>
            <a:ext cx="5143500" cy="1781251"/>
          </a:xfrm>
          <a:prstGeom prst="roundRect">
            <a:avLst>
              <a:gd name="adj" fmla="val 87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6191402" y="5415077"/>
            <a:ext cx="47549" cy="1781251"/>
          </a:xfrm>
          <a:prstGeom prst="roundRect">
            <a:avLst>
              <a:gd name="adj" fmla="val 329081"/>
            </a:avLst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6476695" y="5662879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581851" y="5767121"/>
            <a:ext cx="171907" cy="171907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7000646" y="5724144"/>
            <a:ext cx="209763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잔차 (Residual/Noise)</a:t>
            </a:r>
            <a:endParaRPr lang="en-US" sz="1300" dirty="0"/>
          </a:p>
        </p:txBody>
      </p:sp>
      <p:sp>
        <p:nvSpPr>
          <p:cNvPr id="37" name="Text 30"/>
          <p:cNvSpPr txBox="1"/>
          <p:nvPr/>
        </p:nvSpPr>
        <p:spPr>
          <a:xfrm>
            <a:off x="6476695" y="6157570"/>
            <a:ext cx="46863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 세 가지 요소로 설명할 수 없는 무작위 변동입니다. 예측 불가능한 불규칙한 요소를 의미합니다.</a:t>
            </a:r>
            <a:endParaRPr lang="en-US" sz="1100" dirty="0"/>
          </a:p>
        </p:txBody>
      </p:sp>
      <p:sp>
        <p:nvSpPr>
          <p:cNvPr id="38" name="Shape 31"/>
          <p:cNvSpPr/>
          <p:nvPr/>
        </p:nvSpPr>
        <p:spPr>
          <a:xfrm>
            <a:off x="6476695" y="6681521"/>
            <a:ext cx="2419502" cy="267005"/>
          </a:xfrm>
          <a:prstGeom prst="roundRect">
            <a:avLst>
              <a:gd name="adj" fmla="val 146771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2"/>
          <p:cNvSpPr txBox="1"/>
          <p:nvPr/>
        </p:nvSpPr>
        <p:spPr>
          <a:xfrm>
            <a:off x="6768389" y="6681521"/>
            <a:ext cx="2204618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예시: 천재지변, 갑작스러운 이벤트 효과 </a:t>
            </a:r>
            <a:endParaRPr lang="en-US" sz="900" dirty="0"/>
          </a:p>
        </p:txBody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238098" y="4787798"/>
            <a:ext cx="123444" cy="123444"/>
          </a:xfrm>
          <a:prstGeom prst="rect">
            <a:avLst/>
          </a:prstGeom>
        </p:spPr>
      </p:pic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572707" y="4787798"/>
            <a:ext cx="123444" cy="123444"/>
          </a:xfrm>
          <a:prstGeom prst="rect">
            <a:avLst/>
          </a:prstGeom>
        </p:spPr>
      </p:pic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1238098" y="6754673"/>
            <a:ext cx="123444" cy="123444"/>
          </a:xfrm>
          <a:prstGeom prst="rect">
            <a:avLst/>
          </a:prstGeom>
        </p:spPr>
      </p:pic>
      <p:pic>
        <p:nvPicPr>
          <p:cNvPr id="43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6572707" y="6754673"/>
            <a:ext cx="123444" cy="123444"/>
          </a:xfrm>
          <a:prstGeom prst="rect">
            <a:avLst/>
          </a:prstGeom>
        </p:spPr>
      </p:pic>
      <p:pic>
        <p:nvPicPr>
          <p:cNvPr id="44" name="Image 9" descr="preencoded.png">    </p:cNvPr>
          <p:cNvPicPr>
            <a:picLocks noChangeAspect="1"/>
          </p:cNvPicPr>
          <p:nvPr/>
        </p:nvPicPr>
        <p:blipFill>
          <a:blip r:embed="rId10"/>
          <a:srcRect l="-1" r="-1" t="0" b="0"/>
          <a:stretch/>
        </p:blipFill>
        <p:spPr>
          <a:xfrm>
            <a:off x="857707" y="1628546"/>
            <a:ext cx="10477195" cy="1533449"/>
          </a:xfrm>
          <a:prstGeom prst="rect">
            <a:avLst/>
          </a:prstGeom>
        </p:spPr>
      </p:pic>
      <p:sp>
        <p:nvSpPr>
          <p:cNvPr id="45" name="Shape 33"/>
          <p:cNvSpPr/>
          <p:nvPr/>
        </p:nvSpPr>
        <p:spPr>
          <a:xfrm>
            <a:off x="6086246" y="1514246"/>
            <a:ext cx="2131466" cy="247802"/>
          </a:xfrm>
          <a:prstGeom prst="roundRect">
            <a:avLst>
              <a:gd name="adj" fmla="val 369004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34"/>
          <p:cNvSpPr txBox="1"/>
          <p:nvPr/>
        </p:nvSpPr>
        <p:spPr>
          <a:xfrm>
            <a:off x="1054303" y="1971446"/>
            <a:ext cx="201625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Observed</a:t>
            </a:r>
            <a:endParaRPr lang="en-US" sz="3000" dirty="0"/>
          </a:p>
        </p:txBody>
      </p:sp>
      <p:sp>
        <p:nvSpPr>
          <p:cNvPr id="47" name="Text 35"/>
          <p:cNvSpPr txBox="1"/>
          <p:nvPr/>
        </p:nvSpPr>
        <p:spPr>
          <a:xfrm>
            <a:off x="1837030" y="2619756"/>
            <a:ext cx="4480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관측값</a:t>
            </a:r>
            <a:endParaRPr lang="en-US" sz="1000" dirty="0"/>
          </a:p>
        </p:txBody>
      </p:sp>
      <p:sp>
        <p:nvSpPr>
          <p:cNvPr id="48" name="Text 36"/>
          <p:cNvSpPr txBox="1"/>
          <p:nvPr/>
        </p:nvSpPr>
        <p:spPr>
          <a:xfrm>
            <a:off x="2994660" y="2109521"/>
            <a:ext cx="29535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=</a:t>
            </a:r>
            <a:endParaRPr lang="en-US" sz="3000" dirty="0"/>
          </a:p>
        </p:txBody>
      </p:sp>
      <p:sp>
        <p:nvSpPr>
          <p:cNvPr id="49" name="Text 37"/>
          <p:cNvSpPr txBox="1"/>
          <p:nvPr/>
        </p:nvSpPr>
        <p:spPr>
          <a:xfrm>
            <a:off x="3301898" y="1971446"/>
            <a:ext cx="126004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Trend</a:t>
            </a:r>
            <a:endParaRPr lang="en-US" sz="3000" dirty="0"/>
          </a:p>
        </p:txBody>
      </p:sp>
      <p:sp>
        <p:nvSpPr>
          <p:cNvPr id="50" name="Text 38"/>
          <p:cNvSpPr txBox="1"/>
          <p:nvPr/>
        </p:nvSpPr>
        <p:spPr>
          <a:xfrm>
            <a:off x="3708806" y="2619756"/>
            <a:ext cx="4480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트렌드</a:t>
            </a:r>
            <a:endParaRPr lang="en-US" sz="1000" dirty="0"/>
          </a:p>
        </p:txBody>
      </p:sp>
      <p:sp>
        <p:nvSpPr>
          <p:cNvPr id="51" name="Text 39"/>
          <p:cNvSpPr txBox="1"/>
          <p:nvPr/>
        </p:nvSpPr>
        <p:spPr>
          <a:xfrm>
            <a:off x="4573829" y="2109521"/>
            <a:ext cx="29535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endParaRPr lang="en-US" sz="3000" dirty="0"/>
          </a:p>
        </p:txBody>
      </p:sp>
      <p:sp>
        <p:nvSpPr>
          <p:cNvPr id="52" name="Text 40"/>
          <p:cNvSpPr txBox="1"/>
          <p:nvPr/>
        </p:nvSpPr>
        <p:spPr>
          <a:xfrm>
            <a:off x="4571086" y="1971446"/>
            <a:ext cx="274685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596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Seasonality</a:t>
            </a:r>
            <a:endParaRPr lang="en-US" sz="3000" dirty="0"/>
          </a:p>
        </p:txBody>
      </p:sp>
      <p:sp>
        <p:nvSpPr>
          <p:cNvPr id="53" name="Text 41"/>
          <p:cNvSpPr txBox="1"/>
          <p:nvPr/>
        </p:nvSpPr>
        <p:spPr>
          <a:xfrm>
            <a:off x="5718658" y="2619756"/>
            <a:ext cx="4480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계절성</a:t>
            </a:r>
            <a:endParaRPr lang="en-US" sz="1000" dirty="0"/>
          </a:p>
        </p:txBody>
      </p:sp>
      <p:sp>
        <p:nvSpPr>
          <p:cNvPr id="54" name="Text 42"/>
          <p:cNvSpPr txBox="1"/>
          <p:nvPr/>
        </p:nvSpPr>
        <p:spPr>
          <a:xfrm>
            <a:off x="7014362" y="2109521"/>
            <a:ext cx="29535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endParaRPr lang="en-US" sz="3000" dirty="0"/>
          </a:p>
        </p:txBody>
      </p:sp>
      <p:sp>
        <p:nvSpPr>
          <p:cNvPr id="55" name="Text 43"/>
          <p:cNvSpPr txBox="1"/>
          <p:nvPr/>
        </p:nvSpPr>
        <p:spPr>
          <a:xfrm>
            <a:off x="7062826" y="1971446"/>
            <a:ext cx="2242109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Cyclicity</a:t>
            </a:r>
            <a:endParaRPr lang="en-US" sz="3000" dirty="0"/>
          </a:p>
        </p:txBody>
      </p:sp>
      <p:sp>
        <p:nvSpPr>
          <p:cNvPr id="56" name="Text 44"/>
          <p:cNvSpPr txBox="1"/>
          <p:nvPr/>
        </p:nvSpPr>
        <p:spPr>
          <a:xfrm>
            <a:off x="7957109" y="2619756"/>
            <a:ext cx="4480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주기성</a:t>
            </a:r>
            <a:endParaRPr lang="en-US" sz="1000" dirty="0"/>
          </a:p>
        </p:txBody>
      </p:sp>
      <p:sp>
        <p:nvSpPr>
          <p:cNvPr id="57" name="Text 45"/>
          <p:cNvSpPr txBox="1"/>
          <p:nvPr/>
        </p:nvSpPr>
        <p:spPr>
          <a:xfrm>
            <a:off x="9050731" y="2109521"/>
            <a:ext cx="29535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endParaRPr lang="en-US" sz="3000" dirty="0"/>
          </a:p>
        </p:txBody>
      </p:sp>
      <p:sp>
        <p:nvSpPr>
          <p:cNvPr id="58" name="Text 46"/>
          <p:cNvSpPr txBox="1"/>
          <p:nvPr/>
        </p:nvSpPr>
        <p:spPr>
          <a:xfrm>
            <a:off x="9205265" y="1971446"/>
            <a:ext cx="20034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C26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Residual</a:t>
            </a:r>
            <a:endParaRPr lang="en-US" sz="3000" dirty="0"/>
          </a:p>
        </p:txBody>
      </p:sp>
      <p:sp>
        <p:nvSpPr>
          <p:cNvPr id="59" name="Text 47"/>
          <p:cNvSpPr txBox="1"/>
          <p:nvPr/>
        </p:nvSpPr>
        <p:spPr>
          <a:xfrm>
            <a:off x="9780422" y="2619756"/>
            <a:ext cx="8577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잔차(노이즈)</a:t>
            </a:r>
            <a:endParaRPr lang="en-US" sz="1000" dirty="0"/>
          </a:p>
        </p:txBody>
      </p:sp>
      <p:pic>
        <p:nvPicPr>
          <p:cNvPr id="60" name="Image 10" descr="preencoded.png">    </p:cNvPr>
          <p:cNvPicPr>
            <a:picLocks noChangeAspect="1"/>
          </p:cNvPicPr>
          <p:nvPr/>
        </p:nvPicPr>
        <p:blipFill>
          <a:blip r:embed="rId11"/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34195" y="-952805"/>
            <a:ext cx="3810305" cy="3810305"/>
          </a:xfrm>
          <a:prstGeom prst="ellipse">
            <a:avLst/>
          </a:prstGeom>
          <a:solidFill>
            <a:srgbClr val="F1F5F9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476402" y="4476902"/>
            <a:ext cx="2857500" cy="2857500"/>
          </a:xfrm>
          <a:prstGeom prst="ellipse">
            <a:avLst/>
          </a:prstGeom>
          <a:solidFill>
            <a:srgbClr val="E2E8F0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476402"/>
            <a:ext cx="113541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spc="-72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피처 엔지니어링 개요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257300"/>
            <a:ext cx="112398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머신러닝 모델 성능을 결정짓는 핵심 과정</a:t>
            </a:r>
            <a:endParaRPr lang="en-US" sz="1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857707" y="2162556"/>
            <a:ext cx="5048402" cy="1781251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57707" y="2162556"/>
            <a:ext cx="57607" cy="1762049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2457907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271930" y="2609698"/>
            <a:ext cx="333756" cy="26700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952244" y="2457907"/>
            <a:ext cx="38487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피처 엔지니어링이란?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1952244" y="2876702"/>
            <a:ext cx="373441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원본 데이터에서 도메인 지식을 활용하여 모델이 학습하기 좋은 형태의 새로운 변수(Feature)를 재가공하는 과정입니다.</a:t>
            </a:r>
            <a:endParaRPr lang="en-US" sz="13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1" b="-1"/>
          <a:stretch/>
        </p:blipFill>
        <p:spPr>
          <a:xfrm>
            <a:off x="6286500" y="2162556"/>
            <a:ext cx="5048402" cy="1781251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286500" y="2162556"/>
            <a:ext cx="57607" cy="1762049"/>
          </a:xfrm>
          <a:prstGeom prst="rect">
            <a:avLst/>
          </a:prstGeom>
          <a:solidFill>
            <a:srgbClr val="06B6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581851" y="2457907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ECF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734556" y="2609698"/>
            <a:ext cx="267005" cy="26700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381951" y="2457907"/>
            <a:ext cx="38487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성능에 미치는 영향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7381951" y="2876702"/>
            <a:ext cx="373441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"Garbage In, Garbage Out". 아무리 좋은 알고리즘도 데이터가 나쁘면 소용없으며, 성능의 80%는 피처가 결정합니다.</a:t>
            </a:r>
            <a:endParaRPr lang="en-US" sz="13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1" b="-1"/>
          <a:stretch/>
        </p:blipFill>
        <p:spPr>
          <a:xfrm>
            <a:off x="857707" y="4324198"/>
            <a:ext cx="5048402" cy="1781251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857707" y="4324198"/>
            <a:ext cx="57607" cy="1762049"/>
          </a:xfrm>
          <a:prstGeom prst="rect">
            <a:avLst/>
          </a:prstGeom>
          <a:solidFill>
            <a:srgbClr val="8B5C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1152144" y="4619549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F5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304849" y="4772254"/>
            <a:ext cx="267005" cy="267005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952244" y="4619549"/>
            <a:ext cx="38487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수행 원칙</a:t>
            </a:r>
            <a:endParaRPr lang="en-US" sz="1800" dirty="0"/>
          </a:p>
        </p:txBody>
      </p:sp>
      <p:sp>
        <p:nvSpPr>
          <p:cNvPr id="26" name="Text 18"/>
          <p:cNvSpPr txBox="1"/>
          <p:nvPr/>
        </p:nvSpPr>
        <p:spPr>
          <a:xfrm>
            <a:off x="1952244" y="5038344"/>
            <a:ext cx="373441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단순한 피처부터 시작해 가설을 검증하며 확장해야 합니다. 특히 미래 정보를 사용하는 '데이터 누수'에 주의해야 합니다.</a:t>
            </a:r>
            <a:endParaRPr lang="en-US" sz="130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1" b="-1"/>
          <a:stretch/>
        </p:blipFill>
        <p:spPr>
          <a:xfrm>
            <a:off x="6286500" y="4324198"/>
            <a:ext cx="5048402" cy="1781251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6286500" y="4324198"/>
            <a:ext cx="57607" cy="1762049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0"/>
          <p:cNvSpPr/>
          <p:nvPr/>
        </p:nvSpPr>
        <p:spPr>
          <a:xfrm>
            <a:off x="6581851" y="4619549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6767474" y="4772254"/>
            <a:ext cx="200254" cy="267005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7381951" y="4619549"/>
            <a:ext cx="38487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시계열 피처 예시</a:t>
            </a:r>
            <a:endParaRPr lang="en-US" sz="1800" dirty="0"/>
          </a:p>
        </p:txBody>
      </p:sp>
      <p:sp>
        <p:nvSpPr>
          <p:cNvPr id="32" name="Text 22"/>
          <p:cNvSpPr txBox="1"/>
          <p:nvPr/>
        </p:nvSpPr>
        <p:spPr>
          <a:xfrm>
            <a:off x="7381951" y="5038344"/>
            <a:ext cx="373441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시간(요일/월/연), 래그(과거 시점 데이터), 롤링(이동평균), 외부 변수(휴일/유가) 등을 조합하여 생성합니다.</a:t>
            </a:r>
            <a:endParaRPr lang="en-US" sz="1300" dirty="0"/>
          </a:p>
        </p:txBody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0" r="0" t="0" b="0"/>
          <a:stretch/>
        </p:blipFill>
        <p:spPr>
          <a:xfrm>
            <a:off x="9810598" y="-476402"/>
            <a:ext cx="2857500" cy="28575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l="0" r="0" t="0" b="0"/>
          <a:stretch/>
        </p:blipFill>
        <p:spPr>
          <a:xfrm>
            <a:off x="-476402" y="4476902"/>
            <a:ext cx="2857500" cy="28575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26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571500" y="381305"/>
            <a:ext cx="113541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spc="-63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시계열 피처의 주요 유형</a:t>
            </a:r>
            <a:endParaRPr lang="en-US" sz="3100" dirty="0"/>
          </a:p>
        </p:txBody>
      </p:sp>
      <p:sp>
        <p:nvSpPr>
          <p:cNvPr id="8" name="Text 4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성능의 80%를 결정하는 4가지 핵심 피처 카테고리</a:t>
            </a:r>
            <a:endParaRPr lang="en-US" sz="15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-6" r="-6" t="0" b="0"/>
          <a:stretch/>
        </p:blipFill>
        <p:spPr>
          <a:xfrm>
            <a:off x="571500" y="1671523"/>
            <a:ext cx="5410505" cy="2266798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3276295" y="1910182"/>
            <a:ext cx="9144" cy="1790395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809244" y="1910182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-1648" r="-1648" t="0" b="0"/>
          <a:stretch/>
        </p:blipFill>
        <p:spPr>
          <a:xfrm>
            <a:off x="952805" y="2042770"/>
            <a:ext cx="171907" cy="190195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399946" y="1910182"/>
            <a:ext cx="1546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 피처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(Time Features)</a:t>
            </a:r>
            <a:endParaRPr lang="en-US" sz="1500" dirty="0"/>
          </a:p>
        </p:txBody>
      </p:sp>
      <p:sp>
        <p:nvSpPr>
          <p:cNvPr id="14" name="Text 8"/>
          <p:cNvSpPr txBox="1"/>
          <p:nvPr/>
        </p:nvSpPr>
        <p:spPr>
          <a:xfrm>
            <a:off x="809244" y="2481682"/>
            <a:ext cx="235275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데이터에서 계절성과 주기성 패턴을 명시적으로 학습할 수 있도록 돕습니다.</a:t>
            </a:r>
            <a:endParaRPr lang="en-US" sz="1100" dirty="0"/>
          </a:p>
        </p:txBody>
      </p:sp>
      <p:sp>
        <p:nvSpPr>
          <p:cNvPr id="15" name="Shape 9"/>
          <p:cNvSpPr/>
          <p:nvPr/>
        </p:nvSpPr>
        <p:spPr>
          <a:xfrm>
            <a:off x="3471977" y="2499970"/>
            <a:ext cx="57607" cy="57607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3624682" y="2428646"/>
            <a:ext cx="17958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요일/주말: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주간 반복 패턴</a:t>
            </a:r>
            <a:endParaRPr lang="en-US" sz="1000" dirty="0"/>
          </a:p>
        </p:txBody>
      </p:sp>
      <p:sp>
        <p:nvSpPr>
          <p:cNvPr id="17" name="Shape 11"/>
          <p:cNvSpPr/>
          <p:nvPr/>
        </p:nvSpPr>
        <p:spPr>
          <a:xfrm>
            <a:off x="3471977" y="2776118"/>
            <a:ext cx="57607" cy="57607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3624682" y="2704795"/>
            <a:ext cx="14365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월/분기: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연간 계절성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3471977" y="3053182"/>
            <a:ext cx="57607" cy="57607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3624682" y="2980944"/>
            <a:ext cx="17958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월초/월말: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급여일 효과 등</a:t>
            </a:r>
            <a:endParaRPr lang="en-US" sz="10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rcRect l="-6" r="-6" t="0" b="0"/>
          <a:stretch/>
        </p:blipFill>
        <p:spPr>
          <a:xfrm>
            <a:off x="6210605" y="1671523"/>
            <a:ext cx="5410505" cy="2266798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8915400" y="1910182"/>
            <a:ext cx="9144" cy="1790395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6448349" y="1910182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F3E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581851" y="2042770"/>
            <a:ext cx="190195" cy="190195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7039051" y="1910182"/>
            <a:ext cx="14008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B21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래그 피처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6B21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(Lag Features)</a:t>
            </a:r>
            <a:endParaRPr lang="en-US" sz="1500" dirty="0"/>
          </a:p>
        </p:txBody>
      </p:sp>
      <p:sp>
        <p:nvSpPr>
          <p:cNvPr id="26" name="Text 18"/>
          <p:cNvSpPr txBox="1"/>
          <p:nvPr/>
        </p:nvSpPr>
        <p:spPr>
          <a:xfrm>
            <a:off x="6448349" y="2481682"/>
            <a:ext cx="2352751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과거 시점의 값을 현재 입력으로 사용하여 자기상관(Autocorrelation)을 반영합니다.</a:t>
            </a:r>
            <a:endParaRPr lang="en-US" sz="1100" dirty="0"/>
          </a:p>
        </p:txBody>
      </p:sp>
      <p:sp>
        <p:nvSpPr>
          <p:cNvPr id="27" name="Shape 19"/>
          <p:cNvSpPr/>
          <p:nvPr/>
        </p:nvSpPr>
        <p:spPr>
          <a:xfrm>
            <a:off x="9111082" y="2499970"/>
            <a:ext cx="57607" cy="57607"/>
          </a:xfrm>
          <a:prstGeom prst="ellipse">
            <a:avLst/>
          </a:prstGeom>
          <a:solidFill>
            <a:srgbClr val="A855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0"/>
          <p:cNvSpPr txBox="1"/>
          <p:nvPr/>
        </p:nvSpPr>
        <p:spPr>
          <a:xfrm>
            <a:off x="9262872" y="2428646"/>
            <a:ext cx="201808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Lag_7: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지난주 동일 요일 매출</a:t>
            </a:r>
            <a:endParaRPr lang="en-US" sz="1000" dirty="0"/>
          </a:p>
        </p:txBody>
      </p:sp>
      <p:sp>
        <p:nvSpPr>
          <p:cNvPr id="29" name="Shape 21"/>
          <p:cNvSpPr/>
          <p:nvPr/>
        </p:nvSpPr>
        <p:spPr>
          <a:xfrm>
            <a:off x="9111082" y="2776118"/>
            <a:ext cx="57607" cy="57607"/>
          </a:xfrm>
          <a:prstGeom prst="ellipse">
            <a:avLst/>
          </a:prstGeom>
          <a:solidFill>
            <a:srgbClr val="A855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2"/>
          <p:cNvSpPr txBox="1"/>
          <p:nvPr/>
        </p:nvSpPr>
        <p:spPr>
          <a:xfrm>
            <a:off x="9262872" y="2704795"/>
            <a:ext cx="14081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Lag_30: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지난달 매출</a:t>
            </a:r>
            <a:endParaRPr lang="en-US" sz="1000" dirty="0"/>
          </a:p>
        </p:txBody>
      </p:sp>
      <p:sp>
        <p:nvSpPr>
          <p:cNvPr id="31" name="Shape 23"/>
          <p:cNvSpPr/>
          <p:nvPr/>
        </p:nvSpPr>
        <p:spPr>
          <a:xfrm>
            <a:off x="9111082" y="3053182"/>
            <a:ext cx="57607" cy="57607"/>
          </a:xfrm>
          <a:prstGeom prst="ellipse">
            <a:avLst/>
          </a:prstGeom>
          <a:solidFill>
            <a:srgbClr val="A855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4"/>
          <p:cNvSpPr txBox="1"/>
          <p:nvPr/>
        </p:nvSpPr>
        <p:spPr>
          <a:xfrm>
            <a:off x="9262872" y="2980944"/>
            <a:ext cx="170627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Lag_365: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작년 동기 매출</a:t>
            </a:r>
            <a:endParaRPr lang="en-US" sz="1000" dirty="0"/>
          </a:p>
        </p:txBody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rcRect l="-6" r="-6" t="0" b="0"/>
          <a:stretch/>
        </p:blipFill>
        <p:spPr>
          <a:xfrm>
            <a:off x="571500" y="4166921"/>
            <a:ext cx="5410505" cy="2266798"/>
          </a:xfrm>
          <a:prstGeom prst="rect">
            <a:avLst/>
          </a:prstGeom>
        </p:spPr>
      </p:pic>
      <p:sp>
        <p:nvSpPr>
          <p:cNvPr id="34" name="Shape 25"/>
          <p:cNvSpPr/>
          <p:nvPr/>
        </p:nvSpPr>
        <p:spPr>
          <a:xfrm>
            <a:off x="3276295" y="4405579"/>
            <a:ext cx="9144" cy="1790395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35" name="Shape 26"/>
          <p:cNvSpPr/>
          <p:nvPr/>
        </p:nvSpPr>
        <p:spPr>
          <a:xfrm>
            <a:off x="809244" y="4405579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918972" y="4539082"/>
            <a:ext cx="237744" cy="190195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1399946" y="4405579"/>
            <a:ext cx="17337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롤링 피처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(Rolling Features)</a:t>
            </a:r>
            <a:endParaRPr lang="en-US" sz="1500" dirty="0"/>
          </a:p>
        </p:txBody>
      </p:sp>
      <p:sp>
        <p:nvSpPr>
          <p:cNvPr id="38" name="Text 28"/>
          <p:cNvSpPr txBox="1"/>
          <p:nvPr/>
        </p:nvSpPr>
        <p:spPr>
          <a:xfrm>
            <a:off x="809244" y="4977079"/>
            <a:ext cx="235275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특정 윈도우(Window) 내의 통계값을 통해 추세와 변동성을 요약합니다.</a:t>
            </a:r>
            <a:endParaRPr lang="en-US" sz="1100" dirty="0"/>
          </a:p>
        </p:txBody>
      </p:sp>
      <p:sp>
        <p:nvSpPr>
          <p:cNvPr id="39" name="Shape 29"/>
          <p:cNvSpPr/>
          <p:nvPr/>
        </p:nvSpPr>
        <p:spPr>
          <a:xfrm>
            <a:off x="3471977" y="4996282"/>
            <a:ext cx="57607" cy="57607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0"/>
          <p:cNvSpPr txBox="1"/>
          <p:nvPr/>
        </p:nvSpPr>
        <p:spPr>
          <a:xfrm>
            <a:off x="3624682" y="4924044"/>
            <a:ext cx="19211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이동평균(MA7):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단기 트렌드</a:t>
            </a:r>
            <a:endParaRPr lang="en-US" sz="1000" dirty="0"/>
          </a:p>
        </p:txBody>
      </p:sp>
      <p:sp>
        <p:nvSpPr>
          <p:cNvPr id="41" name="Shape 31"/>
          <p:cNvSpPr/>
          <p:nvPr/>
        </p:nvSpPr>
        <p:spPr>
          <a:xfrm>
            <a:off x="3471977" y="5272430"/>
            <a:ext cx="57607" cy="57607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32"/>
          <p:cNvSpPr txBox="1"/>
          <p:nvPr/>
        </p:nvSpPr>
        <p:spPr>
          <a:xfrm>
            <a:off x="3624682" y="5201107"/>
            <a:ext cx="192024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표준편차(STD):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변동성 측정</a:t>
            </a:r>
            <a:endParaRPr lang="en-US" sz="1000" dirty="0"/>
          </a:p>
        </p:txBody>
      </p:sp>
      <p:sp>
        <p:nvSpPr>
          <p:cNvPr id="43" name="Shape 33"/>
          <p:cNvSpPr/>
          <p:nvPr/>
        </p:nvSpPr>
        <p:spPr>
          <a:xfrm>
            <a:off x="3471977" y="5548579"/>
            <a:ext cx="57607" cy="57607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34"/>
          <p:cNvSpPr txBox="1"/>
          <p:nvPr/>
        </p:nvSpPr>
        <p:spPr>
          <a:xfrm>
            <a:off x="3624682" y="5477256"/>
            <a:ext cx="170718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Min/Max: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구간 내 극단값</a:t>
            </a:r>
            <a:endParaRPr lang="en-US" sz="1000" dirty="0"/>
          </a:p>
        </p:txBody>
      </p:sp>
      <p:pic>
        <p:nvPicPr>
          <p:cNvPr id="45" name="Image 8" descr="preencoded.png">    </p:cNvPr>
          <p:cNvPicPr>
            <a:picLocks noChangeAspect="1"/>
          </p:cNvPicPr>
          <p:nvPr/>
        </p:nvPicPr>
        <p:blipFill>
          <a:blip r:embed="rId9"/>
          <a:srcRect l="-6" r="-6" t="0" b="0"/>
          <a:stretch/>
        </p:blipFill>
        <p:spPr>
          <a:xfrm>
            <a:off x="6210605" y="4166921"/>
            <a:ext cx="5410505" cy="2266798"/>
          </a:xfrm>
          <a:prstGeom prst="rect">
            <a:avLst/>
          </a:prstGeom>
        </p:spPr>
      </p:pic>
      <p:sp>
        <p:nvSpPr>
          <p:cNvPr id="46" name="Shape 35"/>
          <p:cNvSpPr/>
          <p:nvPr/>
        </p:nvSpPr>
        <p:spPr>
          <a:xfrm>
            <a:off x="8915400" y="4405579"/>
            <a:ext cx="9144" cy="1790395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47" name="Shape 36"/>
          <p:cNvSpPr/>
          <p:nvPr/>
        </p:nvSpPr>
        <p:spPr>
          <a:xfrm>
            <a:off x="6448349" y="4519879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FFF1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8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6581851" y="4653382"/>
            <a:ext cx="190195" cy="190195"/>
          </a:xfrm>
          <a:prstGeom prst="rect">
            <a:avLst/>
          </a:prstGeom>
        </p:spPr>
      </p:pic>
      <p:sp>
        <p:nvSpPr>
          <p:cNvPr id="49" name="Text 37"/>
          <p:cNvSpPr txBox="1"/>
          <p:nvPr/>
        </p:nvSpPr>
        <p:spPr>
          <a:xfrm>
            <a:off x="7039051" y="4405579"/>
            <a:ext cx="175381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9F123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 피처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9F123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(External Features)</a:t>
            </a:r>
            <a:endParaRPr lang="en-US" sz="1500" dirty="0"/>
          </a:p>
        </p:txBody>
      </p:sp>
      <p:sp>
        <p:nvSpPr>
          <p:cNvPr id="50" name="Text 38"/>
          <p:cNvSpPr txBox="1"/>
          <p:nvPr/>
        </p:nvSpPr>
        <p:spPr>
          <a:xfrm>
            <a:off x="6448349" y="5205679"/>
            <a:ext cx="235275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매출에 영향을 미치는 외부 환경 요인을 모델에 추가합니다.</a:t>
            </a:r>
            <a:endParaRPr lang="en-US" sz="1100" dirty="0"/>
          </a:p>
        </p:txBody>
      </p:sp>
      <p:sp>
        <p:nvSpPr>
          <p:cNvPr id="51" name="Shape 39"/>
          <p:cNvSpPr/>
          <p:nvPr/>
        </p:nvSpPr>
        <p:spPr>
          <a:xfrm>
            <a:off x="9111082" y="4996282"/>
            <a:ext cx="57607" cy="57607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Text 40"/>
          <p:cNvSpPr txBox="1"/>
          <p:nvPr/>
        </p:nvSpPr>
        <p:spPr>
          <a:xfrm>
            <a:off x="9262872" y="4924044"/>
            <a:ext cx="19559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프로모션: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onpromotion 여부</a:t>
            </a:r>
            <a:endParaRPr lang="en-US" sz="1000" dirty="0"/>
          </a:p>
        </p:txBody>
      </p:sp>
      <p:sp>
        <p:nvSpPr>
          <p:cNvPr id="53" name="Shape 41"/>
          <p:cNvSpPr/>
          <p:nvPr/>
        </p:nvSpPr>
        <p:spPr>
          <a:xfrm>
            <a:off x="9111082" y="5272430"/>
            <a:ext cx="57607" cy="57607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Text 42"/>
          <p:cNvSpPr txBox="1"/>
          <p:nvPr/>
        </p:nvSpPr>
        <p:spPr>
          <a:xfrm>
            <a:off x="9262872" y="5201107"/>
            <a:ext cx="171267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휴일/이벤트: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공휴일 효과</a:t>
            </a:r>
            <a:endParaRPr lang="en-US" sz="1000" dirty="0"/>
          </a:p>
        </p:txBody>
      </p:sp>
      <p:sp>
        <p:nvSpPr>
          <p:cNvPr id="55" name="Shape 43"/>
          <p:cNvSpPr/>
          <p:nvPr/>
        </p:nvSpPr>
        <p:spPr>
          <a:xfrm>
            <a:off x="9111082" y="5548579"/>
            <a:ext cx="57607" cy="57607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Text 44"/>
          <p:cNvSpPr txBox="1"/>
          <p:nvPr/>
        </p:nvSpPr>
        <p:spPr>
          <a:xfrm>
            <a:off x="9262872" y="5477256"/>
            <a:ext cx="18772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거시경제: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유가, 환율, 날씨</a:t>
            </a:r>
            <a:endParaRPr lang="en-US" sz="1000" dirty="0"/>
          </a:p>
        </p:txBody>
      </p:sp>
      <p:pic>
        <p:nvPicPr>
          <p:cNvPr id="57" name="Image 10" descr="preencoded.png">    </p:cNvPr>
          <p:cNvPicPr>
            <a:picLocks noChangeAspect="1"/>
          </p:cNvPicPr>
          <p:nvPr/>
        </p:nvPicPr>
        <p:blipFill>
          <a:blip r:embed="rId11"/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10598" y="-476402"/>
            <a:ext cx="2857500" cy="2857500"/>
          </a:xfrm>
          <a:prstGeom prst="ellipse">
            <a:avLst/>
          </a:prstGeom>
          <a:solidFill>
            <a:srgbClr val="EF4444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-476402" y="5429707"/>
            <a:ext cx="1904695" cy="1904695"/>
          </a:xfrm>
          <a:prstGeom prst="rect">
            <a:avLst/>
          </a:prstGeom>
          <a:solidFill>
            <a:srgbClr val="10B981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27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381305"/>
            <a:ext cx="11239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spc="-63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누수(Data Leakage) 방지</a:t>
            </a:r>
            <a:endParaRPr lang="en-US" sz="31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예측 모델의 신뢰도를 결정짓는 가장 중요한 원칙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71500" y="5915254"/>
            <a:ext cx="11048695" cy="1285646"/>
          </a:xfrm>
          <a:prstGeom prst="roundRect">
            <a:avLst>
              <a:gd name="adj" fmla="val 12644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71346" y="6344107"/>
            <a:ext cx="3572561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모델을 배포하여 실제로 예측하는 시점(Inference Time)에 </a:t>
            </a:r>
            <a:pPr algn="l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확보할 수 없는 데이터</a:t>
            </a:r>
            <a:pPr algn="l"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는 절대 학습에 사용해서는 안 됩니다.</a:t>
            </a:r>
            <a:endParaRPr lang="en-US" sz="11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-133" r="-133" t="0" b="0"/>
          <a:stretch/>
        </p:blipFill>
        <p:spPr>
          <a:xfrm>
            <a:off x="809244" y="6452921"/>
            <a:ext cx="171907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171346" y="6077102"/>
            <a:ext cx="286938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체크포인트: "타임머신은 없다"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71500" y="1628546"/>
            <a:ext cx="5333695" cy="4000500"/>
          </a:xfrm>
          <a:prstGeom prst="roundRect">
            <a:avLst>
              <a:gd name="adj" fmla="val 17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71500" y="1628546"/>
            <a:ext cx="5333695" cy="57607"/>
          </a:xfrm>
          <a:prstGeom prst="roundRect">
            <a:avLst>
              <a:gd name="adj" fmla="val 120938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66851" y="2743200"/>
            <a:ext cx="4743907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66851" y="2048256"/>
            <a:ext cx="476402" cy="476402"/>
          </a:xfrm>
          <a:prstGeom prst="roundRect">
            <a:avLst>
              <a:gd name="adj" fmla="val 92131"/>
            </a:avLst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90295" y="2171700"/>
            <a:ext cx="228600" cy="2286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495044" y="1971446"/>
            <a:ext cx="199887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누수 발생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1495044" y="2352751"/>
            <a:ext cx="562356" cy="247802"/>
          </a:xfrm>
          <a:prstGeom prst="roundRect">
            <a:avLst>
              <a:gd name="adj" fmla="val 170310"/>
            </a:avLst>
          </a:prstGeom>
          <a:solidFill>
            <a:srgbClr val="FEE2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1495044" y="2352751"/>
            <a:ext cx="619963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DON'T</a:t>
            </a:r>
            <a:endParaRPr lang="en-US" sz="9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66851" y="2952598"/>
            <a:ext cx="133502" cy="13350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000354" y="2952598"/>
            <a:ext cx="38852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미래 정보 사용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오늘 매출 예측에 내일 날씨 반영</a:t>
            </a:r>
            <a:endParaRPr lang="en-US" sz="12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66851" y="3295498"/>
            <a:ext cx="133502" cy="13350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000354" y="3295498"/>
            <a:ext cx="37078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Random Split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데이터를 섞어서 훈련/검증 분할</a:t>
            </a:r>
            <a:endParaRPr lang="en-US" sz="12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66851" y="3638398"/>
            <a:ext cx="133502" cy="13350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000354" y="3638398"/>
            <a:ext cx="34884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통계 사용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Test셋 포함해서 Scaling 적용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866851" y="4462272"/>
            <a:ext cx="4743907" cy="875995"/>
          </a:xfrm>
          <a:prstGeom prst="roundRect">
            <a:avLst>
              <a:gd name="adj" fmla="val 18154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1019556" y="4614977"/>
            <a:ext cx="46296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잘못된 학습 (미래 참조)</a:t>
            </a:r>
            <a:endParaRPr lang="en-US" sz="900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658" b="-658"/>
          <a:stretch/>
        </p:blipFill>
        <p:spPr>
          <a:xfrm>
            <a:off x="2033626" y="4862779"/>
            <a:ext cx="819302" cy="323698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2033626" y="4862779"/>
            <a:ext cx="8769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9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Train: 1/5</a:t>
            </a:r>
            <a:endParaRPr lang="en-US" sz="900" dirty="0"/>
          </a:p>
        </p:txBody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2947111" y="4955134"/>
            <a:ext cx="133502" cy="133502"/>
          </a:xfrm>
          <a:prstGeom prst="rect">
            <a:avLst/>
          </a:prstGeom>
        </p:spPr>
      </p:pic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445" b="-445"/>
          <a:stretch/>
        </p:blipFill>
        <p:spPr>
          <a:xfrm>
            <a:off x="3175711" y="4862779"/>
            <a:ext cx="761695" cy="323698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3175711" y="4862779"/>
            <a:ext cx="81930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Test: 1/3</a:t>
            </a:r>
            <a:endParaRPr lang="en-US" sz="900" dirty="0"/>
          </a:p>
        </p:txBody>
      </p:sp>
      <p:sp>
        <p:nvSpPr>
          <p:cNvPr id="34" name="Text 24"/>
          <p:cNvSpPr txBox="1"/>
          <p:nvPr/>
        </p:nvSpPr>
        <p:spPr>
          <a:xfrm>
            <a:off x="4104742" y="4862779"/>
            <a:ext cx="400507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Error</a:t>
            </a:r>
            <a:endParaRPr lang="en-US" sz="1000" dirty="0"/>
          </a:p>
        </p:txBody>
      </p:sp>
      <p:sp>
        <p:nvSpPr>
          <p:cNvPr id="35" name="Shape 25"/>
          <p:cNvSpPr/>
          <p:nvPr/>
        </p:nvSpPr>
        <p:spPr>
          <a:xfrm>
            <a:off x="6286500" y="1628546"/>
            <a:ext cx="5333695" cy="4000500"/>
          </a:xfrm>
          <a:prstGeom prst="roundRect">
            <a:avLst>
              <a:gd name="adj" fmla="val 17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36" name="Shape 26"/>
          <p:cNvSpPr/>
          <p:nvPr/>
        </p:nvSpPr>
        <p:spPr>
          <a:xfrm>
            <a:off x="6286500" y="1628546"/>
            <a:ext cx="5333695" cy="57607"/>
          </a:xfrm>
          <a:prstGeom prst="roundRect">
            <a:avLst>
              <a:gd name="adj" fmla="val 120938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37" name="Shape 27"/>
          <p:cNvSpPr/>
          <p:nvPr/>
        </p:nvSpPr>
        <p:spPr>
          <a:xfrm>
            <a:off x="6581851" y="2743200"/>
            <a:ext cx="4743907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38" name="Shape 28"/>
          <p:cNvSpPr/>
          <p:nvPr/>
        </p:nvSpPr>
        <p:spPr>
          <a:xfrm>
            <a:off x="6581851" y="2048256"/>
            <a:ext cx="476402" cy="476402"/>
          </a:xfrm>
          <a:prstGeom prst="roundRect">
            <a:avLst>
              <a:gd name="adj" fmla="val 92131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6705295" y="2171700"/>
            <a:ext cx="228600" cy="228600"/>
          </a:xfrm>
          <a:prstGeom prst="rect">
            <a:avLst/>
          </a:prstGeom>
        </p:spPr>
      </p:pic>
      <p:sp>
        <p:nvSpPr>
          <p:cNvPr id="40" name="Text 29"/>
          <p:cNvSpPr txBox="1"/>
          <p:nvPr/>
        </p:nvSpPr>
        <p:spPr>
          <a:xfrm>
            <a:off x="7210044" y="1971446"/>
            <a:ext cx="13661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올바른 처리</a:t>
            </a:r>
            <a:endParaRPr lang="en-US" sz="1800" dirty="0"/>
          </a:p>
        </p:txBody>
      </p:sp>
      <p:sp>
        <p:nvSpPr>
          <p:cNvPr id="41" name="Shape 30"/>
          <p:cNvSpPr/>
          <p:nvPr/>
        </p:nvSpPr>
        <p:spPr>
          <a:xfrm>
            <a:off x="7210044" y="2352751"/>
            <a:ext cx="666598" cy="247802"/>
          </a:xfrm>
          <a:prstGeom prst="roundRect">
            <a:avLst>
              <a:gd name="adj" fmla="val 170310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31"/>
          <p:cNvSpPr txBox="1"/>
          <p:nvPr/>
        </p:nvSpPr>
        <p:spPr>
          <a:xfrm>
            <a:off x="7210044" y="2352751"/>
            <a:ext cx="724205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 THIS</a:t>
            </a:r>
            <a:endParaRPr lang="en-US" sz="900" dirty="0"/>
          </a:p>
        </p:txBody>
      </p:sp>
      <p:pic>
        <p:nvPicPr>
          <p:cNvPr id="43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6581851" y="2952598"/>
            <a:ext cx="133502" cy="133502"/>
          </a:xfrm>
          <a:prstGeom prst="rect">
            <a:avLst/>
          </a:prstGeom>
        </p:spPr>
      </p:pic>
      <p:sp>
        <p:nvSpPr>
          <p:cNvPr id="44" name="Text 32"/>
          <p:cNvSpPr txBox="1"/>
          <p:nvPr/>
        </p:nvSpPr>
        <p:spPr>
          <a:xfrm>
            <a:off x="6715354" y="2952598"/>
            <a:ext cx="38121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과거 정보만 사용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Lag 피처(어제, 지난주 매출)</a:t>
            </a:r>
            <a:endParaRPr lang="en-US" sz="1200" dirty="0"/>
          </a:p>
        </p:txBody>
      </p:sp>
      <p:pic>
        <p:nvPicPr>
          <p:cNvPr id="45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6581851" y="3295498"/>
            <a:ext cx="133502" cy="133502"/>
          </a:xfrm>
          <a:prstGeom prst="rect">
            <a:avLst/>
          </a:prstGeom>
        </p:spPr>
      </p:pic>
      <p:sp>
        <p:nvSpPr>
          <p:cNvPr id="46" name="Text 33"/>
          <p:cNvSpPr txBox="1"/>
          <p:nvPr/>
        </p:nvSpPr>
        <p:spPr>
          <a:xfrm>
            <a:off x="6715354" y="3295498"/>
            <a:ext cx="344454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Time Series Split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시간 순서를 지켜서 분할</a:t>
            </a:r>
            <a:endParaRPr lang="en-US" sz="1200" dirty="0"/>
          </a:p>
        </p:txBody>
      </p:sp>
      <p:pic>
        <p:nvPicPr>
          <p:cNvPr id="47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6581851" y="3638398"/>
            <a:ext cx="133502" cy="133502"/>
          </a:xfrm>
          <a:prstGeom prst="rect">
            <a:avLst/>
          </a:prstGeom>
        </p:spPr>
      </p:pic>
      <p:sp>
        <p:nvSpPr>
          <p:cNvPr id="48" name="Text 34"/>
          <p:cNvSpPr txBox="1"/>
          <p:nvPr/>
        </p:nvSpPr>
        <p:spPr>
          <a:xfrm>
            <a:off x="6715354" y="3638398"/>
            <a:ext cx="39922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 기준 전처리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검증 데이터는 Transform만 수행</a:t>
            </a:r>
            <a:endParaRPr lang="en-US" sz="1200" dirty="0"/>
          </a:p>
        </p:txBody>
      </p:sp>
      <p:sp>
        <p:nvSpPr>
          <p:cNvPr id="49" name="Shape 35"/>
          <p:cNvSpPr/>
          <p:nvPr/>
        </p:nvSpPr>
        <p:spPr>
          <a:xfrm>
            <a:off x="6581851" y="4462272"/>
            <a:ext cx="4743907" cy="875995"/>
          </a:xfrm>
          <a:prstGeom prst="roundRect">
            <a:avLst>
              <a:gd name="adj" fmla="val 18154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36"/>
          <p:cNvSpPr txBox="1"/>
          <p:nvPr/>
        </p:nvSpPr>
        <p:spPr>
          <a:xfrm>
            <a:off x="6734556" y="4614977"/>
            <a:ext cx="46296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올바른 학습 (시간 순서 준수)</a:t>
            </a:r>
            <a:endParaRPr lang="en-US" sz="900" dirty="0"/>
          </a:p>
        </p:txBody>
      </p:sp>
      <p:pic>
        <p:nvPicPr>
          <p:cNvPr id="51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-444" b="-444"/>
          <a:stretch/>
        </p:blipFill>
        <p:spPr>
          <a:xfrm>
            <a:off x="7794346" y="4862779"/>
            <a:ext cx="895198" cy="323698"/>
          </a:xfrm>
          <a:prstGeom prst="rect">
            <a:avLst/>
          </a:prstGeom>
        </p:spPr>
      </p:pic>
      <p:sp>
        <p:nvSpPr>
          <p:cNvPr id="52" name="Text 37"/>
          <p:cNvSpPr txBox="1"/>
          <p:nvPr/>
        </p:nvSpPr>
        <p:spPr>
          <a:xfrm>
            <a:off x="7794346" y="4862779"/>
            <a:ext cx="95280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Train: ~1/3</a:t>
            </a:r>
            <a:endParaRPr lang="en-US" sz="900" dirty="0"/>
          </a:p>
        </p:txBody>
      </p:sp>
      <p:pic>
        <p:nvPicPr>
          <p:cNvPr id="53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-1100" b="-1100"/>
          <a:stretch/>
        </p:blipFill>
        <p:spPr>
          <a:xfrm>
            <a:off x="8780069" y="4955134"/>
            <a:ext cx="114300" cy="133502"/>
          </a:xfrm>
          <a:prstGeom prst="rect">
            <a:avLst/>
          </a:prstGeom>
        </p:spPr>
      </p:pic>
      <p:pic>
        <p:nvPicPr>
          <p:cNvPr id="54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-445" b="-445"/>
          <a:stretch/>
        </p:blipFill>
        <p:spPr>
          <a:xfrm>
            <a:off x="8989466" y="4862779"/>
            <a:ext cx="761695" cy="323698"/>
          </a:xfrm>
          <a:prstGeom prst="rect">
            <a:avLst/>
          </a:prstGeom>
        </p:spPr>
      </p:pic>
      <p:sp>
        <p:nvSpPr>
          <p:cNvPr id="55" name="Text 38"/>
          <p:cNvSpPr txBox="1"/>
          <p:nvPr/>
        </p:nvSpPr>
        <p:spPr>
          <a:xfrm>
            <a:off x="8989466" y="4862779"/>
            <a:ext cx="81930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Test: 1/4</a:t>
            </a:r>
            <a:endParaRPr lang="en-US" sz="900" dirty="0"/>
          </a:p>
        </p:txBody>
      </p:sp>
      <p:sp>
        <p:nvSpPr>
          <p:cNvPr id="56" name="Text 39"/>
          <p:cNvSpPr txBox="1"/>
          <p:nvPr/>
        </p:nvSpPr>
        <p:spPr>
          <a:xfrm>
            <a:off x="9918497" y="4862779"/>
            <a:ext cx="257861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OK</a:t>
            </a:r>
            <a:endParaRPr lang="en-US" sz="1000" dirty="0"/>
          </a:p>
        </p:txBody>
      </p:sp>
      <p:pic>
        <p:nvPicPr>
          <p:cNvPr id="57" name="Image 15" descr="preencoded.png">    </p:cNvPr>
          <p:cNvPicPr>
            <a:picLocks noChangeAspect="1"/>
          </p:cNvPicPr>
          <p:nvPr/>
        </p:nvPicPr>
        <p:blipFill>
          <a:blip r:embed="rId16"/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34195" y="-952805"/>
            <a:ext cx="3810305" cy="3810305"/>
          </a:xfrm>
          <a:prstGeom prst="ellipse">
            <a:avLst/>
          </a:prstGeom>
          <a:solidFill>
            <a:srgbClr val="F1F5F9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476402" y="4476902"/>
            <a:ext cx="2857500" cy="2857500"/>
          </a:xfrm>
          <a:prstGeom prst="ellipse">
            <a:avLst/>
          </a:prstGeom>
          <a:solidFill>
            <a:srgbClr val="E2E8F0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28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476402"/>
            <a:ext cx="113541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spc="-72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선택 개요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257300"/>
            <a:ext cx="112398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비즈니스 문제 해결을 위한 최적의 예측 모델 선정 전략</a:t>
            </a:r>
            <a:endParaRPr lang="en-US" sz="1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-1" r="-1" t="0" b="0"/>
          <a:stretch/>
        </p:blipFill>
        <p:spPr>
          <a:xfrm>
            <a:off x="571500" y="2609698"/>
            <a:ext cx="3492094" cy="304769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71500" y="2609698"/>
            <a:ext cx="3473806" cy="57607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66851" y="2905049"/>
            <a:ext cx="666598" cy="666598"/>
          </a:xfrm>
          <a:prstGeom prst="roundRect">
            <a:avLst>
              <a:gd name="adj" fmla="val 47031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47902" y="3086100"/>
            <a:ext cx="304495" cy="30449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66851" y="3800246"/>
            <a:ext cx="2708453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베이스라인: Prophet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866851" y="4324198"/>
            <a:ext cx="26389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빠르고 직관적인 초기 모델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866851" y="4751222"/>
            <a:ext cx="26965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비즈니스 시계열(계절성/휴일) 특화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866851" y="5055718"/>
            <a:ext cx="26389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결측치에 강건하며 자동화 용이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866851" y="5360213"/>
            <a:ext cx="26389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신뢰구간 제공으로 불확실성 파악</a:t>
            </a:r>
            <a:endParaRPr lang="en-US" sz="12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2" b="-2"/>
          <a:stretch/>
        </p:blipFill>
        <p:spPr>
          <a:xfrm>
            <a:off x="4349801" y="2609698"/>
            <a:ext cx="3492094" cy="3047695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4349801" y="2609698"/>
            <a:ext cx="3473806" cy="57607"/>
          </a:xfrm>
          <a:prstGeom prst="rect">
            <a:avLst/>
          </a:prstGeom>
          <a:solidFill>
            <a:srgbClr val="06B6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645152" y="2905049"/>
            <a:ext cx="666598" cy="666598"/>
          </a:xfrm>
          <a:prstGeom prst="roundRect">
            <a:avLst>
              <a:gd name="adj" fmla="val 47031"/>
            </a:avLst>
          </a:prstGeom>
          <a:solidFill>
            <a:srgbClr val="ECF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826203" y="3086100"/>
            <a:ext cx="304495" cy="30449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4645152" y="3800246"/>
            <a:ext cx="276423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고성능: GBMs</a:t>
            </a:r>
            <a:endParaRPr lang="en-US" sz="1900" dirty="0"/>
          </a:p>
        </p:txBody>
      </p:sp>
      <p:sp>
        <p:nvSpPr>
          <p:cNvPr id="23" name="Text 17"/>
          <p:cNvSpPr txBox="1"/>
          <p:nvPr/>
        </p:nvSpPr>
        <p:spPr>
          <a:xfrm>
            <a:off x="4645152" y="4324198"/>
            <a:ext cx="28483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정확도가 중요한 메인 모델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4645152" y="4751222"/>
            <a:ext cx="29599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XGBoost, LightGBM, CatBoost 활용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4645152" y="5055718"/>
            <a:ext cx="28483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복잡한 비선형 관계 및 상호작용 포착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4645152" y="5360213"/>
            <a:ext cx="28483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피처 엔지니어링을 통해 성능 극대화</a:t>
            </a:r>
            <a:endParaRPr lang="en-US" sz="120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rcRect l="-1" r="-1" t="0" b="0"/>
          <a:stretch/>
        </p:blipFill>
        <p:spPr>
          <a:xfrm>
            <a:off x="8128102" y="2609698"/>
            <a:ext cx="3492094" cy="3047695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8128102" y="2609698"/>
            <a:ext cx="3473806" cy="57607"/>
          </a:xfrm>
          <a:prstGeom prst="rect">
            <a:avLst/>
          </a:prstGeom>
          <a:solidFill>
            <a:srgbClr val="8B5C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8423453" y="2905049"/>
            <a:ext cx="666598" cy="666598"/>
          </a:xfrm>
          <a:prstGeom prst="roundRect">
            <a:avLst>
              <a:gd name="adj" fmla="val 47031"/>
            </a:avLst>
          </a:prstGeom>
          <a:solidFill>
            <a:srgbClr val="F5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rcRect l="-50" r="-50" t="0" b="0"/>
          <a:stretch/>
        </p:blipFill>
        <p:spPr>
          <a:xfrm>
            <a:off x="8585302" y="3086100"/>
            <a:ext cx="342900" cy="304495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423453" y="3800246"/>
            <a:ext cx="31693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전략: 앙상블 &amp; 시나리오</a:t>
            </a:r>
            <a:endParaRPr lang="en-US" sz="1900" dirty="0"/>
          </a:p>
        </p:txBody>
      </p:sp>
      <p:sp>
        <p:nvSpPr>
          <p:cNvPr id="32" name="Text 24"/>
          <p:cNvSpPr txBox="1"/>
          <p:nvPr/>
        </p:nvSpPr>
        <p:spPr>
          <a:xfrm>
            <a:off x="8423453" y="4324198"/>
            <a:ext cx="30961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안정성과 활용성 강화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8423453" y="4751222"/>
            <a:ext cx="29818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모델 한계 극복을 위한 혼합(Ensemble)</a:t>
            </a:r>
            <a:endParaRPr lang="en-US" sz="1200" dirty="0"/>
          </a:p>
        </p:txBody>
      </p:sp>
      <p:sp>
        <p:nvSpPr>
          <p:cNvPr id="34" name="Text 26"/>
          <p:cNvSpPr txBox="1"/>
          <p:nvPr/>
        </p:nvSpPr>
        <p:spPr>
          <a:xfrm>
            <a:off x="8423453" y="5284318"/>
            <a:ext cx="30961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과적합 방지 및 예측 안정성 확보</a:t>
            </a:r>
            <a:endParaRPr lang="en-US" sz="1200" dirty="0"/>
          </a:p>
        </p:txBody>
      </p:sp>
      <p:sp>
        <p:nvSpPr>
          <p:cNvPr id="35" name="Text 27"/>
          <p:cNvSpPr txBox="1"/>
          <p:nvPr/>
        </p:nvSpPr>
        <p:spPr>
          <a:xfrm>
            <a:off x="8423453" y="5588813"/>
            <a:ext cx="30586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시나리오 분석(What-if) 대응 구조 설계</a:t>
            </a:r>
            <a:endParaRPr lang="en-US" sz="1200" dirty="0"/>
          </a:p>
        </p:txBody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10598" y="-476402"/>
            <a:ext cx="2857500" cy="2857500"/>
          </a:xfrm>
          <a:prstGeom prst="ellipse">
            <a:avLst/>
          </a:prstGeom>
          <a:solidFill>
            <a:srgbClr val="F1F5F9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476402" y="4476902"/>
            <a:ext cx="1904695" cy="1904695"/>
          </a:xfrm>
          <a:prstGeom prst="ellipse">
            <a:avLst/>
          </a:prstGeom>
          <a:solidFill>
            <a:srgbClr val="E2E8F0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381305"/>
            <a:ext cx="11239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spc="-63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GBMs 비교: XGBoost vs LightGBM vs CatBoost</a:t>
            </a:r>
            <a:endParaRPr lang="en-US" sz="31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시계열 예측 성능을 극대화하는 3대 트리 기반 부스팅 모델 특징 비교</a:t>
            </a:r>
            <a:endParaRPr lang="en-US" sz="15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rcRect l="0" r="0" t="-6" b="-6"/>
          <a:stretch/>
        </p:blipFill>
        <p:spPr>
          <a:xfrm>
            <a:off x="571500" y="1723644"/>
            <a:ext cx="3530498" cy="456285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80644" y="1781251"/>
            <a:ext cx="3514954" cy="180959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1" name="Shape 8"/>
          <p:cNvSpPr/>
          <p:nvPr/>
        </p:nvSpPr>
        <p:spPr>
          <a:xfrm>
            <a:off x="580644" y="3581705"/>
            <a:ext cx="3514954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031797" y="2009851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059669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10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rcRect l="-107" r="-107" t="0" b="0"/>
          <a:stretch/>
        </p:blipFill>
        <p:spPr>
          <a:xfrm>
            <a:off x="2203704" y="2162556"/>
            <a:ext cx="267005" cy="30449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815084" y="2771546"/>
            <a:ext cx="10479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XGBoost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1470355" y="3152851"/>
            <a:ext cx="174010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"The Kaggle Standard"</a:t>
            </a:r>
            <a:endParaRPr lang="en-US" sz="10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09244" y="3819449"/>
            <a:ext cx="133502" cy="13350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42746" y="3819449"/>
            <a:ext cx="300106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안정성 &amp; 성능:</a:t>
            </a:r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가장 널리 쓰이며 검증된 성능. 과적합 규제(Regularization) 기능이 강력함.</a:t>
            </a:r>
            <a:endParaRPr lang="en-US" sz="11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09244" y="4362602"/>
            <a:ext cx="133502" cy="13350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42746" y="4362602"/>
            <a:ext cx="300106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Level-wise 성장:</a:t>
            </a:r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트리를 균형 있게(수평적으로) 확장하여 깊이를 제어.</a:t>
            </a:r>
            <a:endParaRPr lang="en-US" sz="11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09244" y="4905756"/>
            <a:ext cx="133502" cy="133502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942746" y="4905756"/>
            <a:ext cx="300106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단점:</a:t>
            </a:r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대용량 데이터에서 학습 속도가 상대적으로 느리고 메모리 사용량이 큼.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809244" y="5633618"/>
            <a:ext cx="3057754" cy="418795"/>
          </a:xfrm>
          <a:prstGeom prst="roundRect">
            <a:avLst>
              <a:gd name="adj" fmla="val 79397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771754" y="5633618"/>
            <a:ext cx="3134563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114300" rIns="114300" bIns="1143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Best for: 일반적인 정형 데이터, 중소규모</a:t>
            </a:r>
            <a:endParaRPr lang="en-US" sz="9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6" b="-6"/>
          <a:stretch/>
        </p:blipFill>
        <p:spPr>
          <a:xfrm>
            <a:off x="4330598" y="1723644"/>
            <a:ext cx="3530498" cy="4562856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4340657" y="1781251"/>
            <a:ext cx="3514954" cy="180959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6" name="Shape 18"/>
          <p:cNvSpPr/>
          <p:nvPr/>
        </p:nvSpPr>
        <p:spPr>
          <a:xfrm>
            <a:off x="4340657" y="3581705"/>
            <a:ext cx="3514954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5790895" y="2009851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10000"/>
              </a:srgbClr>
            </a:outerShdw>
          </a:effectLst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rcRect l="-107" r="-107" t="0" b="0"/>
          <a:stretch/>
        </p:blipFill>
        <p:spPr>
          <a:xfrm>
            <a:off x="5962802" y="2162556"/>
            <a:ext cx="267005" cy="304495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5492801" y="2771546"/>
            <a:ext cx="12097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LightGBM</a:t>
            </a:r>
            <a:endParaRPr lang="en-US" sz="1800" dirty="0"/>
          </a:p>
        </p:txBody>
      </p:sp>
      <p:sp>
        <p:nvSpPr>
          <p:cNvPr id="30" name="Text 21"/>
          <p:cNvSpPr txBox="1"/>
          <p:nvPr/>
        </p:nvSpPr>
        <p:spPr>
          <a:xfrm>
            <a:off x="5308092" y="3152851"/>
            <a:ext cx="157642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"Speed &amp; Efficiency"</a:t>
            </a:r>
            <a:endParaRPr lang="en-US" sz="100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4569257" y="3819449"/>
            <a:ext cx="133502" cy="133502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4701845" y="3819449"/>
            <a:ext cx="300106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압도적인 속도:</a:t>
            </a:r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XGBoost 대비 학습 속도가 빠르고 메모리 사용량이 적음.</a:t>
            </a:r>
            <a:endParaRPr lang="en-US" sz="1100" dirty="0"/>
          </a:p>
        </p:txBody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4569257" y="4362602"/>
            <a:ext cx="133502" cy="133502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4701845" y="4362602"/>
            <a:ext cx="300106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Leaf-wise 성장:</a:t>
            </a:r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손실을 가장 많이 줄이는 리프 중심(수직적) 분할. 정확도가 높음.</a:t>
            </a:r>
            <a:endParaRPr lang="en-US" sz="1100" dirty="0"/>
          </a:p>
        </p:txBody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569257" y="4905756"/>
            <a:ext cx="133502" cy="133502"/>
          </a:xfrm>
          <a:prstGeom prst="rect">
            <a:avLst/>
          </a:prstGeom>
        </p:spPr>
      </p:pic>
      <p:sp>
        <p:nvSpPr>
          <p:cNvPr id="36" name="Text 24"/>
          <p:cNvSpPr txBox="1"/>
          <p:nvPr/>
        </p:nvSpPr>
        <p:spPr>
          <a:xfrm>
            <a:off x="4701845" y="4905756"/>
            <a:ext cx="30010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주의:</a:t>
            </a:r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데이터가 적을 경우(&lt; 1만 행) 과적합 위험이 있어 </a:t>
            </a:r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max_depth</a:t>
            </a:r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제한 필수.</a:t>
            </a:r>
            <a:endParaRPr lang="en-US" sz="1100" dirty="0"/>
          </a:p>
        </p:txBody>
      </p:sp>
      <p:sp>
        <p:nvSpPr>
          <p:cNvPr id="37" name="Shape 25"/>
          <p:cNvSpPr/>
          <p:nvPr/>
        </p:nvSpPr>
        <p:spPr>
          <a:xfrm>
            <a:off x="4569257" y="5633618"/>
            <a:ext cx="3057754" cy="418795"/>
          </a:xfrm>
          <a:prstGeom prst="roundRect">
            <a:avLst>
              <a:gd name="adj" fmla="val 79397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26"/>
          <p:cNvSpPr txBox="1"/>
          <p:nvPr/>
        </p:nvSpPr>
        <p:spPr>
          <a:xfrm>
            <a:off x="4530852" y="5633618"/>
            <a:ext cx="3134563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114300" rIns="114300" bIns="1143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Best for: 대용량 데이터, 빠른 실험</a:t>
            </a:r>
            <a:endParaRPr lang="en-US" sz="900" dirty="0"/>
          </a:p>
        </p:txBody>
      </p:sp>
      <p:pic>
        <p:nvPicPr>
          <p:cNvPr id="39" name="Image 10" descr="preencoded.png">    </p:cNvPr>
          <p:cNvPicPr>
            <a:picLocks noChangeAspect="1"/>
          </p:cNvPicPr>
          <p:nvPr/>
        </p:nvPicPr>
        <p:blipFill>
          <a:blip r:embed="rId9"/>
          <a:srcRect l="0" r="0" t="-6" b="-6"/>
          <a:stretch/>
        </p:blipFill>
        <p:spPr>
          <a:xfrm>
            <a:off x="8089697" y="1723644"/>
            <a:ext cx="3530498" cy="4562856"/>
          </a:xfrm>
          <a:prstGeom prst="rect">
            <a:avLst/>
          </a:prstGeom>
        </p:spPr>
      </p:pic>
      <p:sp>
        <p:nvSpPr>
          <p:cNvPr id="40" name="Shape 27"/>
          <p:cNvSpPr/>
          <p:nvPr/>
        </p:nvSpPr>
        <p:spPr>
          <a:xfrm>
            <a:off x="8099755" y="1781251"/>
            <a:ext cx="3514954" cy="180959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1" name="Shape 28"/>
          <p:cNvSpPr/>
          <p:nvPr/>
        </p:nvSpPr>
        <p:spPr>
          <a:xfrm>
            <a:off x="8099755" y="3581705"/>
            <a:ext cx="3514954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42" name="Shape 29"/>
          <p:cNvSpPr/>
          <p:nvPr/>
        </p:nvSpPr>
        <p:spPr>
          <a:xfrm>
            <a:off x="9549994" y="2009851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10000"/>
              </a:srgbClr>
            </a:outerShdw>
          </a:effectLst>
        </p:spPr>
      </p:sp>
      <p:pic>
        <p:nvPicPr>
          <p:cNvPr id="43" name="Image 11" descr="preencoded.png">    </p:cNvPr>
          <p:cNvPicPr>
            <a:picLocks noChangeAspect="1"/>
          </p:cNvPicPr>
          <p:nvPr/>
        </p:nvPicPr>
        <p:blipFill>
          <a:blip r:embed="rId10"/>
          <a:srcRect l="-50" r="-50" t="0" b="0"/>
          <a:stretch/>
        </p:blipFill>
        <p:spPr>
          <a:xfrm>
            <a:off x="9683496" y="2162556"/>
            <a:ext cx="342900" cy="304495"/>
          </a:xfrm>
          <a:prstGeom prst="rect">
            <a:avLst/>
          </a:prstGeom>
        </p:spPr>
      </p:pic>
      <p:sp>
        <p:nvSpPr>
          <p:cNvPr id="44" name="Text 30"/>
          <p:cNvSpPr txBox="1"/>
          <p:nvPr/>
        </p:nvSpPr>
        <p:spPr>
          <a:xfrm>
            <a:off x="9269273" y="2771546"/>
            <a:ext cx="117591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CatBoost</a:t>
            </a:r>
            <a:endParaRPr lang="en-US" sz="1800" dirty="0"/>
          </a:p>
        </p:txBody>
      </p:sp>
      <p:sp>
        <p:nvSpPr>
          <p:cNvPr id="45" name="Text 31"/>
          <p:cNvSpPr txBox="1"/>
          <p:nvPr/>
        </p:nvSpPr>
        <p:spPr>
          <a:xfrm>
            <a:off x="9069934" y="3152851"/>
            <a:ext cx="157642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"Categorical Master"</a:t>
            </a:r>
            <a:endParaRPr lang="en-US" sz="1000" dirty="0"/>
          </a:p>
        </p:txBody>
      </p:sp>
      <p:pic>
        <p:nvPicPr>
          <p:cNvPr id="46" name="Image 12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8328355" y="3819449"/>
            <a:ext cx="133502" cy="133502"/>
          </a:xfrm>
          <a:prstGeom prst="rect">
            <a:avLst/>
          </a:prstGeom>
        </p:spPr>
      </p:pic>
      <p:sp>
        <p:nvSpPr>
          <p:cNvPr id="47" name="Text 32"/>
          <p:cNvSpPr txBox="1"/>
          <p:nvPr/>
        </p:nvSpPr>
        <p:spPr>
          <a:xfrm>
            <a:off x="8461858" y="3819449"/>
            <a:ext cx="300106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범주형 변수 처리:</a:t>
            </a:r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One-hot Encoding 없이 범주형 데이터를 자동으로 최적 처리.</a:t>
            </a:r>
            <a:endParaRPr lang="en-US" sz="1100" dirty="0"/>
          </a:p>
        </p:txBody>
      </p:sp>
      <p:pic>
        <p:nvPicPr>
          <p:cNvPr id="48" name="Image 13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8328355" y="4362602"/>
            <a:ext cx="133502" cy="133502"/>
          </a:xfrm>
          <a:prstGeom prst="rect">
            <a:avLst/>
          </a:prstGeom>
        </p:spPr>
      </p:pic>
      <p:sp>
        <p:nvSpPr>
          <p:cNvPr id="49" name="Text 33"/>
          <p:cNvSpPr txBox="1"/>
          <p:nvPr/>
        </p:nvSpPr>
        <p:spPr>
          <a:xfrm>
            <a:off x="8461858" y="4362602"/>
            <a:ext cx="300106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Ordered Boosting:</a:t>
            </a:r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데이터 누수를 막는 독자적 알고리즘으로 과적합 방지.</a:t>
            </a:r>
            <a:endParaRPr lang="en-US" sz="1100" dirty="0"/>
          </a:p>
        </p:txBody>
      </p:sp>
      <p:pic>
        <p:nvPicPr>
          <p:cNvPr id="50" name="Image 14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8328355" y="4905756"/>
            <a:ext cx="133502" cy="133502"/>
          </a:xfrm>
          <a:prstGeom prst="rect">
            <a:avLst/>
          </a:prstGeom>
        </p:spPr>
      </p:pic>
      <p:sp>
        <p:nvSpPr>
          <p:cNvPr id="51" name="Text 34"/>
          <p:cNvSpPr txBox="1"/>
          <p:nvPr/>
        </p:nvSpPr>
        <p:spPr>
          <a:xfrm>
            <a:off x="8461858" y="4905756"/>
            <a:ext cx="300106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편의성:</a:t>
            </a:r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파라미터 튜닝 없이 기본값만으로도 우수한 성능을 냄.</a:t>
            </a:r>
            <a:endParaRPr lang="en-US" sz="1100" dirty="0"/>
          </a:p>
        </p:txBody>
      </p:sp>
      <p:sp>
        <p:nvSpPr>
          <p:cNvPr id="52" name="Shape 35"/>
          <p:cNvSpPr/>
          <p:nvPr/>
        </p:nvSpPr>
        <p:spPr>
          <a:xfrm>
            <a:off x="8328355" y="5633618"/>
            <a:ext cx="3057754" cy="418795"/>
          </a:xfrm>
          <a:prstGeom prst="roundRect">
            <a:avLst>
              <a:gd name="adj" fmla="val 79397"/>
            </a:avLst>
          </a:prstGeom>
          <a:solidFill>
            <a:srgbClr val="FFFB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Text 36"/>
          <p:cNvSpPr txBox="1"/>
          <p:nvPr/>
        </p:nvSpPr>
        <p:spPr>
          <a:xfrm>
            <a:off x="8289950" y="5633618"/>
            <a:ext cx="3134563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114300" rIns="114300" bIns="1143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Best for: 범주형 변수가 많은 데이터</a:t>
            </a:r>
            <a:endParaRPr lang="en-US" sz="900" dirty="0"/>
          </a:p>
        </p:txBody>
      </p:sp>
      <p:pic>
        <p:nvPicPr>
          <p:cNvPr id="54" name="Image 15" descr="preencoded.png">    </p:cNvPr>
          <p:cNvPicPr>
            <a:picLocks noChangeAspect="1"/>
          </p:cNvPicPr>
          <p:nvPr/>
        </p:nvPicPr>
        <p:blipFill>
          <a:blip r:embed="rId12"/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10598" y="1904695"/>
            <a:ext cx="2857500" cy="2857500"/>
          </a:xfrm>
          <a:prstGeom prst="ellipse">
            <a:avLst/>
          </a:prstGeom>
          <a:solidFill>
            <a:srgbClr val="F0F9FF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381305"/>
            <a:ext cx="113541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spc="-63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성능 평가 및 비교 기준</a:t>
            </a:r>
            <a:endParaRPr lang="en-US" sz="31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단순한 정확도를 넘어 비즈니스 운영과 의사결정을 지원하는 최적 모델 선정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71500" y="1628546"/>
            <a:ext cx="11048695" cy="705002"/>
          </a:xfrm>
          <a:prstGeom prst="roundRect">
            <a:avLst>
              <a:gd name="adj" fmla="val 42065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19302" y="1781251"/>
            <a:ext cx="1438351" cy="400507"/>
          </a:xfrm>
          <a:prstGeom prst="roundRect">
            <a:avLst>
              <a:gd name="adj" fmla="val 86975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214323" y="1781251"/>
            <a:ext cx="1100938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평가의 3대 축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074213" y="1828800"/>
            <a:ext cx="304495" cy="304495"/>
          </a:xfrm>
          <a:prstGeom prst="ellipse">
            <a:avLst/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151022" y="1904695"/>
            <a:ext cx="152705" cy="152705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3455518" y="1867205"/>
            <a:ext cx="16934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정확성</a:t>
            </a:r>
            <a:pPr algn="l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(오차 최소화)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075274" y="1828800"/>
            <a:ext cx="304495" cy="304495"/>
          </a:xfrm>
          <a:prstGeom prst="ellipse">
            <a:avLst/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/>
          <a:srcRect l="0" r="0" t="-180" b="-180"/>
          <a:stretch/>
        </p:blipFill>
        <p:spPr>
          <a:xfrm>
            <a:off x="6132881" y="1904695"/>
            <a:ext cx="190195" cy="15270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6456578" y="1867205"/>
            <a:ext cx="195498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운영성</a:t>
            </a:r>
            <a:pPr algn="l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(학습/추론 속도)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9276588" y="1828800"/>
            <a:ext cx="304495" cy="304495"/>
          </a:xfrm>
          <a:prstGeom prst="ellipse">
            <a:avLst/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rcRect l="0" r="0" t="-180" b="-180"/>
          <a:stretch/>
        </p:blipFill>
        <p:spPr>
          <a:xfrm>
            <a:off x="9333281" y="1904695"/>
            <a:ext cx="190195" cy="15270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657893" y="1867205"/>
            <a:ext cx="15316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설명력</a:t>
            </a:r>
            <a:pPr algn="l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(원인 해석)</a:t>
            </a:r>
            <a:endParaRPr lang="en-US" sz="12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5"/>
          <a:srcRect l="-2" r="-2" t="0" b="0"/>
          <a:stretch/>
        </p:blipFill>
        <p:spPr>
          <a:xfrm>
            <a:off x="571500" y="2572207"/>
            <a:ext cx="11048695" cy="3962095"/>
          </a:xfrm>
          <a:prstGeom prst="rect">
            <a:avLst/>
          </a:prstGeom>
        </p:spPr>
      </p:pic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0644" y="2581351"/>
          <a:ext cx="11030407" cy="3943807"/>
        </p:xfrm>
        <a:graphic>
          <a:graphicData uri="http://schemas.openxmlformats.org/drawingml/2006/table">
            <a:tbl>
              <a:tblPr/>
              <a:tblGrid>
                <a:gridCol w="2205533"/>
                <a:gridCol w="3860597"/>
                <a:gridCol w="2757830"/>
                <a:gridCol w="2206447"/>
              </a:tblGrid>
              <a:tr h="65730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평가 기준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28600" marR="228600" marT="133502" marB="133502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특징 및 장단점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28600" marR="228600" marT="133502" marB="133502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비즈니스 활용 포인트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28600" marR="228600" marT="133502" marB="133502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중요도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28600" marR="228600" marT="133502" marB="133502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6573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1E40A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RMSE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Root Mean Square Error</a:t>
                      </a:r>
                      <a:endParaRPr lang="en-US" sz="1200" dirty="0"/>
                    </a:p>
                  </a:txBody>
                  <a:tcPr marL="228600" marR="2286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큰 오차에 페널티를 부여함. 이상치(Outlier)에 민감하게 반응.</a:t>
                      </a:r>
                      <a:endParaRPr lang="en-US" sz="1200" dirty="0"/>
                    </a:p>
                  </a:txBody>
                  <a:tcPr marL="228600" marR="2286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재고 부족 등 </a:t>
                      </a:r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치명적 오차 방지</a:t>
                      </a:r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 중요할 때 사용</a:t>
                      </a:r>
                      <a:endParaRPr lang="en-US" sz="1200" dirty="0"/>
                    </a:p>
                  </a:txBody>
                  <a:tcPr marL="228600" marR="2286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High</a:t>
                      </a:r>
                      <a:endParaRPr lang="en-US" sz="1200" dirty="0"/>
                    </a:p>
                  </a:txBody>
                  <a:tcPr marL="228600" marR="2286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73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1E40A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MAE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Mean Absolute Error</a:t>
                      </a:r>
                      <a:endParaRPr lang="en-US" sz="1200" dirty="0"/>
                    </a:p>
                  </a:txBody>
                  <a:tcPr marL="228600" marR="2286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절대적인 오차의 평균. 이상치에 덜 민감하며 직관적임.</a:t>
                      </a:r>
                      <a:endParaRPr lang="en-US" sz="1200" dirty="0"/>
                    </a:p>
                  </a:txBody>
                  <a:tcPr marL="228600" marR="2286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평균적인 </a:t>
                      </a:r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일상 판매량 예측</a:t>
                      </a:r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및 일반적 재고 관리</a:t>
                      </a:r>
                      <a:endParaRPr lang="en-US" sz="1200" dirty="0"/>
                    </a:p>
                  </a:txBody>
                  <a:tcPr marL="228600" marR="2286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B82F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Med</a:t>
                      </a:r>
                      <a:endParaRPr lang="en-US" sz="1200" dirty="0"/>
                    </a:p>
                  </a:txBody>
                  <a:tcPr marL="228600" marR="2286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73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1E40A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MAPE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Mean Absolute % Error</a:t>
                      </a:r>
                      <a:endParaRPr lang="en-US" sz="1200" dirty="0"/>
                    </a:p>
                  </a:txBody>
                  <a:tcPr marL="228600" marR="2286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오차를 비율(%)로 표현. 규모가 다른 매장 간 비교 가능.</a:t>
                      </a:r>
                      <a:endParaRPr lang="en-US" sz="1200" dirty="0"/>
                    </a:p>
                  </a:txBody>
                  <a:tcPr marL="228600" marR="2286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경영진 보고용</a:t>
                      </a:r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지표 (예: "정확도 95%")</a:t>
                      </a:r>
                      <a:endParaRPr lang="en-US" sz="1200" dirty="0"/>
                    </a:p>
                  </a:txBody>
                  <a:tcPr marL="228600" marR="2286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High</a:t>
                      </a:r>
                      <a:endParaRPr lang="en-US" sz="1200" dirty="0"/>
                    </a:p>
                  </a:txBody>
                  <a:tcPr marL="228600" marR="2286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73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6B21A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학습 시간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Training Time</a:t>
                      </a:r>
                      <a:endParaRPr lang="en-US" sz="1200" dirty="0"/>
                    </a:p>
                  </a:txBody>
                  <a:tcPr marL="228600" marR="2286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모델 재학습 및 튜닝에 소요되는 시간.</a:t>
                      </a:r>
                      <a:endParaRPr lang="en-US" sz="1200" dirty="0"/>
                    </a:p>
                  </a:txBody>
                  <a:tcPr marL="228600" marR="2286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매일/매주 단위의 </a:t>
                      </a:r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지속적 운영(MLOps)</a:t>
                      </a:r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가능 여부</a:t>
                      </a:r>
                      <a:endParaRPr lang="en-US" sz="1200" dirty="0"/>
                    </a:p>
                  </a:txBody>
                  <a:tcPr marL="228600" marR="2286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B82F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Med</a:t>
                      </a:r>
                      <a:endParaRPr lang="en-US" sz="1200" dirty="0"/>
                    </a:p>
                  </a:txBody>
                  <a:tcPr marL="228600" marR="2286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73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16653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해석 가능성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Interpretability</a:t>
                      </a:r>
                      <a:endParaRPr lang="en-US" sz="1200" dirty="0"/>
                    </a:p>
                  </a:txBody>
                  <a:tcPr marL="228600" marR="2286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"왜 이런 예측이 나왔는가?"를 설명할 수 있는 능력.</a:t>
                      </a:r>
                      <a:endParaRPr lang="en-US" sz="1200" dirty="0"/>
                    </a:p>
                  </a:txBody>
                  <a:tcPr marL="228600" marR="2286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현업 설득</a:t>
                      </a:r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및 액션 플랜(프로모션 등) 수립의 근거</a:t>
                      </a:r>
                      <a:endParaRPr lang="en-US" sz="1200" dirty="0"/>
                    </a:p>
                  </a:txBody>
                  <a:tcPr marL="228600" marR="2286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4785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Critical</a:t>
                      </a:r>
                      <a:endParaRPr lang="en-US" sz="1200" dirty="0"/>
                    </a:p>
                  </a:txBody>
                  <a:tcPr marL="228600" marR="2286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6"/>
          <a:srcRect l="0" r="0" t="-32" b="-32"/>
          <a:stretch/>
        </p:blipFill>
        <p:spPr>
          <a:xfrm>
            <a:off x="571500" y="6772046"/>
            <a:ext cx="11048695" cy="743407"/>
          </a:xfrm>
          <a:prstGeom prst="rect">
            <a:avLst/>
          </a:prstGeom>
        </p:spPr>
      </p:pic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7"/>
          <a:srcRect l="-133" r="-133" t="0" b="0"/>
          <a:stretch/>
        </p:blipFill>
        <p:spPr>
          <a:xfrm>
            <a:off x="866851" y="6953098"/>
            <a:ext cx="171907" cy="228600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228954" y="6915607"/>
            <a:ext cx="102303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선택 가이드:</a:t>
            </a:r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모델링 단계에서는 이상치 관리를 위해 </a:t>
            </a:r>
            <a:pPr algn="l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RMSE</a:t>
            </a:r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최소화하되, 비즈니스 보고 시에는 직관적인 </a:t>
            </a:r>
            <a:pPr algn="l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MAPE</a:t>
            </a:r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주로 사용합니다. 하지만 모델 성능이 아무리 좋아도 </a:t>
            </a:r>
            <a:pPr algn="l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해석 가능성(SHAP)</a:t>
            </a:r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없으면 현업 적용이 어렵습니다. </a:t>
            </a:r>
            <a:endParaRPr lang="en-US" sz="120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8"/>
          <a:srcRect l="0" r="0" t="-180" b="-180"/>
          <a:stretch/>
        </p:blipFill>
        <p:spPr>
          <a:xfrm>
            <a:off x="981151" y="1914754"/>
            <a:ext cx="190195" cy="152705"/>
          </a:xfrm>
          <a:prstGeom prst="rect">
            <a:avLst/>
          </a:prstGeom>
        </p:spPr>
      </p:pic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9"/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82305" y="-1904695"/>
            <a:ext cx="4762195" cy="4762195"/>
          </a:xfrm>
          <a:prstGeom prst="ellipse">
            <a:avLst/>
          </a:prstGeom>
          <a:solidFill>
            <a:srgbClr val="3B82F6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476402" y="4476902"/>
            <a:ext cx="2857500" cy="2857500"/>
          </a:xfrm>
          <a:prstGeom prst="ellipse">
            <a:avLst/>
          </a:prstGeom>
          <a:solidFill>
            <a:srgbClr val="1E3A8A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381305"/>
            <a:ext cx="11239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spc="-63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TimeSeriesSplit: 시간 순서 유지</a:t>
            </a:r>
            <a:endParaRPr lang="en-US" sz="31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미래의 정보가 과거 예측에 사용되는 '데이터 누수(Leakage)'를 방지하는 교차 검증 기법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71500" y="1628546"/>
            <a:ext cx="5429707" cy="1104595"/>
          </a:xfrm>
          <a:prstGeom prst="roundRect">
            <a:avLst>
              <a:gd name="adj" fmla="val 17127"/>
            </a:avLst>
          </a:prstGeom>
          <a:solidFill>
            <a:srgbClr val="FEF2F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1754" y="1828800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FEE2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75995" y="1933956"/>
            <a:ext cx="171907" cy="171907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295705" y="1828800"/>
            <a:ext cx="462046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일반 K-Fold 교차 검증 (Bad)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295705" y="2133295"/>
            <a:ext cx="458205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데이터를 무작위로 섞으면 </a:t>
            </a:r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2017년 데이터로 2015년을 예측</a:t>
            </a:r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하는 상황이 발생합니다. 이는 현실에서 불가능하며 모델 성능을 과대평가하게 만듭니다.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191402" y="1628546"/>
            <a:ext cx="5429707" cy="1104595"/>
          </a:xfrm>
          <a:prstGeom prst="roundRect">
            <a:avLst>
              <a:gd name="adj" fmla="val 17127"/>
            </a:avLst>
          </a:prstGeom>
          <a:solidFill>
            <a:srgbClr val="F0FDF4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391656" y="1828800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DCFC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495898" y="1933956"/>
            <a:ext cx="171907" cy="171907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6915607" y="1828800"/>
            <a:ext cx="462046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시계열 교차 검증 (Good)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6915607" y="2133295"/>
            <a:ext cx="458205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항상 </a:t>
            </a:r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과거 데이터로 학습(Train)하고 미래 데이터로 검증(Test)</a:t>
            </a:r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합니다. 실제 운영 환경과 동일한 제약 조건을 시뮬레이션합니다.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571500" y="3019349"/>
            <a:ext cx="11048695" cy="3685946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20" name="Text 16"/>
          <p:cNvSpPr txBox="1"/>
          <p:nvPr/>
        </p:nvSpPr>
        <p:spPr>
          <a:xfrm>
            <a:off x="961949" y="3314700"/>
            <a:ext cx="32196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Expanding Window Cross-Validation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7699248" y="3372307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7890358" y="3329330"/>
            <a:ext cx="140634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Training Set (과거)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9256471" y="3372307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9446666" y="3329330"/>
            <a:ext cx="10771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Test Set (미래)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10540289" y="3372307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10730484" y="3329330"/>
            <a:ext cx="5815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Unused</a:t>
            </a:r>
            <a:endParaRPr lang="en-US" sz="1000" dirty="0"/>
          </a:p>
        </p:txBody>
      </p:sp>
      <p:sp>
        <p:nvSpPr>
          <p:cNvPr id="27" name="Text 23"/>
          <p:cNvSpPr txBox="1"/>
          <p:nvPr/>
        </p:nvSpPr>
        <p:spPr>
          <a:xfrm>
            <a:off x="961949" y="3847795"/>
            <a:ext cx="8385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Fold 1</a:t>
            </a:r>
            <a:endParaRPr lang="en-US" sz="1000" dirty="0"/>
          </a:p>
        </p:txBody>
      </p:sp>
      <p:sp>
        <p:nvSpPr>
          <p:cNvPr id="28" name="Text 24"/>
          <p:cNvSpPr txBox="1"/>
          <p:nvPr/>
        </p:nvSpPr>
        <p:spPr>
          <a:xfrm>
            <a:off x="961949" y="4419295"/>
            <a:ext cx="8385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Fold 2</a:t>
            </a:r>
            <a:endParaRPr lang="en-US" sz="1000" dirty="0"/>
          </a:p>
        </p:txBody>
      </p:sp>
      <p:sp>
        <p:nvSpPr>
          <p:cNvPr id="29" name="Text 25"/>
          <p:cNvSpPr txBox="1"/>
          <p:nvPr/>
        </p:nvSpPr>
        <p:spPr>
          <a:xfrm>
            <a:off x="961949" y="4990795"/>
            <a:ext cx="8385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Fold 3</a:t>
            </a:r>
            <a:endParaRPr lang="en-US" sz="1000" dirty="0"/>
          </a:p>
        </p:txBody>
      </p:sp>
      <p:sp>
        <p:nvSpPr>
          <p:cNvPr id="30" name="Text 26"/>
          <p:cNvSpPr txBox="1"/>
          <p:nvPr/>
        </p:nvSpPr>
        <p:spPr>
          <a:xfrm>
            <a:off x="961949" y="5562295"/>
            <a:ext cx="8385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Fold 4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961949" y="6115507"/>
            <a:ext cx="10267798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1686154" y="6219749"/>
            <a:ext cx="19815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2013</a:t>
            </a:r>
            <a:endParaRPr lang="en-US" sz="900" dirty="0"/>
          </a:p>
        </p:txBody>
      </p:sp>
      <p:sp>
        <p:nvSpPr>
          <p:cNvPr id="33" name="Text 29"/>
          <p:cNvSpPr txBox="1"/>
          <p:nvPr/>
        </p:nvSpPr>
        <p:spPr>
          <a:xfrm>
            <a:off x="3587191" y="6219749"/>
            <a:ext cx="19815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2014</a:t>
            </a:r>
            <a:endParaRPr lang="en-US" sz="900" dirty="0"/>
          </a:p>
        </p:txBody>
      </p:sp>
      <p:sp>
        <p:nvSpPr>
          <p:cNvPr id="34" name="Text 30"/>
          <p:cNvSpPr txBox="1"/>
          <p:nvPr/>
        </p:nvSpPr>
        <p:spPr>
          <a:xfrm>
            <a:off x="5488229" y="6219749"/>
            <a:ext cx="19815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2015</a:t>
            </a:r>
            <a:endParaRPr lang="en-US" sz="900" dirty="0"/>
          </a:p>
        </p:txBody>
      </p:sp>
      <p:sp>
        <p:nvSpPr>
          <p:cNvPr id="35" name="Text 31"/>
          <p:cNvSpPr txBox="1"/>
          <p:nvPr/>
        </p:nvSpPr>
        <p:spPr>
          <a:xfrm>
            <a:off x="7389266" y="6219749"/>
            <a:ext cx="19815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2016</a:t>
            </a:r>
            <a:endParaRPr lang="en-US" sz="900" dirty="0"/>
          </a:p>
        </p:txBody>
      </p:sp>
      <p:sp>
        <p:nvSpPr>
          <p:cNvPr id="36" name="Text 32"/>
          <p:cNvSpPr txBox="1"/>
          <p:nvPr/>
        </p:nvSpPr>
        <p:spPr>
          <a:xfrm>
            <a:off x="9290304" y="6219749"/>
            <a:ext cx="19815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2017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1723644" y="3733495"/>
            <a:ext cx="1876349" cy="428854"/>
          </a:xfrm>
          <a:prstGeom prst="roundRect">
            <a:avLst>
              <a:gd name="adj" fmla="val 37906"/>
            </a:avLst>
          </a:prstGeom>
          <a:solidFill>
            <a:srgbClr val="3B82F6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1686154" y="3733495"/>
            <a:ext cx="1952244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</a:t>
            </a:r>
            <a:endParaRPr lang="en-US" sz="900" dirty="0"/>
          </a:p>
        </p:txBody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4"/>
          <a:srcRect l="-122" r="-122" t="0" b="0"/>
          <a:stretch/>
        </p:blipFill>
        <p:spPr>
          <a:xfrm>
            <a:off x="3632911" y="3733495"/>
            <a:ext cx="1876349" cy="428854"/>
          </a:xfrm>
          <a:prstGeom prst="rect">
            <a:avLst/>
          </a:prstGeom>
        </p:spPr>
      </p:pic>
      <p:sp>
        <p:nvSpPr>
          <p:cNvPr id="40" name="Text 35"/>
          <p:cNvSpPr txBox="1"/>
          <p:nvPr/>
        </p:nvSpPr>
        <p:spPr>
          <a:xfrm>
            <a:off x="3595421" y="3733495"/>
            <a:ext cx="1952244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Test</a:t>
            </a:r>
            <a:endParaRPr lang="en-US" sz="900" dirty="0"/>
          </a:p>
        </p:txBody>
      </p:sp>
      <p:sp>
        <p:nvSpPr>
          <p:cNvPr id="41" name="Shape 36"/>
          <p:cNvSpPr/>
          <p:nvPr/>
        </p:nvSpPr>
        <p:spPr>
          <a:xfrm>
            <a:off x="5542178" y="3733495"/>
            <a:ext cx="1876349" cy="428854"/>
          </a:xfrm>
          <a:prstGeom prst="roundRect">
            <a:avLst>
              <a:gd name="adj" fmla="val 37906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7450531" y="3733495"/>
            <a:ext cx="1876349" cy="428854"/>
          </a:xfrm>
          <a:prstGeom prst="roundRect">
            <a:avLst>
              <a:gd name="adj" fmla="val 37906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9359798" y="3733495"/>
            <a:ext cx="1876349" cy="428854"/>
          </a:xfrm>
          <a:prstGeom prst="roundRect">
            <a:avLst>
              <a:gd name="adj" fmla="val 37906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1723644" y="4304995"/>
            <a:ext cx="1876349" cy="428854"/>
          </a:xfrm>
          <a:prstGeom prst="roundRect">
            <a:avLst>
              <a:gd name="adj" fmla="val 37906"/>
            </a:avLst>
          </a:prstGeom>
          <a:solidFill>
            <a:srgbClr val="3B82F6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40"/>
          <p:cNvSpPr txBox="1"/>
          <p:nvPr/>
        </p:nvSpPr>
        <p:spPr>
          <a:xfrm>
            <a:off x="1686154" y="4304995"/>
            <a:ext cx="1952244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</a:t>
            </a:r>
            <a:endParaRPr lang="en-US" sz="900" dirty="0"/>
          </a:p>
        </p:txBody>
      </p:sp>
      <p:sp>
        <p:nvSpPr>
          <p:cNvPr id="46" name="Shape 41"/>
          <p:cNvSpPr/>
          <p:nvPr/>
        </p:nvSpPr>
        <p:spPr>
          <a:xfrm>
            <a:off x="3632911" y="4304995"/>
            <a:ext cx="1876349" cy="428854"/>
          </a:xfrm>
          <a:prstGeom prst="roundRect">
            <a:avLst>
              <a:gd name="adj" fmla="val 37906"/>
            </a:avLst>
          </a:prstGeom>
          <a:solidFill>
            <a:srgbClr val="3B82F6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Text 42"/>
          <p:cNvSpPr txBox="1"/>
          <p:nvPr/>
        </p:nvSpPr>
        <p:spPr>
          <a:xfrm>
            <a:off x="3595421" y="4304995"/>
            <a:ext cx="1952244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</a:t>
            </a:r>
            <a:endParaRPr lang="en-US" sz="900" dirty="0"/>
          </a:p>
        </p:txBody>
      </p:sp>
      <p:pic>
        <p:nvPicPr>
          <p:cNvPr id="48" name="Image 3" descr="preencoded.png">    </p:cNvPr>
          <p:cNvPicPr>
            <a:picLocks noChangeAspect="1"/>
          </p:cNvPicPr>
          <p:nvPr/>
        </p:nvPicPr>
        <p:blipFill>
          <a:blip r:embed="rId4"/>
          <a:srcRect l="-122" r="-122" t="0" b="0"/>
          <a:stretch/>
        </p:blipFill>
        <p:spPr>
          <a:xfrm>
            <a:off x="5542178" y="4304995"/>
            <a:ext cx="1876349" cy="428854"/>
          </a:xfrm>
          <a:prstGeom prst="rect">
            <a:avLst/>
          </a:prstGeom>
        </p:spPr>
      </p:pic>
      <p:sp>
        <p:nvSpPr>
          <p:cNvPr id="49" name="Text 43"/>
          <p:cNvSpPr txBox="1"/>
          <p:nvPr/>
        </p:nvSpPr>
        <p:spPr>
          <a:xfrm>
            <a:off x="5504688" y="4304995"/>
            <a:ext cx="1952244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Test</a:t>
            </a:r>
            <a:endParaRPr lang="en-US" sz="900" dirty="0"/>
          </a:p>
        </p:txBody>
      </p:sp>
      <p:sp>
        <p:nvSpPr>
          <p:cNvPr id="50" name="Shape 44"/>
          <p:cNvSpPr/>
          <p:nvPr/>
        </p:nvSpPr>
        <p:spPr>
          <a:xfrm>
            <a:off x="7450531" y="4304995"/>
            <a:ext cx="1876349" cy="428854"/>
          </a:xfrm>
          <a:prstGeom prst="roundRect">
            <a:avLst>
              <a:gd name="adj" fmla="val 37906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5"/>
          <p:cNvSpPr/>
          <p:nvPr/>
        </p:nvSpPr>
        <p:spPr>
          <a:xfrm>
            <a:off x="9359798" y="4304995"/>
            <a:ext cx="1876349" cy="428854"/>
          </a:xfrm>
          <a:prstGeom prst="roundRect">
            <a:avLst>
              <a:gd name="adj" fmla="val 37906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46"/>
          <p:cNvSpPr/>
          <p:nvPr/>
        </p:nvSpPr>
        <p:spPr>
          <a:xfrm>
            <a:off x="1723644" y="4876495"/>
            <a:ext cx="1876349" cy="428854"/>
          </a:xfrm>
          <a:prstGeom prst="roundRect">
            <a:avLst>
              <a:gd name="adj" fmla="val 37906"/>
            </a:avLst>
          </a:prstGeom>
          <a:solidFill>
            <a:srgbClr val="3B82F6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Text 47"/>
          <p:cNvSpPr txBox="1"/>
          <p:nvPr/>
        </p:nvSpPr>
        <p:spPr>
          <a:xfrm>
            <a:off x="1686154" y="4876495"/>
            <a:ext cx="1952244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</a:t>
            </a:r>
            <a:endParaRPr lang="en-US" sz="900" dirty="0"/>
          </a:p>
        </p:txBody>
      </p:sp>
      <p:sp>
        <p:nvSpPr>
          <p:cNvPr id="54" name="Shape 48"/>
          <p:cNvSpPr/>
          <p:nvPr/>
        </p:nvSpPr>
        <p:spPr>
          <a:xfrm>
            <a:off x="3632911" y="4876495"/>
            <a:ext cx="1876349" cy="428854"/>
          </a:xfrm>
          <a:prstGeom prst="roundRect">
            <a:avLst>
              <a:gd name="adj" fmla="val 37906"/>
            </a:avLst>
          </a:prstGeom>
          <a:solidFill>
            <a:srgbClr val="3B82F6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Text 49"/>
          <p:cNvSpPr txBox="1"/>
          <p:nvPr/>
        </p:nvSpPr>
        <p:spPr>
          <a:xfrm>
            <a:off x="3595421" y="4876495"/>
            <a:ext cx="1952244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</a:t>
            </a:r>
            <a:endParaRPr lang="en-US" sz="900" dirty="0"/>
          </a:p>
        </p:txBody>
      </p:sp>
      <p:sp>
        <p:nvSpPr>
          <p:cNvPr id="56" name="Shape 50"/>
          <p:cNvSpPr/>
          <p:nvPr/>
        </p:nvSpPr>
        <p:spPr>
          <a:xfrm>
            <a:off x="5542178" y="4876495"/>
            <a:ext cx="1876349" cy="428854"/>
          </a:xfrm>
          <a:prstGeom prst="roundRect">
            <a:avLst>
              <a:gd name="adj" fmla="val 37906"/>
            </a:avLst>
          </a:prstGeom>
          <a:solidFill>
            <a:srgbClr val="3B82F6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Text 51"/>
          <p:cNvSpPr txBox="1"/>
          <p:nvPr/>
        </p:nvSpPr>
        <p:spPr>
          <a:xfrm>
            <a:off x="5504688" y="4876495"/>
            <a:ext cx="1952244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</a:t>
            </a:r>
            <a:endParaRPr lang="en-US" sz="900" dirty="0"/>
          </a:p>
        </p:txBody>
      </p:sp>
      <p:pic>
        <p:nvPicPr>
          <p:cNvPr id="58" name="Image 4" descr="preencoded.png">    </p:cNvPr>
          <p:cNvPicPr>
            <a:picLocks noChangeAspect="1"/>
          </p:cNvPicPr>
          <p:nvPr/>
        </p:nvPicPr>
        <p:blipFill>
          <a:blip r:embed="rId4"/>
          <a:srcRect l="-122" r="-122" t="0" b="0"/>
          <a:stretch/>
        </p:blipFill>
        <p:spPr>
          <a:xfrm>
            <a:off x="7450531" y="4876495"/>
            <a:ext cx="1876349" cy="428854"/>
          </a:xfrm>
          <a:prstGeom prst="rect">
            <a:avLst/>
          </a:prstGeom>
        </p:spPr>
      </p:pic>
      <p:sp>
        <p:nvSpPr>
          <p:cNvPr id="59" name="Text 52"/>
          <p:cNvSpPr txBox="1"/>
          <p:nvPr/>
        </p:nvSpPr>
        <p:spPr>
          <a:xfrm>
            <a:off x="7413041" y="4876495"/>
            <a:ext cx="1952244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Test</a:t>
            </a:r>
            <a:endParaRPr lang="en-US" sz="900" dirty="0"/>
          </a:p>
        </p:txBody>
      </p:sp>
      <p:sp>
        <p:nvSpPr>
          <p:cNvPr id="60" name="Shape 53"/>
          <p:cNvSpPr/>
          <p:nvPr/>
        </p:nvSpPr>
        <p:spPr>
          <a:xfrm>
            <a:off x="9359798" y="4876495"/>
            <a:ext cx="1876349" cy="428854"/>
          </a:xfrm>
          <a:prstGeom prst="roundRect">
            <a:avLst>
              <a:gd name="adj" fmla="val 37906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54"/>
          <p:cNvSpPr/>
          <p:nvPr/>
        </p:nvSpPr>
        <p:spPr>
          <a:xfrm>
            <a:off x="1723644" y="5447995"/>
            <a:ext cx="1876349" cy="428854"/>
          </a:xfrm>
          <a:prstGeom prst="roundRect">
            <a:avLst>
              <a:gd name="adj" fmla="val 37906"/>
            </a:avLst>
          </a:prstGeom>
          <a:solidFill>
            <a:srgbClr val="3B82F6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Text 55"/>
          <p:cNvSpPr txBox="1"/>
          <p:nvPr/>
        </p:nvSpPr>
        <p:spPr>
          <a:xfrm>
            <a:off x="1686154" y="5447995"/>
            <a:ext cx="1952244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</a:t>
            </a:r>
            <a:endParaRPr lang="en-US" sz="900" dirty="0"/>
          </a:p>
        </p:txBody>
      </p:sp>
      <p:sp>
        <p:nvSpPr>
          <p:cNvPr id="63" name="Shape 56"/>
          <p:cNvSpPr/>
          <p:nvPr/>
        </p:nvSpPr>
        <p:spPr>
          <a:xfrm>
            <a:off x="3632911" y="5447995"/>
            <a:ext cx="1876349" cy="428854"/>
          </a:xfrm>
          <a:prstGeom prst="roundRect">
            <a:avLst>
              <a:gd name="adj" fmla="val 37906"/>
            </a:avLst>
          </a:prstGeom>
          <a:solidFill>
            <a:srgbClr val="3B82F6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Text 57"/>
          <p:cNvSpPr txBox="1"/>
          <p:nvPr/>
        </p:nvSpPr>
        <p:spPr>
          <a:xfrm>
            <a:off x="3595421" y="5447995"/>
            <a:ext cx="1952244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</a:t>
            </a:r>
            <a:endParaRPr lang="en-US" sz="900" dirty="0"/>
          </a:p>
        </p:txBody>
      </p:sp>
      <p:sp>
        <p:nvSpPr>
          <p:cNvPr id="65" name="Shape 58"/>
          <p:cNvSpPr/>
          <p:nvPr/>
        </p:nvSpPr>
        <p:spPr>
          <a:xfrm>
            <a:off x="5542178" y="5447995"/>
            <a:ext cx="1876349" cy="428854"/>
          </a:xfrm>
          <a:prstGeom prst="roundRect">
            <a:avLst>
              <a:gd name="adj" fmla="val 37906"/>
            </a:avLst>
          </a:prstGeom>
          <a:solidFill>
            <a:srgbClr val="3B82F6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Text 59"/>
          <p:cNvSpPr txBox="1"/>
          <p:nvPr/>
        </p:nvSpPr>
        <p:spPr>
          <a:xfrm>
            <a:off x="5504688" y="5447995"/>
            <a:ext cx="1952244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</a:t>
            </a:r>
            <a:endParaRPr lang="en-US" sz="900" dirty="0"/>
          </a:p>
        </p:txBody>
      </p:sp>
      <p:sp>
        <p:nvSpPr>
          <p:cNvPr id="67" name="Shape 60"/>
          <p:cNvSpPr/>
          <p:nvPr/>
        </p:nvSpPr>
        <p:spPr>
          <a:xfrm>
            <a:off x="7450531" y="5447995"/>
            <a:ext cx="1876349" cy="428854"/>
          </a:xfrm>
          <a:prstGeom prst="roundRect">
            <a:avLst>
              <a:gd name="adj" fmla="val 37906"/>
            </a:avLst>
          </a:prstGeom>
          <a:solidFill>
            <a:srgbClr val="3B82F6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Text 61"/>
          <p:cNvSpPr txBox="1"/>
          <p:nvPr/>
        </p:nvSpPr>
        <p:spPr>
          <a:xfrm>
            <a:off x="7413041" y="5447995"/>
            <a:ext cx="1952244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</a:t>
            </a:r>
            <a:endParaRPr lang="en-US" sz="900" dirty="0"/>
          </a:p>
        </p:txBody>
      </p:sp>
      <p:pic>
        <p:nvPicPr>
          <p:cNvPr id="69" name="Image 5" descr="preencoded.png">    </p:cNvPr>
          <p:cNvPicPr>
            <a:picLocks noChangeAspect="1"/>
          </p:cNvPicPr>
          <p:nvPr/>
        </p:nvPicPr>
        <p:blipFill>
          <a:blip r:embed="rId4"/>
          <a:srcRect l="-122" r="-122" t="0" b="0"/>
          <a:stretch/>
        </p:blipFill>
        <p:spPr>
          <a:xfrm>
            <a:off x="9359798" y="5447995"/>
            <a:ext cx="1876349" cy="428854"/>
          </a:xfrm>
          <a:prstGeom prst="rect">
            <a:avLst/>
          </a:prstGeom>
        </p:spPr>
      </p:pic>
      <p:sp>
        <p:nvSpPr>
          <p:cNvPr id="70" name="Text 62"/>
          <p:cNvSpPr txBox="1"/>
          <p:nvPr/>
        </p:nvSpPr>
        <p:spPr>
          <a:xfrm>
            <a:off x="9322308" y="5447995"/>
            <a:ext cx="1952244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Test</a:t>
            </a:r>
            <a:endParaRPr lang="en-US" sz="900" dirty="0"/>
          </a:p>
        </p:txBody>
      </p:sp>
      <p:pic>
        <p:nvPicPr>
          <p:cNvPr id="71" name="Image 6" descr="preencoded.png">    </p:cNvPr>
          <p:cNvPicPr>
            <a:picLocks noChangeAspect="1"/>
          </p:cNvPicPr>
          <p:nvPr/>
        </p:nvPicPr>
        <p:blipFill>
          <a:blip r:embed="rId5"/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>
            <a:alphaModFix amt="5000"/>
          </a:blip>
          <a:srcRect l="0" r="0" t="0" b="0"/>
          <a:stretch/>
        </p:blipFill>
        <p:spPr>
          <a:xfrm>
            <a:off x="9905695" y="381305"/>
            <a:ext cx="1904695" cy="190469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33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71500" y="381305"/>
            <a:ext cx="11239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spc="-63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Optuna 작동 원리</a:t>
            </a:r>
            <a:endParaRPr lang="en-US" sz="3100" dirty="0"/>
          </a:p>
        </p:txBody>
      </p:sp>
      <p:sp>
        <p:nvSpPr>
          <p:cNvPr id="7" name="Text 4"/>
          <p:cNvSpPr txBox="1"/>
          <p:nvPr/>
        </p:nvSpPr>
        <p:spPr>
          <a:xfrm>
            <a:off x="571500" y="1057046"/>
            <a:ext cx="111639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베이지안 최적화(Bayesian Optimization) 기반 자동 튜닝 프레임워크</a:t>
            </a:r>
            <a:endParaRPr lang="en-US" sz="15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rcRect l="-1923" r="-1923" t="0" b="0"/>
          <a:stretch/>
        </p:blipFill>
        <p:spPr>
          <a:xfrm>
            <a:off x="3124505" y="3957523"/>
            <a:ext cx="123444" cy="190195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-1923" r="-1923" t="0" b="0"/>
          <a:stretch/>
        </p:blipFill>
        <p:spPr>
          <a:xfrm>
            <a:off x="6034126" y="3957523"/>
            <a:ext cx="123444" cy="190195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3"/>
          <a:srcRect l="-1923" r="-1923" t="0" b="0"/>
          <a:stretch/>
        </p:blipFill>
        <p:spPr>
          <a:xfrm>
            <a:off x="8943746" y="3957523"/>
            <a:ext cx="123444" cy="190195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4"/>
          <a:srcRect l="0" r="0" t="-5" b="-5"/>
          <a:stretch/>
        </p:blipFill>
        <p:spPr>
          <a:xfrm>
            <a:off x="571500" y="2344522"/>
            <a:ext cx="2318918" cy="3416198"/>
          </a:xfrm>
          <a:prstGeom prst="rect">
            <a:avLst/>
          </a:prstGeom>
        </p:spPr>
      </p:pic>
      <p:sp>
        <p:nvSpPr>
          <p:cNvPr id="12" name="Shape 5"/>
          <p:cNvSpPr/>
          <p:nvPr/>
        </p:nvSpPr>
        <p:spPr>
          <a:xfrm>
            <a:off x="771754" y="3116275"/>
            <a:ext cx="1923898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13" name="Shape 6"/>
          <p:cNvSpPr/>
          <p:nvPr/>
        </p:nvSpPr>
        <p:spPr>
          <a:xfrm>
            <a:off x="771754" y="2636215"/>
            <a:ext cx="304495" cy="304495"/>
          </a:xfrm>
          <a:prstGeom prst="ellipse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7"/>
          <p:cNvSpPr/>
          <p:nvPr/>
        </p:nvSpPr>
        <p:spPr>
          <a:xfrm>
            <a:off x="733349" y="2636215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8"/>
          <p:cNvSpPr txBox="1"/>
          <p:nvPr/>
        </p:nvSpPr>
        <p:spPr>
          <a:xfrm>
            <a:off x="1171346" y="2583180"/>
            <a:ext cx="152613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랜덤 탐색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(Random Search)</a:t>
            </a:r>
            <a:endParaRPr lang="en-US" sz="1300" dirty="0"/>
          </a:p>
        </p:txBody>
      </p:sp>
      <p:sp>
        <p:nvSpPr>
          <p:cNvPr id="16" name="Shape 9"/>
          <p:cNvSpPr/>
          <p:nvPr/>
        </p:nvSpPr>
        <p:spPr>
          <a:xfrm>
            <a:off x="771754" y="3279953"/>
            <a:ext cx="1923898" cy="457200"/>
          </a:xfrm>
          <a:prstGeom prst="roundRect">
            <a:avLst>
              <a:gd name="adj" fmla="val 66667"/>
            </a:avLst>
          </a:prstGeom>
          <a:solidFill>
            <a:srgbClr val="F8FAFC"/>
          </a:solidFill>
          <a:ln/>
        </p:spPr>
      </p:sp>
      <p:sp>
        <p:nvSpPr>
          <p:cNvPr id="17" name="Shape 10"/>
          <p:cNvSpPr/>
          <p:nvPr/>
        </p:nvSpPr>
        <p:spPr>
          <a:xfrm>
            <a:off x="771754" y="3279953"/>
            <a:ext cx="38405" cy="457200"/>
          </a:xfrm>
          <a:prstGeom prst="roundRect">
            <a:avLst>
              <a:gd name="adj" fmla="val 793647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8" name="Text 11"/>
          <p:cNvSpPr txBox="1"/>
          <p:nvPr/>
        </p:nvSpPr>
        <p:spPr>
          <a:xfrm>
            <a:off x="923544" y="3415284"/>
            <a:ext cx="1714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"초기 데이터 수집 단계"</a:t>
            </a:r>
            <a:endParaRPr lang="en-US" sz="1000" dirty="0"/>
          </a:p>
        </p:txBody>
      </p:sp>
      <p:sp>
        <p:nvSpPr>
          <p:cNvPr id="19" name="Text 12"/>
          <p:cNvSpPr txBox="1"/>
          <p:nvPr/>
        </p:nvSpPr>
        <p:spPr>
          <a:xfrm>
            <a:off x="771754" y="3889858"/>
            <a:ext cx="20784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작동 방식</a:t>
            </a:r>
            <a:endParaRPr lang="en-US" sz="900" dirty="0"/>
          </a:p>
        </p:txBody>
      </p:sp>
      <p:sp>
        <p:nvSpPr>
          <p:cNvPr id="20" name="Text 13"/>
          <p:cNvSpPr txBox="1"/>
          <p:nvPr/>
        </p:nvSpPr>
        <p:spPr>
          <a:xfrm>
            <a:off x="771754" y="4151376"/>
            <a:ext cx="20007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몇 가지 파라미터 조합을 무작위로 선택하여 시도</a:t>
            </a:r>
            <a:endParaRPr lang="en-US" sz="1000" dirty="0"/>
          </a:p>
        </p:txBody>
      </p:sp>
      <p:sp>
        <p:nvSpPr>
          <p:cNvPr id="21" name="Text 14"/>
          <p:cNvSpPr txBox="1"/>
          <p:nvPr/>
        </p:nvSpPr>
        <p:spPr>
          <a:xfrm>
            <a:off x="771754" y="4608576"/>
            <a:ext cx="20007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초기 탐색 공간의 전반적인 분포 파악</a:t>
            </a:r>
            <a:endParaRPr lang="en-US" sz="1000" dirty="0"/>
          </a:p>
        </p:txBody>
      </p:sp>
      <p:sp>
        <p:nvSpPr>
          <p:cNvPr id="22" name="Text 15"/>
          <p:cNvSpPr txBox="1"/>
          <p:nvPr/>
        </p:nvSpPr>
        <p:spPr>
          <a:xfrm>
            <a:off x="771754" y="5065776"/>
            <a:ext cx="2013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Grid Search보다 효율적 시작</a:t>
            </a:r>
            <a:endParaRPr lang="en-US" sz="10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4"/>
          <a:srcRect l="0" r="0" t="-5" b="-5"/>
          <a:stretch/>
        </p:blipFill>
        <p:spPr>
          <a:xfrm>
            <a:off x="3481121" y="2344522"/>
            <a:ext cx="2318918" cy="3416198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3681374" y="3116275"/>
            <a:ext cx="1923898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25" name="Shape 17"/>
          <p:cNvSpPr/>
          <p:nvPr/>
        </p:nvSpPr>
        <p:spPr>
          <a:xfrm>
            <a:off x="3681374" y="2636215"/>
            <a:ext cx="304495" cy="304495"/>
          </a:xfrm>
          <a:prstGeom prst="ellipse">
            <a:avLst/>
          </a:prstGeom>
          <a:solidFill>
            <a:srgbClr val="ECF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18"/>
          <p:cNvSpPr/>
          <p:nvPr/>
        </p:nvSpPr>
        <p:spPr>
          <a:xfrm>
            <a:off x="3642970" y="2636215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19"/>
          <p:cNvSpPr txBox="1"/>
          <p:nvPr/>
        </p:nvSpPr>
        <p:spPr>
          <a:xfrm>
            <a:off x="4081882" y="2583180"/>
            <a:ext cx="14100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유망 영역 추정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(TPE Algorithm)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3681374" y="3279953"/>
            <a:ext cx="1923898" cy="457200"/>
          </a:xfrm>
          <a:prstGeom prst="roundRect">
            <a:avLst>
              <a:gd name="adj" fmla="val 66667"/>
            </a:avLst>
          </a:prstGeom>
          <a:solidFill>
            <a:srgbClr val="F8FAFC"/>
          </a:solidFill>
          <a:ln/>
        </p:spPr>
      </p:sp>
      <p:sp>
        <p:nvSpPr>
          <p:cNvPr id="29" name="Shape 21"/>
          <p:cNvSpPr/>
          <p:nvPr/>
        </p:nvSpPr>
        <p:spPr>
          <a:xfrm>
            <a:off x="3681374" y="3279953"/>
            <a:ext cx="38405" cy="457200"/>
          </a:xfrm>
          <a:prstGeom prst="roundRect">
            <a:avLst>
              <a:gd name="adj" fmla="val 793647"/>
            </a:avLst>
          </a:prstGeom>
          <a:solidFill>
            <a:srgbClr val="0891B2"/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30" name="Text 22"/>
          <p:cNvSpPr txBox="1"/>
          <p:nvPr/>
        </p:nvSpPr>
        <p:spPr>
          <a:xfrm>
            <a:off x="3834079" y="3415284"/>
            <a:ext cx="171632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"어디가 성능이 좋을까?"</a:t>
            </a:r>
            <a:endParaRPr lang="en-US" sz="1000" dirty="0"/>
          </a:p>
        </p:txBody>
      </p:sp>
      <p:sp>
        <p:nvSpPr>
          <p:cNvPr id="31" name="Text 23"/>
          <p:cNvSpPr txBox="1"/>
          <p:nvPr/>
        </p:nvSpPr>
        <p:spPr>
          <a:xfrm>
            <a:off x="3681374" y="3889858"/>
            <a:ext cx="20784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작동 방식</a:t>
            </a:r>
            <a:endParaRPr lang="en-US" sz="900" dirty="0"/>
          </a:p>
        </p:txBody>
      </p:sp>
      <p:sp>
        <p:nvSpPr>
          <p:cNvPr id="32" name="Text 24"/>
          <p:cNvSpPr txBox="1"/>
          <p:nvPr/>
        </p:nvSpPr>
        <p:spPr>
          <a:xfrm>
            <a:off x="3681374" y="4151376"/>
            <a:ext cx="20007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과거 시도 결과를 바탕으로 확률 모델 생성</a:t>
            </a:r>
            <a:endParaRPr lang="en-US" sz="1000" dirty="0"/>
          </a:p>
        </p:txBody>
      </p:sp>
      <p:sp>
        <p:nvSpPr>
          <p:cNvPr id="33" name="Text 25"/>
          <p:cNvSpPr txBox="1"/>
          <p:nvPr/>
        </p:nvSpPr>
        <p:spPr>
          <a:xfrm>
            <a:off x="3681374" y="4608576"/>
            <a:ext cx="20007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성능이 좋은 파라미터 영역(Good)과 나쁜 영역(Bad) 구분</a:t>
            </a:r>
            <a:endParaRPr lang="en-US" sz="1000" dirty="0"/>
          </a:p>
        </p:txBody>
      </p:sp>
      <p:sp>
        <p:nvSpPr>
          <p:cNvPr id="34" name="Text 26"/>
          <p:cNvSpPr txBox="1"/>
          <p:nvPr/>
        </p:nvSpPr>
        <p:spPr>
          <a:xfrm>
            <a:off x="3681374" y="5065776"/>
            <a:ext cx="20007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Tree-structured Parzen Estimator</a:t>
            </a:r>
            <a:endParaRPr lang="en-US" sz="1000" dirty="0"/>
          </a:p>
        </p:txBody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4"/>
          <a:srcRect l="0" r="0" t="-5" b="-5"/>
          <a:stretch/>
        </p:blipFill>
        <p:spPr>
          <a:xfrm>
            <a:off x="6391656" y="2344522"/>
            <a:ext cx="2318918" cy="3416198"/>
          </a:xfrm>
          <a:prstGeom prst="rect">
            <a:avLst/>
          </a:prstGeom>
        </p:spPr>
      </p:pic>
      <p:sp>
        <p:nvSpPr>
          <p:cNvPr id="36" name="Shape 27"/>
          <p:cNvSpPr/>
          <p:nvPr/>
        </p:nvSpPr>
        <p:spPr>
          <a:xfrm>
            <a:off x="6590995" y="3116275"/>
            <a:ext cx="1923898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37" name="Shape 28"/>
          <p:cNvSpPr/>
          <p:nvPr/>
        </p:nvSpPr>
        <p:spPr>
          <a:xfrm>
            <a:off x="6590995" y="2636215"/>
            <a:ext cx="304495" cy="304495"/>
          </a:xfrm>
          <a:prstGeom prst="ellipse">
            <a:avLst/>
          </a:prstGeom>
          <a:solidFill>
            <a:srgbClr val="F0F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6553505" y="2636215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200" dirty="0"/>
          </a:p>
        </p:txBody>
      </p:sp>
      <p:sp>
        <p:nvSpPr>
          <p:cNvPr id="39" name="Text 30"/>
          <p:cNvSpPr txBox="1"/>
          <p:nvPr/>
        </p:nvSpPr>
        <p:spPr>
          <a:xfrm>
            <a:off x="6991502" y="2583180"/>
            <a:ext cx="1305763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집중 탐색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(Focus Search)</a:t>
            </a:r>
            <a:endParaRPr lang="en-US" sz="1300" dirty="0"/>
          </a:p>
        </p:txBody>
      </p:sp>
      <p:sp>
        <p:nvSpPr>
          <p:cNvPr id="40" name="Shape 31"/>
          <p:cNvSpPr/>
          <p:nvPr/>
        </p:nvSpPr>
        <p:spPr>
          <a:xfrm>
            <a:off x="6590995" y="3279953"/>
            <a:ext cx="1923898" cy="457200"/>
          </a:xfrm>
          <a:prstGeom prst="roundRect">
            <a:avLst>
              <a:gd name="adj" fmla="val 66667"/>
            </a:avLst>
          </a:prstGeom>
          <a:solidFill>
            <a:srgbClr val="F8FAFC"/>
          </a:solidFill>
          <a:ln/>
        </p:spPr>
      </p:sp>
      <p:sp>
        <p:nvSpPr>
          <p:cNvPr id="41" name="Shape 32"/>
          <p:cNvSpPr/>
          <p:nvPr/>
        </p:nvSpPr>
        <p:spPr>
          <a:xfrm>
            <a:off x="6590995" y="3279953"/>
            <a:ext cx="38405" cy="457200"/>
          </a:xfrm>
          <a:prstGeom prst="roundRect">
            <a:avLst>
              <a:gd name="adj" fmla="val 793647"/>
            </a:avLst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42" name="Text 33"/>
          <p:cNvSpPr txBox="1"/>
          <p:nvPr/>
        </p:nvSpPr>
        <p:spPr>
          <a:xfrm>
            <a:off x="6743700" y="3415284"/>
            <a:ext cx="179862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"좋은 곳을 더 깊게 파자"</a:t>
            </a:r>
            <a:endParaRPr lang="en-US" sz="1000" dirty="0"/>
          </a:p>
        </p:txBody>
      </p:sp>
      <p:sp>
        <p:nvSpPr>
          <p:cNvPr id="43" name="Text 34"/>
          <p:cNvSpPr txBox="1"/>
          <p:nvPr/>
        </p:nvSpPr>
        <p:spPr>
          <a:xfrm>
            <a:off x="6590995" y="3889858"/>
            <a:ext cx="20784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작동 방식</a:t>
            </a:r>
            <a:endParaRPr lang="en-US" sz="900" dirty="0"/>
          </a:p>
        </p:txBody>
      </p:sp>
      <p:sp>
        <p:nvSpPr>
          <p:cNvPr id="44" name="Text 35"/>
          <p:cNvSpPr txBox="1"/>
          <p:nvPr/>
        </p:nvSpPr>
        <p:spPr>
          <a:xfrm>
            <a:off x="6590995" y="4151376"/>
            <a:ext cx="20007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유망하다고 추정된 영역에서 더 많은 조합 시도</a:t>
            </a:r>
            <a:endParaRPr lang="en-US" sz="1000" dirty="0"/>
          </a:p>
        </p:txBody>
      </p:sp>
      <p:sp>
        <p:nvSpPr>
          <p:cNvPr id="45" name="Text 36"/>
          <p:cNvSpPr txBox="1"/>
          <p:nvPr/>
        </p:nvSpPr>
        <p:spPr>
          <a:xfrm>
            <a:off x="6590995" y="4608576"/>
            <a:ext cx="207843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불필요한 영역 탐색 최소화</a:t>
            </a:r>
            <a:endParaRPr lang="en-US" sz="1000" dirty="0"/>
          </a:p>
        </p:txBody>
      </p:sp>
      <p:sp>
        <p:nvSpPr>
          <p:cNvPr id="46" name="Text 37"/>
          <p:cNvSpPr txBox="1"/>
          <p:nvPr/>
        </p:nvSpPr>
        <p:spPr>
          <a:xfrm>
            <a:off x="6590995" y="4865522"/>
            <a:ext cx="207843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효율 극대화</a:t>
            </a:r>
            <a:endParaRPr lang="en-US" sz="1000" dirty="0"/>
          </a:p>
        </p:txBody>
      </p:sp>
      <p:pic>
        <p:nvPicPr>
          <p:cNvPr id="47" name="Image 7" descr="preencoded.png">    </p:cNvPr>
          <p:cNvPicPr>
            <a:picLocks noChangeAspect="1"/>
          </p:cNvPicPr>
          <p:nvPr/>
        </p:nvPicPr>
        <p:blipFill>
          <a:blip r:embed="rId4"/>
          <a:srcRect l="0" r="0" t="-5" b="-5"/>
          <a:stretch/>
        </p:blipFill>
        <p:spPr>
          <a:xfrm>
            <a:off x="9301277" y="2344522"/>
            <a:ext cx="2318918" cy="3416198"/>
          </a:xfrm>
          <a:prstGeom prst="rect">
            <a:avLst/>
          </a:prstGeom>
        </p:spPr>
      </p:pic>
      <p:sp>
        <p:nvSpPr>
          <p:cNvPr id="48" name="Shape 38"/>
          <p:cNvSpPr/>
          <p:nvPr/>
        </p:nvSpPr>
        <p:spPr>
          <a:xfrm>
            <a:off x="9501530" y="3116275"/>
            <a:ext cx="1923898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49" name="Shape 39"/>
          <p:cNvSpPr/>
          <p:nvPr/>
        </p:nvSpPr>
        <p:spPr>
          <a:xfrm>
            <a:off x="9501530" y="2636215"/>
            <a:ext cx="304495" cy="304495"/>
          </a:xfrm>
          <a:prstGeom prst="ellipse">
            <a:avLst/>
          </a:prstGeom>
          <a:solidFill>
            <a:srgbClr val="FFF1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Text 40"/>
          <p:cNvSpPr/>
          <p:nvPr/>
        </p:nvSpPr>
        <p:spPr>
          <a:xfrm>
            <a:off x="9463126" y="2636215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1D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200" dirty="0"/>
          </a:p>
        </p:txBody>
      </p:sp>
      <p:sp>
        <p:nvSpPr>
          <p:cNvPr id="51" name="Text 41"/>
          <p:cNvSpPr txBox="1"/>
          <p:nvPr/>
        </p:nvSpPr>
        <p:spPr>
          <a:xfrm>
            <a:off x="9901123" y="2583180"/>
            <a:ext cx="127650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반복 수렴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(Convergence)</a:t>
            </a:r>
            <a:endParaRPr lang="en-US" sz="1300" dirty="0"/>
          </a:p>
        </p:txBody>
      </p:sp>
      <p:sp>
        <p:nvSpPr>
          <p:cNvPr id="52" name="Shape 42"/>
          <p:cNvSpPr/>
          <p:nvPr/>
        </p:nvSpPr>
        <p:spPr>
          <a:xfrm>
            <a:off x="9501530" y="3279953"/>
            <a:ext cx="1923898" cy="457200"/>
          </a:xfrm>
          <a:prstGeom prst="roundRect">
            <a:avLst>
              <a:gd name="adj" fmla="val 66667"/>
            </a:avLst>
          </a:prstGeom>
          <a:solidFill>
            <a:srgbClr val="F8FAFC"/>
          </a:solidFill>
          <a:ln/>
        </p:spPr>
      </p:sp>
      <p:sp>
        <p:nvSpPr>
          <p:cNvPr id="53" name="Shape 43"/>
          <p:cNvSpPr/>
          <p:nvPr/>
        </p:nvSpPr>
        <p:spPr>
          <a:xfrm>
            <a:off x="9501530" y="3279953"/>
            <a:ext cx="38405" cy="457200"/>
          </a:xfrm>
          <a:prstGeom prst="roundRect">
            <a:avLst>
              <a:gd name="adj" fmla="val 793647"/>
            </a:avLst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54" name="Text 44"/>
          <p:cNvSpPr txBox="1"/>
          <p:nvPr/>
        </p:nvSpPr>
        <p:spPr>
          <a:xfrm>
            <a:off x="9653321" y="3415284"/>
            <a:ext cx="120152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"최적 조합 발견"</a:t>
            </a:r>
            <a:endParaRPr lang="en-US" sz="1000" dirty="0"/>
          </a:p>
        </p:txBody>
      </p:sp>
      <p:sp>
        <p:nvSpPr>
          <p:cNvPr id="55" name="Text 45"/>
          <p:cNvSpPr txBox="1"/>
          <p:nvPr/>
        </p:nvSpPr>
        <p:spPr>
          <a:xfrm>
            <a:off x="9501530" y="3889858"/>
            <a:ext cx="20784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작동 방식</a:t>
            </a:r>
            <a:endParaRPr lang="en-US" sz="900" dirty="0"/>
          </a:p>
        </p:txBody>
      </p:sp>
      <p:sp>
        <p:nvSpPr>
          <p:cNvPr id="56" name="Text 46"/>
          <p:cNvSpPr txBox="1"/>
          <p:nvPr/>
        </p:nvSpPr>
        <p:spPr>
          <a:xfrm>
            <a:off x="9501530" y="4151376"/>
            <a:ext cx="20007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 과정을 반복하며 최적 파라미터 조합 도출</a:t>
            </a:r>
            <a:endParaRPr lang="en-US" sz="1000" dirty="0"/>
          </a:p>
        </p:txBody>
      </p:sp>
      <p:sp>
        <p:nvSpPr>
          <p:cNvPr id="57" name="Text 47"/>
          <p:cNvSpPr txBox="1"/>
          <p:nvPr/>
        </p:nvSpPr>
        <p:spPr>
          <a:xfrm>
            <a:off x="9501530" y="4608576"/>
            <a:ext cx="20007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설정된 시도 횟수(n_trials) 도달 시 종료</a:t>
            </a:r>
            <a:endParaRPr lang="en-US" sz="1000" dirty="0"/>
          </a:p>
        </p:txBody>
      </p:sp>
      <p:sp>
        <p:nvSpPr>
          <p:cNvPr id="58" name="Text 48"/>
          <p:cNvSpPr txBox="1"/>
          <p:nvPr/>
        </p:nvSpPr>
        <p:spPr>
          <a:xfrm>
            <a:off x="9501530" y="5065776"/>
            <a:ext cx="20016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Best Params 반환</a:t>
            </a:r>
            <a:endParaRPr lang="en-US" sz="1000" dirty="0"/>
          </a:p>
        </p:txBody>
      </p:sp>
      <p:pic>
        <p:nvPicPr>
          <p:cNvPr id="59" name="Image 8" descr="preencoded.png">    </p:cNvPr>
          <p:cNvPicPr>
            <a:picLocks noChangeAspect="1"/>
          </p:cNvPicPr>
          <p:nvPr/>
        </p:nvPicPr>
        <p:blipFill>
          <a:blip r:embed="rId5"/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10598" y="-476402"/>
            <a:ext cx="2857500" cy="2857500"/>
          </a:xfrm>
          <a:prstGeom prst="ellipse">
            <a:avLst/>
          </a:prstGeom>
          <a:solidFill>
            <a:srgbClr val="E0F2FE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476402" y="4476902"/>
            <a:ext cx="1904695" cy="1904695"/>
          </a:xfrm>
          <a:prstGeom prst="ellipse">
            <a:avLst/>
          </a:prstGeom>
          <a:solidFill>
            <a:srgbClr val="F0FDF4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34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381305"/>
            <a:ext cx="11239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spc="-63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SHAP: 예측의 ‘왜’를 설명</a:t>
            </a:r>
            <a:endParaRPr lang="en-US" sz="31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게임 이론의 Shapley Value를 머신러닝 해석에 적용하여 기여도를 계산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71500" y="3221431"/>
            <a:ext cx="11048695" cy="2486254"/>
          </a:xfrm>
          <a:prstGeom prst="roundRect">
            <a:avLst>
              <a:gd name="adj" fmla="val 45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476902" y="4935931"/>
            <a:ext cx="2103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223406" y="4935931"/>
            <a:ext cx="2103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588606" y="4935931"/>
            <a:ext cx="2103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=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71500" y="5992978"/>
            <a:ext cx="3524098" cy="1304849"/>
          </a:xfrm>
          <a:prstGeom prst="roundRect">
            <a:avLst>
              <a:gd name="adj" fmla="val 122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1754" y="6193231"/>
            <a:ext cx="457200" cy="457200"/>
          </a:xfrm>
          <a:prstGeom prst="ellipse">
            <a:avLst/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05256" y="6326734"/>
            <a:ext cx="190195" cy="190195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371600" y="6193231"/>
            <a:ext cx="271485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신뢰성 확보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371600" y="6493154"/>
            <a:ext cx="2600554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모델이 왜 그런 예측을 했는지 설명함으로써 블랙박스 모델에 대한 의사결정자의 신뢰를 얻을 수 있습니다.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334256" y="5992978"/>
            <a:ext cx="3524098" cy="1304849"/>
          </a:xfrm>
          <a:prstGeom prst="roundRect">
            <a:avLst>
              <a:gd name="adj" fmla="val 122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533595" y="6193231"/>
            <a:ext cx="457200" cy="457200"/>
          </a:xfrm>
          <a:prstGeom prst="ellipse">
            <a:avLst/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667098" y="6326734"/>
            <a:ext cx="190195" cy="190195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5134356" y="6193231"/>
            <a:ext cx="271485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원인 규명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5134356" y="6493154"/>
            <a:ext cx="2600554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특정 날짜의 매출이 급감했을 때, 그것이 트렌드 때문인지 휴일 효과 때문인지 정확히 분해해 냅니다.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8096098" y="5992978"/>
            <a:ext cx="3524098" cy="1304849"/>
          </a:xfrm>
          <a:prstGeom prst="roundRect">
            <a:avLst>
              <a:gd name="adj" fmla="val 122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8296351" y="6193231"/>
            <a:ext cx="457200" cy="45720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4"/>
          <a:srcRect l="-1282" r="-1282" t="0" b="0"/>
          <a:stretch/>
        </p:blipFill>
        <p:spPr>
          <a:xfrm>
            <a:off x="8415223" y="6326734"/>
            <a:ext cx="219456" cy="190195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8896198" y="6193231"/>
            <a:ext cx="271485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액션 연결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8896198" y="6493154"/>
            <a:ext cx="2600554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"프로모션이 매출을 +50만큼 올렸다"는 근거를 통해 마케팅 예산 증액 등의 구체적 행동을 제안합니다.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2293315" y="3516782"/>
            <a:ext cx="7610551" cy="666598"/>
          </a:xfrm>
          <a:prstGeom prst="roundRect">
            <a:avLst>
              <a:gd name="adj" fmla="val 137174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2235708" y="3516782"/>
            <a:ext cx="7724851" cy="6675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92100" tIns="101600" rIns="292100" bIns="1016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예측값 = 기본값(평균) + </a:t>
            </a:r>
            <a:pPr algn="ctr" indent="0" marL="0">
              <a:buNone/>
            </a:pPr>
            <a:r>
              <a:rPr lang="en-US" sz="2400" b="1" dirty="0">
                <a:solidFill>
                  <a:srgbClr val="F43F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Σ(긍정 기여)</a:t>
            </a:r>
            <a:pPr algn="ctr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+ </a:t>
            </a:r>
            <a:pPr algn="ctr" indent="0" marL="0">
              <a:buNone/>
            </a:pPr>
            <a:r>
              <a:rPr lang="en-US" sz="2400" b="1" dirty="0">
                <a:solidFill>
                  <a:srgbClr val="3B82F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Σ(부정 기여)</a:t>
            </a:r>
            <a:endParaRPr lang="en-US" sz="2400" dirty="0"/>
          </a:p>
        </p:txBody>
      </p:sp>
      <p:sp>
        <p:nvSpPr>
          <p:cNvPr id="30" name="Text 25"/>
          <p:cNvSpPr txBox="1"/>
          <p:nvPr/>
        </p:nvSpPr>
        <p:spPr>
          <a:xfrm>
            <a:off x="5719572" y="3678631"/>
            <a:ext cx="20290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3F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Σ(긍정 기여)</a:t>
            </a:r>
            <a:endParaRPr lang="en-US" sz="2400" dirty="0"/>
          </a:p>
        </p:txBody>
      </p:sp>
      <p:sp>
        <p:nvSpPr>
          <p:cNvPr id="31" name="Text 26"/>
          <p:cNvSpPr txBox="1"/>
          <p:nvPr/>
        </p:nvSpPr>
        <p:spPr>
          <a:xfrm>
            <a:off x="7744054" y="3678631"/>
            <a:ext cx="20290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B82F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Σ(부정 기여)</a:t>
            </a:r>
            <a:endParaRPr lang="en-US" sz="2400" dirty="0"/>
          </a:p>
        </p:txBody>
      </p:sp>
      <p:sp>
        <p:nvSpPr>
          <p:cNvPr id="32" name="Shape 27"/>
          <p:cNvSpPr/>
          <p:nvPr/>
        </p:nvSpPr>
        <p:spPr>
          <a:xfrm>
            <a:off x="571500" y="1628546"/>
            <a:ext cx="11048695" cy="1314907"/>
          </a:xfrm>
          <a:prstGeom prst="roundRect">
            <a:avLst>
              <a:gd name="adj" fmla="val 8063"/>
            </a:avLst>
          </a:prstGeom>
          <a:solidFill>
            <a:srgbClr val="F0F9FF"/>
          </a:solidFill>
          <a:ln/>
        </p:spPr>
      </p:sp>
      <p:sp>
        <p:nvSpPr>
          <p:cNvPr id="33" name="Shape 28"/>
          <p:cNvSpPr/>
          <p:nvPr/>
        </p:nvSpPr>
        <p:spPr>
          <a:xfrm>
            <a:off x="571500" y="1628546"/>
            <a:ext cx="57607" cy="1314907"/>
          </a:xfrm>
          <a:prstGeom prst="roundRect">
            <a:avLst>
              <a:gd name="adj" fmla="val 184036"/>
            </a:avLst>
          </a:prstGeom>
          <a:solidFill>
            <a:srgbClr val="0EA5E9"/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5"/>
          <a:srcRect l="-1648" r="-1648" t="0" b="0"/>
          <a:stretch/>
        </p:blipFill>
        <p:spPr>
          <a:xfrm>
            <a:off x="914400" y="1904695"/>
            <a:ext cx="171907" cy="190195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1181405" y="1857146"/>
            <a:ext cx="272399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아이디어: 공정한 분배</a:t>
            </a:r>
            <a:endParaRPr lang="en-US" sz="1500" dirty="0"/>
          </a:p>
        </p:txBody>
      </p:sp>
      <p:sp>
        <p:nvSpPr>
          <p:cNvPr id="36" name="Text 30"/>
          <p:cNvSpPr txBox="1"/>
          <p:nvPr/>
        </p:nvSpPr>
        <p:spPr>
          <a:xfrm>
            <a:off x="914400" y="2219249"/>
            <a:ext cx="1049731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"여러 명이 협력하여 팀(모델)이 승리(예측)했을 때, </a:t>
            </a:r>
            <a:pPr algn="l"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 선수가 승리에 기여한 몫(Shapley Value)</a:t>
            </a:r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얼마나 공정하게 배분할 것인가?"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머신러닝에서 </a:t>
            </a:r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선수 = Feature(변수)</a:t>
            </a:r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승리 점수 = 예측값</a:t>
            </a:r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 대입하여 해석합니다. </a:t>
            </a:r>
            <a:endParaRPr lang="en-US" sz="1200" dirty="0"/>
          </a:p>
        </p:txBody>
      </p:sp>
      <p:sp>
        <p:nvSpPr>
          <p:cNvPr id="37" name="Text 31"/>
          <p:cNvSpPr txBox="1"/>
          <p:nvPr/>
        </p:nvSpPr>
        <p:spPr>
          <a:xfrm>
            <a:off x="3411626" y="4564685"/>
            <a:ext cx="83941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Base Value</a:t>
            </a:r>
            <a:endParaRPr lang="en-US" sz="1000" dirty="0"/>
          </a:p>
        </p:txBody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3191256" y="4840834"/>
            <a:ext cx="1143000" cy="571500"/>
          </a:xfrm>
          <a:prstGeom prst="rect">
            <a:avLst/>
          </a:prstGeom>
        </p:spPr>
      </p:pic>
      <p:sp>
        <p:nvSpPr>
          <p:cNvPr id="39" name="Text 32"/>
          <p:cNvSpPr txBox="1"/>
          <p:nvPr/>
        </p:nvSpPr>
        <p:spPr>
          <a:xfrm>
            <a:off x="3161995" y="4840834"/>
            <a:ext cx="120060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100</a:t>
            </a:r>
            <a:endParaRPr lang="en-US" sz="1300" dirty="0"/>
          </a:p>
        </p:txBody>
      </p:sp>
      <p:sp>
        <p:nvSpPr>
          <p:cNvPr id="40" name="Shape 33"/>
          <p:cNvSpPr/>
          <p:nvPr/>
        </p:nvSpPr>
        <p:spPr>
          <a:xfrm>
            <a:off x="3290926" y="5483657"/>
            <a:ext cx="952805" cy="267005"/>
          </a:xfrm>
          <a:prstGeom prst="roundRect">
            <a:avLst>
              <a:gd name="adj" fmla="val 97847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4"/>
          <p:cNvSpPr txBox="1"/>
          <p:nvPr/>
        </p:nvSpPr>
        <p:spPr>
          <a:xfrm>
            <a:off x="3290926" y="5483657"/>
            <a:ext cx="1010412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평균 매출</a:t>
            </a:r>
            <a:endParaRPr lang="en-US" sz="900" dirty="0"/>
          </a:p>
        </p:txBody>
      </p:sp>
      <p:sp>
        <p:nvSpPr>
          <p:cNvPr id="42" name="Text 35"/>
          <p:cNvSpPr txBox="1"/>
          <p:nvPr/>
        </p:nvSpPr>
        <p:spPr>
          <a:xfrm>
            <a:off x="5110582" y="4564685"/>
            <a:ext cx="7260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Feature 1</a:t>
            </a:r>
            <a:endParaRPr lang="en-US" sz="1000" dirty="0"/>
          </a:p>
        </p:txBody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7"/>
          <a:srcRect l="0" r="0" t="-11" b="-11"/>
          <a:stretch/>
        </p:blipFill>
        <p:spPr>
          <a:xfrm>
            <a:off x="4746650" y="4840834"/>
            <a:ext cx="1333195" cy="571500"/>
          </a:xfrm>
          <a:prstGeom prst="rect">
            <a:avLst/>
          </a:prstGeom>
        </p:spPr>
      </p:pic>
      <p:sp>
        <p:nvSpPr>
          <p:cNvPr id="44" name="Text 36"/>
          <p:cNvSpPr txBox="1"/>
          <p:nvPr/>
        </p:nvSpPr>
        <p:spPr>
          <a:xfrm>
            <a:off x="4718304" y="4840834"/>
            <a:ext cx="139080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+50</a:t>
            </a:r>
            <a:endParaRPr lang="en-US" sz="1300" dirty="0"/>
          </a:p>
        </p:txBody>
      </p:sp>
      <p:sp>
        <p:nvSpPr>
          <p:cNvPr id="45" name="Shape 37"/>
          <p:cNvSpPr/>
          <p:nvPr/>
        </p:nvSpPr>
        <p:spPr>
          <a:xfrm>
            <a:off x="4958791" y="5483657"/>
            <a:ext cx="914400" cy="267005"/>
          </a:xfrm>
          <a:prstGeom prst="roundRect">
            <a:avLst>
              <a:gd name="adj" fmla="val 97847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38"/>
          <p:cNvSpPr txBox="1"/>
          <p:nvPr/>
        </p:nvSpPr>
        <p:spPr>
          <a:xfrm>
            <a:off x="4958791" y="5483657"/>
            <a:ext cx="972007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43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프로모션 효과</a:t>
            </a:r>
            <a:endParaRPr lang="en-US" sz="900" dirty="0"/>
          </a:p>
        </p:txBody>
      </p:sp>
      <p:sp>
        <p:nvSpPr>
          <p:cNvPr id="47" name="Text 39"/>
          <p:cNvSpPr txBox="1"/>
          <p:nvPr/>
        </p:nvSpPr>
        <p:spPr>
          <a:xfrm>
            <a:off x="6665976" y="4564685"/>
            <a:ext cx="7260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Feature 2</a:t>
            </a:r>
            <a:endParaRPr lang="en-US" sz="1000" dirty="0"/>
          </a:p>
        </p:txBody>
      </p:sp>
      <p:pic>
        <p:nvPicPr>
          <p:cNvPr id="48" name="Image 6" descr="preencoded.png">    </p:cNvPr>
          <p:cNvPicPr>
            <a:picLocks noChangeAspect="1"/>
          </p:cNvPicPr>
          <p:nvPr/>
        </p:nvPicPr>
        <p:blipFill>
          <a:blip r:embed="rId8"/>
          <a:srcRect l="-16" r="-16" t="0" b="0"/>
          <a:stretch/>
        </p:blipFill>
        <p:spPr>
          <a:xfrm>
            <a:off x="6493154" y="4840834"/>
            <a:ext cx="952805" cy="571500"/>
          </a:xfrm>
          <a:prstGeom prst="rect">
            <a:avLst/>
          </a:prstGeom>
        </p:spPr>
      </p:pic>
      <p:sp>
        <p:nvSpPr>
          <p:cNvPr id="49" name="Text 40"/>
          <p:cNvSpPr txBox="1"/>
          <p:nvPr/>
        </p:nvSpPr>
        <p:spPr>
          <a:xfrm>
            <a:off x="6463894" y="4840834"/>
            <a:ext cx="101041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-20</a:t>
            </a:r>
            <a:endParaRPr lang="en-US" sz="1300" dirty="0"/>
          </a:p>
        </p:txBody>
      </p:sp>
      <p:sp>
        <p:nvSpPr>
          <p:cNvPr id="50" name="Shape 41"/>
          <p:cNvSpPr/>
          <p:nvPr/>
        </p:nvSpPr>
        <p:spPr>
          <a:xfrm>
            <a:off x="6571793" y="5483657"/>
            <a:ext cx="800100" cy="267005"/>
          </a:xfrm>
          <a:prstGeom prst="roundRect">
            <a:avLst>
              <a:gd name="adj" fmla="val 97847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Text 42"/>
          <p:cNvSpPr txBox="1"/>
          <p:nvPr/>
        </p:nvSpPr>
        <p:spPr>
          <a:xfrm>
            <a:off x="6571793" y="5483657"/>
            <a:ext cx="857707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비수기 영향</a:t>
            </a:r>
            <a:endParaRPr lang="en-US" sz="900" dirty="0"/>
          </a:p>
        </p:txBody>
      </p:sp>
      <p:sp>
        <p:nvSpPr>
          <p:cNvPr id="52" name="Text 43"/>
          <p:cNvSpPr txBox="1"/>
          <p:nvPr/>
        </p:nvSpPr>
        <p:spPr>
          <a:xfrm>
            <a:off x="8094269" y="4564685"/>
            <a:ext cx="8055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Prediction</a:t>
            </a:r>
            <a:endParaRPr lang="en-US" sz="1000" dirty="0"/>
          </a:p>
        </p:txBody>
      </p:sp>
      <p:pic>
        <p:nvPicPr>
          <p:cNvPr id="53" name="Image 7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7858354" y="4840834"/>
            <a:ext cx="1143000" cy="571500"/>
          </a:xfrm>
          <a:prstGeom prst="rect">
            <a:avLst/>
          </a:prstGeom>
        </p:spPr>
      </p:pic>
      <p:sp>
        <p:nvSpPr>
          <p:cNvPr id="54" name="Text 44"/>
          <p:cNvSpPr txBox="1"/>
          <p:nvPr/>
        </p:nvSpPr>
        <p:spPr>
          <a:xfrm>
            <a:off x="7829093" y="4840834"/>
            <a:ext cx="120060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130</a:t>
            </a:r>
            <a:endParaRPr lang="en-US" sz="1300" dirty="0"/>
          </a:p>
        </p:txBody>
      </p:sp>
      <p:sp>
        <p:nvSpPr>
          <p:cNvPr id="55" name="Shape 45"/>
          <p:cNvSpPr/>
          <p:nvPr/>
        </p:nvSpPr>
        <p:spPr>
          <a:xfrm>
            <a:off x="7958023" y="5483657"/>
            <a:ext cx="952805" cy="267005"/>
          </a:xfrm>
          <a:prstGeom prst="roundRect">
            <a:avLst>
              <a:gd name="adj" fmla="val 97847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Text 46"/>
          <p:cNvSpPr txBox="1"/>
          <p:nvPr/>
        </p:nvSpPr>
        <p:spPr>
          <a:xfrm>
            <a:off x="7958023" y="5483657"/>
            <a:ext cx="1010412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예측 매출</a:t>
            </a:r>
            <a:endParaRPr lang="en-US" sz="900" dirty="0"/>
          </a:p>
        </p:txBody>
      </p:sp>
      <p:pic>
        <p:nvPicPr>
          <p:cNvPr id="57" name="Image 8" descr="preencoded.png">    </p:cNvPr>
          <p:cNvPicPr>
            <a:picLocks noChangeAspect="1"/>
          </p:cNvPicPr>
          <p:nvPr/>
        </p:nvPicPr>
        <p:blipFill>
          <a:blip r:embed="rId10"/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63402" y="-476402"/>
            <a:ext cx="1904695" cy="1904695"/>
          </a:xfrm>
          <a:prstGeom prst="ellipse">
            <a:avLst/>
          </a:prstGeom>
          <a:solidFill>
            <a:srgbClr val="E0F2FE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476402" y="4953305"/>
            <a:ext cx="1429207" cy="1429207"/>
          </a:xfrm>
          <a:prstGeom prst="ellipse">
            <a:avLst/>
          </a:prstGeom>
          <a:solidFill>
            <a:srgbClr val="F0FDF4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35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381305"/>
            <a:ext cx="11239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spc="-63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SHAP 주요 시각화</a:t>
            </a:r>
            <a:endParaRPr lang="en-US" sz="31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모델의 예측 원인을 다각도로 분석하는 3가지 핵심 도구</a:t>
            </a:r>
            <a:endParaRPr lang="en-US" sz="15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rcRect l="0" r="0" t="-6" b="-6"/>
          <a:stretch/>
        </p:blipFill>
        <p:spPr>
          <a:xfrm>
            <a:off x="571500" y="1723644"/>
            <a:ext cx="3492094" cy="4733849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09244" y="4058107"/>
            <a:ext cx="1457554" cy="247802"/>
          </a:xfrm>
          <a:prstGeom prst="roundRect">
            <a:avLst>
              <a:gd name="adj" fmla="val 369004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0898" y="4058107"/>
            <a:ext cx="1516075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Global Importance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809244" y="4419295"/>
            <a:ext cx="3134563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Summary Plot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09244" y="5162702"/>
            <a:ext cx="3019349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09244" y="4809744"/>
            <a:ext cx="3096158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"전체적으로 어떤 피처가 가장 중요한가?"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923544" y="5324551"/>
            <a:ext cx="298185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피처 중요도 순위: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상단일수록 모델에 미치는 영향력이 큼</a:t>
            </a:r>
            <a:endParaRPr lang="en-US" sz="10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09244" y="5324551"/>
            <a:ext cx="114300" cy="1143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923544" y="5820156"/>
            <a:ext cx="298185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방향성 파악: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피처 값이 높을 때(빨강) 예측값이 증가하는지 감소하는지 확인 가능</a:t>
            </a:r>
            <a:endParaRPr lang="en-US" sz="10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09244" y="5820156"/>
            <a:ext cx="114300" cy="114300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2"/>
          <a:srcRect l="0" r="0" t="-6" b="-6"/>
          <a:stretch/>
        </p:blipFill>
        <p:spPr>
          <a:xfrm>
            <a:off x="4349801" y="1723644"/>
            <a:ext cx="3492094" cy="4733849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587545" y="4058107"/>
            <a:ext cx="1333195" cy="247802"/>
          </a:xfrm>
          <a:prstGeom prst="roundRect">
            <a:avLst>
              <a:gd name="adj" fmla="val 369004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4559198" y="4058107"/>
            <a:ext cx="1390802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Feature Relation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4587545" y="4419295"/>
            <a:ext cx="3134563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Dependence Plot</a:t>
            </a:r>
            <a:endParaRPr lang="en-US" sz="1600" dirty="0"/>
          </a:p>
        </p:txBody>
      </p:sp>
      <p:sp>
        <p:nvSpPr>
          <p:cNvPr id="23" name="Shape 17"/>
          <p:cNvSpPr/>
          <p:nvPr/>
        </p:nvSpPr>
        <p:spPr>
          <a:xfrm>
            <a:off x="4587545" y="5162702"/>
            <a:ext cx="3019349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4587545" y="4809744"/>
            <a:ext cx="3096158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"특정 피처 값에 따라 영향력이 어떻게 변하는가?"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4701845" y="5324551"/>
            <a:ext cx="298185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비선형 관계: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단순 비례가 아닌, 특정 구간에서의 급격한 변화나 포화 상태 확인</a:t>
            </a:r>
            <a:endParaRPr lang="en-US" sz="10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587545" y="5324551"/>
            <a:ext cx="114300" cy="1143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701845" y="5820156"/>
            <a:ext cx="298185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상호작용(Interaction):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다른 피처 값에 따라 패턴이 달라지는지 색상으로 구분</a:t>
            </a:r>
            <a:endParaRPr lang="en-US" sz="100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587545" y="5820156"/>
            <a:ext cx="114300" cy="114300"/>
          </a:xfrm>
          <a:prstGeom prst="rect">
            <a:avLst/>
          </a:prstGeom>
        </p:spPr>
      </p:pic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2"/>
          <a:srcRect l="0" r="0" t="-6" b="-6"/>
          <a:stretch/>
        </p:blipFill>
        <p:spPr>
          <a:xfrm>
            <a:off x="8128102" y="1723644"/>
            <a:ext cx="3492094" cy="4733849"/>
          </a:xfrm>
          <a:prstGeom prst="rect">
            <a:avLst/>
          </a:prstGeom>
        </p:spPr>
      </p:pic>
      <p:sp>
        <p:nvSpPr>
          <p:cNvPr id="30" name="Shape 21"/>
          <p:cNvSpPr/>
          <p:nvPr/>
        </p:nvSpPr>
        <p:spPr>
          <a:xfrm>
            <a:off x="8365846" y="4058107"/>
            <a:ext cx="1419149" cy="247802"/>
          </a:xfrm>
          <a:prstGeom prst="roundRect">
            <a:avLst>
              <a:gd name="adj" fmla="val 369004"/>
            </a:avLst>
          </a:prstGeom>
          <a:solidFill>
            <a:srgbClr val="F3E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2"/>
          <p:cNvSpPr/>
          <p:nvPr/>
        </p:nvSpPr>
        <p:spPr>
          <a:xfrm>
            <a:off x="8337499" y="4058107"/>
            <a:ext cx="1476756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Local Explanation</a:t>
            </a:r>
            <a:endParaRPr lang="en-US" sz="900" dirty="0"/>
          </a:p>
        </p:txBody>
      </p:sp>
      <p:sp>
        <p:nvSpPr>
          <p:cNvPr id="32" name="Text 23"/>
          <p:cNvSpPr txBox="1"/>
          <p:nvPr/>
        </p:nvSpPr>
        <p:spPr>
          <a:xfrm>
            <a:off x="8365846" y="4419295"/>
            <a:ext cx="3134563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Waterfall Plot</a:t>
            </a:r>
            <a:endParaRPr lang="en-US" sz="1600" dirty="0"/>
          </a:p>
        </p:txBody>
      </p:sp>
      <p:sp>
        <p:nvSpPr>
          <p:cNvPr id="33" name="Shape 24"/>
          <p:cNvSpPr/>
          <p:nvPr/>
        </p:nvSpPr>
        <p:spPr>
          <a:xfrm>
            <a:off x="8365846" y="5162702"/>
            <a:ext cx="3019349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4" name="Text 25"/>
          <p:cNvSpPr txBox="1"/>
          <p:nvPr/>
        </p:nvSpPr>
        <p:spPr>
          <a:xfrm>
            <a:off x="8365846" y="4809744"/>
            <a:ext cx="3096158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"왜 이 데이터(행)는 이런 예측값이 나왔는가?"</a:t>
            </a:r>
            <a:endParaRPr lang="en-US" sz="1000" dirty="0"/>
          </a:p>
        </p:txBody>
      </p:sp>
      <p:sp>
        <p:nvSpPr>
          <p:cNvPr id="35" name="Text 26"/>
          <p:cNvSpPr txBox="1"/>
          <p:nvPr/>
        </p:nvSpPr>
        <p:spPr>
          <a:xfrm>
            <a:off x="8480146" y="5324551"/>
            <a:ext cx="298185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개별 예측 분해: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특정 날짜/매장의 예측값이 평균(Base)에서 시작해 어떻게 형성되었는지 추적</a:t>
            </a:r>
            <a:endParaRPr lang="en-US" sz="1000" dirty="0"/>
          </a:p>
        </p:txBody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365846" y="5324551"/>
            <a:ext cx="114300" cy="114300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8480146" y="5820156"/>
            <a:ext cx="298185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기여도 합산: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긍정적 요인(빨강)과 부정적 요인(파랑)의 합으로 최종 예측값 설명</a:t>
            </a:r>
            <a:endParaRPr lang="en-US" sz="1000" dirty="0"/>
          </a:p>
        </p:txBody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365846" y="5820156"/>
            <a:ext cx="114300" cy="114300"/>
          </a:xfrm>
          <a:prstGeom prst="rect">
            <a:avLst/>
          </a:prstGeom>
        </p:spPr>
      </p:pic>
      <p:sp>
        <p:nvSpPr>
          <p:cNvPr id="39" name="Shape 28"/>
          <p:cNvSpPr/>
          <p:nvPr/>
        </p:nvSpPr>
        <p:spPr>
          <a:xfrm>
            <a:off x="580644" y="1733702"/>
            <a:ext cx="3476549" cy="2095805"/>
          </a:xfrm>
          <a:prstGeom prst="roundRect">
            <a:avLst>
              <a:gd name="adj" fmla="val 6346"/>
            </a:avLst>
          </a:prstGeom>
          <a:solidFill>
            <a:srgbClr val="EFF6FF"/>
          </a:solidFill>
          <a:ln/>
        </p:spPr>
      </p:sp>
      <p:sp>
        <p:nvSpPr>
          <p:cNvPr id="40" name="Shape 29"/>
          <p:cNvSpPr/>
          <p:nvPr/>
        </p:nvSpPr>
        <p:spPr>
          <a:xfrm>
            <a:off x="580644" y="3820363"/>
            <a:ext cx="3476549" cy="9144"/>
          </a:xfrm>
          <a:prstGeom prst="roundRect">
            <a:avLst>
              <a:gd name="adj" fmla="val 1454545"/>
            </a:avLst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41" name="Text 30"/>
          <p:cNvSpPr txBox="1"/>
          <p:nvPr/>
        </p:nvSpPr>
        <p:spPr>
          <a:xfrm>
            <a:off x="1384402" y="2419502"/>
            <a:ext cx="4572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Lag_7</a:t>
            </a:r>
            <a:endParaRPr lang="en-US" sz="800" dirty="0"/>
          </a:p>
        </p:txBody>
      </p:sp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6"/>
          <a:srcRect l="0" r="0" t="-406" b="-406"/>
          <a:stretch/>
        </p:blipFill>
        <p:spPr>
          <a:xfrm>
            <a:off x="1936699" y="2471623"/>
            <a:ext cx="1238098" cy="38405"/>
          </a:xfrm>
          <a:prstGeom prst="rect">
            <a:avLst/>
          </a:prstGeom>
        </p:spPr>
      </p:pic>
      <p:sp>
        <p:nvSpPr>
          <p:cNvPr id="43" name="Shape 31"/>
          <p:cNvSpPr/>
          <p:nvPr/>
        </p:nvSpPr>
        <p:spPr>
          <a:xfrm>
            <a:off x="2926994" y="2452421"/>
            <a:ext cx="75895" cy="75895"/>
          </a:xfrm>
          <a:prstGeom prst="ellipse">
            <a:avLst/>
          </a:prstGeom>
          <a:solidFill>
            <a:srgbClr val="EF4444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32"/>
          <p:cNvSpPr/>
          <p:nvPr/>
        </p:nvSpPr>
        <p:spPr>
          <a:xfrm>
            <a:off x="2865730" y="2452421"/>
            <a:ext cx="75895" cy="75895"/>
          </a:xfrm>
          <a:prstGeom prst="ellipse">
            <a:avLst/>
          </a:prstGeom>
          <a:solidFill>
            <a:srgbClr val="EF4444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33"/>
          <p:cNvSpPr/>
          <p:nvPr/>
        </p:nvSpPr>
        <p:spPr>
          <a:xfrm>
            <a:off x="2184502" y="2452421"/>
            <a:ext cx="75895" cy="75895"/>
          </a:xfrm>
          <a:prstGeom prst="ellipse">
            <a:avLst/>
          </a:prstGeom>
          <a:solidFill>
            <a:srgbClr val="3B82F6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34"/>
          <p:cNvSpPr/>
          <p:nvPr/>
        </p:nvSpPr>
        <p:spPr>
          <a:xfrm>
            <a:off x="2122322" y="2452421"/>
            <a:ext cx="75895" cy="75895"/>
          </a:xfrm>
          <a:prstGeom prst="ellipse">
            <a:avLst/>
          </a:prstGeom>
          <a:solidFill>
            <a:srgbClr val="3B82F6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Text 35"/>
          <p:cNvSpPr txBox="1"/>
          <p:nvPr/>
        </p:nvSpPr>
        <p:spPr>
          <a:xfrm>
            <a:off x="1384402" y="2704795"/>
            <a:ext cx="4572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Promo</a:t>
            </a:r>
            <a:endParaRPr lang="en-US" sz="800" dirty="0"/>
          </a:p>
        </p:txBody>
      </p:sp>
      <p:pic>
        <p:nvPicPr>
          <p:cNvPr id="48" name="Image 10" descr="preencoded.png">    </p:cNvPr>
          <p:cNvPicPr>
            <a:picLocks noChangeAspect="1"/>
          </p:cNvPicPr>
          <p:nvPr/>
        </p:nvPicPr>
        <p:blipFill>
          <a:blip r:embed="rId6"/>
          <a:srcRect l="0" r="0" t="-406" b="-406"/>
          <a:stretch/>
        </p:blipFill>
        <p:spPr>
          <a:xfrm>
            <a:off x="1936699" y="2757830"/>
            <a:ext cx="1238098" cy="38405"/>
          </a:xfrm>
          <a:prstGeom prst="rect">
            <a:avLst/>
          </a:prstGeom>
        </p:spPr>
      </p:pic>
      <p:sp>
        <p:nvSpPr>
          <p:cNvPr id="49" name="Shape 36"/>
          <p:cNvSpPr/>
          <p:nvPr/>
        </p:nvSpPr>
        <p:spPr>
          <a:xfrm>
            <a:off x="2680106" y="2738628"/>
            <a:ext cx="75895" cy="75895"/>
          </a:xfrm>
          <a:prstGeom prst="ellipse">
            <a:avLst/>
          </a:prstGeom>
          <a:solidFill>
            <a:srgbClr val="EF4444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37"/>
          <p:cNvSpPr/>
          <p:nvPr/>
        </p:nvSpPr>
        <p:spPr>
          <a:xfrm>
            <a:off x="2432304" y="2738628"/>
            <a:ext cx="75895" cy="75895"/>
          </a:xfrm>
          <a:prstGeom prst="ellipse">
            <a:avLst/>
          </a:prstGeom>
          <a:solidFill>
            <a:srgbClr val="3B82F6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Text 38"/>
          <p:cNvSpPr txBox="1"/>
          <p:nvPr/>
        </p:nvSpPr>
        <p:spPr>
          <a:xfrm>
            <a:off x="1384402" y="2991002"/>
            <a:ext cx="4572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Oil</a:t>
            </a:r>
            <a:endParaRPr lang="en-US" sz="800" dirty="0"/>
          </a:p>
        </p:txBody>
      </p:sp>
      <p:pic>
        <p:nvPicPr>
          <p:cNvPr id="52" name="Image 11" descr="preencoded.png">    </p:cNvPr>
          <p:cNvPicPr>
            <a:picLocks noChangeAspect="1"/>
          </p:cNvPicPr>
          <p:nvPr/>
        </p:nvPicPr>
        <p:blipFill>
          <a:blip r:embed="rId6"/>
          <a:srcRect l="0" r="0" t="-406" b="-406"/>
          <a:stretch/>
        </p:blipFill>
        <p:spPr>
          <a:xfrm>
            <a:off x="1936699" y="3043123"/>
            <a:ext cx="1238098" cy="38405"/>
          </a:xfrm>
          <a:prstGeom prst="rect">
            <a:avLst/>
          </a:prstGeom>
        </p:spPr>
      </p:pic>
      <p:sp>
        <p:nvSpPr>
          <p:cNvPr id="53" name="Shape 39"/>
          <p:cNvSpPr/>
          <p:nvPr/>
        </p:nvSpPr>
        <p:spPr>
          <a:xfrm>
            <a:off x="2493569" y="3023921"/>
            <a:ext cx="75895" cy="75895"/>
          </a:xfrm>
          <a:prstGeom prst="ellipse">
            <a:avLst/>
          </a:prstGeom>
          <a:solidFill>
            <a:srgbClr val="EF4444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40"/>
          <p:cNvSpPr/>
          <p:nvPr/>
        </p:nvSpPr>
        <p:spPr>
          <a:xfrm>
            <a:off x="2617927" y="3023921"/>
            <a:ext cx="75895" cy="75895"/>
          </a:xfrm>
          <a:prstGeom prst="ellipse">
            <a:avLst/>
          </a:prstGeom>
          <a:solidFill>
            <a:srgbClr val="3B82F6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Text 41"/>
          <p:cNvSpPr txBox="1"/>
          <p:nvPr/>
        </p:nvSpPr>
        <p:spPr>
          <a:xfrm>
            <a:off x="1684325" y="3581705"/>
            <a:ext cx="150784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● High Value</a:t>
            </a:r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/ </a:t>
            </a:r>
            <a:pPr algn="l" indent="0" marL="0">
              <a:buNone/>
            </a:pPr>
            <a:r>
              <a:rPr lang="en-US" sz="800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● Low Value</a:t>
            </a:r>
            <a:endParaRPr lang="en-US" sz="800" dirty="0"/>
          </a:p>
        </p:txBody>
      </p:sp>
      <p:sp>
        <p:nvSpPr>
          <p:cNvPr id="56" name="Text 42"/>
          <p:cNvSpPr txBox="1"/>
          <p:nvPr/>
        </p:nvSpPr>
        <p:spPr>
          <a:xfrm>
            <a:off x="1684325" y="3581705"/>
            <a:ext cx="710489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● High Value</a:t>
            </a:r>
            <a:endParaRPr lang="en-US" sz="800" dirty="0"/>
          </a:p>
        </p:txBody>
      </p:sp>
      <p:sp>
        <p:nvSpPr>
          <p:cNvPr id="57" name="Text 43"/>
          <p:cNvSpPr txBox="1"/>
          <p:nvPr/>
        </p:nvSpPr>
        <p:spPr>
          <a:xfrm>
            <a:off x="2374697" y="3581705"/>
            <a:ext cx="6574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● Low Value</a:t>
            </a:r>
            <a:endParaRPr lang="en-US" sz="800" dirty="0"/>
          </a:p>
        </p:txBody>
      </p:sp>
      <p:sp>
        <p:nvSpPr>
          <p:cNvPr id="58" name="Shape 44"/>
          <p:cNvSpPr/>
          <p:nvPr/>
        </p:nvSpPr>
        <p:spPr>
          <a:xfrm>
            <a:off x="4358945" y="1733702"/>
            <a:ext cx="3476549" cy="2095805"/>
          </a:xfrm>
          <a:prstGeom prst="roundRect">
            <a:avLst>
              <a:gd name="adj" fmla="val 6346"/>
            </a:avLst>
          </a:prstGeom>
          <a:solidFill>
            <a:srgbClr val="F0FDF4"/>
          </a:solidFill>
          <a:ln/>
        </p:spPr>
      </p:sp>
      <p:sp>
        <p:nvSpPr>
          <p:cNvPr id="59" name="Shape 45"/>
          <p:cNvSpPr/>
          <p:nvPr/>
        </p:nvSpPr>
        <p:spPr>
          <a:xfrm>
            <a:off x="4358945" y="3820363"/>
            <a:ext cx="3476549" cy="9144"/>
          </a:xfrm>
          <a:prstGeom prst="roundRect">
            <a:avLst>
              <a:gd name="adj" fmla="val 1454545"/>
            </a:avLst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60" name="Shape 46"/>
          <p:cNvSpPr/>
          <p:nvPr/>
        </p:nvSpPr>
        <p:spPr>
          <a:xfrm>
            <a:off x="5143500" y="3424428"/>
            <a:ext cx="1904695" cy="1920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61" name="Shape 47"/>
          <p:cNvSpPr/>
          <p:nvPr/>
        </p:nvSpPr>
        <p:spPr>
          <a:xfrm>
            <a:off x="5143500" y="2109521"/>
            <a:ext cx="19202" cy="1333195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62" name="Shape 48"/>
          <p:cNvSpPr/>
          <p:nvPr/>
        </p:nvSpPr>
        <p:spPr>
          <a:xfrm>
            <a:off x="5351069" y="3104388"/>
            <a:ext cx="57607" cy="57607"/>
          </a:xfrm>
          <a:prstGeom prst="ellipse">
            <a:avLst/>
          </a:prstGeom>
          <a:solidFill>
            <a:srgbClr val="059669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49"/>
          <p:cNvSpPr/>
          <p:nvPr/>
        </p:nvSpPr>
        <p:spPr>
          <a:xfrm>
            <a:off x="5539435" y="3038551"/>
            <a:ext cx="57607" cy="57607"/>
          </a:xfrm>
          <a:prstGeom prst="ellipse">
            <a:avLst/>
          </a:prstGeom>
          <a:solidFill>
            <a:srgbClr val="059669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50"/>
          <p:cNvSpPr/>
          <p:nvPr/>
        </p:nvSpPr>
        <p:spPr>
          <a:xfrm>
            <a:off x="5727802" y="2841041"/>
            <a:ext cx="57607" cy="57607"/>
          </a:xfrm>
          <a:prstGeom prst="ellipse">
            <a:avLst/>
          </a:prstGeom>
          <a:solidFill>
            <a:srgbClr val="059669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51"/>
          <p:cNvSpPr/>
          <p:nvPr/>
        </p:nvSpPr>
        <p:spPr>
          <a:xfrm>
            <a:off x="5917082" y="2578608"/>
            <a:ext cx="57607" cy="57607"/>
          </a:xfrm>
          <a:prstGeom prst="ellipse">
            <a:avLst/>
          </a:prstGeom>
          <a:solidFill>
            <a:srgbClr val="059669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52"/>
          <p:cNvSpPr/>
          <p:nvPr/>
        </p:nvSpPr>
        <p:spPr>
          <a:xfrm>
            <a:off x="6105449" y="2381098"/>
            <a:ext cx="57607" cy="57607"/>
          </a:xfrm>
          <a:prstGeom prst="ellipse">
            <a:avLst/>
          </a:prstGeom>
          <a:solidFill>
            <a:srgbClr val="059669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hape 53"/>
          <p:cNvSpPr/>
          <p:nvPr/>
        </p:nvSpPr>
        <p:spPr>
          <a:xfrm>
            <a:off x="6293815" y="2315261"/>
            <a:ext cx="57607" cy="57607"/>
          </a:xfrm>
          <a:prstGeom prst="ellipse">
            <a:avLst/>
          </a:prstGeom>
          <a:solidFill>
            <a:srgbClr val="059669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54"/>
          <p:cNvSpPr/>
          <p:nvPr/>
        </p:nvSpPr>
        <p:spPr>
          <a:xfrm>
            <a:off x="6483096" y="2341778"/>
            <a:ext cx="57607" cy="57607"/>
          </a:xfrm>
          <a:prstGeom prst="ellipse">
            <a:avLst/>
          </a:prstGeom>
          <a:solidFill>
            <a:srgbClr val="059669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55"/>
          <p:cNvSpPr/>
          <p:nvPr/>
        </p:nvSpPr>
        <p:spPr>
          <a:xfrm>
            <a:off x="6671462" y="2381098"/>
            <a:ext cx="57607" cy="57607"/>
          </a:xfrm>
          <a:prstGeom prst="ellipse">
            <a:avLst/>
          </a:prstGeom>
          <a:solidFill>
            <a:srgbClr val="059669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Shape 56"/>
          <p:cNvSpPr/>
          <p:nvPr/>
        </p:nvSpPr>
        <p:spPr>
          <a:xfrm>
            <a:off x="6859829" y="2446934"/>
            <a:ext cx="57607" cy="57607"/>
          </a:xfrm>
          <a:prstGeom prst="ellipse">
            <a:avLst/>
          </a:prstGeom>
          <a:solidFill>
            <a:srgbClr val="059669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Text 57"/>
          <p:cNvSpPr txBox="1"/>
          <p:nvPr/>
        </p:nvSpPr>
        <p:spPr>
          <a:xfrm>
            <a:off x="5124298" y="3471977"/>
            <a:ext cx="19623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Feature Value</a:t>
            </a:r>
            <a:endParaRPr lang="en-US" sz="800" dirty="0"/>
          </a:p>
        </p:txBody>
      </p:sp>
      <p:sp>
        <p:nvSpPr>
          <p:cNvPr id="72" name="Text 58"/>
          <p:cNvSpPr txBox="1"/>
          <p:nvPr/>
        </p:nvSpPr>
        <p:spPr>
          <a:xfrm rot="16200000">
            <a:off x="4924044" y="2766974"/>
            <a:ext cx="6007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SHAP Value</a:t>
            </a:r>
            <a:endParaRPr lang="en-US" sz="800" dirty="0"/>
          </a:p>
        </p:txBody>
      </p:sp>
      <p:sp>
        <p:nvSpPr>
          <p:cNvPr id="73" name="Shape 59"/>
          <p:cNvSpPr/>
          <p:nvPr/>
        </p:nvSpPr>
        <p:spPr>
          <a:xfrm>
            <a:off x="8137246" y="1733702"/>
            <a:ext cx="3476549" cy="2095805"/>
          </a:xfrm>
          <a:prstGeom prst="roundRect">
            <a:avLst>
              <a:gd name="adj" fmla="val 6346"/>
            </a:avLst>
          </a:prstGeom>
          <a:solidFill>
            <a:srgbClr val="FAF5FF"/>
          </a:solidFill>
          <a:ln/>
        </p:spPr>
      </p:sp>
      <p:sp>
        <p:nvSpPr>
          <p:cNvPr id="74" name="Shape 60"/>
          <p:cNvSpPr/>
          <p:nvPr/>
        </p:nvSpPr>
        <p:spPr>
          <a:xfrm>
            <a:off x="8137246" y="3820363"/>
            <a:ext cx="3476549" cy="9144"/>
          </a:xfrm>
          <a:prstGeom prst="roundRect">
            <a:avLst>
              <a:gd name="adj" fmla="val 1454545"/>
            </a:avLst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pic>
        <p:nvPicPr>
          <p:cNvPr id="75" name="Image 12" descr="preencoded.png">    </p:cNvPr>
          <p:cNvPicPr>
            <a:picLocks noChangeAspect="1"/>
          </p:cNvPicPr>
          <p:nvPr/>
        </p:nvPicPr>
        <p:blipFill>
          <a:blip r:embed="rId7"/>
          <a:srcRect l="0" r="0" t="-2100" b="-2100"/>
          <a:stretch/>
        </p:blipFill>
        <p:spPr>
          <a:xfrm>
            <a:off x="9874606" y="2061972"/>
            <a:ext cx="9144" cy="1429207"/>
          </a:xfrm>
          <a:prstGeom prst="rect">
            <a:avLst/>
          </a:prstGeom>
        </p:spPr>
      </p:pic>
      <p:sp>
        <p:nvSpPr>
          <p:cNvPr id="76" name="Text 61"/>
          <p:cNvSpPr txBox="1"/>
          <p:nvPr/>
        </p:nvSpPr>
        <p:spPr>
          <a:xfrm>
            <a:off x="9728302" y="3252521"/>
            <a:ext cx="3721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E[f(x)]</a:t>
            </a:r>
            <a:endParaRPr lang="en-US" sz="800" dirty="0"/>
          </a:p>
        </p:txBody>
      </p:sp>
      <p:sp>
        <p:nvSpPr>
          <p:cNvPr id="77" name="Shape 62"/>
          <p:cNvSpPr/>
          <p:nvPr/>
        </p:nvSpPr>
        <p:spPr>
          <a:xfrm>
            <a:off x="9874606" y="3138221"/>
            <a:ext cx="381305" cy="190195"/>
          </a:xfrm>
          <a:prstGeom prst="roundRect">
            <a:avLst>
              <a:gd name="adj" fmla="val 144231"/>
            </a:avLst>
          </a:prstGeom>
          <a:solidFill>
            <a:srgbClr val="EF4444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Text 63"/>
          <p:cNvSpPr txBox="1"/>
          <p:nvPr/>
        </p:nvSpPr>
        <p:spPr>
          <a:xfrm>
            <a:off x="10331806" y="3157423"/>
            <a:ext cx="4288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+Promo</a:t>
            </a:r>
            <a:endParaRPr lang="en-US" sz="800" dirty="0"/>
          </a:p>
        </p:txBody>
      </p:sp>
      <p:sp>
        <p:nvSpPr>
          <p:cNvPr id="79" name="Shape 64"/>
          <p:cNvSpPr/>
          <p:nvPr/>
        </p:nvSpPr>
        <p:spPr>
          <a:xfrm>
            <a:off x="10254996" y="3119018"/>
            <a:ext cx="190195" cy="190195"/>
          </a:xfrm>
          <a:prstGeom prst="roundRect">
            <a:avLst>
              <a:gd name="adj" fmla="val 144231"/>
            </a:avLst>
          </a:prstGeom>
          <a:solidFill>
            <a:srgbClr val="EF4444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Text 65"/>
          <p:cNvSpPr txBox="1"/>
          <p:nvPr/>
        </p:nvSpPr>
        <p:spPr>
          <a:xfrm>
            <a:off x="10556748" y="3138221"/>
            <a:ext cx="4005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+Lag_7</a:t>
            </a:r>
            <a:endParaRPr lang="en-US" sz="800" dirty="0"/>
          </a:p>
        </p:txBody>
      </p:sp>
      <p:sp>
        <p:nvSpPr>
          <p:cNvPr id="81" name="Shape 66"/>
          <p:cNvSpPr/>
          <p:nvPr/>
        </p:nvSpPr>
        <p:spPr>
          <a:xfrm>
            <a:off x="10064801" y="3100730"/>
            <a:ext cx="190195" cy="190195"/>
          </a:xfrm>
          <a:prstGeom prst="roundRect">
            <a:avLst>
              <a:gd name="adj" fmla="val 144231"/>
            </a:avLst>
          </a:prstGeom>
          <a:solidFill>
            <a:srgbClr val="3B82F6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" name="Text 67"/>
          <p:cNvSpPr txBox="1"/>
          <p:nvPr/>
        </p:nvSpPr>
        <p:spPr>
          <a:xfrm>
            <a:off x="9731045" y="3119018"/>
            <a:ext cx="2386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-Oil</a:t>
            </a:r>
            <a:endParaRPr lang="en-US" sz="800" dirty="0"/>
          </a:p>
        </p:txBody>
      </p:sp>
      <p:sp>
        <p:nvSpPr>
          <p:cNvPr id="83" name="Text 68"/>
          <p:cNvSpPr txBox="1"/>
          <p:nvPr/>
        </p:nvSpPr>
        <p:spPr>
          <a:xfrm>
            <a:off x="10064801" y="2109521"/>
            <a:ext cx="2862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f(x)</a:t>
            </a:r>
            <a:endParaRPr lang="en-US" sz="900" dirty="0"/>
          </a:p>
        </p:txBody>
      </p:sp>
      <p:pic>
        <p:nvPicPr>
          <p:cNvPr id="84" name="Image 13" descr="preencoded.png">    </p:cNvPr>
          <p:cNvPicPr>
            <a:picLocks noChangeAspect="1"/>
          </p:cNvPicPr>
          <p:nvPr/>
        </p:nvPicPr>
        <p:blipFill>
          <a:blip r:embed="rId8"/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10598" y="-476402"/>
            <a:ext cx="2857500" cy="2857500"/>
          </a:xfrm>
          <a:prstGeom prst="ellipse">
            <a:avLst/>
          </a:prstGeom>
          <a:solidFill>
            <a:srgbClr val="3B82F6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900000">
            <a:off x="-476402" y="4476902"/>
            <a:ext cx="1904695" cy="1904695"/>
          </a:xfrm>
          <a:prstGeom prst="roundRect">
            <a:avLst>
              <a:gd name="adj" fmla="val 9602"/>
            </a:avLst>
          </a:prstGeom>
          <a:solidFill>
            <a:srgbClr val="8B5CF6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36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381305"/>
            <a:ext cx="11239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spc="-63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시나리오 분석 구조 (What-if)</a:t>
            </a:r>
            <a:endParaRPr lang="en-US" sz="31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예측 모델을 활용하여 가상의 상황을 시뮬레이션하고 비즈니스 임팩트를 산출하는 과정</a:t>
            </a:r>
            <a:endParaRPr lang="en-US" sz="15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rcRect l="0" r="0" t="-80" b="-80"/>
          <a:stretch/>
        </p:blipFill>
        <p:spPr>
          <a:xfrm>
            <a:off x="4119372" y="3445459"/>
            <a:ext cx="142646" cy="22860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045306" y="3721608"/>
            <a:ext cx="3721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Next</a:t>
            </a:r>
            <a:endParaRPr lang="en-US" sz="9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80" b="-80"/>
          <a:stretch/>
        </p:blipFill>
        <p:spPr>
          <a:xfrm>
            <a:off x="7929677" y="3445459"/>
            <a:ext cx="142646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845552" y="3721608"/>
            <a:ext cx="3913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Then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1809598" y="5995721"/>
            <a:ext cx="8572500" cy="761695"/>
          </a:xfrm>
          <a:prstGeom prst="roundRect">
            <a:avLst>
              <a:gd name="adj" fmla="val 36014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rcRect l="-133" r="-133" t="0" b="0"/>
          <a:stretch/>
        </p:blipFill>
        <p:spPr>
          <a:xfrm>
            <a:off x="2104949" y="6262726"/>
            <a:ext cx="171907" cy="2286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2467051" y="5995721"/>
            <a:ext cx="7696505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Tip:</a:t>
            </a:r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시나리오 분석은 "프로모션을 20% 늘리면 매출이 얼마나 오를까?"와 같은 ROI 관점의 의사결정에 핵심적인 근거를 제공합니다. </a:t>
            </a:r>
            <a:endParaRPr lang="en-US" sz="12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rcRect l="-2" r="-2" t="0" b="0"/>
          <a:stretch/>
        </p:blipFill>
        <p:spPr>
          <a:xfrm>
            <a:off x="857707" y="1723644"/>
            <a:ext cx="2857500" cy="3890772"/>
          </a:xfrm>
          <a:prstGeom prst="rect">
            <a:avLst/>
          </a:prstGeom>
        </p:spPr>
      </p:pic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904695" y="2066544"/>
            <a:ext cx="761695" cy="761695"/>
          </a:xfrm>
          <a:prstGeom prst="rect">
            <a:avLst/>
          </a:prstGeom>
        </p:spPr>
      </p:pic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2133295" y="2295144"/>
            <a:ext cx="304495" cy="304495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1349654" y="3019349"/>
            <a:ext cx="188183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Baseline 설정</a:t>
            </a:r>
            <a:endParaRPr lang="en-US" sz="1600" dirty="0"/>
          </a:p>
        </p:txBody>
      </p:sp>
      <p:sp>
        <p:nvSpPr>
          <p:cNvPr id="20" name="Text 12"/>
          <p:cNvSpPr txBox="1"/>
          <p:nvPr/>
        </p:nvSpPr>
        <p:spPr>
          <a:xfrm>
            <a:off x="1067105" y="3429000"/>
            <a:ext cx="2438705" cy="962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현재의 조건(Trend + Seasonality)이 유지된다고 가정했을 때의 기본 예측값을 산출합니다.</a:t>
            </a:r>
            <a:endParaRPr lang="en-US" sz="1100" dirty="0"/>
          </a:p>
        </p:txBody>
      </p:sp>
      <p:sp>
        <p:nvSpPr>
          <p:cNvPr id="21" name="Shape 13"/>
          <p:cNvSpPr/>
          <p:nvPr/>
        </p:nvSpPr>
        <p:spPr>
          <a:xfrm>
            <a:off x="1104595" y="4576572"/>
            <a:ext cx="2361895" cy="743407"/>
          </a:xfrm>
          <a:prstGeom prst="roundRect">
            <a:avLst>
              <a:gd name="adj" fmla="val 3784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4"/>
          <p:cNvSpPr txBox="1"/>
          <p:nvPr/>
        </p:nvSpPr>
        <p:spPr>
          <a:xfrm>
            <a:off x="1216152" y="4729277"/>
            <a:ext cx="213969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Current State</a:t>
            </a:r>
            <a:endParaRPr lang="en-US" sz="900" dirty="0"/>
          </a:p>
        </p:txBody>
      </p:sp>
      <p:sp>
        <p:nvSpPr>
          <p:cNvPr id="23" name="Text 15"/>
          <p:cNvSpPr txBox="1"/>
          <p:nvPr/>
        </p:nvSpPr>
        <p:spPr>
          <a:xfrm>
            <a:off x="1216152" y="4938674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예상 매출: $100,000</a:t>
            </a:r>
            <a:endParaRPr lang="en-US" sz="120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rcRect l="-2" r="-2" t="0" b="0"/>
          <a:stretch/>
        </p:blipFill>
        <p:spPr>
          <a:xfrm>
            <a:off x="4667098" y="1723644"/>
            <a:ext cx="2857500" cy="3890772"/>
          </a:xfrm>
          <a:prstGeom prst="rect">
            <a:avLst/>
          </a:prstGeom>
        </p:spPr>
      </p:pic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5715000" y="2066544"/>
            <a:ext cx="761695" cy="761695"/>
          </a:xfrm>
          <a:prstGeom prst="rect">
            <a:avLst/>
          </a:prstGeom>
        </p:spPr>
      </p:pic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5943600" y="2295144"/>
            <a:ext cx="304495" cy="304495"/>
          </a:xfrm>
          <a:prstGeom prst="rect">
            <a:avLst/>
          </a:prstGeom>
        </p:spPr>
      </p:pic>
      <p:sp>
        <p:nvSpPr>
          <p:cNvPr id="27" name="Text 16"/>
          <p:cNvSpPr txBox="1"/>
          <p:nvPr/>
        </p:nvSpPr>
        <p:spPr>
          <a:xfrm>
            <a:off x="4875581" y="3019349"/>
            <a:ext cx="2441448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변수 변경 (Simulation)</a:t>
            </a:r>
            <a:endParaRPr lang="en-US" sz="1600" dirty="0"/>
          </a:p>
        </p:txBody>
      </p:sp>
      <p:sp>
        <p:nvSpPr>
          <p:cNvPr id="28" name="Text 17"/>
          <p:cNvSpPr txBox="1"/>
          <p:nvPr/>
        </p:nvSpPr>
        <p:spPr>
          <a:xfrm>
            <a:off x="4876495" y="3743554"/>
            <a:ext cx="2438705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분석하고자 하는 특정 변수(Feature)만 변경하고 나머지 조건은 고정(Ceteris Paribus)합니다.</a:t>
            </a:r>
            <a:endParaRPr lang="en-US" sz="1100" dirty="0"/>
          </a:p>
        </p:txBody>
      </p:sp>
      <p:sp>
        <p:nvSpPr>
          <p:cNvPr id="29" name="Shape 18"/>
          <p:cNvSpPr/>
          <p:nvPr/>
        </p:nvSpPr>
        <p:spPr>
          <a:xfrm>
            <a:off x="4914900" y="4576572"/>
            <a:ext cx="2361895" cy="743407"/>
          </a:xfrm>
          <a:prstGeom prst="roundRect">
            <a:avLst>
              <a:gd name="adj" fmla="val 3784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19"/>
          <p:cNvSpPr txBox="1"/>
          <p:nvPr/>
        </p:nvSpPr>
        <p:spPr>
          <a:xfrm>
            <a:off x="5026457" y="4729277"/>
            <a:ext cx="213969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Input Change</a:t>
            </a:r>
            <a:endParaRPr lang="en-US" sz="900" dirty="0"/>
          </a:p>
        </p:txBody>
      </p:sp>
      <p:sp>
        <p:nvSpPr>
          <p:cNvPr id="31" name="Text 20"/>
          <p:cNvSpPr txBox="1"/>
          <p:nvPr/>
        </p:nvSpPr>
        <p:spPr>
          <a:xfrm>
            <a:off x="5026457" y="4938674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프로모션: OFF → ON</a:t>
            </a:r>
            <a:endParaRPr lang="en-US" sz="1200" dirty="0"/>
          </a:p>
        </p:txBody>
      </p:sp>
      <p:pic>
        <p:nvPicPr>
          <p:cNvPr id="32" name="Image 9" descr="preencoded.png">    </p:cNvPr>
          <p:cNvPicPr>
            <a:picLocks noChangeAspect="1"/>
          </p:cNvPicPr>
          <p:nvPr/>
        </p:nvPicPr>
        <p:blipFill>
          <a:blip r:embed="rId10"/>
          <a:srcRect l="-2" r="-2" t="0" b="0"/>
          <a:stretch/>
        </p:blipFill>
        <p:spPr>
          <a:xfrm>
            <a:off x="8477402" y="1723644"/>
            <a:ext cx="2857500" cy="3890772"/>
          </a:xfrm>
          <a:prstGeom prst="rect">
            <a:avLst/>
          </a:prstGeom>
        </p:spPr>
      </p:pic>
      <p:pic>
        <p:nvPicPr>
          <p:cNvPr id="33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9525305" y="2066544"/>
            <a:ext cx="761695" cy="761695"/>
          </a:xfrm>
          <a:prstGeom prst="rect">
            <a:avLst/>
          </a:prstGeom>
        </p:spPr>
      </p:pic>
      <p:pic>
        <p:nvPicPr>
          <p:cNvPr id="34" name="Image 11" descr="preencoded.png">    </p:cNvPr>
          <p:cNvPicPr>
            <a:picLocks noChangeAspect="1"/>
          </p:cNvPicPr>
          <p:nvPr/>
        </p:nvPicPr>
        <p:blipFill>
          <a:blip r:embed="rId12"/>
          <a:srcRect l="-50" r="-50" t="0" b="0"/>
          <a:stretch/>
        </p:blipFill>
        <p:spPr>
          <a:xfrm>
            <a:off x="9791395" y="2295144"/>
            <a:ext cx="228600" cy="304495"/>
          </a:xfrm>
          <a:prstGeom prst="rect">
            <a:avLst/>
          </a:prstGeom>
        </p:spPr>
      </p:pic>
      <p:sp>
        <p:nvSpPr>
          <p:cNvPr id="35" name="Text 21"/>
          <p:cNvSpPr txBox="1"/>
          <p:nvPr/>
        </p:nvSpPr>
        <p:spPr>
          <a:xfrm>
            <a:off x="9077249" y="3019349"/>
            <a:ext cx="166146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임팩트 계산</a:t>
            </a:r>
            <a:endParaRPr lang="en-US" sz="1600" dirty="0"/>
          </a:p>
        </p:txBody>
      </p:sp>
      <p:sp>
        <p:nvSpPr>
          <p:cNvPr id="36" name="Text 22"/>
          <p:cNvSpPr txBox="1"/>
          <p:nvPr/>
        </p:nvSpPr>
        <p:spPr>
          <a:xfrm>
            <a:off x="8686800" y="3429000"/>
            <a:ext cx="2438705" cy="962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변경된 조건에서의 예측값과 Baseline의 차이를 계산하여 순수 증분 효과(Lift)를 정량화합니다.</a:t>
            </a:r>
            <a:endParaRPr lang="en-US" sz="1100" dirty="0"/>
          </a:p>
        </p:txBody>
      </p:sp>
      <p:sp>
        <p:nvSpPr>
          <p:cNvPr id="37" name="Shape 23"/>
          <p:cNvSpPr/>
          <p:nvPr/>
        </p:nvSpPr>
        <p:spPr>
          <a:xfrm>
            <a:off x="8725205" y="4576572"/>
            <a:ext cx="2361895" cy="743407"/>
          </a:xfrm>
          <a:prstGeom prst="roundRect">
            <a:avLst>
              <a:gd name="adj" fmla="val 3784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24"/>
          <p:cNvSpPr txBox="1"/>
          <p:nvPr/>
        </p:nvSpPr>
        <p:spPr>
          <a:xfrm>
            <a:off x="8835847" y="4729277"/>
            <a:ext cx="213969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Result Impact</a:t>
            </a:r>
            <a:endParaRPr lang="en-US" sz="900" dirty="0"/>
          </a:p>
        </p:txBody>
      </p:sp>
      <p:sp>
        <p:nvSpPr>
          <p:cNvPr id="39" name="Text 25"/>
          <p:cNvSpPr txBox="1"/>
          <p:nvPr/>
        </p:nvSpPr>
        <p:spPr>
          <a:xfrm>
            <a:off x="8835847" y="4938674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매출 +$15,000 (+15%)</a:t>
            </a:r>
            <a:endParaRPr lang="en-US" sz="1200" dirty="0"/>
          </a:p>
        </p:txBody>
      </p:sp>
      <p:pic>
        <p:nvPicPr>
          <p:cNvPr id="40" name="Image 12" descr="preencoded.png">    </p:cNvPr>
          <p:cNvPicPr>
            <a:picLocks noChangeAspect="1"/>
          </p:cNvPicPr>
          <p:nvPr/>
        </p:nvPicPr>
        <p:blipFill>
          <a:blip r:embed="rId13"/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30207" y="-571500"/>
            <a:ext cx="3333902" cy="3333902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37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381305"/>
            <a:ext cx="113541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spc="-63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프로모션 ROI 최적화</a:t>
            </a:r>
            <a:endParaRPr lang="en-US" sz="31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 대비 효과를 극대화하는 데이터 기반 예산 배분 전략</a:t>
            </a:r>
            <a:endParaRPr lang="en-US" sz="15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rcRect l="0" r="0" t="-3" b="-3"/>
          <a:stretch/>
        </p:blipFill>
        <p:spPr>
          <a:xfrm>
            <a:off x="1333195" y="1628546"/>
            <a:ext cx="9525305" cy="237195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086246" y="1514246"/>
            <a:ext cx="1218895" cy="247802"/>
          </a:xfrm>
          <a:prstGeom prst="roundRect">
            <a:avLst>
              <a:gd name="adj" fmla="val 369004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60881" y="2318918"/>
            <a:ext cx="226771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3A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ROI (%) =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>
            <a:off x="3909060" y="2590495"/>
            <a:ext cx="5257800" cy="2834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017520" y="1971446"/>
            <a:ext cx="70408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596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매출 증가분 (Incremental Sales)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4927702" y="2667305"/>
            <a:ext cx="321503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C26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프로모션 비용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9311335" y="2318918"/>
            <a:ext cx="125272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3A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× 100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3829507" y="3429000"/>
            <a:ext cx="6876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핵심은 '전체 매출'이 아닌 프로모션으로 발생한 </a:t>
            </a:r>
            <a:pPr algn="l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'순수 증가분'</a:t>
            </a:r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발라내는 것 </a:t>
            </a:r>
            <a:endParaRPr lang="en-US" sz="12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587191" y="3476549"/>
            <a:ext cx="152705" cy="152705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857707" y="4334256"/>
            <a:ext cx="5095951" cy="3810305"/>
          </a:xfrm>
          <a:prstGeom prst="roundRect">
            <a:avLst>
              <a:gd name="adj" fmla="val 192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57707" y="4334256"/>
            <a:ext cx="5095951" cy="47549"/>
          </a:xfrm>
          <a:prstGeom prst="roundRect">
            <a:avLst>
              <a:gd name="adj" fmla="val 153846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1590142" y="4667098"/>
            <a:ext cx="42583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SHAP 기여도 기반 타겟팅 </a:t>
            </a:r>
            <a:endParaRPr lang="en-US" sz="15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152144" y="4667098"/>
            <a:ext cx="342900" cy="342900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5"/>
          <a:srcRect l="0" r="0" t="-1100" b="-1100"/>
          <a:stretch/>
        </p:blipFill>
        <p:spPr>
          <a:xfrm>
            <a:off x="1152144" y="5152644"/>
            <a:ext cx="114300" cy="13350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419149" y="5152644"/>
            <a:ext cx="4315054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민감도 분석: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onpromotion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피처의 SHAP 값이 높은 카테고리/매장을 식별합니다.</a:t>
            </a:r>
            <a:endParaRPr lang="en-US" sz="12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1100" b="-1100"/>
          <a:stretch/>
        </p:blipFill>
        <p:spPr>
          <a:xfrm>
            <a:off x="1152144" y="5811926"/>
            <a:ext cx="114300" cy="133502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419149" y="5811926"/>
            <a:ext cx="4315054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선택과 집중: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프로모션 반응도가 낮은 그룹(SHAP 값 ≈ 0)은 예산을 줄이고, 반응도가 높은 그룹에 집중 투자합니다.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1152144" y="6442862"/>
            <a:ext cx="4505249" cy="1410005"/>
          </a:xfrm>
          <a:prstGeom prst="roundRect">
            <a:avLst>
              <a:gd name="adj" fmla="val 8764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1304849" y="6594653"/>
            <a:ext cx="11055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Target Segment</a:t>
            </a:r>
            <a:endParaRPr lang="en-US" sz="900" dirty="0"/>
          </a:p>
        </p:txBody>
      </p:sp>
      <p:sp>
        <p:nvSpPr>
          <p:cNvPr id="27" name="Text 20"/>
          <p:cNvSpPr txBox="1"/>
          <p:nvPr/>
        </p:nvSpPr>
        <p:spPr>
          <a:xfrm>
            <a:off x="4270248" y="6594653"/>
            <a:ext cx="139628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SHAP Value (Impact)</a:t>
            </a:r>
            <a:endParaRPr lang="en-US" sz="900" dirty="0"/>
          </a:p>
        </p:txBody>
      </p:sp>
      <p:sp>
        <p:nvSpPr>
          <p:cNvPr id="28" name="Shape 21"/>
          <p:cNvSpPr/>
          <p:nvPr/>
        </p:nvSpPr>
        <p:spPr>
          <a:xfrm>
            <a:off x="1304849" y="7100316"/>
            <a:ext cx="4200754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1304849" y="6842455"/>
            <a:ext cx="12701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Grocery I (식료품)</a:t>
            </a:r>
            <a:endParaRPr lang="en-US" sz="1000" dirty="0"/>
          </a:p>
        </p:txBody>
      </p:sp>
      <p:sp>
        <p:nvSpPr>
          <p:cNvPr id="30" name="Text 23"/>
          <p:cNvSpPr txBox="1"/>
          <p:nvPr/>
        </p:nvSpPr>
        <p:spPr>
          <a:xfrm>
            <a:off x="4624121" y="6842455"/>
            <a:ext cx="105430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+1,250 (High)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1304849" y="7424014"/>
            <a:ext cx="4200754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1304849" y="7166153"/>
            <a:ext cx="90708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Books (서적)</a:t>
            </a:r>
            <a:endParaRPr lang="en-US" sz="1000" dirty="0"/>
          </a:p>
        </p:txBody>
      </p:sp>
      <p:sp>
        <p:nvSpPr>
          <p:cNvPr id="33" name="Text 26"/>
          <p:cNvSpPr txBox="1"/>
          <p:nvPr/>
        </p:nvSpPr>
        <p:spPr>
          <a:xfrm>
            <a:off x="4898441" y="7166153"/>
            <a:ext cx="7260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+50 (Low)</a:t>
            </a:r>
            <a:endParaRPr lang="en-US" sz="1000" dirty="0"/>
          </a:p>
        </p:txBody>
      </p:sp>
      <p:sp>
        <p:nvSpPr>
          <p:cNvPr id="34" name="Text 27"/>
          <p:cNvSpPr txBox="1"/>
          <p:nvPr/>
        </p:nvSpPr>
        <p:spPr>
          <a:xfrm>
            <a:off x="3871570" y="7509053"/>
            <a:ext cx="182514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식료품에 예산 집중 시 ROI 상승 </a:t>
            </a:r>
            <a:endParaRPr lang="en-US" sz="900" dirty="0"/>
          </a:p>
        </p:txBody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1359" b="-1359"/>
          <a:stretch/>
        </p:blipFill>
        <p:spPr>
          <a:xfrm>
            <a:off x="3732581" y="7543800"/>
            <a:ext cx="105156" cy="123444"/>
          </a:xfrm>
          <a:prstGeom prst="rect">
            <a:avLst/>
          </a:prstGeom>
        </p:spPr>
      </p:pic>
      <p:sp>
        <p:nvSpPr>
          <p:cNvPr id="36" name="Shape 28"/>
          <p:cNvSpPr/>
          <p:nvPr/>
        </p:nvSpPr>
        <p:spPr>
          <a:xfrm>
            <a:off x="6238951" y="4334256"/>
            <a:ext cx="5095951" cy="3810305"/>
          </a:xfrm>
          <a:prstGeom prst="roundRect">
            <a:avLst>
              <a:gd name="adj" fmla="val 192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6238951" y="4334256"/>
            <a:ext cx="5095951" cy="47549"/>
          </a:xfrm>
          <a:prstGeom prst="roundRect">
            <a:avLst>
              <a:gd name="adj" fmla="val 153846"/>
            </a:avLst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8" name="Text 30"/>
          <p:cNvSpPr txBox="1"/>
          <p:nvPr/>
        </p:nvSpPr>
        <p:spPr>
          <a:xfrm>
            <a:off x="6972300" y="4667098"/>
            <a:ext cx="42583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B21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최적화 시뮬레이션 </a:t>
            </a:r>
            <a:endParaRPr lang="en-US" sz="1500" dirty="0"/>
          </a:p>
        </p:txBody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534302" y="4667098"/>
            <a:ext cx="342900" cy="342900"/>
          </a:xfrm>
          <a:prstGeom prst="rect">
            <a:avLst/>
          </a:prstGeom>
        </p:spPr>
      </p:pic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1100" b="-1100"/>
          <a:stretch/>
        </p:blipFill>
        <p:spPr>
          <a:xfrm>
            <a:off x="6534302" y="5152644"/>
            <a:ext cx="114300" cy="133502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6801307" y="5152644"/>
            <a:ext cx="4315054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What-if 분석: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"예산을 10% 늘리면 매출은 얼마나 오를까?" 시나리오를 모델로 예측합니다.</a:t>
            </a:r>
            <a:endParaRPr lang="en-US" sz="1200" dirty="0"/>
          </a:p>
        </p:txBody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8"/>
          <a:srcRect l="0" r="0" t="-1100" b="-1100"/>
          <a:stretch/>
        </p:blipFill>
        <p:spPr>
          <a:xfrm>
            <a:off x="6534302" y="5783580"/>
            <a:ext cx="114300" cy="133502"/>
          </a:xfrm>
          <a:prstGeom prst="rect">
            <a:avLst/>
          </a:prstGeom>
        </p:spPr>
      </p:pic>
      <p:sp>
        <p:nvSpPr>
          <p:cNvPr id="43" name="Text 32"/>
          <p:cNvSpPr txBox="1"/>
          <p:nvPr/>
        </p:nvSpPr>
        <p:spPr>
          <a:xfrm>
            <a:off x="6801307" y="5783580"/>
            <a:ext cx="4315054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한계수익 체감 고려: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비용이 늘어날수록 효율(ROI)은 떨어지는 지점(S-curve)을 찾아 적정 예산을 산출합니다.</a:t>
            </a:r>
            <a:endParaRPr lang="en-US" sz="1200" dirty="0"/>
          </a:p>
        </p:txBody>
      </p:sp>
      <p:pic>
        <p:nvPicPr>
          <p:cNvPr id="44" name="Image 9" descr="preencoded.png">    </p:cNvPr>
          <p:cNvPicPr>
            <a:picLocks noChangeAspect="1"/>
          </p:cNvPicPr>
          <p:nvPr/>
        </p:nvPicPr>
        <p:blipFill>
          <a:blip r:embed="rId9"/>
          <a:srcRect l="-2512" r="-2512" t="0" b="0"/>
          <a:stretch/>
        </p:blipFill>
        <p:spPr>
          <a:xfrm>
            <a:off x="6534302" y="6413602"/>
            <a:ext cx="105156" cy="133502"/>
          </a:xfrm>
          <a:prstGeom prst="rect">
            <a:avLst/>
          </a:prstGeom>
        </p:spPr>
      </p:pic>
      <p:sp>
        <p:nvSpPr>
          <p:cNvPr id="45" name="Text 33"/>
          <p:cNvSpPr txBox="1"/>
          <p:nvPr/>
        </p:nvSpPr>
        <p:spPr>
          <a:xfrm>
            <a:off x="6791249" y="6413602"/>
            <a:ext cx="4324198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Action: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예상 ROI가 100% 미만인 캠페인은 중단하거나 전략을 수정합니다.</a:t>
            </a:r>
            <a:endParaRPr lang="en-US" sz="1200" dirty="0"/>
          </a:p>
        </p:txBody>
      </p:sp>
      <p:pic>
        <p:nvPicPr>
          <p:cNvPr id="46" name="Image 10" descr="preencoded.png">    </p:cNvPr>
          <p:cNvPicPr>
            <a:picLocks noChangeAspect="1"/>
          </p:cNvPicPr>
          <p:nvPr/>
        </p:nvPicPr>
        <p:blipFill>
          <a:blip r:embed="rId10"/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34195" y="-952805"/>
            <a:ext cx="3810305" cy="3810305"/>
          </a:xfrm>
          <a:prstGeom prst="ellipse">
            <a:avLst/>
          </a:prstGeom>
          <a:solidFill>
            <a:srgbClr val="F1F5F9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476402" y="4476902"/>
            <a:ext cx="2857500" cy="2857500"/>
          </a:xfrm>
          <a:prstGeom prst="ellipse">
            <a:avLst/>
          </a:prstGeom>
          <a:solidFill>
            <a:srgbClr val="E2E8F0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38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476402"/>
            <a:ext cx="113541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spc="-72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실무 적용 시 주의사항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257300"/>
            <a:ext cx="112398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성공적인 예측 모델 운영과 비즈니스 활용을 위한 4가지 핵심 원칙</a:t>
            </a:r>
            <a:endParaRPr lang="en-US" sz="1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rcRect l="-11" r="-11" t="0" b="0"/>
          <a:stretch/>
        </p:blipFill>
        <p:spPr>
          <a:xfrm>
            <a:off x="857707" y="1990649"/>
            <a:ext cx="5048402" cy="195224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57707" y="1990649"/>
            <a:ext cx="57607" cy="1933956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2286000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304849" y="2438705"/>
            <a:ext cx="267005" cy="26700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952244" y="2286000"/>
            <a:ext cx="384871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과거 패턴 학습의 한계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1952244" y="2676449"/>
            <a:ext cx="3734410" cy="9720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모델은 과거 데이터의 패턴만 학습합니다. 시장 구조의 급격한 변화나 전례 없는 이벤트 발생 시에는 과거 데이터 기반 예측이 빗나갈 수 있으므로 재학습이 필수적입니다.</a:t>
            </a:r>
            <a:endParaRPr lang="en-US" sz="12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2"/>
          <a:srcRect l="-11" r="-11" t="0" b="0"/>
          <a:stretch/>
        </p:blipFill>
        <p:spPr>
          <a:xfrm>
            <a:off x="6286500" y="1990649"/>
            <a:ext cx="5048402" cy="1952244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286500" y="1990649"/>
            <a:ext cx="57607" cy="1933956"/>
          </a:xfrm>
          <a:prstGeom prst="rect">
            <a:avLst/>
          </a:prstGeom>
          <a:solidFill>
            <a:srgbClr val="06B6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581851" y="2286000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ECF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734556" y="2438705"/>
            <a:ext cx="267005" cy="26700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381951" y="2286000"/>
            <a:ext cx="384871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예측의 불확실성 수용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7381951" y="2676449"/>
            <a:ext cx="3734410" cy="9720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예측에는 오차가 존재합니다. '정확히 100개'라는 단일 숫자(Point Estimate)보다는 '90~110개'와 같은 신뢰구간(Confidence Interval)을 활용하여 리스크를 관리하세요.</a:t>
            </a:r>
            <a:endParaRPr lang="en-US" sz="12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2"/>
          <a:srcRect l="-11" r="-11" t="0" b="0"/>
          <a:stretch/>
        </p:blipFill>
        <p:spPr>
          <a:xfrm>
            <a:off x="857707" y="4324198"/>
            <a:ext cx="5048402" cy="1952244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857707" y="4324198"/>
            <a:ext cx="57607" cy="1933956"/>
          </a:xfrm>
          <a:prstGeom prst="rect">
            <a:avLst/>
          </a:prstGeom>
          <a:solidFill>
            <a:srgbClr val="8B5C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1152144" y="4619549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F5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271930" y="4772254"/>
            <a:ext cx="333756" cy="267005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952244" y="4619549"/>
            <a:ext cx="384871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의사결정의 보조 도구</a:t>
            </a:r>
            <a:endParaRPr lang="en-US" sz="1600" dirty="0"/>
          </a:p>
        </p:txBody>
      </p:sp>
      <p:sp>
        <p:nvSpPr>
          <p:cNvPr id="26" name="Text 18"/>
          <p:cNvSpPr txBox="1"/>
          <p:nvPr/>
        </p:nvSpPr>
        <p:spPr>
          <a:xfrm>
            <a:off x="1952244" y="5009998"/>
            <a:ext cx="3734410" cy="9720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모델은 결정을 대체하는 것이 아니라 보조하는 도구입니다. 예산 제약, 브랜드 전략, 경쟁사 동향 등 모델이 학습하지 못한 비즈니스 맥락을 인간이 함께 고려해야 합니다.</a:t>
            </a:r>
            <a:endParaRPr lang="en-US" sz="120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2"/>
          <a:srcRect l="-11" r="-11" t="0" b="0"/>
          <a:stretch/>
        </p:blipFill>
        <p:spPr>
          <a:xfrm>
            <a:off x="6286500" y="4324198"/>
            <a:ext cx="5048402" cy="1952244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6286500" y="4324198"/>
            <a:ext cx="57607" cy="1933956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0"/>
          <p:cNvSpPr/>
          <p:nvPr/>
        </p:nvSpPr>
        <p:spPr>
          <a:xfrm>
            <a:off x="6581851" y="4619549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734556" y="4772254"/>
            <a:ext cx="267005" cy="267005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7381951" y="4619549"/>
            <a:ext cx="384871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지속적인 모니터링</a:t>
            </a:r>
            <a:endParaRPr lang="en-US" sz="1600" dirty="0"/>
          </a:p>
        </p:txBody>
      </p:sp>
      <p:sp>
        <p:nvSpPr>
          <p:cNvPr id="32" name="Text 22"/>
          <p:cNvSpPr txBox="1"/>
          <p:nvPr/>
        </p:nvSpPr>
        <p:spPr>
          <a:xfrm>
            <a:off x="7381951" y="5009998"/>
            <a:ext cx="3734410" cy="9720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시간이 지날수록 데이터 분포가 변하며 모델 성능이 저하될 수 있습니다(Concept Drift). 정확도를 지속 추적하고 성능 하락 시 자동으로 재학습하는 파이프라인을 구축하세요.</a:t>
            </a:r>
            <a:endParaRPr lang="en-US" sz="1200" dirty="0"/>
          </a:p>
        </p:txBody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7"/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61695" y="-1143000"/>
            <a:ext cx="4762195" cy="4762195"/>
          </a:xfrm>
          <a:prstGeom prst="ellipse">
            <a:avLst/>
          </a:prstGeom>
          <a:solidFill>
            <a:srgbClr val="10B981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24598" y="2381098"/>
            <a:ext cx="5238598" cy="5238598"/>
          </a:xfrm>
          <a:prstGeom prst="ellipse">
            <a:avLst/>
          </a:prstGeom>
          <a:solidFill>
            <a:srgbClr val="059669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81405" y="763524"/>
            <a:ext cx="98298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50" kern="0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 Analysis Automation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52144" y="1278331"/>
            <a:ext cx="9887407" cy="142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spc="-102" kern="0" dirty="0">
                <a:solidFill>
                  <a:srgbClr val="064E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3. 데이터 분석 자동화 </a:t>
            </a:r>
            <a:pPr algn="ctr" indent="0" marL="0">
              <a:buNone/>
            </a:pPr>
            <a:endParaRPr lang="en-US" sz="5100" dirty="0"/>
          </a:p>
          <a:p>
            <a:pPr algn="ctr" indent="0" marL="0">
              <a:buNone/>
            </a:pPr>
            <a:r>
              <a:rPr lang="en-US" sz="5100" b="1" spc="-102" kern="0" dirty="0">
                <a:solidFill>
                  <a:srgbClr val="064E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RAG Chatbot</a:t>
            </a:r>
            <a:endParaRPr lang="en-US" sz="51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2931566"/>
            <a:ext cx="9906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문서와 데이터를 함께 이해하는 AI 분석가 만들기</a:t>
            </a:r>
            <a:endParaRPr lang="en-US" sz="2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rcRect l="-7" r="-7" t="0" b="0"/>
          <a:stretch/>
        </p:blipFill>
        <p:spPr>
          <a:xfrm>
            <a:off x="1238098" y="3960266"/>
            <a:ext cx="9715500" cy="213329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086246" y="4486046"/>
            <a:ext cx="9144" cy="1081735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009851" y="4398264"/>
            <a:ext cx="237744" cy="19019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361895" y="4350715"/>
            <a:ext cx="93543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목표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2009851" y="4788713"/>
            <a:ext cx="38770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문서(비정형)와 표(정형) 데이터를 함께 검색하여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질문에 답변하는 </a:t>
            </a:r>
            <a:pPr algn="l" indent="0" marL="0">
              <a:buNone/>
            </a:pPr>
            <a:r>
              <a:rPr lang="en-US" sz="15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실무형 분석 챗봇</a:t>
            </a:r>
            <a:pPr algn="l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구현 </a:t>
            </a:r>
            <a:endParaRPr lang="en-US" sz="15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rcRect l="-1282" r="-1282" t="0" b="0"/>
          <a:stretch/>
        </p:blipFill>
        <p:spPr>
          <a:xfrm>
            <a:off x="6381598" y="4398264"/>
            <a:ext cx="219456" cy="19019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715354" y="4350715"/>
            <a:ext cx="113842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산출물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6381598" y="4788713"/>
            <a:ext cx="38770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RAG 파이프라인 &amp; 라우팅 로직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Streamlit 챗봇 UI 데모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근거(Source)가 포함된 자동 응답 시스템 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0" y="6705295"/>
            <a:ext cx="12191695" cy="152705"/>
          </a:xfrm>
          <a:prstGeom prst="rect">
            <a:avLst/>
          </a:prstGeom>
          <a:solidFill>
            <a:srgbClr val="064E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34195" y="-952805"/>
            <a:ext cx="3810305" cy="3810305"/>
          </a:xfrm>
          <a:prstGeom prst="ellipse">
            <a:avLst/>
          </a:prstGeom>
          <a:solidFill>
            <a:srgbClr val="F1F5F9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476402" y="4476902"/>
            <a:ext cx="2857500" cy="2857500"/>
          </a:xfrm>
          <a:prstGeom prst="ellipse">
            <a:avLst/>
          </a:prstGeom>
          <a:solidFill>
            <a:srgbClr val="E2E8F0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40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476402"/>
            <a:ext cx="113541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spc="-72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오늘의 아젠다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257300"/>
            <a:ext cx="111639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분석 자동화: RAG Chatbot 구축과 운영 전략</a:t>
            </a:r>
            <a:endParaRPr lang="en-US" sz="1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rcRect l="0" r="0" t="-5" b="-5"/>
          <a:stretch/>
        </p:blipFill>
        <p:spPr>
          <a:xfrm>
            <a:off x="619049" y="2505456"/>
            <a:ext cx="5286146" cy="1438351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19049" y="2505456"/>
            <a:ext cx="57607" cy="1419149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14400" y="2800807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33272" y="2952598"/>
            <a:ext cx="333756" cy="26700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714500" y="2800807"/>
            <a:ext cx="4010558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RAG 개념 및 검색 전략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1714500" y="3191256"/>
            <a:ext cx="39721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 한계를 극복하는 RAG 원리와 이원화 검색 경로 (CSV → DuckDB / 문서 → 벡터DB)</a:t>
            </a:r>
            <a:endParaRPr lang="en-US" sz="12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2"/>
          <a:srcRect l="0" r="0" t="-5" b="-5"/>
          <a:stretch/>
        </p:blipFill>
        <p:spPr>
          <a:xfrm>
            <a:off x="6286500" y="2505456"/>
            <a:ext cx="5286146" cy="1438351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286500" y="2505456"/>
            <a:ext cx="57607" cy="1419149"/>
          </a:xfrm>
          <a:prstGeom prst="rect">
            <a:avLst/>
          </a:prstGeom>
          <a:solidFill>
            <a:srgbClr val="06B6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581851" y="2800807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ECF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rcRect l="-685" r="-685" t="0" b="0"/>
          <a:stretch/>
        </p:blipFill>
        <p:spPr>
          <a:xfrm>
            <a:off x="6715354" y="2952598"/>
            <a:ext cx="304495" cy="26700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381951" y="2800807"/>
            <a:ext cx="408645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임베딩 및 벡터 데이터베이스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7381951" y="3191256"/>
            <a:ext cx="39721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텍스트의 의미를 벡터로 변환하는 임베딩 기술과 ChromaDB, Text-to-SQL 활용법</a:t>
            </a:r>
            <a:endParaRPr lang="en-US" sz="12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2"/>
          <a:srcRect l="0" r="0" t="-5" b="-5"/>
          <a:stretch/>
        </p:blipFill>
        <p:spPr>
          <a:xfrm>
            <a:off x="619049" y="4324198"/>
            <a:ext cx="5286146" cy="1438351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619049" y="4324198"/>
            <a:ext cx="57607" cy="1419149"/>
          </a:xfrm>
          <a:prstGeom prst="rect">
            <a:avLst/>
          </a:prstGeom>
          <a:solidFill>
            <a:srgbClr val="8B5C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914400" y="4619549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F5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067105" y="4772254"/>
            <a:ext cx="267005" cy="267005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714500" y="4619549"/>
            <a:ext cx="408645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지능형 에이전트 아키텍처</a:t>
            </a:r>
            <a:endParaRPr lang="en-US" sz="1600" dirty="0"/>
          </a:p>
        </p:txBody>
      </p:sp>
      <p:sp>
        <p:nvSpPr>
          <p:cNvPr id="26" name="Text 18"/>
          <p:cNvSpPr txBox="1"/>
          <p:nvPr/>
        </p:nvSpPr>
        <p:spPr>
          <a:xfrm>
            <a:off x="1714500" y="5009998"/>
            <a:ext cx="39721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Tool Calling 기반의 라우팅, LangGraph 워크플로우, ReAct 패턴 구현</a:t>
            </a:r>
            <a:endParaRPr lang="en-US" sz="120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2"/>
          <a:srcRect l="0" r="0" t="-5" b="-5"/>
          <a:stretch/>
        </p:blipFill>
        <p:spPr>
          <a:xfrm>
            <a:off x="6286500" y="4324198"/>
            <a:ext cx="5286146" cy="1438351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6286500" y="4324198"/>
            <a:ext cx="57607" cy="1419149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0"/>
          <p:cNvSpPr/>
          <p:nvPr/>
        </p:nvSpPr>
        <p:spPr>
          <a:xfrm>
            <a:off x="6581851" y="4619549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6"/>
          <a:srcRect l="-685" r="-685" t="0" b="0"/>
          <a:stretch/>
        </p:blipFill>
        <p:spPr>
          <a:xfrm>
            <a:off x="6715354" y="4772254"/>
            <a:ext cx="304495" cy="267005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7381951" y="4619549"/>
            <a:ext cx="408645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 구현 및 운영 가이드</a:t>
            </a:r>
            <a:endParaRPr lang="en-US" sz="1600" dirty="0"/>
          </a:p>
        </p:txBody>
      </p:sp>
      <p:sp>
        <p:nvSpPr>
          <p:cNvPr id="32" name="Text 22"/>
          <p:cNvSpPr txBox="1"/>
          <p:nvPr/>
        </p:nvSpPr>
        <p:spPr>
          <a:xfrm>
            <a:off x="7381951" y="5009998"/>
            <a:ext cx="39721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Streamlit 기반 챗봇 인터페이스 개발과 모니터링, 보안 베스트 프랙티스</a:t>
            </a:r>
            <a:endParaRPr lang="en-US" sz="1200" dirty="0"/>
          </a:p>
        </p:txBody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7"/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>
            <a:alphaModFix amt="5000"/>
          </a:blip>
          <a:srcRect l="0" r="0" t="0" b="0"/>
          <a:stretch/>
        </p:blipFill>
        <p:spPr>
          <a:xfrm>
            <a:off x="9905695" y="381305"/>
            <a:ext cx="1904695" cy="190469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41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71500" y="381305"/>
            <a:ext cx="11239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spc="-63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RAG 작동 원리</a:t>
            </a:r>
            <a:endParaRPr lang="en-US" sz="3100" dirty="0"/>
          </a:p>
        </p:txBody>
      </p:sp>
      <p:sp>
        <p:nvSpPr>
          <p:cNvPr id="7" name="Text 4"/>
          <p:cNvSpPr txBox="1"/>
          <p:nvPr/>
        </p:nvSpPr>
        <p:spPr>
          <a:xfrm>
            <a:off x="571500" y="1057046"/>
            <a:ext cx="111639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Retrieval-Augmented Generation: 검색 증강 생성 프로세스</a:t>
            </a:r>
            <a:endParaRPr lang="en-US" sz="15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rcRect l="-1923" r="-1923" t="0" b="0"/>
          <a:stretch/>
        </p:blipFill>
        <p:spPr>
          <a:xfrm>
            <a:off x="3124505" y="3957523"/>
            <a:ext cx="123444" cy="190195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-1923" r="-1923" t="0" b="0"/>
          <a:stretch/>
        </p:blipFill>
        <p:spPr>
          <a:xfrm>
            <a:off x="6034126" y="3957523"/>
            <a:ext cx="123444" cy="190195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3"/>
          <a:srcRect l="-1923" r="-1923" t="0" b="0"/>
          <a:stretch/>
        </p:blipFill>
        <p:spPr>
          <a:xfrm>
            <a:off x="8943746" y="3957523"/>
            <a:ext cx="123444" cy="190195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4"/>
          <a:srcRect l="0" r="0" t="-4" b="-4"/>
          <a:stretch/>
        </p:blipFill>
        <p:spPr>
          <a:xfrm>
            <a:off x="571500" y="2585923"/>
            <a:ext cx="2318918" cy="2933395"/>
          </a:xfrm>
          <a:prstGeom prst="rect">
            <a:avLst/>
          </a:prstGeom>
        </p:spPr>
      </p:pic>
      <p:sp>
        <p:nvSpPr>
          <p:cNvPr id="12" name="Shape 5"/>
          <p:cNvSpPr/>
          <p:nvPr/>
        </p:nvSpPr>
        <p:spPr>
          <a:xfrm>
            <a:off x="771754" y="3243377"/>
            <a:ext cx="1923898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13" name="Shape 6"/>
          <p:cNvSpPr/>
          <p:nvPr/>
        </p:nvSpPr>
        <p:spPr>
          <a:xfrm>
            <a:off x="771754" y="2824582"/>
            <a:ext cx="304495" cy="304495"/>
          </a:xfrm>
          <a:prstGeom prst="ellipse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7"/>
          <p:cNvSpPr/>
          <p:nvPr/>
        </p:nvSpPr>
        <p:spPr>
          <a:xfrm>
            <a:off x="733349" y="2824582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8"/>
          <p:cNvSpPr txBox="1"/>
          <p:nvPr/>
        </p:nvSpPr>
        <p:spPr>
          <a:xfrm>
            <a:off x="1171346" y="2848356"/>
            <a:ext cx="149687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 (Question)</a:t>
            </a:r>
            <a:endParaRPr lang="en-US" sz="1300" dirty="0"/>
          </a:p>
        </p:txBody>
      </p:sp>
      <p:sp>
        <p:nvSpPr>
          <p:cNvPr id="16" name="Shape 9"/>
          <p:cNvSpPr/>
          <p:nvPr/>
        </p:nvSpPr>
        <p:spPr>
          <a:xfrm>
            <a:off x="771754" y="3414370"/>
            <a:ext cx="1923898" cy="629107"/>
          </a:xfrm>
          <a:prstGeom prst="roundRect">
            <a:avLst>
              <a:gd name="adj" fmla="val 35236"/>
            </a:avLst>
          </a:prstGeom>
          <a:solidFill>
            <a:srgbClr val="F8FAFC"/>
          </a:solidFill>
          <a:ln/>
        </p:spPr>
      </p:sp>
      <p:sp>
        <p:nvSpPr>
          <p:cNvPr id="17" name="Shape 10"/>
          <p:cNvSpPr/>
          <p:nvPr/>
        </p:nvSpPr>
        <p:spPr>
          <a:xfrm>
            <a:off x="771754" y="3414370"/>
            <a:ext cx="38405" cy="629107"/>
          </a:xfrm>
          <a:prstGeom prst="roundRect">
            <a:avLst>
              <a:gd name="adj" fmla="val 577198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8" name="Text 11"/>
          <p:cNvSpPr txBox="1"/>
          <p:nvPr/>
        </p:nvSpPr>
        <p:spPr>
          <a:xfrm>
            <a:off x="923544" y="3528670"/>
            <a:ext cx="1723644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"사용자의 자연어 질의 입력"</a:t>
            </a:r>
            <a:endParaRPr lang="en-US" sz="1100" dirty="0"/>
          </a:p>
        </p:txBody>
      </p:sp>
      <p:sp>
        <p:nvSpPr>
          <p:cNvPr id="19" name="Text 12"/>
          <p:cNvSpPr txBox="1"/>
          <p:nvPr/>
        </p:nvSpPr>
        <p:spPr>
          <a:xfrm>
            <a:off x="771754" y="4196182"/>
            <a:ext cx="20784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활동</a:t>
            </a:r>
            <a:endParaRPr lang="en-US" sz="900" dirty="0"/>
          </a:p>
        </p:txBody>
      </p:sp>
      <p:sp>
        <p:nvSpPr>
          <p:cNvPr id="20" name="Text 13"/>
          <p:cNvSpPr txBox="1"/>
          <p:nvPr/>
        </p:nvSpPr>
        <p:spPr>
          <a:xfrm>
            <a:off x="771754" y="4457700"/>
            <a:ext cx="20784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의도 파악</a:t>
            </a:r>
            <a:endParaRPr lang="en-US" sz="1100" dirty="0"/>
          </a:p>
        </p:txBody>
      </p:sp>
      <p:sp>
        <p:nvSpPr>
          <p:cNvPr id="21" name="Text 14"/>
          <p:cNvSpPr txBox="1"/>
          <p:nvPr/>
        </p:nvSpPr>
        <p:spPr>
          <a:xfrm>
            <a:off x="771754" y="4729277"/>
            <a:ext cx="20784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검색 쿼리 최적화</a:t>
            </a:r>
            <a:endParaRPr lang="en-US" sz="1100" dirty="0"/>
          </a:p>
        </p:txBody>
      </p:sp>
      <p:sp>
        <p:nvSpPr>
          <p:cNvPr id="22" name="Text 15"/>
          <p:cNvSpPr txBox="1"/>
          <p:nvPr/>
        </p:nvSpPr>
        <p:spPr>
          <a:xfrm>
            <a:off x="771754" y="5000854"/>
            <a:ext cx="20016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라우팅(CSV/MD) 결정</a:t>
            </a:r>
            <a:endParaRPr lang="en-US" sz="11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4"/>
          <a:srcRect l="0" r="0" t="-4" b="-4"/>
          <a:stretch/>
        </p:blipFill>
        <p:spPr>
          <a:xfrm>
            <a:off x="3481121" y="2585923"/>
            <a:ext cx="2318918" cy="2933395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3681374" y="3243377"/>
            <a:ext cx="1923898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25" name="Shape 17"/>
          <p:cNvSpPr/>
          <p:nvPr/>
        </p:nvSpPr>
        <p:spPr>
          <a:xfrm>
            <a:off x="3681374" y="2824582"/>
            <a:ext cx="304495" cy="304495"/>
          </a:xfrm>
          <a:prstGeom prst="ellipse">
            <a:avLst/>
          </a:prstGeom>
          <a:solidFill>
            <a:srgbClr val="ECF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18"/>
          <p:cNvSpPr/>
          <p:nvPr/>
        </p:nvSpPr>
        <p:spPr>
          <a:xfrm>
            <a:off x="3642970" y="2824582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19"/>
          <p:cNvSpPr txBox="1"/>
          <p:nvPr/>
        </p:nvSpPr>
        <p:spPr>
          <a:xfrm>
            <a:off x="4081882" y="2848356"/>
            <a:ext cx="149687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검색 (Retrieval)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3681374" y="3414370"/>
            <a:ext cx="1923898" cy="428854"/>
          </a:xfrm>
          <a:prstGeom prst="roundRect">
            <a:avLst>
              <a:gd name="adj" fmla="val 75811"/>
            </a:avLst>
          </a:prstGeom>
          <a:solidFill>
            <a:srgbClr val="F8FAFC"/>
          </a:solidFill>
          <a:ln/>
        </p:spPr>
      </p:sp>
      <p:sp>
        <p:nvSpPr>
          <p:cNvPr id="29" name="Shape 21"/>
          <p:cNvSpPr/>
          <p:nvPr/>
        </p:nvSpPr>
        <p:spPr>
          <a:xfrm>
            <a:off x="3681374" y="3414370"/>
            <a:ext cx="38405" cy="428854"/>
          </a:xfrm>
          <a:prstGeom prst="roundRect">
            <a:avLst>
              <a:gd name="adj" fmla="val 846556"/>
            </a:avLst>
          </a:prstGeom>
          <a:solidFill>
            <a:srgbClr val="0891B2"/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30" name="Text 22"/>
          <p:cNvSpPr txBox="1"/>
          <p:nvPr/>
        </p:nvSpPr>
        <p:spPr>
          <a:xfrm>
            <a:off x="3834079" y="3528670"/>
            <a:ext cx="18516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"관련된 외부 지식 탐색"</a:t>
            </a:r>
            <a:endParaRPr lang="en-US" sz="1100" dirty="0"/>
          </a:p>
        </p:txBody>
      </p:sp>
      <p:sp>
        <p:nvSpPr>
          <p:cNvPr id="31" name="Text 23"/>
          <p:cNvSpPr txBox="1"/>
          <p:nvPr/>
        </p:nvSpPr>
        <p:spPr>
          <a:xfrm>
            <a:off x="3681374" y="3995928"/>
            <a:ext cx="20784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활동</a:t>
            </a:r>
            <a:endParaRPr lang="en-US" sz="900" dirty="0"/>
          </a:p>
        </p:txBody>
      </p:sp>
      <p:sp>
        <p:nvSpPr>
          <p:cNvPr id="32" name="Text 24"/>
          <p:cNvSpPr txBox="1"/>
          <p:nvPr/>
        </p:nvSpPr>
        <p:spPr>
          <a:xfrm>
            <a:off x="3681374" y="4257446"/>
            <a:ext cx="21515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벡터 유사도 검색 (ChromaDB)</a:t>
            </a:r>
            <a:endParaRPr lang="en-US" sz="1100" dirty="0"/>
          </a:p>
        </p:txBody>
      </p:sp>
      <p:sp>
        <p:nvSpPr>
          <p:cNvPr id="33" name="Text 25"/>
          <p:cNvSpPr txBox="1"/>
          <p:nvPr/>
        </p:nvSpPr>
        <p:spPr>
          <a:xfrm>
            <a:off x="3681374" y="4529023"/>
            <a:ext cx="20016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SQL 데이터 조회 (DuckDB)</a:t>
            </a:r>
            <a:endParaRPr lang="en-US" sz="1100" dirty="0"/>
          </a:p>
        </p:txBody>
      </p:sp>
      <p:sp>
        <p:nvSpPr>
          <p:cNvPr id="34" name="Text 26"/>
          <p:cNvSpPr txBox="1"/>
          <p:nvPr/>
        </p:nvSpPr>
        <p:spPr>
          <a:xfrm>
            <a:off x="3681374" y="4800600"/>
            <a:ext cx="20016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Top-k 관련 문서 추출</a:t>
            </a:r>
            <a:endParaRPr lang="en-US" sz="1100" dirty="0"/>
          </a:p>
        </p:txBody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4"/>
          <a:srcRect l="0" r="0" t="-4" b="-4"/>
          <a:stretch/>
        </p:blipFill>
        <p:spPr>
          <a:xfrm>
            <a:off x="6391656" y="2585923"/>
            <a:ext cx="2318918" cy="2933395"/>
          </a:xfrm>
          <a:prstGeom prst="rect">
            <a:avLst/>
          </a:prstGeom>
        </p:spPr>
      </p:pic>
      <p:sp>
        <p:nvSpPr>
          <p:cNvPr id="36" name="Shape 27"/>
          <p:cNvSpPr/>
          <p:nvPr/>
        </p:nvSpPr>
        <p:spPr>
          <a:xfrm>
            <a:off x="6590995" y="3452774"/>
            <a:ext cx="1923898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37" name="Shape 28"/>
          <p:cNvSpPr/>
          <p:nvPr/>
        </p:nvSpPr>
        <p:spPr>
          <a:xfrm>
            <a:off x="6590995" y="2928823"/>
            <a:ext cx="286207" cy="304495"/>
          </a:xfrm>
          <a:prstGeom prst="roundRect">
            <a:avLst>
              <a:gd name="adj" fmla="val 319489"/>
            </a:avLst>
          </a:prstGeom>
          <a:solidFill>
            <a:srgbClr val="F0F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6553505" y="2928823"/>
            <a:ext cx="36210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200" dirty="0"/>
          </a:p>
        </p:txBody>
      </p:sp>
      <p:sp>
        <p:nvSpPr>
          <p:cNvPr id="39" name="Text 30"/>
          <p:cNvSpPr txBox="1"/>
          <p:nvPr/>
        </p:nvSpPr>
        <p:spPr>
          <a:xfrm>
            <a:off x="6964985" y="2824582"/>
            <a:ext cx="161483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통합 (Augmentation)</a:t>
            </a:r>
            <a:endParaRPr lang="en-US" sz="1300" dirty="0"/>
          </a:p>
        </p:txBody>
      </p:sp>
      <p:sp>
        <p:nvSpPr>
          <p:cNvPr id="40" name="Shape 31"/>
          <p:cNvSpPr/>
          <p:nvPr/>
        </p:nvSpPr>
        <p:spPr>
          <a:xfrm>
            <a:off x="6590995" y="3624682"/>
            <a:ext cx="1923898" cy="428854"/>
          </a:xfrm>
          <a:prstGeom prst="roundRect">
            <a:avLst>
              <a:gd name="adj" fmla="val 75811"/>
            </a:avLst>
          </a:prstGeom>
          <a:solidFill>
            <a:srgbClr val="F8FAFC"/>
          </a:solidFill>
          <a:ln/>
        </p:spPr>
      </p:sp>
      <p:sp>
        <p:nvSpPr>
          <p:cNvPr id="41" name="Shape 32"/>
          <p:cNvSpPr/>
          <p:nvPr/>
        </p:nvSpPr>
        <p:spPr>
          <a:xfrm>
            <a:off x="6590995" y="3624682"/>
            <a:ext cx="38405" cy="428854"/>
          </a:xfrm>
          <a:prstGeom prst="roundRect">
            <a:avLst>
              <a:gd name="adj" fmla="val 846556"/>
            </a:avLst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42" name="Text 33"/>
          <p:cNvSpPr txBox="1"/>
          <p:nvPr/>
        </p:nvSpPr>
        <p:spPr>
          <a:xfrm>
            <a:off x="6743700" y="3738982"/>
            <a:ext cx="17337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"문서 + 질문 전달"</a:t>
            </a:r>
            <a:endParaRPr lang="en-US" sz="1100" dirty="0"/>
          </a:p>
        </p:txBody>
      </p:sp>
      <p:sp>
        <p:nvSpPr>
          <p:cNvPr id="43" name="Text 34"/>
          <p:cNvSpPr txBox="1"/>
          <p:nvPr/>
        </p:nvSpPr>
        <p:spPr>
          <a:xfrm>
            <a:off x="6590995" y="4205326"/>
            <a:ext cx="20784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활동</a:t>
            </a:r>
            <a:endParaRPr lang="en-US" sz="900" dirty="0"/>
          </a:p>
        </p:txBody>
      </p:sp>
      <p:sp>
        <p:nvSpPr>
          <p:cNvPr id="44" name="Text 35"/>
          <p:cNvSpPr txBox="1"/>
          <p:nvPr/>
        </p:nvSpPr>
        <p:spPr>
          <a:xfrm>
            <a:off x="6590995" y="4466844"/>
            <a:ext cx="20784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프롬프트 컨텍스트 구성</a:t>
            </a:r>
            <a:endParaRPr lang="en-US" sz="1100" dirty="0"/>
          </a:p>
        </p:txBody>
      </p:sp>
      <p:sp>
        <p:nvSpPr>
          <p:cNvPr id="45" name="Text 36"/>
          <p:cNvSpPr txBox="1"/>
          <p:nvPr/>
        </p:nvSpPr>
        <p:spPr>
          <a:xfrm>
            <a:off x="6590995" y="4738421"/>
            <a:ext cx="20016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검색 결과(Context) 주입</a:t>
            </a:r>
            <a:endParaRPr lang="en-US" sz="1100" dirty="0"/>
          </a:p>
        </p:txBody>
      </p:sp>
      <p:sp>
        <p:nvSpPr>
          <p:cNvPr id="46" name="Text 37"/>
          <p:cNvSpPr txBox="1"/>
          <p:nvPr/>
        </p:nvSpPr>
        <p:spPr>
          <a:xfrm>
            <a:off x="6590995" y="5009998"/>
            <a:ext cx="20784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답변 제약조건 설정</a:t>
            </a:r>
            <a:endParaRPr lang="en-US" sz="1100" dirty="0"/>
          </a:p>
        </p:txBody>
      </p:sp>
      <p:pic>
        <p:nvPicPr>
          <p:cNvPr id="47" name="Image 7" descr="preencoded.png">    </p:cNvPr>
          <p:cNvPicPr>
            <a:picLocks noChangeAspect="1"/>
          </p:cNvPicPr>
          <p:nvPr/>
        </p:nvPicPr>
        <p:blipFill>
          <a:blip r:embed="rId4"/>
          <a:srcRect l="0" r="0" t="-4" b="-4"/>
          <a:stretch/>
        </p:blipFill>
        <p:spPr>
          <a:xfrm>
            <a:off x="9301277" y="2585923"/>
            <a:ext cx="2318918" cy="2933395"/>
          </a:xfrm>
          <a:prstGeom prst="rect">
            <a:avLst/>
          </a:prstGeom>
        </p:spPr>
      </p:pic>
      <p:sp>
        <p:nvSpPr>
          <p:cNvPr id="48" name="Shape 38"/>
          <p:cNvSpPr/>
          <p:nvPr/>
        </p:nvSpPr>
        <p:spPr>
          <a:xfrm>
            <a:off x="9501530" y="3243377"/>
            <a:ext cx="1923898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49" name="Shape 39"/>
          <p:cNvSpPr/>
          <p:nvPr/>
        </p:nvSpPr>
        <p:spPr>
          <a:xfrm>
            <a:off x="9501530" y="2824582"/>
            <a:ext cx="304495" cy="304495"/>
          </a:xfrm>
          <a:prstGeom prst="ellipse">
            <a:avLst/>
          </a:prstGeom>
          <a:solidFill>
            <a:srgbClr val="FFF1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Text 40"/>
          <p:cNvSpPr/>
          <p:nvPr/>
        </p:nvSpPr>
        <p:spPr>
          <a:xfrm>
            <a:off x="9463126" y="2824582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1D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200" dirty="0"/>
          </a:p>
        </p:txBody>
      </p:sp>
      <p:sp>
        <p:nvSpPr>
          <p:cNvPr id="51" name="Text 41"/>
          <p:cNvSpPr txBox="1"/>
          <p:nvPr/>
        </p:nvSpPr>
        <p:spPr>
          <a:xfrm>
            <a:off x="9901123" y="2848356"/>
            <a:ext cx="171175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 (Generation)</a:t>
            </a:r>
            <a:endParaRPr lang="en-US" sz="1300" dirty="0"/>
          </a:p>
        </p:txBody>
      </p:sp>
      <p:sp>
        <p:nvSpPr>
          <p:cNvPr id="52" name="Shape 42"/>
          <p:cNvSpPr/>
          <p:nvPr/>
        </p:nvSpPr>
        <p:spPr>
          <a:xfrm>
            <a:off x="9501530" y="3414370"/>
            <a:ext cx="1923898" cy="428854"/>
          </a:xfrm>
          <a:prstGeom prst="roundRect">
            <a:avLst>
              <a:gd name="adj" fmla="val 75811"/>
            </a:avLst>
          </a:prstGeom>
          <a:solidFill>
            <a:srgbClr val="F8FAFC"/>
          </a:solidFill>
          <a:ln/>
        </p:spPr>
      </p:sp>
      <p:sp>
        <p:nvSpPr>
          <p:cNvPr id="53" name="Shape 43"/>
          <p:cNvSpPr/>
          <p:nvPr/>
        </p:nvSpPr>
        <p:spPr>
          <a:xfrm>
            <a:off x="9501530" y="3414370"/>
            <a:ext cx="38405" cy="428854"/>
          </a:xfrm>
          <a:prstGeom prst="roundRect">
            <a:avLst>
              <a:gd name="adj" fmla="val 846556"/>
            </a:avLst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54" name="Text 44"/>
          <p:cNvSpPr txBox="1"/>
          <p:nvPr/>
        </p:nvSpPr>
        <p:spPr>
          <a:xfrm>
            <a:off x="9653321" y="3528670"/>
            <a:ext cx="17903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"답변 생성 및 출력"</a:t>
            </a:r>
            <a:endParaRPr lang="en-US" sz="1100" dirty="0"/>
          </a:p>
        </p:txBody>
      </p:sp>
      <p:sp>
        <p:nvSpPr>
          <p:cNvPr id="55" name="Text 45"/>
          <p:cNvSpPr txBox="1"/>
          <p:nvPr/>
        </p:nvSpPr>
        <p:spPr>
          <a:xfrm>
            <a:off x="9501530" y="3995928"/>
            <a:ext cx="20784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활동</a:t>
            </a:r>
            <a:endParaRPr lang="en-US" sz="900" dirty="0"/>
          </a:p>
        </p:txBody>
      </p:sp>
      <p:sp>
        <p:nvSpPr>
          <p:cNvPr id="56" name="Text 46"/>
          <p:cNvSpPr txBox="1"/>
          <p:nvPr/>
        </p:nvSpPr>
        <p:spPr>
          <a:xfrm>
            <a:off x="9501530" y="4257446"/>
            <a:ext cx="20784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 기반 자연어 생성</a:t>
            </a:r>
            <a:endParaRPr lang="en-US" sz="1100" dirty="0"/>
          </a:p>
        </p:txBody>
      </p:sp>
      <p:sp>
        <p:nvSpPr>
          <p:cNvPr id="57" name="Text 47"/>
          <p:cNvSpPr txBox="1"/>
          <p:nvPr/>
        </p:nvSpPr>
        <p:spPr>
          <a:xfrm>
            <a:off x="9501530" y="4529023"/>
            <a:ext cx="20784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할루시네이션 방지</a:t>
            </a:r>
            <a:endParaRPr lang="en-US" sz="1100" dirty="0"/>
          </a:p>
        </p:txBody>
      </p:sp>
      <p:sp>
        <p:nvSpPr>
          <p:cNvPr id="58" name="Text 48"/>
          <p:cNvSpPr txBox="1"/>
          <p:nvPr/>
        </p:nvSpPr>
        <p:spPr>
          <a:xfrm>
            <a:off x="9501530" y="4800600"/>
            <a:ext cx="20784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근거(출처) 표기</a:t>
            </a:r>
            <a:endParaRPr lang="en-US" sz="1100" dirty="0"/>
          </a:p>
        </p:txBody>
      </p:sp>
      <p:pic>
        <p:nvPicPr>
          <p:cNvPr id="59" name="Image 8" descr="preencoded.png">    </p:cNvPr>
          <p:cNvPicPr>
            <a:picLocks noChangeAspect="1"/>
          </p:cNvPicPr>
          <p:nvPr/>
        </p:nvPicPr>
        <p:blipFill>
          <a:blip r:embed="rId5"/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34195" y="-952805"/>
            <a:ext cx="3810305" cy="3810305"/>
          </a:xfrm>
          <a:prstGeom prst="ellipse">
            <a:avLst/>
          </a:prstGeom>
          <a:solidFill>
            <a:srgbClr val="F1F5F9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476402" y="4476902"/>
            <a:ext cx="2857500" cy="2857500"/>
          </a:xfrm>
          <a:prstGeom prst="ellipse">
            <a:avLst/>
          </a:prstGeom>
          <a:solidFill>
            <a:srgbClr val="E2E8F0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476402"/>
            <a:ext cx="112398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spc="-72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LLM의 한계와 RAG 필요성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257300"/>
            <a:ext cx="112398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거대 언어 모델의 구조적 한계를 극복하는 검색 증강 생성(RAG) 기술</a:t>
            </a:r>
            <a:endParaRPr lang="en-US" sz="1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rcRect l="0" r="0" t="-9" b="-9"/>
          <a:stretch/>
        </p:blipFill>
        <p:spPr>
          <a:xfrm>
            <a:off x="857707" y="2314346"/>
            <a:ext cx="5048402" cy="149961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57707" y="2314346"/>
            <a:ext cx="57607" cy="1480414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2609698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FFFB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314907" y="2771546"/>
            <a:ext cx="247802" cy="24780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952244" y="2609698"/>
            <a:ext cx="377190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최신 정보 부재 </a:t>
            </a:r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Limit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1952244" y="3000146"/>
            <a:ext cx="373441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데이터 컷오프(Cut-off) 이후의 최신 뉴스나 트렌드를 알지 못하며, 실시간 정보를 반영하지 못함</a:t>
            </a:r>
            <a:endParaRPr lang="en-US" sz="12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2"/>
          <a:srcRect l="0" r="0" t="-9" b="-9"/>
          <a:stretch/>
        </p:blipFill>
        <p:spPr>
          <a:xfrm>
            <a:off x="6286500" y="2314346"/>
            <a:ext cx="5048402" cy="1499616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286500" y="2314346"/>
            <a:ext cx="57607" cy="1480414"/>
          </a:xfrm>
          <a:prstGeom prst="rect">
            <a:avLst/>
          </a:prstGeom>
          <a:solidFill>
            <a:srgbClr val="6474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581851" y="2609698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476" b="-476"/>
          <a:stretch/>
        </p:blipFill>
        <p:spPr>
          <a:xfrm>
            <a:off x="6729070" y="2771546"/>
            <a:ext cx="276149" cy="24780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381951" y="2609698"/>
            <a:ext cx="377190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사내 데이터 부재 </a:t>
            </a:r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Limit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7381951" y="3000146"/>
            <a:ext cx="373441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인터넷에 공개되지 않은 회사 내부의 매출 데이터, 분석 보고서, 전략 문서에는 접근할 수 없음</a:t>
            </a:r>
            <a:endParaRPr lang="en-US" sz="12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rcRect l="-2" r="-2" t="0" b="0"/>
          <a:stretch/>
        </p:blipFill>
        <p:spPr>
          <a:xfrm>
            <a:off x="857707" y="4194353"/>
            <a:ext cx="5048402" cy="1758391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857707" y="4194353"/>
            <a:ext cx="57607" cy="1739189"/>
          </a:xfrm>
          <a:prstGeom prst="rect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1152144" y="4489704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314907" y="4651553"/>
            <a:ext cx="247802" cy="247802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952244" y="4489704"/>
            <a:ext cx="377190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환각(Hallucination) </a:t>
            </a:r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Limit</a:t>
            </a:r>
            <a:endParaRPr lang="en-US" sz="1600" dirty="0"/>
          </a:p>
        </p:txBody>
      </p:sp>
      <p:sp>
        <p:nvSpPr>
          <p:cNvPr id="26" name="Text 18"/>
          <p:cNvSpPr txBox="1"/>
          <p:nvPr/>
        </p:nvSpPr>
        <p:spPr>
          <a:xfrm>
            <a:off x="1952244" y="4880153"/>
            <a:ext cx="373441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모르는 내용에 대해 "모른다"고 답하기보다, 사실이 아닌 내용을 그럴듯하게 지어내는 현상 발생</a:t>
            </a:r>
            <a:endParaRPr lang="en-US" sz="120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5"/>
          <a:srcRect l="-2" r="-2" t="0" b="0"/>
          <a:stretch/>
        </p:blipFill>
        <p:spPr>
          <a:xfrm>
            <a:off x="6286500" y="4194353"/>
            <a:ext cx="5048402" cy="1758391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6286500" y="4194353"/>
            <a:ext cx="57607" cy="1739189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0"/>
          <p:cNvSpPr/>
          <p:nvPr/>
        </p:nvSpPr>
        <p:spPr>
          <a:xfrm>
            <a:off x="6581851" y="4489704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743700" y="4651553"/>
            <a:ext cx="247802" cy="247802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7381951" y="4489704"/>
            <a:ext cx="377190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RAG 해법 </a:t>
            </a:r>
            <a:pPr algn="l" indent="0" marL="0">
              <a:buNone/>
            </a:pPr>
            <a:r>
              <a:rPr lang="en-US" sz="900" b="1" dirty="0">
                <a:solidFill>
                  <a:srgbClr val="0478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Solution</a:t>
            </a:r>
            <a:endParaRPr lang="en-US" sz="1600" dirty="0"/>
          </a:p>
        </p:txBody>
      </p:sp>
      <p:sp>
        <p:nvSpPr>
          <p:cNvPr id="32" name="Text 22"/>
          <p:cNvSpPr txBox="1"/>
          <p:nvPr/>
        </p:nvSpPr>
        <p:spPr>
          <a:xfrm>
            <a:off x="7381951" y="4880153"/>
            <a:ext cx="373441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질문이 들어오면 관련된 </a:t>
            </a:r>
            <a:pPr algn="l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'근거 문서'</a:t>
            </a:r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먼저 검색하고, 이를 LLM에게 함께 제공하여 답변의 정확도를 획기적으로 향상</a:t>
            </a:r>
            <a:endParaRPr lang="en-US" sz="1200" dirty="0"/>
          </a:p>
        </p:txBody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8"/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10598" y="-476402"/>
            <a:ext cx="2857500" cy="2857500"/>
          </a:xfrm>
          <a:prstGeom prst="ellipse">
            <a:avLst/>
          </a:prstGeom>
          <a:solidFill>
            <a:srgbClr val="3B82F6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-476402" y="5429707"/>
            <a:ext cx="1904695" cy="1904695"/>
          </a:xfrm>
          <a:prstGeom prst="rect">
            <a:avLst/>
          </a:prstGeom>
          <a:solidFill>
            <a:srgbClr val="8B5CF6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43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381305"/>
            <a:ext cx="11239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spc="-63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 가지 검색 경로: CSV vs MD</a:t>
            </a:r>
            <a:endParaRPr lang="en-US" sz="31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057046"/>
            <a:ext cx="111639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정량적 분석(SQL)과 정성적 분석(Vector)을 결합한 하이브리드 RAG 전략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71500" y="6057900"/>
            <a:ext cx="11048695" cy="1981505"/>
          </a:xfrm>
          <a:prstGeom prst="roundRect">
            <a:avLst>
              <a:gd name="adj" fmla="val 5325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71346" y="6486754"/>
            <a:ext cx="5267858" cy="1390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LLM은 텍스트 이해에는 강하지만(MD), 복잡한 수치 계산은 부정확할 수 있습니다(CSV).</a:t>
            </a:r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따라서 </a:t>
            </a:r>
            <a:pPr algn="l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수치는 SQL로 계산</a:t>
            </a:r>
            <a:pPr algn="l"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하고, </a:t>
            </a:r>
            <a:pPr algn="l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맥락은 벡터 검색으로 파악</a:t>
            </a:r>
            <a:pPr algn="l"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하여 두 결과를 결합하는 것이 최선입니다.</a:t>
            </a:r>
            <a:endParaRPr lang="en-US" sz="11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2"/>
          <a:srcRect l="-133" r="-133" t="0" b="0"/>
          <a:stretch/>
        </p:blipFill>
        <p:spPr>
          <a:xfrm>
            <a:off x="809244" y="6943954"/>
            <a:ext cx="171907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171346" y="6219749"/>
            <a:ext cx="17583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경로를 분리하나요?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71500" y="1628546"/>
            <a:ext cx="5333695" cy="4190695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71500" y="1628546"/>
            <a:ext cx="5333695" cy="57607"/>
          </a:xfrm>
          <a:prstGeom prst="roundRect">
            <a:avLst>
              <a:gd name="adj" fmla="val 115441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66851" y="2743200"/>
            <a:ext cx="4743907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66851" y="2048256"/>
            <a:ext cx="476402" cy="476402"/>
          </a:xfrm>
          <a:prstGeom prst="roundRect">
            <a:avLst>
              <a:gd name="adj" fmla="val 92131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/>
          <a:srcRect l="-57" r="-57" t="0" b="0"/>
          <a:stretch/>
        </p:blipFill>
        <p:spPr>
          <a:xfrm>
            <a:off x="1004926" y="2171700"/>
            <a:ext cx="200254" cy="2286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495044" y="1971446"/>
            <a:ext cx="23381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CSV 경로 (DuckDB)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1495044" y="2352751"/>
            <a:ext cx="1352398" cy="247802"/>
          </a:xfrm>
          <a:prstGeom prst="roundRect">
            <a:avLst>
              <a:gd name="adj" fmla="val 170310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1495044" y="2352751"/>
            <a:ext cx="1410005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Quantitative / SQL</a:t>
            </a:r>
            <a:endParaRPr lang="en-US" sz="9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4"/>
          <a:srcRect l="0" r="0" t="-1100" b="-1100"/>
          <a:stretch/>
        </p:blipFill>
        <p:spPr>
          <a:xfrm>
            <a:off x="866851" y="2952598"/>
            <a:ext cx="114300" cy="13350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81151" y="2952598"/>
            <a:ext cx="4562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"작년 매출 합계는?", "Top 5 매장은?" 등의 </a:t>
            </a:r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정량적 질문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처리</a:t>
            </a:r>
            <a:endParaRPr lang="en-US" sz="12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1100" b="-1100"/>
          <a:stretch/>
        </p:blipFill>
        <p:spPr>
          <a:xfrm>
            <a:off x="866851" y="3295498"/>
            <a:ext cx="114300" cy="13350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81151" y="3295498"/>
            <a:ext cx="3849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Text-to-SQL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자연어를 SQL 쿼리로 변환하여 실행</a:t>
            </a:r>
            <a:endParaRPr lang="en-US" sz="12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4"/>
          <a:srcRect l="0" r="0" t="-1100" b="-1100"/>
          <a:stretch/>
        </p:blipFill>
        <p:spPr>
          <a:xfrm>
            <a:off x="866851" y="3638398"/>
            <a:ext cx="114300" cy="13350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81151" y="3638398"/>
            <a:ext cx="40133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DuckDB의 고속 연산으로 환각 없이 </a:t>
            </a:r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정확한 수치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반환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866851" y="4653382"/>
            <a:ext cx="4743907" cy="875995"/>
          </a:xfrm>
          <a:prstGeom prst="roundRect">
            <a:avLst>
              <a:gd name="adj" fmla="val 18154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1019556" y="4805172"/>
            <a:ext cx="46296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처리 흐름</a:t>
            </a:r>
            <a:endParaRPr lang="en-US" sz="900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5"/>
          <a:srcRect l="0" r="0" t="-654" b="-654"/>
          <a:stretch/>
        </p:blipFill>
        <p:spPr>
          <a:xfrm>
            <a:off x="2084832" y="5052974"/>
            <a:ext cx="437998" cy="323698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2084832" y="5052974"/>
            <a:ext cx="49560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</a:t>
            </a:r>
            <a:endParaRPr lang="en-US" sz="900" dirty="0"/>
          </a:p>
        </p:txBody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6"/>
          <a:srcRect l="0" r="0" t="-1359" b="-1359"/>
          <a:stretch/>
        </p:blipFill>
        <p:spPr>
          <a:xfrm>
            <a:off x="2597810" y="5150815"/>
            <a:ext cx="105156" cy="123444"/>
          </a:xfrm>
          <a:prstGeom prst="rect">
            <a:avLst/>
          </a:prstGeom>
        </p:spPr>
      </p:pic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7"/>
          <a:srcRect l="0" r="0" t="-643" b="-643"/>
          <a:stretch/>
        </p:blipFill>
        <p:spPr>
          <a:xfrm>
            <a:off x="2778862" y="5052974"/>
            <a:ext cx="714146" cy="323698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2778862" y="5052974"/>
            <a:ext cx="771754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SQL 생성</a:t>
            </a:r>
            <a:endParaRPr lang="en-US" sz="900" dirty="0"/>
          </a:p>
        </p:txBody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6"/>
          <a:srcRect l="0" r="0" t="-1359" b="-1359"/>
          <a:stretch/>
        </p:blipFill>
        <p:spPr>
          <a:xfrm>
            <a:off x="3567989" y="5150815"/>
            <a:ext cx="105156" cy="123444"/>
          </a:xfrm>
          <a:prstGeom prst="rect">
            <a:avLst/>
          </a:prstGeom>
        </p:spPr>
      </p:pic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8"/>
          <a:srcRect l="0" r="0" t="-385" b="-385"/>
          <a:stretch/>
        </p:blipFill>
        <p:spPr>
          <a:xfrm>
            <a:off x="3749040" y="5052974"/>
            <a:ext cx="647395" cy="323698"/>
          </a:xfrm>
          <a:prstGeom prst="rect">
            <a:avLst/>
          </a:prstGeom>
        </p:spPr>
      </p:pic>
      <p:sp>
        <p:nvSpPr>
          <p:cNvPr id="36" name="Text 24"/>
          <p:cNvSpPr txBox="1"/>
          <p:nvPr/>
        </p:nvSpPr>
        <p:spPr>
          <a:xfrm>
            <a:off x="3749040" y="5052974"/>
            <a:ext cx="70500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DB 조회</a:t>
            </a:r>
            <a:endParaRPr lang="en-US" sz="900" dirty="0"/>
          </a:p>
        </p:txBody>
      </p:sp>
      <p:sp>
        <p:nvSpPr>
          <p:cNvPr id="37" name="Shape 25"/>
          <p:cNvSpPr/>
          <p:nvPr/>
        </p:nvSpPr>
        <p:spPr>
          <a:xfrm>
            <a:off x="6286500" y="1628546"/>
            <a:ext cx="5333695" cy="4190695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38" name="Shape 26"/>
          <p:cNvSpPr/>
          <p:nvPr/>
        </p:nvSpPr>
        <p:spPr>
          <a:xfrm>
            <a:off x="6286500" y="1628546"/>
            <a:ext cx="5333695" cy="57607"/>
          </a:xfrm>
          <a:prstGeom prst="roundRect">
            <a:avLst>
              <a:gd name="adj" fmla="val 115441"/>
            </a:avLst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9" name="Shape 27"/>
          <p:cNvSpPr/>
          <p:nvPr/>
        </p:nvSpPr>
        <p:spPr>
          <a:xfrm>
            <a:off x="6581851" y="2743200"/>
            <a:ext cx="4743907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40" name="Shape 28"/>
          <p:cNvSpPr/>
          <p:nvPr/>
        </p:nvSpPr>
        <p:spPr>
          <a:xfrm>
            <a:off x="6581851" y="2048256"/>
            <a:ext cx="476402" cy="476402"/>
          </a:xfrm>
          <a:prstGeom prst="roundRect">
            <a:avLst>
              <a:gd name="adj" fmla="val 92131"/>
            </a:avLst>
          </a:prstGeom>
          <a:solidFill>
            <a:srgbClr val="F5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1" name="Image 10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6705295" y="2171700"/>
            <a:ext cx="228600" cy="228600"/>
          </a:xfrm>
          <a:prstGeom prst="rect">
            <a:avLst/>
          </a:prstGeom>
        </p:spPr>
      </p:pic>
      <p:sp>
        <p:nvSpPr>
          <p:cNvPr id="42" name="Text 29"/>
          <p:cNvSpPr txBox="1"/>
          <p:nvPr/>
        </p:nvSpPr>
        <p:spPr>
          <a:xfrm>
            <a:off x="7210044" y="1971446"/>
            <a:ext cx="24771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MD 경로 (ChromaDB)</a:t>
            </a:r>
            <a:endParaRPr lang="en-US" sz="1800" dirty="0"/>
          </a:p>
        </p:txBody>
      </p:sp>
      <p:sp>
        <p:nvSpPr>
          <p:cNvPr id="43" name="Shape 30"/>
          <p:cNvSpPr/>
          <p:nvPr/>
        </p:nvSpPr>
        <p:spPr>
          <a:xfrm>
            <a:off x="7210044" y="2352751"/>
            <a:ext cx="1476756" cy="247802"/>
          </a:xfrm>
          <a:prstGeom prst="roundRect">
            <a:avLst>
              <a:gd name="adj" fmla="val 170310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31"/>
          <p:cNvSpPr txBox="1"/>
          <p:nvPr/>
        </p:nvSpPr>
        <p:spPr>
          <a:xfrm>
            <a:off x="7210044" y="2352751"/>
            <a:ext cx="1536192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21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Qualitative / Vector</a:t>
            </a:r>
            <a:endParaRPr lang="en-US" sz="900" dirty="0"/>
          </a:p>
        </p:txBody>
      </p:sp>
      <p:pic>
        <p:nvPicPr>
          <p:cNvPr id="45" name="Image 11" descr="preencoded.png">    </p:cNvPr>
          <p:cNvPicPr>
            <a:picLocks noChangeAspect="1"/>
          </p:cNvPicPr>
          <p:nvPr/>
        </p:nvPicPr>
        <p:blipFill>
          <a:blip r:embed="rId10"/>
          <a:srcRect l="0" r="0" t="-1100" b="-1100"/>
          <a:stretch/>
        </p:blipFill>
        <p:spPr>
          <a:xfrm>
            <a:off x="6581851" y="2952598"/>
            <a:ext cx="114300" cy="133502"/>
          </a:xfrm>
          <a:prstGeom prst="rect">
            <a:avLst/>
          </a:prstGeom>
        </p:spPr>
      </p:pic>
      <p:sp>
        <p:nvSpPr>
          <p:cNvPr id="46" name="Text 32"/>
          <p:cNvSpPr txBox="1"/>
          <p:nvPr/>
        </p:nvSpPr>
        <p:spPr>
          <a:xfrm>
            <a:off x="6696151" y="2952598"/>
            <a:ext cx="46899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"매출 하락 원인은?", "전략 추천해줘" 등의 </a:t>
            </a:r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정성적 질문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처리</a:t>
            </a:r>
            <a:endParaRPr lang="en-US" sz="1200" dirty="0"/>
          </a:p>
        </p:txBody>
      </p:sp>
      <p:pic>
        <p:nvPicPr>
          <p:cNvPr id="47" name="Image 12" descr="preencoded.png">    </p:cNvPr>
          <p:cNvPicPr>
            <a:picLocks noChangeAspect="1"/>
          </p:cNvPicPr>
          <p:nvPr/>
        </p:nvPicPr>
        <p:blipFill>
          <a:blip r:embed="rId10"/>
          <a:srcRect l="0" r="0" t="-1100" b="-1100"/>
          <a:stretch/>
        </p:blipFill>
        <p:spPr>
          <a:xfrm>
            <a:off x="6581851" y="3295498"/>
            <a:ext cx="114300" cy="133502"/>
          </a:xfrm>
          <a:prstGeom prst="rect">
            <a:avLst/>
          </a:prstGeom>
        </p:spPr>
      </p:pic>
      <p:sp>
        <p:nvSpPr>
          <p:cNvPr id="48" name="Text 33"/>
          <p:cNvSpPr txBox="1"/>
          <p:nvPr/>
        </p:nvSpPr>
        <p:spPr>
          <a:xfrm>
            <a:off x="6696151" y="3295498"/>
            <a:ext cx="36969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Vector Search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질문의 의미와 유사한 문서 검색</a:t>
            </a:r>
            <a:endParaRPr lang="en-US" sz="1200" dirty="0"/>
          </a:p>
        </p:txBody>
      </p:sp>
      <p:pic>
        <p:nvPicPr>
          <p:cNvPr id="49" name="Image 13" descr="preencoded.png">    </p:cNvPr>
          <p:cNvPicPr>
            <a:picLocks noChangeAspect="1"/>
          </p:cNvPicPr>
          <p:nvPr/>
        </p:nvPicPr>
        <p:blipFill>
          <a:blip r:embed="rId10"/>
          <a:srcRect l="0" r="0" t="-1100" b="-1100"/>
          <a:stretch/>
        </p:blipFill>
        <p:spPr>
          <a:xfrm>
            <a:off x="6581851" y="3638398"/>
            <a:ext cx="114300" cy="133502"/>
          </a:xfrm>
          <a:prstGeom prst="rect">
            <a:avLst/>
          </a:prstGeom>
        </p:spPr>
      </p:pic>
      <p:sp>
        <p:nvSpPr>
          <p:cNvPr id="50" name="Text 34"/>
          <p:cNvSpPr txBox="1"/>
          <p:nvPr/>
        </p:nvSpPr>
        <p:spPr>
          <a:xfrm>
            <a:off x="6696151" y="3638398"/>
            <a:ext cx="46012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인사이트 보고서(MD)에서 </a:t>
            </a:r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맥락(Context)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찾아 근거로 제공</a:t>
            </a:r>
            <a:endParaRPr lang="en-US" sz="1200" dirty="0"/>
          </a:p>
        </p:txBody>
      </p:sp>
      <p:sp>
        <p:nvSpPr>
          <p:cNvPr id="51" name="Shape 35"/>
          <p:cNvSpPr/>
          <p:nvPr/>
        </p:nvSpPr>
        <p:spPr>
          <a:xfrm>
            <a:off x="6581851" y="4653382"/>
            <a:ext cx="4743907" cy="875995"/>
          </a:xfrm>
          <a:prstGeom prst="roundRect">
            <a:avLst>
              <a:gd name="adj" fmla="val 18154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2" name="Text 36"/>
          <p:cNvSpPr txBox="1"/>
          <p:nvPr/>
        </p:nvSpPr>
        <p:spPr>
          <a:xfrm>
            <a:off x="6734556" y="4805172"/>
            <a:ext cx="46296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처리 흐름</a:t>
            </a:r>
            <a:endParaRPr lang="en-US" sz="900" dirty="0"/>
          </a:p>
        </p:txBody>
      </p:sp>
      <p:pic>
        <p:nvPicPr>
          <p:cNvPr id="53" name="Image 14" descr="preencoded.png">    </p:cNvPr>
          <p:cNvPicPr>
            <a:picLocks noChangeAspect="1"/>
          </p:cNvPicPr>
          <p:nvPr/>
        </p:nvPicPr>
        <p:blipFill>
          <a:blip r:embed="rId5"/>
          <a:srcRect l="0" r="0" t="-654" b="-654"/>
          <a:stretch/>
        </p:blipFill>
        <p:spPr>
          <a:xfrm>
            <a:off x="7851953" y="5052974"/>
            <a:ext cx="437998" cy="323698"/>
          </a:xfrm>
          <a:prstGeom prst="rect">
            <a:avLst/>
          </a:prstGeom>
        </p:spPr>
      </p:pic>
      <p:sp>
        <p:nvSpPr>
          <p:cNvPr id="54" name="Text 37"/>
          <p:cNvSpPr txBox="1"/>
          <p:nvPr/>
        </p:nvSpPr>
        <p:spPr>
          <a:xfrm>
            <a:off x="7851953" y="5052974"/>
            <a:ext cx="49560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21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</a:t>
            </a:r>
            <a:endParaRPr lang="en-US" sz="900" dirty="0"/>
          </a:p>
        </p:txBody>
      </p:sp>
      <p:pic>
        <p:nvPicPr>
          <p:cNvPr id="55" name="Image 15" descr="preencoded.png">    </p:cNvPr>
          <p:cNvPicPr>
            <a:picLocks noChangeAspect="1"/>
          </p:cNvPicPr>
          <p:nvPr/>
        </p:nvPicPr>
        <p:blipFill>
          <a:blip r:embed="rId6"/>
          <a:srcRect l="0" r="0" t="-1359" b="-1359"/>
          <a:stretch/>
        </p:blipFill>
        <p:spPr>
          <a:xfrm>
            <a:off x="8365846" y="5150815"/>
            <a:ext cx="105156" cy="123444"/>
          </a:xfrm>
          <a:prstGeom prst="rect">
            <a:avLst/>
          </a:prstGeom>
        </p:spPr>
      </p:pic>
      <p:pic>
        <p:nvPicPr>
          <p:cNvPr id="56" name="Image 16" descr="preencoded.png">    </p:cNvPr>
          <p:cNvPicPr>
            <a:picLocks noChangeAspect="1"/>
          </p:cNvPicPr>
          <p:nvPr/>
        </p:nvPicPr>
        <p:blipFill>
          <a:blip r:embed="rId11"/>
          <a:srcRect l="0" r="0" t="-641" b="-641"/>
          <a:stretch/>
        </p:blipFill>
        <p:spPr>
          <a:xfrm>
            <a:off x="8546897" y="5052974"/>
            <a:ext cx="552298" cy="323698"/>
          </a:xfrm>
          <a:prstGeom prst="rect">
            <a:avLst/>
          </a:prstGeom>
        </p:spPr>
      </p:pic>
      <p:sp>
        <p:nvSpPr>
          <p:cNvPr id="57" name="Text 38"/>
          <p:cNvSpPr txBox="1"/>
          <p:nvPr/>
        </p:nvSpPr>
        <p:spPr>
          <a:xfrm>
            <a:off x="8546897" y="5052974"/>
            <a:ext cx="60990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21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임베딩</a:t>
            </a:r>
            <a:endParaRPr lang="en-US" sz="900" dirty="0"/>
          </a:p>
        </p:txBody>
      </p:sp>
      <p:pic>
        <p:nvPicPr>
          <p:cNvPr id="58" name="Image 17" descr="preencoded.png">    </p:cNvPr>
          <p:cNvPicPr>
            <a:picLocks noChangeAspect="1"/>
          </p:cNvPicPr>
          <p:nvPr/>
        </p:nvPicPr>
        <p:blipFill>
          <a:blip r:embed="rId6"/>
          <a:srcRect l="0" r="0" t="-1359" b="-1359"/>
          <a:stretch/>
        </p:blipFill>
        <p:spPr>
          <a:xfrm>
            <a:off x="9174175" y="5150815"/>
            <a:ext cx="105156" cy="123444"/>
          </a:xfrm>
          <a:prstGeom prst="rect">
            <a:avLst/>
          </a:prstGeom>
        </p:spPr>
      </p:pic>
      <p:pic>
        <p:nvPicPr>
          <p:cNvPr id="59" name="Image 18" descr="preencoded.png">    </p:cNvPr>
          <p:cNvPicPr>
            <a:picLocks noChangeAspect="1"/>
          </p:cNvPicPr>
          <p:nvPr/>
        </p:nvPicPr>
        <p:blipFill>
          <a:blip r:embed="rId12"/>
          <a:srcRect l="0" r="0" t="-358" b="-358"/>
          <a:stretch/>
        </p:blipFill>
        <p:spPr>
          <a:xfrm>
            <a:off x="9355226" y="5052974"/>
            <a:ext cx="705002" cy="323698"/>
          </a:xfrm>
          <a:prstGeom prst="rect">
            <a:avLst/>
          </a:prstGeom>
        </p:spPr>
      </p:pic>
      <p:sp>
        <p:nvSpPr>
          <p:cNvPr id="60" name="Text 39"/>
          <p:cNvSpPr txBox="1"/>
          <p:nvPr/>
        </p:nvSpPr>
        <p:spPr>
          <a:xfrm>
            <a:off x="9355226" y="5052974"/>
            <a:ext cx="7626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21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유사 문서</a:t>
            </a:r>
            <a:endParaRPr lang="en-US" sz="900" dirty="0"/>
          </a:p>
        </p:txBody>
      </p:sp>
      <p:pic>
        <p:nvPicPr>
          <p:cNvPr id="61" name="Image 19" descr="preencoded.png">    </p:cNvPr>
          <p:cNvPicPr>
            <a:picLocks noChangeAspect="1"/>
          </p:cNvPicPr>
          <p:nvPr/>
        </p:nvPicPr>
        <p:blipFill>
          <a:blip r:embed="rId13"/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34195" y="-952805"/>
            <a:ext cx="3810305" cy="3810305"/>
          </a:xfrm>
          <a:prstGeom prst="ellipse">
            <a:avLst/>
          </a:prstGeom>
          <a:solidFill>
            <a:srgbClr val="3B82F6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476402" y="4476902"/>
            <a:ext cx="2857500" cy="2857500"/>
          </a:xfrm>
          <a:prstGeom prst="ellipse">
            <a:avLst/>
          </a:prstGeom>
          <a:solidFill>
            <a:srgbClr val="F59E0B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46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381305"/>
            <a:ext cx="11239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spc="-63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DuckDB + Text-to-SQL</a:t>
            </a:r>
            <a:endParaRPr lang="en-US" sz="31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CSV 데이터를 직접 쿼리하는 인메모리 엔진과 자연어 인터페이스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71500" y="1723644"/>
            <a:ext cx="4972507" cy="3247949"/>
          </a:xfrm>
          <a:prstGeom prst="roundRect">
            <a:avLst>
              <a:gd name="adj" fmla="val 26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9244" y="2457907"/>
            <a:ext cx="4496105" cy="19202"/>
          </a:xfrm>
          <a:prstGeom prst="rect">
            <a:avLst/>
          </a:prstGeom>
          <a:solidFill>
            <a:srgbClr val="FEF9C3"/>
          </a:solidFill>
          <a:ln w="12700">
            <a:solidFill>
              <a:srgbClr val="FEF9C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9244" y="1962302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FEF9C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2"/>
          <a:srcRect l="-1648" r="-1648" t="0" b="0"/>
          <a:stretch/>
        </p:blipFill>
        <p:spPr>
          <a:xfrm>
            <a:off x="914400" y="2057400"/>
            <a:ext cx="171907" cy="190195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304849" y="2009851"/>
            <a:ext cx="109545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DuckDB란?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09244" y="2628900"/>
            <a:ext cx="304495" cy="304495"/>
          </a:xfrm>
          <a:prstGeom prst="ellipse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/>
          <a:srcRect l="0" r="0" t="-1100" b="-1100"/>
          <a:stretch/>
        </p:blipFill>
        <p:spPr>
          <a:xfrm>
            <a:off x="905256" y="2714854"/>
            <a:ext cx="114300" cy="133502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228954" y="2628900"/>
            <a:ext cx="41632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분석을 위한 In-Process SQL OLAP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1228954" y="2895905"/>
            <a:ext cx="478322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SQLite처럼 가볍지만 분석(OLAP)에 최적화되어 대용량 집계가 매우 빠름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809244" y="3247949"/>
            <a:ext cx="304495" cy="304495"/>
          </a:xfrm>
          <a:prstGeom prst="ellipse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95198" y="3333902"/>
            <a:ext cx="133502" cy="13350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228954" y="3247949"/>
            <a:ext cx="42675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제로 카피 데이터 로딩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1228954" y="3514954"/>
            <a:ext cx="41532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DB에 적재(Import)할 필요 없이 CSV, Parquet, Pandas DataFrame을 직접 쿼리 가능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809244" y="4067251"/>
            <a:ext cx="304495" cy="304495"/>
          </a:xfrm>
          <a:prstGeom prst="ellipse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5"/>
          <a:srcRect l="-837" r="-837" t="0" b="0"/>
          <a:stretch/>
        </p:blipFill>
        <p:spPr>
          <a:xfrm>
            <a:off x="886054" y="4153205"/>
            <a:ext cx="152705" cy="13350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28954" y="4067251"/>
            <a:ext cx="42675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로컬 환경 최적화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1228954" y="4334256"/>
            <a:ext cx="41532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별도 서버 설치 없이 Python 라이브러리(`pip install duckdb`)만으로 즉시 사용 가능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571500" y="5162702"/>
            <a:ext cx="4972507" cy="2991002"/>
          </a:xfrm>
          <a:prstGeom prst="roundRect">
            <a:avLst>
              <a:gd name="adj" fmla="val 31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09244" y="6283757"/>
            <a:ext cx="4496105" cy="19202"/>
          </a:xfrm>
          <a:prstGeom prst="rect">
            <a:avLst/>
          </a:prstGeom>
          <a:solidFill>
            <a:srgbClr val="F3E8FF"/>
          </a:solidFill>
          <a:ln w="12700">
            <a:solidFill>
              <a:srgbClr val="F3E8FF">
                <a:alpha val="0"/>
              </a:srgbClr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809244" y="5788152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F3E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81482" y="5883250"/>
            <a:ext cx="237744" cy="190195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04849" y="5835701"/>
            <a:ext cx="18480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Text-to-SQL이란?</a:t>
            </a:r>
            <a:endParaRPr lang="en-US" sz="1500" dirty="0"/>
          </a:p>
        </p:txBody>
      </p:sp>
      <p:sp>
        <p:nvSpPr>
          <p:cNvPr id="31" name="Text 24"/>
          <p:cNvSpPr txBox="1"/>
          <p:nvPr/>
        </p:nvSpPr>
        <p:spPr>
          <a:xfrm>
            <a:off x="809244" y="6454750"/>
            <a:ext cx="45720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LLM(Large Language Model)의 코딩 능력을 활용하여 </a:t>
            </a:r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사용자의 자연어 질문을 실행 가능한 SQL 쿼리로 변환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하는 기술입니다. 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>
            <a:off x="809244" y="7056425"/>
            <a:ext cx="304495" cy="304495"/>
          </a:xfrm>
          <a:prstGeom prst="ellipse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7"/>
          <a:srcRect l="-1507" r="-1507" t="0" b="0"/>
          <a:stretch/>
        </p:blipFill>
        <p:spPr>
          <a:xfrm>
            <a:off x="875995" y="7142378"/>
            <a:ext cx="171907" cy="133502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1228954" y="7056425"/>
            <a:ext cx="33631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SQL을 몰라도 데이터 분석 가능</a:t>
            </a:r>
            <a:endParaRPr lang="en-US" sz="1200" dirty="0"/>
          </a:p>
        </p:txBody>
      </p:sp>
      <p:sp>
        <p:nvSpPr>
          <p:cNvPr id="35" name="Text 27"/>
          <p:cNvSpPr txBox="1"/>
          <p:nvPr/>
        </p:nvSpPr>
        <p:spPr>
          <a:xfrm>
            <a:off x="1228954" y="7323430"/>
            <a:ext cx="37755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"작년 매출 얼마야?"라고 물으면 LLM이 SQL을 대신 작성</a:t>
            </a:r>
            <a:endParaRPr lang="en-US" sz="1000" dirty="0"/>
          </a:p>
        </p:txBody>
      </p:sp>
      <p:sp>
        <p:nvSpPr>
          <p:cNvPr id="36" name="Shape 28"/>
          <p:cNvSpPr/>
          <p:nvPr/>
        </p:nvSpPr>
        <p:spPr>
          <a:xfrm>
            <a:off x="5924398" y="1723644"/>
            <a:ext cx="5695798" cy="6429146"/>
          </a:xfrm>
          <a:prstGeom prst="roundRect">
            <a:avLst>
              <a:gd name="adj" fmla="val 8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6163056" y="2457907"/>
            <a:ext cx="5219395" cy="1920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6163056" y="1962302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6234379" y="2057400"/>
            <a:ext cx="237744" cy="190195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6657746" y="2009851"/>
            <a:ext cx="272308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작동 프로세스 및 활용 예시</a:t>
            </a:r>
            <a:endParaRPr lang="en-US" sz="1500" dirty="0"/>
          </a:p>
        </p:txBody>
      </p:sp>
      <p:sp>
        <p:nvSpPr>
          <p:cNvPr id="41" name="Shape 32"/>
          <p:cNvSpPr/>
          <p:nvPr/>
        </p:nvSpPr>
        <p:spPr>
          <a:xfrm>
            <a:off x="6163056" y="2628900"/>
            <a:ext cx="5219395" cy="5286146"/>
          </a:xfrm>
          <a:prstGeom prst="roundRect">
            <a:avLst>
              <a:gd name="adj" fmla="val 76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Shape 33"/>
          <p:cNvSpPr/>
          <p:nvPr/>
        </p:nvSpPr>
        <p:spPr>
          <a:xfrm>
            <a:off x="6362395" y="2829154"/>
            <a:ext cx="4819802" cy="828446"/>
          </a:xfrm>
          <a:prstGeom prst="roundRect">
            <a:avLst>
              <a:gd name="adj" fmla="val 202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34"/>
          <p:cNvSpPr/>
          <p:nvPr/>
        </p:nvSpPr>
        <p:spPr>
          <a:xfrm>
            <a:off x="6524244" y="3126334"/>
            <a:ext cx="228600" cy="2286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35"/>
          <p:cNvSpPr/>
          <p:nvPr/>
        </p:nvSpPr>
        <p:spPr>
          <a:xfrm>
            <a:off x="6486754" y="3126334"/>
            <a:ext cx="30541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900" dirty="0"/>
          </a:p>
        </p:txBody>
      </p:sp>
      <p:sp>
        <p:nvSpPr>
          <p:cNvPr id="45" name="Text 36"/>
          <p:cNvSpPr txBox="1"/>
          <p:nvPr/>
        </p:nvSpPr>
        <p:spPr>
          <a:xfrm>
            <a:off x="6867144" y="2952598"/>
            <a:ext cx="42675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질문 (Natural Language)</a:t>
            </a:r>
            <a:endParaRPr lang="en-US" sz="1000" dirty="0"/>
          </a:p>
        </p:txBody>
      </p:sp>
      <p:sp>
        <p:nvSpPr>
          <p:cNvPr id="46" name="Shape 37"/>
          <p:cNvSpPr/>
          <p:nvPr/>
        </p:nvSpPr>
        <p:spPr>
          <a:xfrm>
            <a:off x="6867144" y="3191256"/>
            <a:ext cx="4153205" cy="342900"/>
          </a:xfrm>
          <a:prstGeom prst="roundRect">
            <a:avLst>
              <a:gd name="adj" fmla="val 59259"/>
            </a:avLst>
          </a:prstGeom>
          <a:solidFill>
            <a:srgbClr val="E0F2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Text 38"/>
          <p:cNvSpPr txBox="1"/>
          <p:nvPr/>
        </p:nvSpPr>
        <p:spPr>
          <a:xfrm>
            <a:off x="6867144" y="3191256"/>
            <a:ext cx="422910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"2016년 매출 상위 5개 매장은 어디야?"</a:t>
            </a:r>
            <a:endParaRPr lang="en-US" sz="900" dirty="0"/>
          </a:p>
        </p:txBody>
      </p:sp>
      <p:sp>
        <p:nvSpPr>
          <p:cNvPr id="48" name="Shape 39"/>
          <p:cNvSpPr/>
          <p:nvPr/>
        </p:nvSpPr>
        <p:spPr>
          <a:xfrm>
            <a:off x="6362395" y="4005072"/>
            <a:ext cx="4819802" cy="1867205"/>
          </a:xfrm>
          <a:prstGeom prst="roundRect">
            <a:avLst>
              <a:gd name="adj" fmla="val 39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Shape 40"/>
          <p:cNvSpPr/>
          <p:nvPr/>
        </p:nvSpPr>
        <p:spPr>
          <a:xfrm>
            <a:off x="6524244" y="4824374"/>
            <a:ext cx="228600" cy="2286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Text 41"/>
          <p:cNvSpPr/>
          <p:nvPr/>
        </p:nvSpPr>
        <p:spPr>
          <a:xfrm>
            <a:off x="6486754" y="4824374"/>
            <a:ext cx="30541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900" dirty="0"/>
          </a:p>
        </p:txBody>
      </p:sp>
      <p:sp>
        <p:nvSpPr>
          <p:cNvPr id="51" name="Text 42"/>
          <p:cNvSpPr txBox="1"/>
          <p:nvPr/>
        </p:nvSpPr>
        <p:spPr>
          <a:xfrm>
            <a:off x="6867144" y="4129430"/>
            <a:ext cx="42675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LLM: SQL 생성 (Text-to-SQL)</a:t>
            </a:r>
            <a:endParaRPr lang="en-US" sz="1000" dirty="0"/>
          </a:p>
        </p:txBody>
      </p:sp>
      <p:sp>
        <p:nvSpPr>
          <p:cNvPr id="52" name="Shape 43"/>
          <p:cNvSpPr/>
          <p:nvPr/>
        </p:nvSpPr>
        <p:spPr>
          <a:xfrm>
            <a:off x="6867144" y="4405579"/>
            <a:ext cx="4153205" cy="1343254"/>
          </a:xfrm>
          <a:prstGeom prst="roundRect">
            <a:avLst>
              <a:gd name="adj" fmla="val 5793"/>
            </a:avLst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Text 44"/>
          <p:cNvSpPr txBox="1"/>
          <p:nvPr/>
        </p:nvSpPr>
        <p:spPr>
          <a:xfrm>
            <a:off x="6867144" y="4405579"/>
            <a:ext cx="4229100" cy="1343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114300" rIns="114300" bIns="1143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store_nbr, </a:t>
            </a:r>
            <a:pPr algn="l"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(sales) 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train 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pPr algn="l"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(date) = 2016 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store_nbr 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</a:t>
            </a:r>
            <a:pPr algn="l"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(sales) </a:t>
            </a:r>
            <a:pPr algn="l"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5; </a:t>
            </a:r>
            <a:endParaRPr lang="en-US" sz="900" dirty="0"/>
          </a:p>
        </p:txBody>
      </p:sp>
      <p:sp>
        <p:nvSpPr>
          <p:cNvPr id="54" name="Shape 45"/>
          <p:cNvSpPr/>
          <p:nvPr/>
        </p:nvSpPr>
        <p:spPr>
          <a:xfrm>
            <a:off x="6362395" y="6224321"/>
            <a:ext cx="4819802" cy="1485900"/>
          </a:xfrm>
          <a:prstGeom prst="roundRect">
            <a:avLst>
              <a:gd name="adj" fmla="val 63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Shape 46"/>
          <p:cNvSpPr/>
          <p:nvPr/>
        </p:nvSpPr>
        <p:spPr>
          <a:xfrm>
            <a:off x="6524244" y="6853428"/>
            <a:ext cx="228600" cy="2286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Text 47"/>
          <p:cNvSpPr/>
          <p:nvPr/>
        </p:nvSpPr>
        <p:spPr>
          <a:xfrm>
            <a:off x="6486754" y="6853428"/>
            <a:ext cx="30541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900" dirty="0"/>
          </a:p>
        </p:txBody>
      </p:sp>
      <p:sp>
        <p:nvSpPr>
          <p:cNvPr id="57" name="Text 48"/>
          <p:cNvSpPr txBox="1"/>
          <p:nvPr/>
        </p:nvSpPr>
        <p:spPr>
          <a:xfrm>
            <a:off x="6867144" y="6348679"/>
            <a:ext cx="42675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DuckDB 실행 및 결과 반환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67144" y="6586423"/>
          <a:ext cx="4153205" cy="1000354"/>
        </p:xfrm>
        <a:graphic>
          <a:graphicData uri="http://schemas.openxmlformats.org/drawingml/2006/table">
            <a:tbl>
              <a:tblPr/>
              <a:tblGrid>
                <a:gridCol w="1976018"/>
                <a:gridCol w="2176272"/>
              </a:tblGrid>
              <a:tr h="2500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store_nbr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405" marR="38405" marT="38405" marB="384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sum(sales)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405" marR="38405" marT="38405" marB="384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500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44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405" marR="38405" marT="38405" marB="384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62,345,100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405" marR="38405" marT="38405" marB="384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00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45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405" marR="38405" marT="38405" marB="384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58,120,050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405" marR="38405" marT="38405" marB="384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00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...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405" marR="38405" marT="38405" marB="384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...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405" marR="38405" marT="38405" marB="384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9" name="Image 7" descr="preencoded.png">    </p:cNvPr>
          <p:cNvPicPr>
            <a:picLocks noChangeAspect="1"/>
          </p:cNvPicPr>
          <p:nvPr/>
        </p:nvPicPr>
        <p:blipFill>
          <a:blip r:embed="rId9"/>
          <a:srcRect l="-2512" r="-2512" t="0" b="0"/>
          <a:stretch/>
        </p:blipFill>
        <p:spPr>
          <a:xfrm>
            <a:off x="8719718" y="3764585"/>
            <a:ext cx="105156" cy="133502"/>
          </a:xfrm>
          <a:prstGeom prst="rect">
            <a:avLst/>
          </a:prstGeom>
        </p:spPr>
      </p:pic>
      <p:sp>
        <p:nvSpPr>
          <p:cNvPr id="60" name="Text 49"/>
          <p:cNvSpPr txBox="1"/>
          <p:nvPr/>
        </p:nvSpPr>
        <p:spPr>
          <a:xfrm>
            <a:off x="6981444" y="4529023"/>
            <a:ext cx="5239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900" dirty="0"/>
          </a:p>
        </p:txBody>
      </p:sp>
      <p:sp>
        <p:nvSpPr>
          <p:cNvPr id="61" name="Text 50"/>
          <p:cNvSpPr txBox="1"/>
          <p:nvPr/>
        </p:nvSpPr>
        <p:spPr>
          <a:xfrm>
            <a:off x="8319211" y="4529023"/>
            <a:ext cx="3054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endParaRPr lang="en-US" sz="900" dirty="0"/>
          </a:p>
        </p:txBody>
      </p:sp>
      <p:sp>
        <p:nvSpPr>
          <p:cNvPr id="62" name="Text 51"/>
          <p:cNvSpPr txBox="1"/>
          <p:nvPr/>
        </p:nvSpPr>
        <p:spPr>
          <a:xfrm>
            <a:off x="6981444" y="4714646"/>
            <a:ext cx="3813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endParaRPr lang="en-US" sz="900" dirty="0"/>
          </a:p>
        </p:txBody>
      </p:sp>
      <p:sp>
        <p:nvSpPr>
          <p:cNvPr id="63" name="Text 52"/>
          <p:cNvSpPr txBox="1"/>
          <p:nvPr/>
        </p:nvSpPr>
        <p:spPr>
          <a:xfrm>
            <a:off x="6981444" y="4900270"/>
            <a:ext cx="4572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endParaRPr lang="en-US" sz="900" dirty="0"/>
          </a:p>
        </p:txBody>
      </p:sp>
      <p:sp>
        <p:nvSpPr>
          <p:cNvPr id="64" name="Text 53"/>
          <p:cNvSpPr txBox="1"/>
          <p:nvPr/>
        </p:nvSpPr>
        <p:spPr>
          <a:xfrm>
            <a:off x="7353605" y="4900270"/>
            <a:ext cx="3813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</a:t>
            </a:r>
            <a:endParaRPr lang="en-US" sz="900" dirty="0"/>
          </a:p>
        </p:txBody>
      </p:sp>
      <p:sp>
        <p:nvSpPr>
          <p:cNvPr id="65" name="Text 54"/>
          <p:cNvSpPr txBox="1"/>
          <p:nvPr/>
        </p:nvSpPr>
        <p:spPr>
          <a:xfrm>
            <a:off x="6981444" y="5086807"/>
            <a:ext cx="6766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</a:t>
            </a:r>
            <a:endParaRPr lang="en-US" sz="900" dirty="0"/>
          </a:p>
        </p:txBody>
      </p:sp>
      <p:sp>
        <p:nvSpPr>
          <p:cNvPr id="66" name="Text 55"/>
          <p:cNvSpPr txBox="1"/>
          <p:nvPr/>
        </p:nvSpPr>
        <p:spPr>
          <a:xfrm>
            <a:off x="6981444" y="5272430"/>
            <a:ext cx="6766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</a:t>
            </a:r>
            <a:endParaRPr lang="en-US" sz="900" dirty="0"/>
          </a:p>
        </p:txBody>
      </p:sp>
      <p:sp>
        <p:nvSpPr>
          <p:cNvPr id="67" name="Text 56"/>
          <p:cNvSpPr txBox="1"/>
          <p:nvPr/>
        </p:nvSpPr>
        <p:spPr>
          <a:xfrm>
            <a:off x="7575804" y="5272430"/>
            <a:ext cx="3054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endParaRPr lang="en-US" sz="900" dirty="0"/>
          </a:p>
        </p:txBody>
      </p:sp>
      <p:sp>
        <p:nvSpPr>
          <p:cNvPr id="68" name="Text 57"/>
          <p:cNvSpPr txBox="1"/>
          <p:nvPr/>
        </p:nvSpPr>
        <p:spPr>
          <a:xfrm>
            <a:off x="8393278" y="5272430"/>
            <a:ext cx="3813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</a:t>
            </a:r>
            <a:endParaRPr lang="en-US" sz="900" dirty="0"/>
          </a:p>
        </p:txBody>
      </p:sp>
      <p:sp>
        <p:nvSpPr>
          <p:cNvPr id="69" name="Text 58"/>
          <p:cNvSpPr txBox="1"/>
          <p:nvPr/>
        </p:nvSpPr>
        <p:spPr>
          <a:xfrm>
            <a:off x="6981444" y="5458054"/>
            <a:ext cx="4572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</a:t>
            </a:r>
            <a:endParaRPr lang="en-US" sz="900" dirty="0"/>
          </a:p>
        </p:txBody>
      </p:sp>
      <p:pic>
        <p:nvPicPr>
          <p:cNvPr id="70" name="Image 8" descr="preencoded.png">    </p:cNvPr>
          <p:cNvPicPr>
            <a:picLocks noChangeAspect="1"/>
          </p:cNvPicPr>
          <p:nvPr/>
        </p:nvPicPr>
        <p:blipFill>
          <a:blip r:embed="rId9"/>
          <a:srcRect l="-2512" r="-2512" t="0" b="0"/>
          <a:stretch/>
        </p:blipFill>
        <p:spPr>
          <a:xfrm>
            <a:off x="8719718" y="5983834"/>
            <a:ext cx="105156" cy="133502"/>
          </a:xfrm>
          <a:prstGeom prst="rect">
            <a:avLst/>
          </a:prstGeom>
        </p:spPr>
      </p:pic>
      <p:pic>
        <p:nvPicPr>
          <p:cNvPr id="71" name="Image 9" descr="preencoded.png">    </p:cNvPr>
          <p:cNvPicPr>
            <a:picLocks noChangeAspect="1"/>
          </p:cNvPicPr>
          <p:nvPr/>
        </p:nvPicPr>
        <p:blipFill>
          <a:blip r:embed="rId10"/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34195" y="-952805"/>
            <a:ext cx="3810305" cy="3810305"/>
          </a:xfrm>
          <a:prstGeom prst="ellipse">
            <a:avLst/>
          </a:prstGeom>
          <a:solidFill>
            <a:srgbClr val="F1F5F9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476402" y="4476902"/>
            <a:ext cx="2857500" cy="2857500"/>
          </a:xfrm>
          <a:prstGeom prst="ellipse">
            <a:avLst/>
          </a:prstGeom>
          <a:solidFill>
            <a:srgbClr val="E2E8F0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47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476402"/>
            <a:ext cx="11239805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spc="-66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라우팅(Routing)이 필요한 이유</a:t>
            </a:r>
            <a:endParaRPr lang="en-US" sz="33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200607"/>
            <a:ext cx="112398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질문의 의도를 파악하여 최적의 답변 경로를 찾아주는 나침반</a:t>
            </a:r>
            <a:endParaRPr lang="en-US" sz="1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rcRect l="-1" r="-1" t="0" b="0"/>
          <a:stretch/>
        </p:blipFill>
        <p:spPr>
          <a:xfrm>
            <a:off x="857707" y="2247595"/>
            <a:ext cx="5095951" cy="17145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57707" y="2247595"/>
            <a:ext cx="57607" cy="1695298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2542946"/>
            <a:ext cx="533095" cy="533095"/>
          </a:xfrm>
          <a:prstGeom prst="roundRect">
            <a:avLst>
              <a:gd name="adj" fmla="val 73511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304849" y="2695651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876349" y="2542946"/>
            <a:ext cx="397215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 유형의 다양성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1876349" y="2933395"/>
            <a:ext cx="3857854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"작년 매출 얼마야?"(정량)와 "매출 하락 원인이 뭐야?"(정성)는 처리 방식이 완전히 다릅니다. LLM은 이를 구분해야 합니다.</a:t>
            </a:r>
            <a:endParaRPr lang="en-US" sz="12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2"/>
          <a:srcRect l="-1" r="-1" t="0" b="0"/>
          <a:stretch/>
        </p:blipFill>
        <p:spPr>
          <a:xfrm>
            <a:off x="6238951" y="2247595"/>
            <a:ext cx="5095951" cy="171450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238951" y="2247595"/>
            <a:ext cx="57607" cy="1695298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534302" y="2542946"/>
            <a:ext cx="533095" cy="533095"/>
          </a:xfrm>
          <a:prstGeom prst="roundRect">
            <a:avLst>
              <a:gd name="adj" fmla="val 73511"/>
            </a:avLst>
          </a:prstGeom>
          <a:solidFill>
            <a:srgbClr val="FFFB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687007" y="2695651"/>
            <a:ext cx="228600" cy="22860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258507" y="2542946"/>
            <a:ext cx="397215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잘못된 경로 선택 시 문제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7258507" y="2933395"/>
            <a:ext cx="3857854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벡터 검색으로 '정확한 합계'를 계산하면 오답(환각)이 발생하고, SQL로 '전략'을 물으면 결과를 찾지 못합니다.</a:t>
            </a:r>
            <a:endParaRPr lang="en-US" sz="12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2"/>
          <a:srcRect l="-1" r="-1" t="0" b="0"/>
          <a:stretch/>
        </p:blipFill>
        <p:spPr>
          <a:xfrm>
            <a:off x="857707" y="4248302"/>
            <a:ext cx="5095951" cy="1714500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857707" y="4248302"/>
            <a:ext cx="57607" cy="1695298"/>
          </a:xfrm>
          <a:prstGeom prst="rect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1152144" y="4543654"/>
            <a:ext cx="533095" cy="533095"/>
          </a:xfrm>
          <a:prstGeom prst="roundRect">
            <a:avLst>
              <a:gd name="adj" fmla="val 73511"/>
            </a:avLst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304849" y="4695444"/>
            <a:ext cx="228600" cy="22860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876349" y="4543654"/>
            <a:ext cx="397215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라우팅의 핵심 목표</a:t>
            </a:r>
            <a:endParaRPr lang="en-US" sz="1600" dirty="0"/>
          </a:p>
        </p:txBody>
      </p:sp>
      <p:sp>
        <p:nvSpPr>
          <p:cNvPr id="26" name="Text 18"/>
          <p:cNvSpPr txBox="1"/>
          <p:nvPr/>
        </p:nvSpPr>
        <p:spPr>
          <a:xfrm>
            <a:off x="1876349" y="4934102"/>
            <a:ext cx="3857854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질문의 의도를 분석하여 CSV(SQL 집계) 또는 MD(문서 검색) 중 최적의 도구로 자동 분기합니다.</a:t>
            </a:r>
            <a:endParaRPr lang="en-US" sz="120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2"/>
          <a:srcRect l="-1" r="-1" t="0" b="0"/>
          <a:stretch/>
        </p:blipFill>
        <p:spPr>
          <a:xfrm>
            <a:off x="6238951" y="4248302"/>
            <a:ext cx="5095951" cy="1714500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6238951" y="4248302"/>
            <a:ext cx="57607" cy="1695298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0"/>
          <p:cNvSpPr/>
          <p:nvPr/>
        </p:nvSpPr>
        <p:spPr>
          <a:xfrm>
            <a:off x="6534302" y="4543654"/>
            <a:ext cx="533095" cy="533095"/>
          </a:xfrm>
          <a:prstGeom prst="roundRect">
            <a:avLst>
              <a:gd name="adj" fmla="val 73511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6"/>
          <a:srcRect l="-57" r="-57" t="0" b="0"/>
          <a:stretch/>
        </p:blipFill>
        <p:spPr>
          <a:xfrm>
            <a:off x="6700723" y="4695444"/>
            <a:ext cx="200254" cy="228600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7258507" y="4543654"/>
            <a:ext cx="397215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신뢰성 확보</a:t>
            </a:r>
            <a:endParaRPr lang="en-US" sz="1600" dirty="0"/>
          </a:p>
        </p:txBody>
      </p:sp>
      <p:sp>
        <p:nvSpPr>
          <p:cNvPr id="32" name="Text 22"/>
          <p:cNvSpPr txBox="1"/>
          <p:nvPr/>
        </p:nvSpPr>
        <p:spPr>
          <a:xfrm>
            <a:off x="7258507" y="4934102"/>
            <a:ext cx="3857854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적합한 데이터 소스를 사용함으로써 답변의 정확도를 높이고, 불필요한 연산을 줄여 응답 속도를 최적화합니다.</a:t>
            </a:r>
            <a:endParaRPr lang="en-US" sz="1200" dirty="0"/>
          </a:p>
        </p:txBody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7"/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10598" y="-476402"/>
            <a:ext cx="2857500" cy="2857500"/>
          </a:xfrm>
          <a:prstGeom prst="ellipse">
            <a:avLst/>
          </a:prstGeom>
          <a:solidFill>
            <a:srgbClr val="F1F5F9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476402" y="4476902"/>
            <a:ext cx="1904695" cy="1904695"/>
          </a:xfrm>
          <a:prstGeom prst="ellipse">
            <a:avLst/>
          </a:prstGeom>
          <a:solidFill>
            <a:srgbClr val="E2E8F0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48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381305"/>
            <a:ext cx="113541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spc="-63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라우팅 방식의 진화</a:t>
            </a:r>
            <a:endParaRPr lang="en-US" sz="31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 키워드 매칭에서 지능형 도구 호출(Tool Calling)까지의 발전 과정</a:t>
            </a:r>
            <a:endParaRPr lang="en-US" sz="15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rcRect l="0" r="0" t="-6" b="-6"/>
          <a:stretch/>
        </p:blipFill>
        <p:spPr>
          <a:xfrm>
            <a:off x="571500" y="1723644"/>
            <a:ext cx="3530498" cy="456285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80644" y="1781251"/>
            <a:ext cx="3514954" cy="180959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1" name="Shape 8"/>
          <p:cNvSpPr/>
          <p:nvPr/>
        </p:nvSpPr>
        <p:spPr>
          <a:xfrm>
            <a:off x="580644" y="3581705"/>
            <a:ext cx="3514954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031797" y="2009851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64748B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10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184502" y="2162556"/>
            <a:ext cx="304495" cy="30449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780337" y="2771546"/>
            <a:ext cx="112196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규칙 기반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1591056" y="3152851"/>
            <a:ext cx="149321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"Keyword Matching"</a:t>
            </a:r>
            <a:endParaRPr lang="en-US" sz="10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09244" y="3819449"/>
            <a:ext cx="133502" cy="13350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42746" y="3819449"/>
            <a:ext cx="300106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작동 원리:</a:t>
            </a:r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"매출", "합계" 등 특정 단어가 포함되면 SQL 경로로 분기.</a:t>
            </a:r>
            <a:endParaRPr lang="en-US" sz="11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09244" y="4362602"/>
            <a:ext cx="133502" cy="13350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42746" y="4362602"/>
            <a:ext cx="334579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장점:</a:t>
            </a:r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구현이 매우 간단하고 비용이 들지 않음.</a:t>
            </a:r>
            <a:endParaRPr lang="en-US" sz="11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09244" y="4690872"/>
            <a:ext cx="133502" cy="133502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942746" y="4690872"/>
            <a:ext cx="300106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한계:</a:t>
            </a:r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질문의 의도나 맥락을 이해하지 못해 유연성이 매우 부족함.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809244" y="5633618"/>
            <a:ext cx="3057754" cy="418795"/>
          </a:xfrm>
          <a:prstGeom prst="roundRect">
            <a:avLst>
              <a:gd name="adj" fmla="val 79397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771754" y="5633618"/>
            <a:ext cx="3134563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114300" rIns="114300" bIns="1143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초기 단계 / 단순 시나리오</a:t>
            </a:r>
            <a:endParaRPr lang="en-US" sz="9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6" b="-6"/>
          <a:stretch/>
        </p:blipFill>
        <p:spPr>
          <a:xfrm>
            <a:off x="4330598" y="1723644"/>
            <a:ext cx="3530498" cy="4562856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4340657" y="1781251"/>
            <a:ext cx="3514954" cy="180959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6" name="Shape 18"/>
          <p:cNvSpPr/>
          <p:nvPr/>
        </p:nvSpPr>
        <p:spPr>
          <a:xfrm>
            <a:off x="4340657" y="3581705"/>
            <a:ext cx="3514954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5790895" y="2009851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8B5CF6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10000"/>
              </a:srgbClr>
            </a:outerShdw>
          </a:effectLst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rcRect l="-90" r="-90" t="0" b="0"/>
          <a:stretch/>
        </p:blipFill>
        <p:spPr>
          <a:xfrm>
            <a:off x="5905195" y="2162556"/>
            <a:ext cx="381305" cy="304495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5332781" y="2771546"/>
            <a:ext cx="15297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 프롬프트</a:t>
            </a:r>
            <a:endParaRPr lang="en-US" sz="1800" dirty="0"/>
          </a:p>
        </p:txBody>
      </p:sp>
      <p:sp>
        <p:nvSpPr>
          <p:cNvPr id="30" name="Text 21"/>
          <p:cNvSpPr txBox="1"/>
          <p:nvPr/>
        </p:nvSpPr>
        <p:spPr>
          <a:xfrm>
            <a:off x="5559552" y="3152851"/>
            <a:ext cx="10771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"Ask the LLM"</a:t>
            </a:r>
            <a:endParaRPr lang="en-US" sz="100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4569257" y="3819449"/>
            <a:ext cx="133502" cy="133502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4701845" y="3819449"/>
            <a:ext cx="300106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작동 원리:</a:t>
            </a:r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LLM에게 "이 질문은 어떤 도구를 써야 해?"라고 물어보고 판단.</a:t>
            </a:r>
            <a:endParaRPr lang="en-US" sz="1100" dirty="0"/>
          </a:p>
        </p:txBody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4569257" y="4362602"/>
            <a:ext cx="133502" cy="133502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4701845" y="4362602"/>
            <a:ext cx="300106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장점:</a:t>
            </a:r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문맥을 이해하여 복잡한 질문도 적절히 분류 가능.</a:t>
            </a:r>
            <a:endParaRPr lang="en-US" sz="1100" dirty="0"/>
          </a:p>
        </p:txBody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4569257" y="4905756"/>
            <a:ext cx="133502" cy="133502"/>
          </a:xfrm>
          <a:prstGeom prst="rect">
            <a:avLst/>
          </a:prstGeom>
        </p:spPr>
      </p:pic>
      <p:sp>
        <p:nvSpPr>
          <p:cNvPr id="36" name="Text 24"/>
          <p:cNvSpPr txBox="1"/>
          <p:nvPr/>
        </p:nvSpPr>
        <p:spPr>
          <a:xfrm>
            <a:off x="4701845" y="4905756"/>
            <a:ext cx="300106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한계:</a:t>
            </a:r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답변 형식이 불안정하여 파싱 에러 발생 가능성 있음.</a:t>
            </a:r>
            <a:endParaRPr lang="en-US" sz="1100" dirty="0"/>
          </a:p>
        </p:txBody>
      </p:sp>
      <p:sp>
        <p:nvSpPr>
          <p:cNvPr id="37" name="Shape 25"/>
          <p:cNvSpPr/>
          <p:nvPr/>
        </p:nvSpPr>
        <p:spPr>
          <a:xfrm>
            <a:off x="4569257" y="5633618"/>
            <a:ext cx="3057754" cy="418795"/>
          </a:xfrm>
          <a:prstGeom prst="roundRect">
            <a:avLst>
              <a:gd name="adj" fmla="val 79397"/>
            </a:avLst>
          </a:prstGeom>
          <a:solidFill>
            <a:srgbClr val="F5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26"/>
          <p:cNvSpPr txBox="1"/>
          <p:nvPr/>
        </p:nvSpPr>
        <p:spPr>
          <a:xfrm>
            <a:off x="4530852" y="5633618"/>
            <a:ext cx="3134563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114300" rIns="114300" bIns="1143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21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유연성 확보 / 안정성 부족</a:t>
            </a:r>
            <a:endParaRPr lang="en-US" sz="900" dirty="0"/>
          </a:p>
        </p:txBody>
      </p:sp>
      <p:pic>
        <p:nvPicPr>
          <p:cNvPr id="39" name="Image 10" descr="preencoded.png">    </p:cNvPr>
          <p:cNvPicPr>
            <a:picLocks noChangeAspect="1"/>
          </p:cNvPicPr>
          <p:nvPr/>
        </p:nvPicPr>
        <p:blipFill>
          <a:blip r:embed="rId10"/>
          <a:srcRect l="0" r="0" t="-6" b="-6"/>
          <a:stretch/>
        </p:blipFill>
        <p:spPr>
          <a:xfrm>
            <a:off x="8089697" y="1723644"/>
            <a:ext cx="3530498" cy="4562856"/>
          </a:xfrm>
          <a:prstGeom prst="rect">
            <a:avLst/>
          </a:prstGeom>
        </p:spPr>
      </p:pic>
      <p:sp>
        <p:nvSpPr>
          <p:cNvPr id="40" name="Shape 27"/>
          <p:cNvSpPr/>
          <p:nvPr/>
        </p:nvSpPr>
        <p:spPr>
          <a:xfrm>
            <a:off x="8099755" y="1781251"/>
            <a:ext cx="3514954" cy="180959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1" name="Shape 28"/>
          <p:cNvSpPr/>
          <p:nvPr/>
        </p:nvSpPr>
        <p:spPr>
          <a:xfrm>
            <a:off x="8099755" y="3581705"/>
            <a:ext cx="3514954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42" name="Shape 29"/>
          <p:cNvSpPr/>
          <p:nvPr/>
        </p:nvSpPr>
        <p:spPr>
          <a:xfrm>
            <a:off x="9549994" y="2009851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059669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10000"/>
              </a:srgbClr>
            </a:outerShdw>
          </a:effectLst>
        </p:spPr>
      </p:sp>
      <p:pic>
        <p:nvPicPr>
          <p:cNvPr id="43" name="Image 11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9702698" y="2162556"/>
            <a:ext cx="304495" cy="304495"/>
          </a:xfrm>
          <a:prstGeom prst="rect">
            <a:avLst/>
          </a:prstGeom>
        </p:spPr>
      </p:pic>
      <p:sp>
        <p:nvSpPr>
          <p:cNvPr id="44" name="Text 30"/>
          <p:cNvSpPr txBox="1"/>
          <p:nvPr/>
        </p:nvSpPr>
        <p:spPr>
          <a:xfrm>
            <a:off x="9043416" y="2771546"/>
            <a:ext cx="163311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Tool Calling</a:t>
            </a:r>
            <a:endParaRPr lang="en-US" sz="1800" dirty="0"/>
          </a:p>
        </p:txBody>
      </p:sp>
      <p:sp>
        <p:nvSpPr>
          <p:cNvPr id="45" name="Text 31"/>
          <p:cNvSpPr txBox="1"/>
          <p:nvPr/>
        </p:nvSpPr>
        <p:spPr>
          <a:xfrm>
            <a:off x="9073591" y="3152851"/>
            <a:ext cx="15645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"Structured Output"</a:t>
            </a:r>
            <a:endParaRPr lang="en-US" sz="1000" dirty="0"/>
          </a:p>
        </p:txBody>
      </p:sp>
      <p:pic>
        <p:nvPicPr>
          <p:cNvPr id="46" name="Image 12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8328355" y="3819449"/>
            <a:ext cx="133502" cy="133502"/>
          </a:xfrm>
          <a:prstGeom prst="rect">
            <a:avLst/>
          </a:prstGeom>
        </p:spPr>
      </p:pic>
      <p:sp>
        <p:nvSpPr>
          <p:cNvPr id="47" name="Text 32"/>
          <p:cNvSpPr txBox="1"/>
          <p:nvPr/>
        </p:nvSpPr>
        <p:spPr>
          <a:xfrm>
            <a:off x="8461858" y="3819449"/>
            <a:ext cx="300106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작동 원리:</a:t>
            </a:r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LLM이 미리 정의된 도구 스키마를 보고 JSON 형태로 도구 선택.</a:t>
            </a:r>
            <a:endParaRPr lang="en-US" sz="1100" dirty="0"/>
          </a:p>
        </p:txBody>
      </p:sp>
      <p:pic>
        <p:nvPicPr>
          <p:cNvPr id="48" name="Image 13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8328355" y="4362602"/>
            <a:ext cx="133502" cy="133502"/>
          </a:xfrm>
          <a:prstGeom prst="rect">
            <a:avLst/>
          </a:prstGeom>
        </p:spPr>
      </p:pic>
      <p:sp>
        <p:nvSpPr>
          <p:cNvPr id="49" name="Text 33"/>
          <p:cNvSpPr txBox="1"/>
          <p:nvPr/>
        </p:nvSpPr>
        <p:spPr>
          <a:xfrm>
            <a:off x="8461858" y="4362602"/>
            <a:ext cx="300106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장점:</a:t>
            </a:r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구조화된 출력(JSON)으로 안정적이며 인자(Args) 추출이 정확함.</a:t>
            </a:r>
            <a:endParaRPr lang="en-US" sz="1100" dirty="0"/>
          </a:p>
        </p:txBody>
      </p:sp>
      <p:pic>
        <p:nvPicPr>
          <p:cNvPr id="50" name="Image 14" descr="preencoded.png">    </p:cNvPr>
          <p:cNvPicPr>
            <a:picLocks noChangeAspect="1"/>
          </p:cNvPicPr>
          <p:nvPr/>
        </p:nvPicPr>
        <p:blipFill>
          <a:blip r:embed="rId13"/>
          <a:srcRect l="-837" r="-837" t="0" b="0"/>
          <a:stretch/>
        </p:blipFill>
        <p:spPr>
          <a:xfrm>
            <a:off x="8328355" y="4905756"/>
            <a:ext cx="152705" cy="133502"/>
          </a:xfrm>
          <a:prstGeom prst="rect">
            <a:avLst/>
          </a:prstGeom>
        </p:spPr>
      </p:pic>
      <p:sp>
        <p:nvSpPr>
          <p:cNvPr id="51" name="Text 34"/>
          <p:cNvSpPr txBox="1"/>
          <p:nvPr/>
        </p:nvSpPr>
        <p:spPr>
          <a:xfrm>
            <a:off x="8480146" y="4905756"/>
            <a:ext cx="2981858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특징:</a:t>
            </a:r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OpenAI, Anthropic 등 최신 모델이 기본 지원하는 표준 방식.</a:t>
            </a:r>
            <a:endParaRPr lang="en-US" sz="1100" dirty="0"/>
          </a:p>
        </p:txBody>
      </p:sp>
      <p:sp>
        <p:nvSpPr>
          <p:cNvPr id="52" name="Shape 35"/>
          <p:cNvSpPr/>
          <p:nvPr/>
        </p:nvSpPr>
        <p:spPr>
          <a:xfrm>
            <a:off x="8328355" y="5633618"/>
            <a:ext cx="3057754" cy="418795"/>
          </a:xfrm>
          <a:prstGeom prst="roundRect">
            <a:avLst>
              <a:gd name="adj" fmla="val 79397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Text 36"/>
          <p:cNvSpPr txBox="1"/>
          <p:nvPr/>
        </p:nvSpPr>
        <p:spPr>
          <a:xfrm>
            <a:off x="8289950" y="5633618"/>
            <a:ext cx="3134563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114300" rIns="114300" bIns="1143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Best Practice / 안정성 &amp; 유연성</a:t>
            </a:r>
            <a:endParaRPr lang="en-US" sz="900" dirty="0"/>
          </a:p>
        </p:txBody>
      </p:sp>
      <p:pic>
        <p:nvPicPr>
          <p:cNvPr id="54" name="Image 15" descr="preencoded.png">    </p:cNvPr>
          <p:cNvPicPr>
            <a:picLocks noChangeAspect="1"/>
          </p:cNvPicPr>
          <p:nvPr/>
        </p:nvPicPr>
        <p:blipFill>
          <a:blip r:embed="rId14"/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34195" y="-952805"/>
            <a:ext cx="3810305" cy="3810305"/>
          </a:xfrm>
          <a:prstGeom prst="ellipse">
            <a:avLst/>
          </a:prstGeom>
          <a:solidFill>
            <a:srgbClr val="3B82F6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476402" y="4476902"/>
            <a:ext cx="2857500" cy="2857500"/>
          </a:xfrm>
          <a:prstGeom prst="ellipse">
            <a:avLst/>
          </a:prstGeom>
          <a:solidFill>
            <a:srgbClr val="10B981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49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381305"/>
            <a:ext cx="11239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spc="-63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Tool Calling 심화</a:t>
            </a:r>
            <a:endParaRPr lang="en-US" sz="31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LLM이 도구를 선택하고 사용하는 구조화된 메커니즘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71500" y="1723644"/>
            <a:ext cx="4972507" cy="3448202"/>
          </a:xfrm>
          <a:prstGeom prst="roundRect">
            <a:avLst>
              <a:gd name="adj" fmla="val 23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9244" y="2457907"/>
            <a:ext cx="4496105" cy="1920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9244" y="1962302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81482" y="2057400"/>
            <a:ext cx="237744" cy="190195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304849" y="2009851"/>
            <a:ext cx="237286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작동 방식 (Mechanism)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09244" y="2628900"/>
            <a:ext cx="304495" cy="304495"/>
          </a:xfrm>
          <a:prstGeom prst="ellipse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/>
          <a:srcRect l="-2512" r="-2512" t="0" b="0"/>
          <a:stretch/>
        </p:blipFill>
        <p:spPr>
          <a:xfrm>
            <a:off x="909828" y="2714854"/>
            <a:ext cx="105156" cy="133502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228954" y="2628900"/>
            <a:ext cx="42675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도구 정의 제공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1228954" y="2895905"/>
            <a:ext cx="41532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개발자가 LLM에게 사용 가능한 함수 목록(이름, 설명, 인자)을 JSON Schema 형태로 미리 제공합니다.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809244" y="3448202"/>
            <a:ext cx="304495" cy="304495"/>
          </a:xfrm>
          <a:prstGeom prst="ellipse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95198" y="3534156"/>
            <a:ext cx="133502" cy="13350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228954" y="3448202"/>
            <a:ext cx="42675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의미 기반 선택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1228954" y="3715207"/>
            <a:ext cx="41532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LLM은 사용자 질문의 의도를 파악하고, 가장 적합한 도구(함수)를 스스로 결정합니다.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809244" y="4267505"/>
            <a:ext cx="304495" cy="304495"/>
          </a:xfrm>
          <a:prstGeom prst="ellipse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95198" y="4352544"/>
            <a:ext cx="133502" cy="13350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28954" y="4267505"/>
            <a:ext cx="42675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구조화된 응답 반환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1228954" y="4533595"/>
            <a:ext cx="41532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자연어 텍스트 대신, 약속된 JSON 포맷으로 함수 이름과 인자값을 반환하여 실행 오류를 방지합니다.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571500" y="5400446"/>
            <a:ext cx="4972507" cy="3838651"/>
          </a:xfrm>
          <a:prstGeom prst="roundRect">
            <a:avLst>
              <a:gd name="adj" fmla="val 18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09244" y="6134710"/>
            <a:ext cx="4496105" cy="19202"/>
          </a:xfrm>
          <a:prstGeom prst="rect">
            <a:avLst/>
          </a:prstGeom>
          <a:solidFill>
            <a:srgbClr val="F3E8FF"/>
          </a:solidFill>
          <a:ln w="12700">
            <a:solidFill>
              <a:srgbClr val="F3E8FF">
                <a:alpha val="0"/>
              </a:srgbClr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809244" y="5639105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F3E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905256" y="5734202"/>
            <a:ext cx="190195" cy="190195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04849" y="5686654"/>
            <a:ext cx="93543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장점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809244" y="6305702"/>
            <a:ext cx="304495" cy="304495"/>
          </a:xfrm>
          <a:prstGeom prst="ellipse">
            <a:avLst/>
          </a:prstGeom>
          <a:solidFill>
            <a:srgbClr val="F3E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895198" y="6391656"/>
            <a:ext cx="133502" cy="133502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1228954" y="6305702"/>
            <a:ext cx="4191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안정성 (Reliability)</a:t>
            </a:r>
            <a:endParaRPr lang="en-US" sz="1200" dirty="0"/>
          </a:p>
        </p:txBody>
      </p:sp>
      <p:sp>
        <p:nvSpPr>
          <p:cNvPr id="34" name="Text 26"/>
          <p:cNvSpPr txBox="1"/>
          <p:nvPr/>
        </p:nvSpPr>
        <p:spPr>
          <a:xfrm>
            <a:off x="1228954" y="6572707"/>
            <a:ext cx="41532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자유 텍스트 생성 시 발생하는 파싱 에러나 환각을 최소화하고, 정확한 인자를 추출합니다.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809244" y="7125005"/>
            <a:ext cx="304495" cy="304495"/>
          </a:xfrm>
          <a:prstGeom prst="ellipse">
            <a:avLst/>
          </a:prstGeom>
          <a:solidFill>
            <a:srgbClr val="F3E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895198" y="7210044"/>
            <a:ext cx="133502" cy="133502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1228954" y="7125005"/>
            <a:ext cx="4191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유연한 라우팅 (Routing)</a:t>
            </a:r>
            <a:endParaRPr lang="en-US" sz="1200" dirty="0"/>
          </a:p>
        </p:txBody>
      </p:sp>
      <p:sp>
        <p:nvSpPr>
          <p:cNvPr id="38" name="Text 29"/>
          <p:cNvSpPr txBox="1"/>
          <p:nvPr/>
        </p:nvSpPr>
        <p:spPr>
          <a:xfrm>
            <a:off x="1228954" y="7391095"/>
            <a:ext cx="41532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 키워드 매칭보다 훨씬 복잡한 문맥을 이해하여 적절한 도구(CSV vs MD)를 호출합니다.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5924398" y="1723644"/>
            <a:ext cx="5695798" cy="7515454"/>
          </a:xfrm>
          <a:prstGeom prst="roundRect">
            <a:avLst>
              <a:gd name="adj" fmla="val 8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6163056" y="2457907"/>
            <a:ext cx="5219395" cy="19202"/>
          </a:xfrm>
          <a:prstGeom prst="rect">
            <a:avLst/>
          </a:prstGeom>
          <a:solidFill>
            <a:srgbClr val="ECFDF5"/>
          </a:solidFill>
          <a:ln w="12700">
            <a:solidFill>
              <a:srgbClr val="ECFDF5">
                <a:alpha val="0"/>
              </a:srgbClr>
            </a:solidFill>
            <a:prstDash val="solid"/>
          </a:ln>
        </p:spPr>
      </p:sp>
      <p:sp>
        <p:nvSpPr>
          <p:cNvPr id="41" name="Shape 32"/>
          <p:cNvSpPr/>
          <p:nvPr/>
        </p:nvSpPr>
        <p:spPr>
          <a:xfrm>
            <a:off x="6163056" y="1962302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9"/>
          <a:srcRect l="-1282" r="-1282" t="0" b="0"/>
          <a:stretch/>
        </p:blipFill>
        <p:spPr>
          <a:xfrm>
            <a:off x="6243523" y="2057400"/>
            <a:ext cx="219456" cy="190195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6657746" y="2009851"/>
            <a:ext cx="14639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동작 예시</a:t>
            </a:r>
            <a:endParaRPr lang="en-US" sz="1500" dirty="0"/>
          </a:p>
        </p:txBody>
      </p:sp>
      <p:sp>
        <p:nvSpPr>
          <p:cNvPr id="44" name="Text 34"/>
          <p:cNvSpPr txBox="1"/>
          <p:nvPr/>
        </p:nvSpPr>
        <p:spPr>
          <a:xfrm>
            <a:off x="6163056" y="2962656"/>
            <a:ext cx="53346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User: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"2016년 전체 매출 합계는 얼마야?"</a:t>
            </a:r>
            <a:endParaRPr lang="en-US" sz="1000" dirty="0"/>
          </a:p>
        </p:txBody>
      </p:sp>
      <p:sp>
        <p:nvSpPr>
          <p:cNvPr id="45" name="Text 35"/>
          <p:cNvSpPr txBox="1"/>
          <p:nvPr/>
        </p:nvSpPr>
        <p:spPr>
          <a:xfrm>
            <a:off x="6163056" y="5894222"/>
            <a:ext cx="54105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User: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"매출 하락을 막기 위한 프로모션 전략을 알려줘"</a:t>
            </a:r>
            <a:endParaRPr lang="en-US" sz="1000" dirty="0"/>
          </a:p>
        </p:txBody>
      </p:sp>
      <p:sp>
        <p:nvSpPr>
          <p:cNvPr id="46" name="Shape 36"/>
          <p:cNvSpPr/>
          <p:nvPr/>
        </p:nvSpPr>
        <p:spPr>
          <a:xfrm>
            <a:off x="6163056" y="8397850"/>
            <a:ext cx="5219395" cy="599846"/>
          </a:xfrm>
          <a:prstGeom prst="roundRect">
            <a:avLst>
              <a:gd name="adj" fmla="val 38715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pic>
        <p:nvPicPr>
          <p:cNvPr id="47" name="Image 8" descr="preencoded.png">    </p:cNvPr>
          <p:cNvPicPr>
            <a:picLocks noChangeAspect="1"/>
          </p:cNvPicPr>
          <p:nvPr/>
        </p:nvPicPr>
        <p:blipFill>
          <a:blip r:embed="rId10"/>
          <a:srcRect l="0" r="0" t="-100" b="-100"/>
          <a:stretch/>
        </p:blipFill>
        <p:spPr>
          <a:xfrm>
            <a:off x="6286500" y="8550554"/>
            <a:ext cx="114300" cy="152705"/>
          </a:xfrm>
          <a:prstGeom prst="rect">
            <a:avLst/>
          </a:prstGeom>
        </p:spPr>
      </p:pic>
      <p:sp>
        <p:nvSpPr>
          <p:cNvPr id="48" name="Text 37"/>
          <p:cNvSpPr txBox="1"/>
          <p:nvPr/>
        </p:nvSpPr>
        <p:spPr>
          <a:xfrm>
            <a:off x="6495898" y="8522208"/>
            <a:ext cx="48390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Insight:</a:t>
            </a:r>
            <a:pPr algn="l" indent="0" marL="0">
              <a:buNone/>
            </a:pPr>
            <a:r>
              <a:rPr lang="en-US" sz="900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LLM은 질문의 맥락을 분석하여 </a:t>
            </a:r>
            <a:pPr algn="l" indent="0" marL="0">
              <a:buNone/>
            </a:pPr>
            <a:r>
              <a:rPr lang="en-US" sz="900" i="1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"숫자 계산"</a:t>
            </a:r>
            <a:pPr algn="l" indent="0" marL="0">
              <a:buNone/>
            </a:pPr>
            <a:r>
              <a:rPr lang="en-US" sz="900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필요한지, </a:t>
            </a:r>
            <a:pPr algn="l" indent="0" marL="0">
              <a:buNone/>
            </a:pPr>
            <a:r>
              <a:rPr lang="en-US" sz="900" i="1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"문서 검색"</a:t>
            </a:r>
            <a:pPr algn="l" indent="0" marL="0">
              <a:buNone/>
            </a:pPr>
            <a:r>
              <a:rPr lang="en-US" sz="900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필요한지 판단하고 자동으로 도구를 스위칭합니다. </a:t>
            </a:r>
            <a:endParaRPr lang="en-US" sz="900" dirty="0"/>
          </a:p>
        </p:txBody>
      </p:sp>
      <p:sp>
        <p:nvSpPr>
          <p:cNvPr id="49" name="Shape 38"/>
          <p:cNvSpPr/>
          <p:nvPr/>
        </p:nvSpPr>
        <p:spPr>
          <a:xfrm>
            <a:off x="6163056" y="2638044"/>
            <a:ext cx="1609344" cy="247802"/>
          </a:xfrm>
          <a:prstGeom prst="roundRect">
            <a:avLst>
              <a:gd name="adj" fmla="val 113540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Text 39"/>
          <p:cNvSpPr txBox="1"/>
          <p:nvPr/>
        </p:nvSpPr>
        <p:spPr>
          <a:xfrm>
            <a:off x="6163056" y="2638044"/>
            <a:ext cx="1674266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Scenario 1: 정량 데이터 조회</a:t>
            </a:r>
            <a:endParaRPr lang="en-US" sz="900" dirty="0"/>
          </a:p>
        </p:txBody>
      </p:sp>
      <p:sp>
        <p:nvSpPr>
          <p:cNvPr id="51" name="Shape 40"/>
          <p:cNvSpPr/>
          <p:nvPr/>
        </p:nvSpPr>
        <p:spPr>
          <a:xfrm>
            <a:off x="6163056" y="5570525"/>
            <a:ext cx="1723644" cy="247802"/>
          </a:xfrm>
          <a:prstGeom prst="roundRect">
            <a:avLst>
              <a:gd name="adj" fmla="val 113540"/>
            </a:avLst>
          </a:prstGeom>
          <a:solidFill>
            <a:srgbClr val="FCE7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Text 41"/>
          <p:cNvSpPr txBox="1"/>
          <p:nvPr/>
        </p:nvSpPr>
        <p:spPr>
          <a:xfrm>
            <a:off x="6163056" y="5570525"/>
            <a:ext cx="1793138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Scenario 2: 전략/인사이트 검색</a:t>
            </a:r>
            <a:endParaRPr lang="en-US" sz="900" dirty="0"/>
          </a:p>
        </p:txBody>
      </p:sp>
      <p:sp>
        <p:nvSpPr>
          <p:cNvPr id="53" name="Shape 42"/>
          <p:cNvSpPr/>
          <p:nvPr/>
        </p:nvSpPr>
        <p:spPr>
          <a:xfrm>
            <a:off x="6163056" y="3238805"/>
            <a:ext cx="5219395" cy="1990649"/>
          </a:xfrm>
          <a:prstGeom prst="roundRect">
            <a:avLst>
              <a:gd name="adj" fmla="val 5275"/>
            </a:avLst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43"/>
          <p:cNvSpPr/>
          <p:nvPr/>
        </p:nvSpPr>
        <p:spPr>
          <a:xfrm>
            <a:off x="6163056" y="3238805"/>
            <a:ext cx="5219395" cy="295351"/>
          </a:xfrm>
          <a:prstGeom prst="roundRect">
            <a:avLst>
              <a:gd name="adj" fmla="val 239689"/>
            </a:avLst>
          </a:prstGeom>
          <a:solidFill>
            <a:srgbClr val="0F172A"/>
          </a:solidFill>
          <a:ln/>
        </p:spPr>
      </p:sp>
      <p:sp>
        <p:nvSpPr>
          <p:cNvPr id="55" name="Shape 44"/>
          <p:cNvSpPr/>
          <p:nvPr/>
        </p:nvSpPr>
        <p:spPr>
          <a:xfrm>
            <a:off x="6163056" y="3525012"/>
            <a:ext cx="5219395" cy="9144"/>
          </a:xfrm>
          <a:prstGeom prst="roundRect">
            <a:avLst>
              <a:gd name="adj" fmla="val 7741935"/>
            </a:avLst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56" name="Text 45"/>
          <p:cNvSpPr txBox="1"/>
          <p:nvPr/>
        </p:nvSpPr>
        <p:spPr>
          <a:xfrm>
            <a:off x="6314846" y="3295498"/>
            <a:ext cx="11530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LLM Output (JSON)</a:t>
            </a:r>
            <a:endParaRPr lang="en-US" sz="800" dirty="0"/>
          </a:p>
        </p:txBody>
      </p:sp>
      <p:sp>
        <p:nvSpPr>
          <p:cNvPr id="57" name="Text 46"/>
          <p:cNvSpPr txBox="1"/>
          <p:nvPr/>
        </p:nvSpPr>
        <p:spPr>
          <a:xfrm>
            <a:off x="10223906" y="3295498"/>
            <a:ext cx="10863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tool: search_csv</a:t>
            </a:r>
            <a:endParaRPr lang="en-US" sz="800" dirty="0"/>
          </a:p>
        </p:txBody>
      </p:sp>
      <p:sp>
        <p:nvSpPr>
          <p:cNvPr id="58" name="Text 47"/>
          <p:cNvSpPr txBox="1"/>
          <p:nvPr/>
        </p:nvSpPr>
        <p:spPr>
          <a:xfrm>
            <a:off x="6353251" y="3562502"/>
            <a:ext cx="1627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1000" dirty="0"/>
          </a:p>
        </p:txBody>
      </p:sp>
      <p:sp>
        <p:nvSpPr>
          <p:cNvPr id="59" name="Text 48"/>
          <p:cNvSpPr txBox="1"/>
          <p:nvPr/>
        </p:nvSpPr>
        <p:spPr>
          <a:xfrm>
            <a:off x="6353251" y="3775558"/>
            <a:ext cx="5623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"name"</a:t>
            </a:r>
            <a:endParaRPr lang="en-US" sz="1000" dirty="0"/>
          </a:p>
        </p:txBody>
      </p:sp>
      <p:sp>
        <p:nvSpPr>
          <p:cNvPr id="60" name="Text 49"/>
          <p:cNvSpPr txBox="1"/>
          <p:nvPr/>
        </p:nvSpPr>
        <p:spPr>
          <a:xfrm>
            <a:off x="6833311" y="3775558"/>
            <a:ext cx="2386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endParaRPr lang="en-US" sz="1000" dirty="0"/>
          </a:p>
        </p:txBody>
      </p:sp>
      <p:sp>
        <p:nvSpPr>
          <p:cNvPr id="61" name="Text 50"/>
          <p:cNvSpPr txBox="1"/>
          <p:nvPr/>
        </p:nvSpPr>
        <p:spPr>
          <a:xfrm>
            <a:off x="6993331" y="3775558"/>
            <a:ext cx="14383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"tool_search_csv"</a:t>
            </a:r>
            <a:endParaRPr lang="en-US" sz="1000" dirty="0"/>
          </a:p>
        </p:txBody>
      </p:sp>
      <p:sp>
        <p:nvSpPr>
          <p:cNvPr id="62" name="Text 51"/>
          <p:cNvSpPr txBox="1"/>
          <p:nvPr/>
        </p:nvSpPr>
        <p:spPr>
          <a:xfrm>
            <a:off x="8353958" y="3775558"/>
            <a:ext cx="1627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000" dirty="0"/>
          </a:p>
        </p:txBody>
      </p:sp>
      <p:sp>
        <p:nvSpPr>
          <p:cNvPr id="63" name="Text 52"/>
          <p:cNvSpPr txBox="1"/>
          <p:nvPr/>
        </p:nvSpPr>
        <p:spPr>
          <a:xfrm>
            <a:off x="6353251" y="3989527"/>
            <a:ext cx="9628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"arguments"</a:t>
            </a:r>
            <a:endParaRPr lang="en-US" sz="1000" dirty="0"/>
          </a:p>
        </p:txBody>
      </p:sp>
      <p:sp>
        <p:nvSpPr>
          <p:cNvPr id="64" name="Text 53"/>
          <p:cNvSpPr txBox="1"/>
          <p:nvPr/>
        </p:nvSpPr>
        <p:spPr>
          <a:xfrm>
            <a:off x="7232904" y="3989527"/>
            <a:ext cx="3246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{</a:t>
            </a:r>
            <a:endParaRPr lang="en-US" sz="1000" dirty="0"/>
          </a:p>
        </p:txBody>
      </p:sp>
      <p:sp>
        <p:nvSpPr>
          <p:cNvPr id="65" name="Text 54"/>
          <p:cNvSpPr txBox="1"/>
          <p:nvPr/>
        </p:nvSpPr>
        <p:spPr>
          <a:xfrm>
            <a:off x="6353251" y="4202582"/>
            <a:ext cx="6382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"query"</a:t>
            </a:r>
            <a:endParaRPr lang="en-US" sz="1000" dirty="0"/>
          </a:p>
        </p:txBody>
      </p:sp>
      <p:sp>
        <p:nvSpPr>
          <p:cNvPr id="66" name="Text 55"/>
          <p:cNvSpPr txBox="1"/>
          <p:nvPr/>
        </p:nvSpPr>
        <p:spPr>
          <a:xfrm>
            <a:off x="6913778" y="4202582"/>
            <a:ext cx="2386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endParaRPr lang="en-US" sz="1000" dirty="0"/>
          </a:p>
        </p:txBody>
      </p:sp>
      <p:sp>
        <p:nvSpPr>
          <p:cNvPr id="67" name="Text 56"/>
          <p:cNvSpPr txBox="1"/>
          <p:nvPr/>
        </p:nvSpPr>
        <p:spPr>
          <a:xfrm>
            <a:off x="7073798" y="4202582"/>
            <a:ext cx="13908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"2016년 매출 합계"</a:t>
            </a:r>
            <a:endParaRPr lang="en-US" sz="1000" dirty="0"/>
          </a:p>
        </p:txBody>
      </p:sp>
      <p:sp>
        <p:nvSpPr>
          <p:cNvPr id="68" name="Text 57"/>
          <p:cNvSpPr txBox="1"/>
          <p:nvPr/>
        </p:nvSpPr>
        <p:spPr>
          <a:xfrm>
            <a:off x="8380476" y="4202582"/>
            <a:ext cx="1627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000" dirty="0"/>
          </a:p>
        </p:txBody>
      </p:sp>
      <p:sp>
        <p:nvSpPr>
          <p:cNvPr id="69" name="Text 58"/>
          <p:cNvSpPr txBox="1"/>
          <p:nvPr/>
        </p:nvSpPr>
        <p:spPr>
          <a:xfrm>
            <a:off x="6353251" y="4415638"/>
            <a:ext cx="8769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"sql_hint"</a:t>
            </a:r>
            <a:endParaRPr lang="en-US" sz="1000" dirty="0"/>
          </a:p>
        </p:txBody>
      </p:sp>
      <p:sp>
        <p:nvSpPr>
          <p:cNvPr id="70" name="Text 59"/>
          <p:cNvSpPr txBox="1"/>
          <p:nvPr/>
        </p:nvSpPr>
        <p:spPr>
          <a:xfrm>
            <a:off x="7153351" y="4415638"/>
            <a:ext cx="2386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endParaRPr lang="en-US" sz="1000" dirty="0"/>
          </a:p>
        </p:txBody>
      </p:sp>
      <p:sp>
        <p:nvSpPr>
          <p:cNvPr id="71" name="Text 60"/>
          <p:cNvSpPr txBox="1"/>
          <p:nvPr/>
        </p:nvSpPr>
        <p:spPr>
          <a:xfrm>
            <a:off x="7313371" y="4415638"/>
            <a:ext cx="275417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"SELECT SUM(sales) FROM train..."</a:t>
            </a:r>
            <a:endParaRPr lang="en-US" sz="1000" dirty="0"/>
          </a:p>
        </p:txBody>
      </p:sp>
      <p:sp>
        <p:nvSpPr>
          <p:cNvPr id="72" name="Text 61"/>
          <p:cNvSpPr txBox="1"/>
          <p:nvPr/>
        </p:nvSpPr>
        <p:spPr>
          <a:xfrm>
            <a:off x="6353251" y="4629607"/>
            <a:ext cx="1627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000" dirty="0"/>
          </a:p>
        </p:txBody>
      </p:sp>
      <p:sp>
        <p:nvSpPr>
          <p:cNvPr id="73" name="Text 62"/>
          <p:cNvSpPr txBox="1"/>
          <p:nvPr/>
        </p:nvSpPr>
        <p:spPr>
          <a:xfrm>
            <a:off x="6353251" y="4842662"/>
            <a:ext cx="1627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000" dirty="0"/>
          </a:p>
        </p:txBody>
      </p:sp>
      <p:sp>
        <p:nvSpPr>
          <p:cNvPr id="74" name="Shape 63"/>
          <p:cNvSpPr/>
          <p:nvPr/>
        </p:nvSpPr>
        <p:spPr>
          <a:xfrm>
            <a:off x="6163056" y="6170371"/>
            <a:ext cx="5219395" cy="1990649"/>
          </a:xfrm>
          <a:prstGeom prst="roundRect">
            <a:avLst>
              <a:gd name="adj" fmla="val 5275"/>
            </a:avLst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Shape 64"/>
          <p:cNvSpPr/>
          <p:nvPr/>
        </p:nvSpPr>
        <p:spPr>
          <a:xfrm>
            <a:off x="6163056" y="6170371"/>
            <a:ext cx="5219395" cy="295351"/>
          </a:xfrm>
          <a:prstGeom prst="roundRect">
            <a:avLst>
              <a:gd name="adj" fmla="val 239689"/>
            </a:avLst>
          </a:prstGeom>
          <a:solidFill>
            <a:srgbClr val="0F172A"/>
          </a:solidFill>
          <a:ln/>
        </p:spPr>
      </p:sp>
      <p:sp>
        <p:nvSpPr>
          <p:cNvPr id="76" name="Shape 65"/>
          <p:cNvSpPr/>
          <p:nvPr/>
        </p:nvSpPr>
        <p:spPr>
          <a:xfrm>
            <a:off x="6163056" y="6456578"/>
            <a:ext cx="5219395" cy="9144"/>
          </a:xfrm>
          <a:prstGeom prst="roundRect">
            <a:avLst>
              <a:gd name="adj" fmla="val 7741935"/>
            </a:avLst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77" name="Text 66"/>
          <p:cNvSpPr txBox="1"/>
          <p:nvPr/>
        </p:nvSpPr>
        <p:spPr>
          <a:xfrm>
            <a:off x="6314846" y="6227978"/>
            <a:ext cx="11530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LLM Output (JSON)</a:t>
            </a:r>
            <a:endParaRPr lang="en-US" sz="800" dirty="0"/>
          </a:p>
        </p:txBody>
      </p:sp>
      <p:sp>
        <p:nvSpPr>
          <p:cNvPr id="78" name="Text 67"/>
          <p:cNvSpPr txBox="1"/>
          <p:nvPr/>
        </p:nvSpPr>
        <p:spPr>
          <a:xfrm>
            <a:off x="10287000" y="6227978"/>
            <a:ext cx="10195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tool: search_md</a:t>
            </a:r>
            <a:endParaRPr lang="en-US" sz="800" dirty="0"/>
          </a:p>
        </p:txBody>
      </p:sp>
      <p:sp>
        <p:nvSpPr>
          <p:cNvPr id="79" name="Text 68"/>
          <p:cNvSpPr txBox="1"/>
          <p:nvPr/>
        </p:nvSpPr>
        <p:spPr>
          <a:xfrm>
            <a:off x="6353251" y="6494983"/>
            <a:ext cx="1627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1000" dirty="0"/>
          </a:p>
        </p:txBody>
      </p:sp>
      <p:sp>
        <p:nvSpPr>
          <p:cNvPr id="80" name="Text 69"/>
          <p:cNvSpPr txBox="1"/>
          <p:nvPr/>
        </p:nvSpPr>
        <p:spPr>
          <a:xfrm>
            <a:off x="6353251" y="6708038"/>
            <a:ext cx="5623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"name"</a:t>
            </a:r>
            <a:endParaRPr lang="en-US" sz="1000" dirty="0"/>
          </a:p>
        </p:txBody>
      </p:sp>
      <p:sp>
        <p:nvSpPr>
          <p:cNvPr id="81" name="Text 70"/>
          <p:cNvSpPr txBox="1"/>
          <p:nvPr/>
        </p:nvSpPr>
        <p:spPr>
          <a:xfrm>
            <a:off x="6833311" y="6708038"/>
            <a:ext cx="2386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endParaRPr lang="en-US" sz="1000" dirty="0"/>
          </a:p>
        </p:txBody>
      </p:sp>
      <p:sp>
        <p:nvSpPr>
          <p:cNvPr id="82" name="Text 71"/>
          <p:cNvSpPr txBox="1"/>
          <p:nvPr/>
        </p:nvSpPr>
        <p:spPr>
          <a:xfrm>
            <a:off x="6993331" y="6708038"/>
            <a:ext cx="13624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"tool_search_md"</a:t>
            </a:r>
            <a:endParaRPr lang="en-US" sz="1000" dirty="0"/>
          </a:p>
        </p:txBody>
      </p:sp>
      <p:sp>
        <p:nvSpPr>
          <p:cNvPr id="83" name="Text 72"/>
          <p:cNvSpPr txBox="1"/>
          <p:nvPr/>
        </p:nvSpPr>
        <p:spPr>
          <a:xfrm>
            <a:off x="8273491" y="6708038"/>
            <a:ext cx="1627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000" dirty="0"/>
          </a:p>
        </p:txBody>
      </p:sp>
      <p:sp>
        <p:nvSpPr>
          <p:cNvPr id="84" name="Text 73"/>
          <p:cNvSpPr txBox="1"/>
          <p:nvPr/>
        </p:nvSpPr>
        <p:spPr>
          <a:xfrm>
            <a:off x="6353251" y="6921094"/>
            <a:ext cx="9628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"arguments"</a:t>
            </a:r>
            <a:endParaRPr lang="en-US" sz="1000" dirty="0"/>
          </a:p>
        </p:txBody>
      </p:sp>
      <p:sp>
        <p:nvSpPr>
          <p:cNvPr id="85" name="Text 74"/>
          <p:cNvSpPr txBox="1"/>
          <p:nvPr/>
        </p:nvSpPr>
        <p:spPr>
          <a:xfrm>
            <a:off x="7232904" y="6921094"/>
            <a:ext cx="3246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{</a:t>
            </a:r>
            <a:endParaRPr lang="en-US" sz="1000" dirty="0"/>
          </a:p>
        </p:txBody>
      </p:sp>
      <p:sp>
        <p:nvSpPr>
          <p:cNvPr id="86" name="Text 75"/>
          <p:cNvSpPr txBox="1"/>
          <p:nvPr/>
        </p:nvSpPr>
        <p:spPr>
          <a:xfrm>
            <a:off x="6353251" y="7135063"/>
            <a:ext cx="6382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"query"</a:t>
            </a:r>
            <a:endParaRPr lang="en-US" sz="1000" dirty="0"/>
          </a:p>
        </p:txBody>
      </p:sp>
      <p:sp>
        <p:nvSpPr>
          <p:cNvPr id="87" name="Text 76"/>
          <p:cNvSpPr txBox="1"/>
          <p:nvPr/>
        </p:nvSpPr>
        <p:spPr>
          <a:xfrm>
            <a:off x="6913778" y="7135063"/>
            <a:ext cx="2386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endParaRPr lang="en-US" sz="1000" dirty="0"/>
          </a:p>
        </p:txBody>
      </p:sp>
      <p:sp>
        <p:nvSpPr>
          <p:cNvPr id="88" name="Text 77"/>
          <p:cNvSpPr txBox="1"/>
          <p:nvPr/>
        </p:nvSpPr>
        <p:spPr>
          <a:xfrm>
            <a:off x="7073798" y="7135063"/>
            <a:ext cx="225308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"매출 하락 방어 프로모션 전략"</a:t>
            </a:r>
            <a:endParaRPr lang="en-US" sz="1000" dirty="0"/>
          </a:p>
        </p:txBody>
      </p:sp>
      <p:sp>
        <p:nvSpPr>
          <p:cNvPr id="89" name="Text 78"/>
          <p:cNvSpPr txBox="1"/>
          <p:nvPr/>
        </p:nvSpPr>
        <p:spPr>
          <a:xfrm>
            <a:off x="9154058" y="7135063"/>
            <a:ext cx="1627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000" dirty="0"/>
          </a:p>
        </p:txBody>
      </p:sp>
      <p:sp>
        <p:nvSpPr>
          <p:cNvPr id="90" name="Text 79"/>
          <p:cNvSpPr txBox="1"/>
          <p:nvPr/>
        </p:nvSpPr>
        <p:spPr>
          <a:xfrm>
            <a:off x="6353251" y="7348118"/>
            <a:ext cx="3246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"k"</a:t>
            </a:r>
            <a:endParaRPr lang="en-US" sz="1000" dirty="0"/>
          </a:p>
        </p:txBody>
      </p:sp>
      <p:sp>
        <p:nvSpPr>
          <p:cNvPr id="91" name="Text 80"/>
          <p:cNvSpPr txBox="1"/>
          <p:nvPr/>
        </p:nvSpPr>
        <p:spPr>
          <a:xfrm>
            <a:off x="6592824" y="7348118"/>
            <a:ext cx="2386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endParaRPr lang="en-US" sz="1000" dirty="0"/>
          </a:p>
        </p:txBody>
      </p:sp>
      <p:sp>
        <p:nvSpPr>
          <p:cNvPr id="92" name="Text 81"/>
          <p:cNvSpPr txBox="1"/>
          <p:nvPr/>
        </p:nvSpPr>
        <p:spPr>
          <a:xfrm>
            <a:off x="6753758" y="7348118"/>
            <a:ext cx="1627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08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1000" dirty="0"/>
          </a:p>
        </p:txBody>
      </p:sp>
      <p:sp>
        <p:nvSpPr>
          <p:cNvPr id="93" name="Text 82"/>
          <p:cNvSpPr txBox="1"/>
          <p:nvPr/>
        </p:nvSpPr>
        <p:spPr>
          <a:xfrm>
            <a:off x="6353251" y="7562088"/>
            <a:ext cx="1627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000" dirty="0"/>
          </a:p>
        </p:txBody>
      </p:sp>
      <p:sp>
        <p:nvSpPr>
          <p:cNvPr id="94" name="Text 83"/>
          <p:cNvSpPr txBox="1"/>
          <p:nvPr/>
        </p:nvSpPr>
        <p:spPr>
          <a:xfrm>
            <a:off x="6353251" y="7775143"/>
            <a:ext cx="1627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000" dirty="0"/>
          </a:p>
        </p:txBody>
      </p:sp>
      <p:pic>
        <p:nvPicPr>
          <p:cNvPr id="95" name="Image 9" descr="preencoded.png">    </p:cNvPr>
          <p:cNvPicPr>
            <a:picLocks noChangeAspect="1"/>
          </p:cNvPicPr>
          <p:nvPr/>
        </p:nvPicPr>
        <p:blipFill>
          <a:blip r:embed="rId11"/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63402" y="-476402"/>
            <a:ext cx="1904695" cy="1904695"/>
          </a:xfrm>
          <a:prstGeom prst="ellipse">
            <a:avLst/>
          </a:prstGeom>
          <a:solidFill>
            <a:srgbClr val="E0F2FE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476402" y="4953305"/>
            <a:ext cx="1429207" cy="1429207"/>
          </a:xfrm>
          <a:prstGeom prst="ellipse">
            <a:avLst/>
          </a:prstGeom>
          <a:solidFill>
            <a:srgbClr val="F0FDF4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50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381305"/>
            <a:ext cx="11239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spc="-63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LangGraph 구성 요소</a:t>
            </a:r>
            <a:endParaRPr lang="en-US" sz="31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에이전트 워크플로우를 구축하는 3가지 핵심 빌딩 블록</a:t>
            </a:r>
            <a:endParaRPr lang="en-US" sz="15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rcRect l="0" r="0" t="-9" b="-9"/>
          <a:stretch/>
        </p:blipFill>
        <p:spPr>
          <a:xfrm>
            <a:off x="571500" y="1723644"/>
            <a:ext cx="3492094" cy="465795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09244" y="3866998"/>
            <a:ext cx="1276502" cy="247802"/>
          </a:xfrm>
          <a:prstGeom prst="roundRect">
            <a:avLst>
              <a:gd name="adj" fmla="val 369004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0898" y="3866998"/>
            <a:ext cx="1334110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Processing Unit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809244" y="4229100"/>
            <a:ext cx="31345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Node (노드)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809244" y="5000854"/>
            <a:ext cx="3019349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09244" y="4647895"/>
            <a:ext cx="3096158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"무엇을 수행하는가?"</a:t>
            </a:r>
            <a:endParaRPr lang="en-US" sz="10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09244" y="5162702"/>
            <a:ext cx="114300" cy="1143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923544" y="5162702"/>
            <a:ext cx="2981858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작업 실행 단위:</a:t>
            </a:r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LLM 호출, 도구 실행, 데이터 처리 등 실제 연산 수행</a:t>
            </a:r>
            <a:endParaRPr lang="en-US" sz="11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09244" y="5686654"/>
            <a:ext cx="114300" cy="1143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23544" y="5686654"/>
            <a:ext cx="2981858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입출력 구조:</a:t>
            </a:r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현재 상태(State)를 입력받아 업데이트된 상태를 반환</a:t>
            </a:r>
            <a:endParaRPr lang="en-US" sz="11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2"/>
          <a:srcRect l="0" r="0" t="-9" b="-9"/>
          <a:stretch/>
        </p:blipFill>
        <p:spPr>
          <a:xfrm>
            <a:off x="4349801" y="1723644"/>
            <a:ext cx="3492094" cy="4657954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587545" y="3866998"/>
            <a:ext cx="1133856" cy="247802"/>
          </a:xfrm>
          <a:prstGeom prst="roundRect">
            <a:avLst>
              <a:gd name="adj" fmla="val 369004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4559198" y="3866998"/>
            <a:ext cx="1191463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Control Flow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4587545" y="4229100"/>
            <a:ext cx="31345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Edge (엣지)</a:t>
            </a:r>
            <a:endParaRPr lang="en-US" sz="1800" dirty="0"/>
          </a:p>
        </p:txBody>
      </p:sp>
      <p:sp>
        <p:nvSpPr>
          <p:cNvPr id="23" name="Shape 17"/>
          <p:cNvSpPr/>
          <p:nvPr/>
        </p:nvSpPr>
        <p:spPr>
          <a:xfrm>
            <a:off x="4587545" y="5000854"/>
            <a:ext cx="3019349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4587545" y="4647895"/>
            <a:ext cx="3096158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"다음은 어디로 가는가?"</a:t>
            </a:r>
            <a:endParaRPr lang="en-US" sz="10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587545" y="5162702"/>
            <a:ext cx="114300" cy="1143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701845" y="5162702"/>
            <a:ext cx="2981858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흐름 제어:</a:t>
            </a:r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노드와 노드 사이의 연결 정의 (순차적 실행)</a:t>
            </a:r>
            <a:endParaRPr lang="en-US" sz="110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587545" y="5686654"/>
            <a:ext cx="114300" cy="11430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4701845" y="5686654"/>
            <a:ext cx="2981858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조건부 분기:</a:t>
            </a:r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LLM의 판단 결과에 따라 다른 노드로 이동 (Router)</a:t>
            </a:r>
            <a:endParaRPr lang="en-US" sz="110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2"/>
          <a:srcRect l="0" r="0" t="-9" b="-9"/>
          <a:stretch/>
        </p:blipFill>
        <p:spPr>
          <a:xfrm>
            <a:off x="8128102" y="1723644"/>
            <a:ext cx="3492094" cy="4657954"/>
          </a:xfrm>
          <a:prstGeom prst="rect">
            <a:avLst/>
          </a:prstGeom>
        </p:spPr>
      </p:pic>
      <p:sp>
        <p:nvSpPr>
          <p:cNvPr id="30" name="Shape 21"/>
          <p:cNvSpPr/>
          <p:nvPr/>
        </p:nvSpPr>
        <p:spPr>
          <a:xfrm>
            <a:off x="8365846" y="3866998"/>
            <a:ext cx="1248156" cy="247802"/>
          </a:xfrm>
          <a:prstGeom prst="roundRect">
            <a:avLst>
              <a:gd name="adj" fmla="val 369004"/>
            </a:avLst>
          </a:prstGeom>
          <a:solidFill>
            <a:srgbClr val="F3E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2"/>
          <p:cNvSpPr/>
          <p:nvPr/>
        </p:nvSpPr>
        <p:spPr>
          <a:xfrm>
            <a:off x="8337499" y="3866998"/>
            <a:ext cx="1305763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Shared Context</a:t>
            </a:r>
            <a:endParaRPr lang="en-US" sz="900" dirty="0"/>
          </a:p>
        </p:txBody>
      </p:sp>
      <p:sp>
        <p:nvSpPr>
          <p:cNvPr id="32" name="Text 23"/>
          <p:cNvSpPr txBox="1"/>
          <p:nvPr/>
        </p:nvSpPr>
        <p:spPr>
          <a:xfrm>
            <a:off x="8365846" y="4229100"/>
            <a:ext cx="31345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State (상태)</a:t>
            </a:r>
            <a:endParaRPr lang="en-US" sz="1800" dirty="0"/>
          </a:p>
        </p:txBody>
      </p:sp>
      <p:sp>
        <p:nvSpPr>
          <p:cNvPr id="33" name="Shape 24"/>
          <p:cNvSpPr/>
          <p:nvPr/>
        </p:nvSpPr>
        <p:spPr>
          <a:xfrm>
            <a:off x="8365846" y="5000854"/>
            <a:ext cx="3019349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4" name="Text 25"/>
          <p:cNvSpPr txBox="1"/>
          <p:nvPr/>
        </p:nvSpPr>
        <p:spPr>
          <a:xfrm>
            <a:off x="8365846" y="4647895"/>
            <a:ext cx="3096158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"무엇을 기억하는가?"</a:t>
            </a:r>
            <a:endParaRPr lang="en-US" sz="1000" dirty="0"/>
          </a:p>
        </p:txBody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365846" y="5162702"/>
            <a:ext cx="114300" cy="114300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8480146" y="5162702"/>
            <a:ext cx="2981858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공유 메모리:</a:t>
            </a:r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그래프 전체에서 공유되는 데이터 스키마 (Schema)</a:t>
            </a:r>
            <a:endParaRPr lang="en-US" sz="1100" dirty="0"/>
          </a:p>
        </p:txBody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365846" y="5686654"/>
            <a:ext cx="114300" cy="114300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8480146" y="5686654"/>
            <a:ext cx="2981858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지속성:</a:t>
            </a:r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대화 이력, 도구 실행 결과 등 노드 간 정보를 유지 및 전달</a:t>
            </a:r>
            <a:endParaRPr lang="en-US" sz="1100" dirty="0"/>
          </a:p>
        </p:txBody>
      </p:sp>
      <p:sp>
        <p:nvSpPr>
          <p:cNvPr id="39" name="Shape 28"/>
          <p:cNvSpPr/>
          <p:nvPr/>
        </p:nvSpPr>
        <p:spPr>
          <a:xfrm>
            <a:off x="580644" y="1733702"/>
            <a:ext cx="3476549" cy="1904695"/>
          </a:xfrm>
          <a:prstGeom prst="roundRect">
            <a:avLst>
              <a:gd name="adj" fmla="val 7681"/>
            </a:avLst>
          </a:prstGeom>
          <a:solidFill>
            <a:srgbClr val="EFF6FF"/>
          </a:solidFill>
          <a:ln/>
        </p:spPr>
      </p:sp>
      <p:sp>
        <p:nvSpPr>
          <p:cNvPr id="40" name="Shape 29"/>
          <p:cNvSpPr/>
          <p:nvPr/>
        </p:nvSpPr>
        <p:spPr>
          <a:xfrm>
            <a:off x="580644" y="3629254"/>
            <a:ext cx="3476549" cy="9144"/>
          </a:xfrm>
          <a:prstGeom prst="roundRect">
            <a:avLst>
              <a:gd name="adj" fmla="val 1600000"/>
            </a:avLst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41" name="Shape 30"/>
          <p:cNvSpPr/>
          <p:nvPr/>
        </p:nvSpPr>
        <p:spPr>
          <a:xfrm>
            <a:off x="4358945" y="1733702"/>
            <a:ext cx="3476549" cy="1904695"/>
          </a:xfrm>
          <a:prstGeom prst="roundRect">
            <a:avLst>
              <a:gd name="adj" fmla="val 7681"/>
            </a:avLst>
          </a:prstGeom>
          <a:solidFill>
            <a:srgbClr val="F0FDF4"/>
          </a:solidFill>
          <a:ln/>
        </p:spPr>
      </p:sp>
      <p:sp>
        <p:nvSpPr>
          <p:cNvPr id="42" name="Shape 31"/>
          <p:cNvSpPr/>
          <p:nvPr/>
        </p:nvSpPr>
        <p:spPr>
          <a:xfrm>
            <a:off x="4358945" y="3629254"/>
            <a:ext cx="3476549" cy="9144"/>
          </a:xfrm>
          <a:prstGeom prst="roundRect">
            <a:avLst>
              <a:gd name="adj" fmla="val 1600000"/>
            </a:avLst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43" name="Shape 32"/>
          <p:cNvSpPr/>
          <p:nvPr/>
        </p:nvSpPr>
        <p:spPr>
          <a:xfrm>
            <a:off x="5333695" y="2490826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</p:spPr>
      </p:sp>
      <p:pic>
        <p:nvPicPr>
          <p:cNvPr id="44" name="Image 9" descr="preencoded.png">    </p:cNvPr>
          <p:cNvPicPr>
            <a:picLocks noChangeAspect="1"/>
          </p:cNvPicPr>
          <p:nvPr/>
        </p:nvPicPr>
        <p:blipFill>
          <a:blip r:embed="rId6"/>
          <a:srcRect l="-425" r="-425" t="0" b="0"/>
          <a:stretch/>
        </p:blipFill>
        <p:spPr>
          <a:xfrm>
            <a:off x="5734202" y="2667305"/>
            <a:ext cx="724205" cy="28346"/>
          </a:xfrm>
          <a:prstGeom prst="rect">
            <a:avLst/>
          </a:prstGeom>
        </p:spPr>
      </p:pic>
      <p:pic>
        <p:nvPicPr>
          <p:cNvPr id="45" name="Image 10" descr="preencoded.png">    </p:cNvPr>
          <p:cNvPicPr>
            <a:picLocks noChangeAspect="1"/>
          </p:cNvPicPr>
          <p:nvPr/>
        </p:nvPicPr>
        <p:blipFill>
          <a:blip r:embed="rId7"/>
          <a:srcRect l="-1507" r="-1507" t="0" b="0"/>
          <a:stretch/>
        </p:blipFill>
        <p:spPr>
          <a:xfrm>
            <a:off x="6391656" y="2617013"/>
            <a:ext cx="85954" cy="133502"/>
          </a:xfrm>
          <a:prstGeom prst="rect">
            <a:avLst/>
          </a:prstGeom>
        </p:spPr>
      </p:pic>
      <p:sp>
        <p:nvSpPr>
          <p:cNvPr id="46" name="Shape 33"/>
          <p:cNvSpPr/>
          <p:nvPr/>
        </p:nvSpPr>
        <p:spPr>
          <a:xfrm>
            <a:off x="6476695" y="2490826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47" name="Shape 34"/>
          <p:cNvSpPr/>
          <p:nvPr/>
        </p:nvSpPr>
        <p:spPr>
          <a:xfrm>
            <a:off x="8137246" y="1733702"/>
            <a:ext cx="3476549" cy="1904695"/>
          </a:xfrm>
          <a:prstGeom prst="roundRect">
            <a:avLst>
              <a:gd name="adj" fmla="val 7681"/>
            </a:avLst>
          </a:prstGeom>
          <a:solidFill>
            <a:srgbClr val="FAF5FF"/>
          </a:solidFill>
          <a:ln/>
        </p:spPr>
      </p:sp>
      <p:sp>
        <p:nvSpPr>
          <p:cNvPr id="48" name="Shape 35"/>
          <p:cNvSpPr/>
          <p:nvPr/>
        </p:nvSpPr>
        <p:spPr>
          <a:xfrm>
            <a:off x="8137246" y="3629254"/>
            <a:ext cx="3476549" cy="9144"/>
          </a:xfrm>
          <a:prstGeom prst="roundRect">
            <a:avLst>
              <a:gd name="adj" fmla="val 1600000"/>
            </a:avLst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49" name="Shape 36"/>
          <p:cNvSpPr/>
          <p:nvPr/>
        </p:nvSpPr>
        <p:spPr>
          <a:xfrm rot="21000000">
            <a:off x="9303106" y="2395728"/>
            <a:ext cx="1143000" cy="571500"/>
          </a:xfrm>
          <a:prstGeom prst="roundRect">
            <a:avLst>
              <a:gd name="adj" fmla="val 160000"/>
            </a:avLst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50" name="Shape 37"/>
          <p:cNvSpPr/>
          <p:nvPr/>
        </p:nvSpPr>
        <p:spPr>
          <a:xfrm>
            <a:off x="9540850" y="2157070"/>
            <a:ext cx="761695" cy="952805"/>
          </a:xfrm>
          <a:prstGeom prst="roundRect">
            <a:avLst>
              <a:gd name="adj" fmla="val 24010"/>
            </a:avLst>
          </a:prstGeom>
          <a:solidFill>
            <a:srgbClr val="F3E8FF"/>
          </a:solidFill>
          <a:ln w="12700">
            <a:solidFill>
              <a:srgbClr val="DDD6FE"/>
            </a:solidFill>
            <a:prstDash val="solid"/>
          </a:ln>
        </p:spPr>
      </p:sp>
      <p:pic>
        <p:nvPicPr>
          <p:cNvPr id="51" name="Image 11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1936699" y="2300630"/>
            <a:ext cx="761695" cy="761695"/>
          </a:xfrm>
          <a:prstGeom prst="rect">
            <a:avLst/>
          </a:prstGeom>
        </p:spPr>
      </p:pic>
      <p:pic>
        <p:nvPicPr>
          <p:cNvPr id="52" name="Image 12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2165299" y="2529230"/>
            <a:ext cx="304495" cy="304495"/>
          </a:xfrm>
          <a:prstGeom prst="rect">
            <a:avLst/>
          </a:prstGeom>
        </p:spPr>
      </p:pic>
      <p:sp>
        <p:nvSpPr>
          <p:cNvPr id="53" name="Text 38"/>
          <p:cNvSpPr txBox="1"/>
          <p:nvPr/>
        </p:nvSpPr>
        <p:spPr>
          <a:xfrm>
            <a:off x="2028139" y="2300630"/>
            <a:ext cx="638251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Function</a:t>
            </a:r>
            <a:endParaRPr lang="en-US" sz="1000" dirty="0"/>
          </a:p>
        </p:txBody>
      </p:sp>
      <p:sp>
        <p:nvSpPr>
          <p:cNvPr id="54" name="Shape 39"/>
          <p:cNvSpPr/>
          <p:nvPr/>
        </p:nvSpPr>
        <p:spPr>
          <a:xfrm rot="2700000">
            <a:off x="6001207" y="2585923"/>
            <a:ext cx="190195" cy="190195"/>
          </a:xfrm>
          <a:prstGeom prst="rect">
            <a:avLst/>
          </a:prstGeom>
          <a:solidFill>
            <a:srgbClr val="ECFDF5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55" name="Shape 40"/>
          <p:cNvSpPr/>
          <p:nvPr/>
        </p:nvSpPr>
        <p:spPr>
          <a:xfrm>
            <a:off x="9493301" y="2204618"/>
            <a:ext cx="761695" cy="952805"/>
          </a:xfrm>
          <a:prstGeom prst="roundRect">
            <a:avLst>
              <a:gd name="adj" fmla="val 24010"/>
            </a:avLst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10000"/>
              </a:srgbClr>
            </a:outerShdw>
          </a:effectLst>
        </p:spPr>
      </p:sp>
      <p:pic>
        <p:nvPicPr>
          <p:cNvPr id="56" name="Image 13" descr="preencoded.png">    </p:cNvPr>
          <p:cNvPicPr>
            <a:picLocks noChangeAspect="1"/>
          </p:cNvPicPr>
          <p:nvPr/>
        </p:nvPicPr>
        <p:blipFill>
          <a:blip r:embed="rId10"/>
          <a:srcRect l="0" r="0" t="-400" b="-400"/>
          <a:stretch/>
        </p:blipFill>
        <p:spPr>
          <a:xfrm>
            <a:off x="9588398" y="2300630"/>
            <a:ext cx="228600" cy="38405"/>
          </a:xfrm>
          <a:prstGeom prst="rect">
            <a:avLst/>
          </a:prstGeom>
        </p:spPr>
      </p:pic>
      <p:pic>
        <p:nvPicPr>
          <p:cNvPr id="57" name="Image 14" descr="preencoded.png">    </p:cNvPr>
          <p:cNvPicPr>
            <a:picLocks noChangeAspect="1"/>
          </p:cNvPicPr>
          <p:nvPr/>
        </p:nvPicPr>
        <p:blipFill>
          <a:blip r:embed="rId11"/>
          <a:srcRect l="0" r="0" t="-400" b="-400"/>
          <a:stretch/>
        </p:blipFill>
        <p:spPr>
          <a:xfrm>
            <a:off x="9588398" y="2395728"/>
            <a:ext cx="457200" cy="38405"/>
          </a:xfrm>
          <a:prstGeom prst="rect">
            <a:avLst/>
          </a:prstGeom>
        </p:spPr>
      </p:pic>
      <p:pic>
        <p:nvPicPr>
          <p:cNvPr id="58" name="Image 15" descr="preencoded.png">    </p:cNvPr>
          <p:cNvPicPr>
            <a:picLocks noChangeAspect="1"/>
          </p:cNvPicPr>
          <p:nvPr/>
        </p:nvPicPr>
        <p:blipFill>
          <a:blip r:embed="rId12"/>
          <a:srcRect l="0" r="0" t="-400" b="-400"/>
          <a:stretch/>
        </p:blipFill>
        <p:spPr>
          <a:xfrm>
            <a:off x="9588398" y="2490826"/>
            <a:ext cx="342900" cy="38405"/>
          </a:xfrm>
          <a:prstGeom prst="rect">
            <a:avLst/>
          </a:prstGeom>
        </p:spPr>
      </p:pic>
      <p:pic>
        <p:nvPicPr>
          <p:cNvPr id="59" name="Image 16" descr="preencoded.png">    </p:cNvPr>
          <p:cNvPicPr>
            <a:picLocks noChangeAspect="1"/>
          </p:cNvPicPr>
          <p:nvPr/>
        </p:nvPicPr>
        <p:blipFill>
          <a:blip r:embed="rId13"/>
          <a:srcRect l="0" r="0" t="-355" b="-355"/>
          <a:stretch/>
        </p:blipFill>
        <p:spPr>
          <a:xfrm>
            <a:off x="9588398" y="2681021"/>
            <a:ext cx="514807" cy="38405"/>
          </a:xfrm>
          <a:prstGeom prst="rect">
            <a:avLst/>
          </a:prstGeom>
        </p:spPr>
      </p:pic>
      <p:pic>
        <p:nvPicPr>
          <p:cNvPr id="60" name="Image 17" descr="preencoded.png">    </p:cNvPr>
          <p:cNvPicPr>
            <a:picLocks noChangeAspect="1"/>
          </p:cNvPicPr>
          <p:nvPr/>
        </p:nvPicPr>
        <p:blipFill>
          <a:blip r:embed="rId14"/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>
            <a:alphaModFix amt="5000"/>
          </a:blip>
          <a:srcRect l="0" r="0" t="0" b="0"/>
          <a:stretch/>
        </p:blipFill>
        <p:spPr>
          <a:xfrm>
            <a:off x="9905695" y="381305"/>
            <a:ext cx="1904695" cy="190469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51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71500" y="381305"/>
            <a:ext cx="11239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spc="-63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 패턴: Reasoning + Acting</a:t>
            </a:r>
            <a:endParaRPr lang="en-US" sz="3100" dirty="0"/>
          </a:p>
        </p:txBody>
      </p:sp>
      <p:sp>
        <p:nvSpPr>
          <p:cNvPr id="7" name="Text 4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 에이전트의 핵심 사고 과정과 도구 사용 루프</a:t>
            </a:r>
            <a:endParaRPr lang="en-US" sz="15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rcRect l="-1648" r="-1648" t="0" b="0"/>
          <a:stretch/>
        </p:blipFill>
        <p:spPr>
          <a:xfrm>
            <a:off x="3100730" y="3957523"/>
            <a:ext cx="171907" cy="190195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-1648" r="-1648" t="0" b="0"/>
          <a:stretch/>
        </p:blipFill>
        <p:spPr>
          <a:xfrm>
            <a:off x="6010351" y="3957523"/>
            <a:ext cx="171907" cy="190195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3"/>
          <a:srcRect l="-1648" r="-1648" t="0" b="0"/>
          <a:stretch/>
        </p:blipFill>
        <p:spPr>
          <a:xfrm>
            <a:off x="8919972" y="3957523"/>
            <a:ext cx="171907" cy="190195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4"/>
          <a:srcRect l="0" r="0" t="-7" b="-7"/>
          <a:stretch/>
        </p:blipFill>
        <p:spPr>
          <a:xfrm>
            <a:off x="571500" y="2575865"/>
            <a:ext cx="2318918" cy="2954426"/>
          </a:xfrm>
          <a:prstGeom prst="rect">
            <a:avLst/>
          </a:prstGeom>
        </p:spPr>
      </p:pic>
      <p:sp>
        <p:nvSpPr>
          <p:cNvPr id="12" name="Shape 5"/>
          <p:cNvSpPr/>
          <p:nvPr/>
        </p:nvSpPr>
        <p:spPr>
          <a:xfrm>
            <a:off x="771754" y="3232404"/>
            <a:ext cx="1923898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13" name="Shape 6"/>
          <p:cNvSpPr/>
          <p:nvPr/>
        </p:nvSpPr>
        <p:spPr>
          <a:xfrm>
            <a:off x="771754" y="2813609"/>
            <a:ext cx="304495" cy="304495"/>
          </a:xfrm>
          <a:prstGeom prst="ellipse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7"/>
          <p:cNvSpPr/>
          <p:nvPr/>
        </p:nvSpPr>
        <p:spPr>
          <a:xfrm>
            <a:off x="733349" y="2813609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2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171346" y="2880360"/>
            <a:ext cx="171907" cy="171907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1438351" y="2813609"/>
            <a:ext cx="9336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Plan (생각)</a:t>
            </a:r>
            <a:endParaRPr lang="en-US" sz="1300" dirty="0"/>
          </a:p>
        </p:txBody>
      </p:sp>
      <p:sp>
        <p:nvSpPr>
          <p:cNvPr id="17" name="Shape 9"/>
          <p:cNvSpPr/>
          <p:nvPr/>
        </p:nvSpPr>
        <p:spPr>
          <a:xfrm>
            <a:off x="771754" y="3404311"/>
            <a:ext cx="1923898" cy="609905"/>
          </a:xfrm>
          <a:prstGeom prst="roundRect">
            <a:avLst>
              <a:gd name="adj" fmla="val 37481"/>
            </a:avLst>
          </a:prstGeom>
          <a:solidFill>
            <a:srgbClr val="F8FAFC"/>
          </a:solidFill>
          <a:ln/>
        </p:spPr>
      </p:sp>
      <p:sp>
        <p:nvSpPr>
          <p:cNvPr id="18" name="Shape 10"/>
          <p:cNvSpPr/>
          <p:nvPr/>
        </p:nvSpPr>
        <p:spPr>
          <a:xfrm>
            <a:off x="771754" y="3404311"/>
            <a:ext cx="38405" cy="609905"/>
          </a:xfrm>
          <a:prstGeom prst="roundRect">
            <a:avLst>
              <a:gd name="adj" fmla="val 595235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23544" y="3518611"/>
            <a:ext cx="172364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i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"질문 해결을 위해 무엇이 필요한가?"</a:t>
            </a:r>
            <a:endParaRPr lang="en-US" sz="1000" dirty="0"/>
          </a:p>
        </p:txBody>
      </p:sp>
      <p:sp>
        <p:nvSpPr>
          <p:cNvPr id="20" name="Text 12"/>
          <p:cNvSpPr txBox="1"/>
          <p:nvPr/>
        </p:nvSpPr>
        <p:spPr>
          <a:xfrm>
            <a:off x="771754" y="4158691"/>
            <a:ext cx="20784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활동</a:t>
            </a:r>
            <a:endParaRPr lang="en-US" sz="900" dirty="0"/>
          </a:p>
        </p:txBody>
      </p:sp>
      <p:sp>
        <p:nvSpPr>
          <p:cNvPr id="21" name="Text 13"/>
          <p:cNvSpPr txBox="1"/>
          <p:nvPr/>
        </p:nvSpPr>
        <p:spPr>
          <a:xfrm>
            <a:off x="771754" y="4420210"/>
            <a:ext cx="20784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질문의 의도 분석</a:t>
            </a:r>
            <a:endParaRPr lang="en-US" sz="1100" dirty="0"/>
          </a:p>
        </p:txBody>
      </p:sp>
      <p:sp>
        <p:nvSpPr>
          <p:cNvPr id="22" name="Text 14"/>
          <p:cNvSpPr txBox="1"/>
          <p:nvPr/>
        </p:nvSpPr>
        <p:spPr>
          <a:xfrm>
            <a:off x="771754" y="4710989"/>
            <a:ext cx="20784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필요한 정보 파악</a:t>
            </a:r>
            <a:endParaRPr lang="en-US" sz="1100" dirty="0"/>
          </a:p>
        </p:txBody>
      </p:sp>
      <p:sp>
        <p:nvSpPr>
          <p:cNvPr id="23" name="Text 15"/>
          <p:cNvSpPr txBox="1"/>
          <p:nvPr/>
        </p:nvSpPr>
        <p:spPr>
          <a:xfrm>
            <a:off x="771754" y="5001768"/>
            <a:ext cx="20016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적절한 도구(Tool) 탐색</a:t>
            </a:r>
            <a:endParaRPr lang="en-US" sz="110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4"/>
          <a:srcRect l="0" r="0" t="-7" b="-7"/>
          <a:stretch/>
        </p:blipFill>
        <p:spPr>
          <a:xfrm>
            <a:off x="3481121" y="2575865"/>
            <a:ext cx="2318918" cy="2954426"/>
          </a:xfrm>
          <a:prstGeom prst="rect">
            <a:avLst/>
          </a:prstGeom>
        </p:spPr>
      </p:pic>
      <p:sp>
        <p:nvSpPr>
          <p:cNvPr id="25" name="Shape 16"/>
          <p:cNvSpPr/>
          <p:nvPr/>
        </p:nvSpPr>
        <p:spPr>
          <a:xfrm>
            <a:off x="3681374" y="3232404"/>
            <a:ext cx="1923898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26" name="Shape 17"/>
          <p:cNvSpPr/>
          <p:nvPr/>
        </p:nvSpPr>
        <p:spPr>
          <a:xfrm>
            <a:off x="3681374" y="2813609"/>
            <a:ext cx="304495" cy="304495"/>
          </a:xfrm>
          <a:prstGeom prst="ellipse">
            <a:avLst/>
          </a:prstGeom>
          <a:solidFill>
            <a:srgbClr val="F3E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18"/>
          <p:cNvSpPr/>
          <p:nvPr/>
        </p:nvSpPr>
        <p:spPr>
          <a:xfrm>
            <a:off x="3642970" y="2813609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333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20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081882" y="2880360"/>
            <a:ext cx="171907" cy="171907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4347972" y="2813609"/>
            <a:ext cx="82936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Act (행동)</a:t>
            </a:r>
            <a:endParaRPr lang="en-US" sz="1300" dirty="0"/>
          </a:p>
        </p:txBody>
      </p:sp>
      <p:sp>
        <p:nvSpPr>
          <p:cNvPr id="30" name="Shape 20"/>
          <p:cNvSpPr/>
          <p:nvPr/>
        </p:nvSpPr>
        <p:spPr>
          <a:xfrm>
            <a:off x="3681374" y="3404311"/>
            <a:ext cx="1923898" cy="457200"/>
          </a:xfrm>
          <a:prstGeom prst="roundRect">
            <a:avLst>
              <a:gd name="adj" fmla="val 66667"/>
            </a:avLst>
          </a:prstGeom>
          <a:solidFill>
            <a:srgbClr val="F8FAFC"/>
          </a:solidFill>
          <a:ln/>
        </p:spPr>
      </p:sp>
      <p:sp>
        <p:nvSpPr>
          <p:cNvPr id="31" name="Shape 21"/>
          <p:cNvSpPr/>
          <p:nvPr/>
        </p:nvSpPr>
        <p:spPr>
          <a:xfrm>
            <a:off x="3681374" y="3404311"/>
            <a:ext cx="38405" cy="457200"/>
          </a:xfrm>
          <a:prstGeom prst="roundRect">
            <a:avLst>
              <a:gd name="adj" fmla="val 793647"/>
            </a:avLst>
          </a:prstGeom>
          <a:solidFill>
            <a:srgbClr val="9333EA"/>
          </a:solidFill>
          <a:ln w="12700">
            <a:solidFill>
              <a:srgbClr val="9333EA">
                <a:alpha val="0"/>
              </a:srgbClr>
            </a:solidFill>
            <a:prstDash val="solid"/>
          </a:ln>
        </p:spPr>
      </p:sp>
      <p:sp>
        <p:nvSpPr>
          <p:cNvPr id="32" name="Text 22"/>
          <p:cNvSpPr txBox="1"/>
          <p:nvPr/>
        </p:nvSpPr>
        <p:spPr>
          <a:xfrm>
            <a:off x="3834079" y="3539642"/>
            <a:ext cx="125821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i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"도구를 실행하자"</a:t>
            </a:r>
            <a:endParaRPr lang="en-US" sz="1000" dirty="0"/>
          </a:p>
        </p:txBody>
      </p:sp>
      <p:sp>
        <p:nvSpPr>
          <p:cNvPr id="33" name="Text 23"/>
          <p:cNvSpPr txBox="1"/>
          <p:nvPr/>
        </p:nvSpPr>
        <p:spPr>
          <a:xfrm>
            <a:off x="3681374" y="4014216"/>
            <a:ext cx="20784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활동</a:t>
            </a:r>
            <a:endParaRPr lang="en-US" sz="900" dirty="0"/>
          </a:p>
        </p:txBody>
      </p:sp>
      <p:sp>
        <p:nvSpPr>
          <p:cNvPr id="34" name="Text 24"/>
          <p:cNvSpPr txBox="1"/>
          <p:nvPr/>
        </p:nvSpPr>
        <p:spPr>
          <a:xfrm>
            <a:off x="3681374" y="4275734"/>
            <a:ext cx="20784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선택된 도구 호출</a:t>
            </a:r>
            <a:endParaRPr lang="en-US" sz="1100" dirty="0"/>
          </a:p>
        </p:txBody>
      </p:sp>
      <p:sp>
        <p:nvSpPr>
          <p:cNvPr id="35" name="Text 25"/>
          <p:cNvSpPr txBox="1"/>
          <p:nvPr/>
        </p:nvSpPr>
        <p:spPr>
          <a:xfrm>
            <a:off x="3681374" y="4566514"/>
            <a:ext cx="20016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SQL 쿼리 실행 (DuckDB)</a:t>
            </a:r>
            <a:endParaRPr lang="en-US" sz="1100" dirty="0"/>
          </a:p>
        </p:txBody>
      </p:sp>
      <p:sp>
        <p:nvSpPr>
          <p:cNvPr id="36" name="Text 26"/>
          <p:cNvSpPr txBox="1"/>
          <p:nvPr/>
        </p:nvSpPr>
        <p:spPr>
          <a:xfrm>
            <a:off x="3681374" y="4857293"/>
            <a:ext cx="20016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 검색 (ChromaDB)</a:t>
            </a:r>
            <a:endParaRPr lang="en-US" sz="1100" dirty="0"/>
          </a:p>
        </p:txBody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4"/>
          <a:srcRect l="0" r="0" t="-7" b="-7"/>
          <a:stretch/>
        </p:blipFill>
        <p:spPr>
          <a:xfrm>
            <a:off x="6391656" y="2575865"/>
            <a:ext cx="2318918" cy="2954426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6590995" y="3232404"/>
            <a:ext cx="1923898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39" name="Shape 28"/>
          <p:cNvSpPr/>
          <p:nvPr/>
        </p:nvSpPr>
        <p:spPr>
          <a:xfrm>
            <a:off x="6590995" y="2813609"/>
            <a:ext cx="304495" cy="304495"/>
          </a:xfrm>
          <a:prstGeom prst="ellipse">
            <a:avLst/>
          </a:prstGeom>
          <a:solidFill>
            <a:srgbClr val="F0F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29"/>
          <p:cNvSpPr/>
          <p:nvPr/>
        </p:nvSpPr>
        <p:spPr>
          <a:xfrm>
            <a:off x="6553505" y="2813609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200" dirty="0"/>
          </a:p>
        </p:txBody>
      </p:sp>
      <p:pic>
        <p:nvPicPr>
          <p:cNvPr id="41" name="Image 9" descr="preencoded.png">    </p:cNvPr>
          <p:cNvPicPr>
            <a:picLocks noChangeAspect="1"/>
          </p:cNvPicPr>
          <p:nvPr/>
        </p:nvPicPr>
        <p:blipFill>
          <a:blip r:embed="rId7"/>
          <a:srcRect l="0" r="0" t="-842" b="-842"/>
          <a:stretch/>
        </p:blipFill>
        <p:spPr>
          <a:xfrm>
            <a:off x="6991502" y="2880360"/>
            <a:ext cx="190195" cy="171907"/>
          </a:xfrm>
          <a:prstGeom prst="rect">
            <a:avLst/>
          </a:prstGeom>
        </p:spPr>
      </p:pic>
      <p:sp>
        <p:nvSpPr>
          <p:cNvPr id="42" name="Text 30"/>
          <p:cNvSpPr txBox="1"/>
          <p:nvPr/>
        </p:nvSpPr>
        <p:spPr>
          <a:xfrm>
            <a:off x="7276795" y="2813609"/>
            <a:ext cx="12573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Observe (관찰)</a:t>
            </a:r>
            <a:endParaRPr lang="en-US" sz="1300" dirty="0"/>
          </a:p>
        </p:txBody>
      </p:sp>
      <p:sp>
        <p:nvSpPr>
          <p:cNvPr id="43" name="Shape 31"/>
          <p:cNvSpPr/>
          <p:nvPr/>
        </p:nvSpPr>
        <p:spPr>
          <a:xfrm>
            <a:off x="6590995" y="3404311"/>
            <a:ext cx="1923898" cy="457200"/>
          </a:xfrm>
          <a:prstGeom prst="roundRect">
            <a:avLst>
              <a:gd name="adj" fmla="val 66667"/>
            </a:avLst>
          </a:prstGeom>
          <a:solidFill>
            <a:srgbClr val="F8FAFC"/>
          </a:solidFill>
          <a:ln/>
        </p:spPr>
      </p:sp>
      <p:sp>
        <p:nvSpPr>
          <p:cNvPr id="44" name="Shape 32"/>
          <p:cNvSpPr/>
          <p:nvPr/>
        </p:nvSpPr>
        <p:spPr>
          <a:xfrm>
            <a:off x="6590995" y="3404311"/>
            <a:ext cx="38405" cy="457200"/>
          </a:xfrm>
          <a:prstGeom prst="roundRect">
            <a:avLst>
              <a:gd name="adj" fmla="val 793647"/>
            </a:avLst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45" name="Text 33"/>
          <p:cNvSpPr txBox="1"/>
          <p:nvPr/>
        </p:nvSpPr>
        <p:spPr>
          <a:xfrm>
            <a:off x="6743700" y="3539642"/>
            <a:ext cx="171632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i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"실행 결과는 무엇인가?"</a:t>
            </a:r>
            <a:endParaRPr lang="en-US" sz="1000" dirty="0"/>
          </a:p>
        </p:txBody>
      </p:sp>
      <p:sp>
        <p:nvSpPr>
          <p:cNvPr id="46" name="Text 34"/>
          <p:cNvSpPr txBox="1"/>
          <p:nvPr/>
        </p:nvSpPr>
        <p:spPr>
          <a:xfrm>
            <a:off x="6590995" y="4014216"/>
            <a:ext cx="20784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활동</a:t>
            </a:r>
            <a:endParaRPr lang="en-US" sz="900" dirty="0"/>
          </a:p>
        </p:txBody>
      </p:sp>
      <p:sp>
        <p:nvSpPr>
          <p:cNvPr id="47" name="Text 35"/>
          <p:cNvSpPr txBox="1"/>
          <p:nvPr/>
        </p:nvSpPr>
        <p:spPr>
          <a:xfrm>
            <a:off x="6590995" y="4275734"/>
            <a:ext cx="20784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도구의 실행 결과 수집</a:t>
            </a:r>
            <a:endParaRPr lang="en-US" sz="1100" dirty="0"/>
          </a:p>
        </p:txBody>
      </p:sp>
      <p:sp>
        <p:nvSpPr>
          <p:cNvPr id="48" name="Text 36"/>
          <p:cNvSpPr txBox="1"/>
          <p:nvPr/>
        </p:nvSpPr>
        <p:spPr>
          <a:xfrm>
            <a:off x="6590995" y="4566514"/>
            <a:ext cx="20784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반환된 데이터/문서 독해</a:t>
            </a:r>
            <a:endParaRPr lang="en-US" sz="1100" dirty="0"/>
          </a:p>
        </p:txBody>
      </p:sp>
      <p:sp>
        <p:nvSpPr>
          <p:cNvPr id="49" name="Text 37"/>
          <p:cNvSpPr txBox="1"/>
          <p:nvPr/>
        </p:nvSpPr>
        <p:spPr>
          <a:xfrm>
            <a:off x="6590995" y="4857293"/>
            <a:ext cx="20784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정보의 충분성 판단</a:t>
            </a:r>
            <a:endParaRPr lang="en-US" sz="1100" dirty="0"/>
          </a:p>
        </p:txBody>
      </p:sp>
      <p:pic>
        <p:nvPicPr>
          <p:cNvPr id="50" name="Image 10" descr="preencoded.png">    </p:cNvPr>
          <p:cNvPicPr>
            <a:picLocks noChangeAspect="1"/>
          </p:cNvPicPr>
          <p:nvPr/>
        </p:nvPicPr>
        <p:blipFill>
          <a:blip r:embed="rId4"/>
          <a:srcRect l="0" r="0" t="-7" b="-7"/>
          <a:stretch/>
        </p:blipFill>
        <p:spPr>
          <a:xfrm>
            <a:off x="9301277" y="2575865"/>
            <a:ext cx="2318918" cy="2954426"/>
          </a:xfrm>
          <a:prstGeom prst="rect">
            <a:avLst/>
          </a:prstGeom>
        </p:spPr>
      </p:pic>
      <p:sp>
        <p:nvSpPr>
          <p:cNvPr id="51" name="Shape 38"/>
          <p:cNvSpPr/>
          <p:nvPr/>
        </p:nvSpPr>
        <p:spPr>
          <a:xfrm>
            <a:off x="9501530" y="3232404"/>
            <a:ext cx="1923898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52" name="Shape 39"/>
          <p:cNvSpPr/>
          <p:nvPr/>
        </p:nvSpPr>
        <p:spPr>
          <a:xfrm>
            <a:off x="9501530" y="2813609"/>
            <a:ext cx="304495" cy="304495"/>
          </a:xfrm>
          <a:prstGeom prst="ellipse">
            <a:avLst/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Text 40"/>
          <p:cNvSpPr/>
          <p:nvPr/>
        </p:nvSpPr>
        <p:spPr>
          <a:xfrm>
            <a:off x="9463126" y="2813609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200" dirty="0"/>
          </a:p>
        </p:txBody>
      </p:sp>
      <p:pic>
        <p:nvPicPr>
          <p:cNvPr id="54" name="Image 11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9901123" y="2880360"/>
            <a:ext cx="171907" cy="171907"/>
          </a:xfrm>
          <a:prstGeom prst="rect">
            <a:avLst/>
          </a:prstGeom>
        </p:spPr>
      </p:pic>
      <p:sp>
        <p:nvSpPr>
          <p:cNvPr id="55" name="Text 41"/>
          <p:cNvSpPr txBox="1"/>
          <p:nvPr/>
        </p:nvSpPr>
        <p:spPr>
          <a:xfrm>
            <a:off x="10168128" y="2813609"/>
            <a:ext cx="109545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Plan (재생각)</a:t>
            </a:r>
            <a:endParaRPr lang="en-US" sz="1300" dirty="0"/>
          </a:p>
        </p:txBody>
      </p:sp>
      <p:sp>
        <p:nvSpPr>
          <p:cNvPr id="56" name="Shape 42"/>
          <p:cNvSpPr/>
          <p:nvPr/>
        </p:nvSpPr>
        <p:spPr>
          <a:xfrm>
            <a:off x="9501530" y="3404311"/>
            <a:ext cx="1923898" cy="457200"/>
          </a:xfrm>
          <a:prstGeom prst="roundRect">
            <a:avLst>
              <a:gd name="adj" fmla="val 66667"/>
            </a:avLst>
          </a:prstGeom>
          <a:solidFill>
            <a:srgbClr val="F8FAFC"/>
          </a:solidFill>
          <a:ln/>
        </p:spPr>
      </p:sp>
      <p:sp>
        <p:nvSpPr>
          <p:cNvPr id="57" name="Shape 43"/>
          <p:cNvSpPr/>
          <p:nvPr/>
        </p:nvSpPr>
        <p:spPr>
          <a:xfrm>
            <a:off x="9501530" y="3404311"/>
            <a:ext cx="38405" cy="457200"/>
          </a:xfrm>
          <a:prstGeom prst="roundRect">
            <a:avLst>
              <a:gd name="adj" fmla="val 793647"/>
            </a:avLst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58" name="Text 44"/>
          <p:cNvSpPr txBox="1"/>
          <p:nvPr/>
        </p:nvSpPr>
        <p:spPr>
          <a:xfrm>
            <a:off x="9653321" y="3539642"/>
            <a:ext cx="19467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i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"충분한가? 다시 반복할까?"</a:t>
            </a:r>
            <a:endParaRPr lang="en-US" sz="1000" dirty="0"/>
          </a:p>
        </p:txBody>
      </p:sp>
      <p:sp>
        <p:nvSpPr>
          <p:cNvPr id="59" name="Text 45"/>
          <p:cNvSpPr txBox="1"/>
          <p:nvPr/>
        </p:nvSpPr>
        <p:spPr>
          <a:xfrm>
            <a:off x="9501530" y="4014216"/>
            <a:ext cx="20784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활동</a:t>
            </a:r>
            <a:endParaRPr lang="en-US" sz="900" dirty="0"/>
          </a:p>
        </p:txBody>
      </p:sp>
      <p:sp>
        <p:nvSpPr>
          <p:cNvPr id="60" name="Text 46"/>
          <p:cNvSpPr txBox="1"/>
          <p:nvPr/>
        </p:nvSpPr>
        <p:spPr>
          <a:xfrm>
            <a:off x="9501530" y="4275734"/>
            <a:ext cx="20016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부족 시: 다음 Plan 수립</a:t>
            </a:r>
            <a:endParaRPr lang="en-US" sz="1100" dirty="0"/>
          </a:p>
        </p:txBody>
      </p:sp>
      <p:sp>
        <p:nvSpPr>
          <p:cNvPr id="61" name="Text 47"/>
          <p:cNvSpPr txBox="1"/>
          <p:nvPr/>
        </p:nvSpPr>
        <p:spPr>
          <a:xfrm>
            <a:off x="9501530" y="4566514"/>
            <a:ext cx="20784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충분 시: 최종 답변 생성</a:t>
            </a:r>
            <a:endParaRPr lang="en-US" sz="1100" dirty="0"/>
          </a:p>
        </p:txBody>
      </p:sp>
      <p:sp>
        <p:nvSpPr>
          <p:cNvPr id="62" name="Text 48"/>
          <p:cNvSpPr txBox="1"/>
          <p:nvPr/>
        </p:nvSpPr>
        <p:spPr>
          <a:xfrm>
            <a:off x="9501530" y="4857293"/>
            <a:ext cx="20016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순환 루프(Loop) 결정</a:t>
            </a:r>
            <a:endParaRPr lang="en-US" sz="1100" dirty="0"/>
          </a:p>
        </p:txBody>
      </p:sp>
      <p:pic>
        <p:nvPicPr>
          <p:cNvPr id="63" name="Image 12" descr="preencoded.png">    </p:cNvPr>
          <p:cNvPicPr>
            <a:picLocks noChangeAspect="1"/>
          </p:cNvPicPr>
          <p:nvPr/>
        </p:nvPicPr>
        <p:blipFill>
          <a:blip r:embed="rId9"/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63402" y="-476402"/>
            <a:ext cx="1904695" cy="1904695"/>
          </a:xfrm>
          <a:prstGeom prst="ellipse">
            <a:avLst/>
          </a:prstGeom>
          <a:solidFill>
            <a:srgbClr val="E0F2FE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476402" y="4953305"/>
            <a:ext cx="1429207" cy="1429207"/>
          </a:xfrm>
          <a:prstGeom prst="ellipse">
            <a:avLst/>
          </a:prstGeom>
          <a:solidFill>
            <a:srgbClr val="F0FDF4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381305"/>
            <a:ext cx="11239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spc="-63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Streamlit 챗봇 UI 구성</a:t>
            </a:r>
            <a:endParaRPr lang="en-US" sz="31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직관적인 대화형 인터페이스를 구현하는 3가지 핵심 컴포넌트</a:t>
            </a:r>
            <a:endParaRPr lang="en-US" sz="15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rcRect l="0" r="0" t="-6" b="-6"/>
          <a:stretch/>
        </p:blipFill>
        <p:spPr>
          <a:xfrm>
            <a:off x="571500" y="1723644"/>
            <a:ext cx="3492094" cy="4733849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09244" y="3866998"/>
            <a:ext cx="1333195" cy="247802"/>
          </a:xfrm>
          <a:prstGeom prst="roundRect">
            <a:avLst>
              <a:gd name="adj" fmla="val 369004"/>
            </a:avLst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0898" y="3866998"/>
            <a:ext cx="1390802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User Interaction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809244" y="4229100"/>
            <a:ext cx="3134563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st.chat_input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09244" y="4972507"/>
            <a:ext cx="3019349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09244" y="4619549"/>
            <a:ext cx="3096158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"사용자의 질문을 받는 입구"</a:t>
            </a:r>
            <a:endParaRPr lang="en-US" sz="10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/>
          <a:srcRect l="-1911" r="-1911" t="0" b="0"/>
          <a:stretch/>
        </p:blipFill>
        <p:spPr>
          <a:xfrm>
            <a:off x="809244" y="5134356"/>
            <a:ext cx="133502" cy="1143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942746" y="5134356"/>
            <a:ext cx="2962656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하단 고정 UI:</a:t>
            </a:r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화면 스크롤과 무관하게 항상 하단에 위치하여 자연스러운 채팅 UX 제공</a:t>
            </a:r>
            <a:endParaRPr lang="en-US" sz="11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09244" y="5676595"/>
            <a:ext cx="114300" cy="1143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23544" y="5676595"/>
            <a:ext cx="2981858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이벤트 트리거:</a:t>
            </a:r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Enter 입력 시 앱이 자동으로 Rerun되며 입력값이 변수에 저장됨</a:t>
            </a:r>
            <a:endParaRPr lang="en-US" sz="11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2"/>
          <a:srcRect l="0" r="0" t="-6" b="-6"/>
          <a:stretch/>
        </p:blipFill>
        <p:spPr>
          <a:xfrm>
            <a:off x="4349801" y="1723644"/>
            <a:ext cx="3492094" cy="4733849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587545" y="3866998"/>
            <a:ext cx="1466698" cy="247802"/>
          </a:xfrm>
          <a:prstGeom prst="roundRect">
            <a:avLst>
              <a:gd name="adj" fmla="val 369004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4558284" y="3866998"/>
            <a:ext cx="1526134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Conversation Flow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4587545" y="4229100"/>
            <a:ext cx="3134563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st.chat_message</a:t>
            </a:r>
            <a:endParaRPr lang="en-US" sz="1600" dirty="0"/>
          </a:p>
        </p:txBody>
      </p:sp>
      <p:sp>
        <p:nvSpPr>
          <p:cNvPr id="23" name="Shape 17"/>
          <p:cNvSpPr/>
          <p:nvPr/>
        </p:nvSpPr>
        <p:spPr>
          <a:xfrm>
            <a:off x="4587545" y="4972507"/>
            <a:ext cx="3019349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4587545" y="4619549"/>
            <a:ext cx="3096158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"대화의 맥락을 시각화"</a:t>
            </a:r>
            <a:endParaRPr lang="en-US" sz="10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80" b="-80"/>
          <a:stretch/>
        </p:blipFill>
        <p:spPr>
          <a:xfrm>
            <a:off x="4587545" y="5134356"/>
            <a:ext cx="142646" cy="1143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731106" y="5134356"/>
            <a:ext cx="295351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 구분:</a:t>
            </a:r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role="user" / "assistant" 파라미터로 아바타와 스타일 자동 적용</a:t>
            </a:r>
            <a:endParaRPr lang="en-US" sz="110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587545" y="5676595"/>
            <a:ext cx="114300" cy="11430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4701845" y="5676595"/>
            <a:ext cx="2981858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히스토리 렌더링:</a:t>
            </a:r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st.session_state에 저장된 이전 대화 기록을 루프(for)로 순회하며 표시</a:t>
            </a:r>
            <a:endParaRPr lang="en-US" sz="110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2"/>
          <a:srcRect l="0" r="0" t="-6" b="-6"/>
          <a:stretch/>
        </p:blipFill>
        <p:spPr>
          <a:xfrm>
            <a:off x="8128102" y="1723644"/>
            <a:ext cx="3492094" cy="4733849"/>
          </a:xfrm>
          <a:prstGeom prst="rect">
            <a:avLst/>
          </a:prstGeom>
        </p:spPr>
      </p:pic>
      <p:sp>
        <p:nvSpPr>
          <p:cNvPr id="30" name="Shape 21"/>
          <p:cNvSpPr/>
          <p:nvPr/>
        </p:nvSpPr>
        <p:spPr>
          <a:xfrm>
            <a:off x="8365846" y="3866998"/>
            <a:ext cx="1324051" cy="247802"/>
          </a:xfrm>
          <a:prstGeom prst="roundRect">
            <a:avLst>
              <a:gd name="adj" fmla="val 369004"/>
            </a:avLst>
          </a:prstGeom>
          <a:solidFill>
            <a:srgbClr val="F3E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2"/>
          <p:cNvSpPr/>
          <p:nvPr/>
        </p:nvSpPr>
        <p:spPr>
          <a:xfrm>
            <a:off x="8337499" y="3866998"/>
            <a:ext cx="1381658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Control &amp; Debug</a:t>
            </a:r>
            <a:endParaRPr lang="en-US" sz="900" dirty="0"/>
          </a:p>
        </p:txBody>
      </p:sp>
      <p:sp>
        <p:nvSpPr>
          <p:cNvPr id="32" name="Text 23"/>
          <p:cNvSpPr txBox="1"/>
          <p:nvPr/>
        </p:nvSpPr>
        <p:spPr>
          <a:xfrm>
            <a:off x="8365846" y="4229100"/>
            <a:ext cx="3134563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st.sidebar</a:t>
            </a:r>
            <a:endParaRPr lang="en-US" sz="1600" dirty="0"/>
          </a:p>
        </p:txBody>
      </p:sp>
      <p:sp>
        <p:nvSpPr>
          <p:cNvPr id="33" name="Shape 24"/>
          <p:cNvSpPr/>
          <p:nvPr/>
        </p:nvSpPr>
        <p:spPr>
          <a:xfrm>
            <a:off x="8365846" y="4972507"/>
            <a:ext cx="3019349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4" name="Text 25"/>
          <p:cNvSpPr txBox="1"/>
          <p:nvPr/>
        </p:nvSpPr>
        <p:spPr>
          <a:xfrm>
            <a:off x="8365846" y="4619549"/>
            <a:ext cx="3096158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"메타 정보와 제어 패널"</a:t>
            </a:r>
            <a:endParaRPr lang="en-US" sz="1000" dirty="0"/>
          </a:p>
        </p:txBody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8365846" y="5134356"/>
            <a:ext cx="114300" cy="114300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8480146" y="5134356"/>
            <a:ext cx="2981858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보조 영역 활용:</a:t>
            </a:r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메인 대화 흐름을 방해하지 않고 RAG 검색 근거(Source)나 설정값 표시</a:t>
            </a:r>
            <a:endParaRPr lang="en-US" sz="1100" dirty="0"/>
          </a:p>
        </p:txBody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8365846" y="5676595"/>
            <a:ext cx="114300" cy="114300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8480146" y="5676595"/>
            <a:ext cx="2981858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디버깅 정보:</a:t>
            </a:r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라우팅 결과(CSV vs MD), 생성된 SQL 등 내부 로직 확인용 UI 제공</a:t>
            </a:r>
            <a:endParaRPr lang="en-US" sz="1100" dirty="0"/>
          </a:p>
        </p:txBody>
      </p:sp>
      <p:sp>
        <p:nvSpPr>
          <p:cNvPr id="39" name="Shape 28"/>
          <p:cNvSpPr/>
          <p:nvPr/>
        </p:nvSpPr>
        <p:spPr>
          <a:xfrm>
            <a:off x="580644" y="1733702"/>
            <a:ext cx="3476549" cy="1904695"/>
          </a:xfrm>
          <a:prstGeom prst="roundRect">
            <a:avLst>
              <a:gd name="adj" fmla="val 7681"/>
            </a:avLst>
          </a:prstGeom>
          <a:solidFill>
            <a:srgbClr val="FFF1F2"/>
          </a:solidFill>
          <a:ln/>
        </p:spPr>
      </p:sp>
      <p:sp>
        <p:nvSpPr>
          <p:cNvPr id="40" name="Shape 29"/>
          <p:cNvSpPr/>
          <p:nvPr/>
        </p:nvSpPr>
        <p:spPr>
          <a:xfrm>
            <a:off x="580644" y="3629254"/>
            <a:ext cx="3476549" cy="9144"/>
          </a:xfrm>
          <a:prstGeom prst="roundRect">
            <a:avLst>
              <a:gd name="adj" fmla="val 1600000"/>
            </a:avLst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41" name="Shape 30"/>
          <p:cNvSpPr/>
          <p:nvPr/>
        </p:nvSpPr>
        <p:spPr>
          <a:xfrm>
            <a:off x="1175004" y="2014423"/>
            <a:ext cx="2286000" cy="1333195"/>
          </a:xfrm>
          <a:prstGeom prst="roundRect">
            <a:avLst>
              <a:gd name="adj" fmla="val 78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10000"/>
              </a:srgbClr>
            </a:outerShdw>
          </a:effectLst>
        </p:spPr>
      </p:sp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9">
            <a:alphaModFix amt="30000"/>
          </a:blip>
          <a:srcRect l="0" r="0" t="-417" b="-417"/>
          <a:stretch/>
        </p:blipFill>
        <p:spPr>
          <a:xfrm>
            <a:off x="1279246" y="2119579"/>
            <a:ext cx="1245413" cy="57607"/>
          </a:xfrm>
          <a:prstGeom prst="rect">
            <a:avLst/>
          </a:prstGeom>
        </p:spPr>
      </p:pic>
      <p:pic>
        <p:nvPicPr>
          <p:cNvPr id="43" name="Image 10" descr="preencoded.png">    </p:cNvPr>
          <p:cNvPicPr>
            <a:picLocks noChangeAspect="1"/>
          </p:cNvPicPr>
          <p:nvPr/>
        </p:nvPicPr>
        <p:blipFill>
          <a:blip r:embed="rId10">
            <a:alphaModFix amt="30000"/>
          </a:blip>
          <a:srcRect l="0" r="0" t="-411" b="-411"/>
          <a:stretch/>
        </p:blipFill>
        <p:spPr>
          <a:xfrm>
            <a:off x="2525573" y="2223821"/>
            <a:ext cx="830275" cy="57607"/>
          </a:xfrm>
          <a:prstGeom prst="rect">
            <a:avLst/>
          </a:prstGeom>
        </p:spPr>
      </p:pic>
      <p:sp>
        <p:nvSpPr>
          <p:cNvPr id="44" name="Shape 31"/>
          <p:cNvSpPr/>
          <p:nvPr/>
        </p:nvSpPr>
        <p:spPr>
          <a:xfrm>
            <a:off x="1279246" y="2900477"/>
            <a:ext cx="2076602" cy="342900"/>
          </a:xfrm>
          <a:prstGeom prst="roundRect">
            <a:avLst>
              <a:gd name="adj" fmla="val 88889"/>
            </a:avLst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45" name="Text 32"/>
          <p:cNvSpPr txBox="1"/>
          <p:nvPr/>
        </p:nvSpPr>
        <p:spPr>
          <a:xfrm>
            <a:off x="1393546" y="2900477"/>
            <a:ext cx="10287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질문을 입력하세요...</a:t>
            </a:r>
            <a:endParaRPr lang="en-US" sz="900" dirty="0"/>
          </a:p>
        </p:txBody>
      </p:sp>
      <p:pic>
        <p:nvPicPr>
          <p:cNvPr id="46" name="Image 11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3127248" y="3014777"/>
            <a:ext cx="114300" cy="114300"/>
          </a:xfrm>
          <a:prstGeom prst="rect">
            <a:avLst/>
          </a:prstGeom>
        </p:spPr>
      </p:pic>
      <p:pic>
        <p:nvPicPr>
          <p:cNvPr id="47" name="Image 12" descr="preencoded.png">    </p:cNvPr>
          <p:cNvPicPr>
            <a:picLocks noChangeAspect="1"/>
          </p:cNvPicPr>
          <p:nvPr/>
        </p:nvPicPr>
        <p:blipFill>
          <a:blip r:embed="rId12"/>
          <a:srcRect l="-1923" r="-1923" t="0" b="0"/>
          <a:stretch/>
        </p:blipFill>
        <p:spPr>
          <a:xfrm>
            <a:off x="3137306" y="3100730"/>
            <a:ext cx="123444" cy="190195"/>
          </a:xfrm>
          <a:prstGeom prst="rect">
            <a:avLst/>
          </a:prstGeom>
        </p:spPr>
      </p:pic>
      <p:sp>
        <p:nvSpPr>
          <p:cNvPr id="48" name="Shape 33"/>
          <p:cNvSpPr/>
          <p:nvPr/>
        </p:nvSpPr>
        <p:spPr>
          <a:xfrm>
            <a:off x="4358945" y="1733702"/>
            <a:ext cx="3476549" cy="1904695"/>
          </a:xfrm>
          <a:prstGeom prst="roundRect">
            <a:avLst>
              <a:gd name="adj" fmla="val 7681"/>
            </a:avLst>
          </a:prstGeom>
          <a:solidFill>
            <a:srgbClr val="F0F9FF"/>
          </a:solidFill>
          <a:ln/>
        </p:spPr>
      </p:sp>
      <p:sp>
        <p:nvSpPr>
          <p:cNvPr id="49" name="Shape 34"/>
          <p:cNvSpPr/>
          <p:nvPr/>
        </p:nvSpPr>
        <p:spPr>
          <a:xfrm>
            <a:off x="4358945" y="3629254"/>
            <a:ext cx="3476549" cy="9144"/>
          </a:xfrm>
          <a:prstGeom prst="roundRect">
            <a:avLst>
              <a:gd name="adj" fmla="val 1600000"/>
            </a:avLst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50" name="Shape 35"/>
          <p:cNvSpPr/>
          <p:nvPr/>
        </p:nvSpPr>
        <p:spPr>
          <a:xfrm>
            <a:off x="4953305" y="1919326"/>
            <a:ext cx="2286000" cy="1524305"/>
          </a:xfrm>
          <a:prstGeom prst="roundRect">
            <a:avLst>
              <a:gd name="adj" fmla="val 59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10000"/>
              </a:srgbClr>
            </a:outerShdw>
          </a:effectLst>
        </p:spPr>
      </p:sp>
      <p:pic>
        <p:nvPicPr>
          <p:cNvPr id="51" name="Image 13" descr="preencoded.png">    </p:cNvPr>
          <p:cNvPicPr>
            <a:picLocks noChangeAspect="1"/>
          </p:cNvPicPr>
          <p:nvPr/>
        </p:nvPicPr>
        <p:blipFill>
          <a:blip r:embed="rId13"/>
          <a:srcRect l="-9" r="-9" t="0" b="0"/>
          <a:stretch/>
        </p:blipFill>
        <p:spPr>
          <a:xfrm>
            <a:off x="6057900" y="2072030"/>
            <a:ext cx="1028700" cy="295351"/>
          </a:xfrm>
          <a:prstGeom prst="rect">
            <a:avLst/>
          </a:prstGeom>
        </p:spPr>
      </p:pic>
      <p:sp>
        <p:nvSpPr>
          <p:cNvPr id="52" name="Text 36"/>
          <p:cNvSpPr txBox="1"/>
          <p:nvPr/>
        </p:nvSpPr>
        <p:spPr>
          <a:xfrm>
            <a:off x="6172200" y="2147926"/>
            <a:ext cx="96743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연도별 매출 추이는?</a:t>
            </a:r>
            <a:endParaRPr lang="en-US" sz="800" dirty="0"/>
          </a:p>
        </p:txBody>
      </p:sp>
      <p:sp>
        <p:nvSpPr>
          <p:cNvPr id="53" name="Shape 37"/>
          <p:cNvSpPr/>
          <p:nvPr/>
        </p:nvSpPr>
        <p:spPr>
          <a:xfrm>
            <a:off x="7125005" y="2195474"/>
            <a:ext cx="190195" cy="190195"/>
          </a:xfrm>
          <a:prstGeom prst="ellipse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4" name="Image 14" descr="preencoded.png">    </p:cNvPr>
          <p:cNvPicPr>
            <a:picLocks noChangeAspect="1"/>
          </p:cNvPicPr>
          <p:nvPr/>
        </p:nvPicPr>
        <p:blipFill>
          <a:blip r:embed="rId14"/>
          <a:srcRect l="-1648" r="-1648" t="0" b="0"/>
          <a:stretch/>
        </p:blipFill>
        <p:spPr>
          <a:xfrm>
            <a:off x="7177126" y="2243023"/>
            <a:ext cx="85954" cy="95098"/>
          </a:xfrm>
          <a:prstGeom prst="rect">
            <a:avLst/>
          </a:prstGeom>
        </p:spPr>
      </p:pic>
      <p:pic>
        <p:nvPicPr>
          <p:cNvPr id="55" name="Image 15" descr="preencoded.png">    </p:cNvPr>
          <p:cNvPicPr>
            <a:picLocks noChangeAspect="1"/>
          </p:cNvPicPr>
          <p:nvPr/>
        </p:nvPicPr>
        <p:blipFill>
          <a:blip r:embed="rId15"/>
          <a:srcRect l="0" r="0" t="-36" b="-36"/>
          <a:stretch/>
        </p:blipFill>
        <p:spPr>
          <a:xfrm>
            <a:off x="5105095" y="2481682"/>
            <a:ext cx="1442009" cy="314554"/>
          </a:xfrm>
          <a:prstGeom prst="rect">
            <a:avLst/>
          </a:prstGeom>
        </p:spPr>
      </p:pic>
      <p:sp>
        <p:nvSpPr>
          <p:cNvPr id="56" name="Text 38"/>
          <p:cNvSpPr txBox="1"/>
          <p:nvPr/>
        </p:nvSpPr>
        <p:spPr>
          <a:xfrm>
            <a:off x="5229454" y="2566721"/>
            <a:ext cx="14676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2016년 매출이 가장 높습니다.</a:t>
            </a:r>
            <a:endParaRPr lang="en-US" sz="800" dirty="0"/>
          </a:p>
        </p:txBody>
      </p:sp>
      <p:sp>
        <p:nvSpPr>
          <p:cNvPr id="57" name="Shape 39"/>
          <p:cNvSpPr/>
          <p:nvPr/>
        </p:nvSpPr>
        <p:spPr>
          <a:xfrm>
            <a:off x="4886554" y="2614270"/>
            <a:ext cx="190195" cy="190195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8" name="Image 16" descr="preencoded.png">    </p:cNvPr>
          <p:cNvPicPr>
            <a:picLocks noChangeAspect="1"/>
          </p:cNvPicPr>
          <p:nvPr/>
        </p:nvPicPr>
        <p:blipFill>
          <a:blip r:embed="rId16"/>
          <a:srcRect l="-1923" r="-1923" t="0" b="0"/>
          <a:stretch/>
        </p:blipFill>
        <p:spPr>
          <a:xfrm>
            <a:off x="4919472" y="2661818"/>
            <a:ext cx="123444" cy="95098"/>
          </a:xfrm>
          <a:prstGeom prst="rect">
            <a:avLst/>
          </a:prstGeom>
        </p:spPr>
      </p:pic>
      <p:sp>
        <p:nvSpPr>
          <p:cNvPr id="59" name="Shape 40"/>
          <p:cNvSpPr/>
          <p:nvPr/>
        </p:nvSpPr>
        <p:spPr>
          <a:xfrm>
            <a:off x="8137246" y="1733702"/>
            <a:ext cx="3476549" cy="1904695"/>
          </a:xfrm>
          <a:prstGeom prst="roundRect">
            <a:avLst>
              <a:gd name="adj" fmla="val 7681"/>
            </a:avLst>
          </a:prstGeom>
          <a:solidFill>
            <a:srgbClr val="FAF5FF"/>
          </a:solidFill>
          <a:ln/>
        </p:spPr>
      </p:sp>
      <p:sp>
        <p:nvSpPr>
          <p:cNvPr id="60" name="Shape 41"/>
          <p:cNvSpPr/>
          <p:nvPr/>
        </p:nvSpPr>
        <p:spPr>
          <a:xfrm>
            <a:off x="8137246" y="3629254"/>
            <a:ext cx="3476549" cy="9144"/>
          </a:xfrm>
          <a:prstGeom prst="roundRect">
            <a:avLst>
              <a:gd name="adj" fmla="val 1600000"/>
            </a:avLst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61" name="Shape 42"/>
          <p:cNvSpPr/>
          <p:nvPr/>
        </p:nvSpPr>
        <p:spPr>
          <a:xfrm>
            <a:off x="8635594" y="1919326"/>
            <a:ext cx="2476195" cy="1524305"/>
          </a:xfrm>
          <a:prstGeom prst="roundRect">
            <a:avLst>
              <a:gd name="adj" fmla="val 59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10000"/>
              </a:srgbClr>
            </a:outerShdw>
          </a:effectLst>
        </p:spPr>
      </p:sp>
      <p:sp>
        <p:nvSpPr>
          <p:cNvPr id="62" name="Shape 43"/>
          <p:cNvSpPr/>
          <p:nvPr/>
        </p:nvSpPr>
        <p:spPr>
          <a:xfrm>
            <a:off x="8645652" y="1928470"/>
            <a:ext cx="761695" cy="1505102"/>
          </a:xfrm>
          <a:prstGeom prst="roundRect">
            <a:avLst>
              <a:gd name="adj" fmla="val 24010"/>
            </a:avLst>
          </a:prstGeom>
          <a:solidFill>
            <a:srgbClr val="F8FAFC"/>
          </a:solidFill>
          <a:ln/>
        </p:spPr>
      </p:sp>
      <p:sp>
        <p:nvSpPr>
          <p:cNvPr id="63" name="Shape 44"/>
          <p:cNvSpPr/>
          <p:nvPr/>
        </p:nvSpPr>
        <p:spPr>
          <a:xfrm>
            <a:off x="9398203" y="1928470"/>
            <a:ext cx="9144" cy="1505102"/>
          </a:xfrm>
          <a:prstGeom prst="roundRect">
            <a:avLst>
              <a:gd name="adj" fmla="val 2000000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64" name="Text 45"/>
          <p:cNvSpPr txBox="1"/>
          <p:nvPr/>
        </p:nvSpPr>
        <p:spPr>
          <a:xfrm>
            <a:off x="8740750" y="2024482"/>
            <a:ext cx="63825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DEBUG INFO</a:t>
            </a:r>
            <a:endParaRPr lang="en-US" sz="800" dirty="0"/>
          </a:p>
        </p:txBody>
      </p:sp>
      <p:pic>
        <p:nvPicPr>
          <p:cNvPr id="65" name="Image 17" descr="preencoded.png">    </p:cNvPr>
          <p:cNvPicPr>
            <a:picLocks noChangeAspect="1"/>
          </p:cNvPicPr>
          <p:nvPr/>
        </p:nvPicPr>
        <p:blipFill>
          <a:blip r:embed="rId17"/>
          <a:srcRect l="0" r="0" t="-366" b="-366"/>
          <a:stretch/>
        </p:blipFill>
        <p:spPr>
          <a:xfrm>
            <a:off x="8740750" y="2262226"/>
            <a:ext cx="562356" cy="57607"/>
          </a:xfrm>
          <a:prstGeom prst="rect">
            <a:avLst/>
          </a:prstGeom>
        </p:spPr>
      </p:pic>
      <p:pic>
        <p:nvPicPr>
          <p:cNvPr id="66" name="Image 18" descr="preencoded.png">    </p:cNvPr>
          <p:cNvPicPr>
            <a:picLocks noChangeAspect="1"/>
          </p:cNvPicPr>
          <p:nvPr/>
        </p:nvPicPr>
        <p:blipFill>
          <a:blip r:embed="rId17"/>
          <a:srcRect l="0" r="0" t="-366" b="-366"/>
          <a:stretch/>
        </p:blipFill>
        <p:spPr>
          <a:xfrm>
            <a:off x="8740750" y="2395728"/>
            <a:ext cx="562356" cy="57607"/>
          </a:xfrm>
          <a:prstGeom prst="rect">
            <a:avLst/>
          </a:prstGeom>
        </p:spPr>
      </p:pic>
      <p:pic>
        <p:nvPicPr>
          <p:cNvPr id="67" name="Image 19" descr="preencoded.png">    </p:cNvPr>
          <p:cNvPicPr>
            <a:picLocks noChangeAspect="1"/>
          </p:cNvPicPr>
          <p:nvPr/>
        </p:nvPicPr>
        <p:blipFill>
          <a:blip r:embed="rId18"/>
          <a:srcRect l="0" r="0" t="-421" b="-421"/>
          <a:stretch/>
        </p:blipFill>
        <p:spPr>
          <a:xfrm>
            <a:off x="8740750" y="2529230"/>
            <a:ext cx="393192" cy="57607"/>
          </a:xfrm>
          <a:prstGeom prst="rect">
            <a:avLst/>
          </a:prstGeom>
        </p:spPr>
      </p:pic>
      <p:pic>
        <p:nvPicPr>
          <p:cNvPr id="68" name="Image 20" descr="preencoded.png">    </p:cNvPr>
          <p:cNvPicPr>
            <a:picLocks noChangeAspect="1"/>
          </p:cNvPicPr>
          <p:nvPr/>
        </p:nvPicPr>
        <p:blipFill>
          <a:blip r:embed="rId17"/>
          <a:srcRect l="0" r="0" t="-366" b="-366"/>
          <a:stretch/>
        </p:blipFill>
        <p:spPr>
          <a:xfrm>
            <a:off x="8740750" y="2661818"/>
            <a:ext cx="562356" cy="57607"/>
          </a:xfrm>
          <a:prstGeom prst="rect">
            <a:avLst/>
          </a:prstGeom>
        </p:spPr>
      </p:pic>
      <p:pic>
        <p:nvPicPr>
          <p:cNvPr id="69" name="Image 21" descr="preencoded.png">    </p:cNvPr>
          <p:cNvPicPr>
            <a:picLocks noChangeAspect="1"/>
          </p:cNvPicPr>
          <p:nvPr/>
        </p:nvPicPr>
        <p:blipFill>
          <a:blip r:embed="rId17"/>
          <a:srcRect l="0" r="0" t="-366" b="-366"/>
          <a:stretch/>
        </p:blipFill>
        <p:spPr>
          <a:xfrm>
            <a:off x="8740750" y="2795321"/>
            <a:ext cx="562356" cy="57607"/>
          </a:xfrm>
          <a:prstGeom prst="rect">
            <a:avLst/>
          </a:prstGeom>
        </p:spPr>
      </p:pic>
      <p:sp>
        <p:nvSpPr>
          <p:cNvPr id="70" name="Shape 46"/>
          <p:cNvSpPr/>
          <p:nvPr/>
        </p:nvSpPr>
        <p:spPr>
          <a:xfrm>
            <a:off x="9407347" y="1928470"/>
            <a:ext cx="1695298" cy="1505102"/>
          </a:xfrm>
          <a:prstGeom prst="roundRect">
            <a:avLst>
              <a:gd name="adj" fmla="val 615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Text 47"/>
          <p:cNvSpPr txBox="1"/>
          <p:nvPr/>
        </p:nvSpPr>
        <p:spPr>
          <a:xfrm>
            <a:off x="9774936" y="2395728"/>
            <a:ext cx="962863" cy="571500"/>
          </a:xfrm>
          <a:prstGeom prst="rect">
            <a:avLst/>
          </a:prstGeom>
          <a:noFill/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Main Chat Area</a:t>
            </a:r>
            <a:endParaRPr lang="en-US" sz="800" dirty="0"/>
          </a:p>
        </p:txBody>
      </p:sp>
      <p:pic>
        <p:nvPicPr>
          <p:cNvPr id="72" name="Image 22" descr="preencoded.png">    </p:cNvPr>
          <p:cNvPicPr>
            <a:picLocks noChangeAspect="1"/>
          </p:cNvPicPr>
          <p:nvPr/>
        </p:nvPicPr>
        <p:blipFill>
          <a:blip r:embed="rId19"/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>
            <a:alphaModFix amt="5000"/>
          </a:blip>
          <a:srcRect l="0" r="0" t="0" b="0"/>
          <a:stretch/>
        </p:blipFill>
        <p:spPr>
          <a:xfrm>
            <a:off x="9905695" y="381305"/>
            <a:ext cx="1904695" cy="190469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53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71500" y="381305"/>
            <a:ext cx="113541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spc="-63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아키텍처 요약</a:t>
            </a:r>
            <a:endParaRPr lang="en-US" sz="3100" dirty="0"/>
          </a:p>
        </p:txBody>
      </p:sp>
      <p:sp>
        <p:nvSpPr>
          <p:cNvPr id="7" name="Text 4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분석부터 사용자 답변까지 이어지는 End-to-End 파이프라인</a:t>
            </a:r>
            <a:endParaRPr lang="en-US" sz="15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rcRect l="-1923" r="-1923" t="0" b="0"/>
          <a:stretch/>
        </p:blipFill>
        <p:spPr>
          <a:xfrm>
            <a:off x="3129077" y="3957523"/>
            <a:ext cx="123444" cy="190195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-1923" r="-1923" t="0" b="0"/>
          <a:stretch/>
        </p:blipFill>
        <p:spPr>
          <a:xfrm>
            <a:off x="6132881" y="3957523"/>
            <a:ext cx="123444" cy="190195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3"/>
          <a:srcRect l="-1923" r="-1923" t="0" b="0"/>
          <a:stretch/>
        </p:blipFill>
        <p:spPr>
          <a:xfrm>
            <a:off x="9198864" y="3957523"/>
            <a:ext cx="123444" cy="190195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4"/>
          <a:srcRect l="0" r="0" t="-8" b="-8"/>
          <a:stretch/>
        </p:blipFill>
        <p:spPr>
          <a:xfrm>
            <a:off x="571500" y="2622499"/>
            <a:ext cx="2323490" cy="2860243"/>
          </a:xfrm>
          <a:prstGeom prst="rect">
            <a:avLst/>
          </a:prstGeom>
        </p:spPr>
      </p:pic>
      <p:sp>
        <p:nvSpPr>
          <p:cNvPr id="12" name="Shape 5"/>
          <p:cNvSpPr/>
          <p:nvPr/>
        </p:nvSpPr>
        <p:spPr>
          <a:xfrm>
            <a:off x="771754" y="3279953"/>
            <a:ext cx="1923898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13" name="Shape 6"/>
          <p:cNvSpPr/>
          <p:nvPr/>
        </p:nvSpPr>
        <p:spPr>
          <a:xfrm>
            <a:off x="771754" y="2861158"/>
            <a:ext cx="304495" cy="304495"/>
          </a:xfrm>
          <a:prstGeom prst="ellipse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7"/>
          <p:cNvSpPr/>
          <p:nvPr/>
        </p:nvSpPr>
        <p:spPr>
          <a:xfrm>
            <a:off x="733349" y="2861158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8"/>
          <p:cNvSpPr txBox="1"/>
          <p:nvPr/>
        </p:nvSpPr>
        <p:spPr>
          <a:xfrm>
            <a:off x="1171346" y="2884932"/>
            <a:ext cx="181417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Routing (질문 분류)</a:t>
            </a:r>
            <a:endParaRPr lang="en-US" sz="1300" dirty="0"/>
          </a:p>
        </p:txBody>
      </p:sp>
      <p:sp>
        <p:nvSpPr>
          <p:cNvPr id="16" name="Shape 9"/>
          <p:cNvSpPr/>
          <p:nvPr/>
        </p:nvSpPr>
        <p:spPr>
          <a:xfrm>
            <a:off x="771754" y="3451860"/>
            <a:ext cx="1923898" cy="647395"/>
          </a:xfrm>
          <a:prstGeom prst="roundRect">
            <a:avLst>
              <a:gd name="adj" fmla="val 33234"/>
            </a:avLst>
          </a:prstGeom>
          <a:solidFill>
            <a:srgbClr val="F8FAFC"/>
          </a:solidFill>
          <a:ln/>
        </p:spPr>
      </p:sp>
      <p:sp>
        <p:nvSpPr>
          <p:cNvPr id="17" name="Shape 10"/>
          <p:cNvSpPr/>
          <p:nvPr/>
        </p:nvSpPr>
        <p:spPr>
          <a:xfrm>
            <a:off x="771754" y="3451860"/>
            <a:ext cx="38405" cy="647395"/>
          </a:xfrm>
          <a:prstGeom prst="roundRect">
            <a:avLst>
              <a:gd name="adj" fmla="val 560221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8" name="Text 11"/>
          <p:cNvSpPr txBox="1"/>
          <p:nvPr/>
        </p:nvSpPr>
        <p:spPr>
          <a:xfrm>
            <a:off x="923544" y="3682289"/>
            <a:ext cx="199979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i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"사용자의 의도는 무엇인가?"</a:t>
            </a:r>
            <a:endParaRPr lang="en-US" sz="1000" dirty="0"/>
          </a:p>
        </p:txBody>
      </p:sp>
      <p:sp>
        <p:nvSpPr>
          <p:cNvPr id="19" name="Text 12"/>
          <p:cNvSpPr txBox="1"/>
          <p:nvPr/>
        </p:nvSpPr>
        <p:spPr>
          <a:xfrm>
            <a:off x="771754" y="4251960"/>
            <a:ext cx="20784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기능</a:t>
            </a:r>
            <a:endParaRPr lang="en-US" sz="900" dirty="0"/>
          </a:p>
        </p:txBody>
      </p:sp>
      <p:sp>
        <p:nvSpPr>
          <p:cNvPr id="20" name="Text 13"/>
          <p:cNvSpPr txBox="1"/>
          <p:nvPr/>
        </p:nvSpPr>
        <p:spPr>
          <a:xfrm>
            <a:off x="771754" y="4513478"/>
            <a:ext cx="200162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Tool Calling 기반 라우팅</a:t>
            </a:r>
            <a:endParaRPr lang="en-US" sz="1000" dirty="0"/>
          </a:p>
        </p:txBody>
      </p:sp>
      <p:sp>
        <p:nvSpPr>
          <p:cNvPr id="21" name="Text 14"/>
          <p:cNvSpPr txBox="1"/>
          <p:nvPr/>
        </p:nvSpPr>
        <p:spPr>
          <a:xfrm>
            <a:off x="771754" y="4757623"/>
            <a:ext cx="20619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정량(SQL) vs 정성(검색) 분류</a:t>
            </a:r>
            <a:endParaRPr lang="en-US" sz="1000" dirty="0"/>
          </a:p>
        </p:txBody>
      </p:sp>
      <p:sp>
        <p:nvSpPr>
          <p:cNvPr id="22" name="Text 15"/>
          <p:cNvSpPr txBox="1"/>
          <p:nvPr/>
        </p:nvSpPr>
        <p:spPr>
          <a:xfrm>
            <a:off x="771754" y="5000854"/>
            <a:ext cx="20784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 의도 파악 및 도구 매핑</a:t>
            </a:r>
            <a:endParaRPr lang="en-US" sz="10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5"/>
          <a:srcRect l="-2" r="-2" t="0" b="0"/>
          <a:stretch/>
        </p:blipFill>
        <p:spPr>
          <a:xfrm>
            <a:off x="3485693" y="2622499"/>
            <a:ext cx="2414016" cy="2860243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3685946" y="3279953"/>
            <a:ext cx="2018995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25" name="Shape 17"/>
          <p:cNvSpPr/>
          <p:nvPr/>
        </p:nvSpPr>
        <p:spPr>
          <a:xfrm>
            <a:off x="3685946" y="2861158"/>
            <a:ext cx="304495" cy="304495"/>
          </a:xfrm>
          <a:prstGeom prst="ellipse">
            <a:avLst/>
          </a:prstGeom>
          <a:solidFill>
            <a:srgbClr val="ECF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18"/>
          <p:cNvSpPr/>
          <p:nvPr/>
        </p:nvSpPr>
        <p:spPr>
          <a:xfrm>
            <a:off x="3647542" y="2861158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19"/>
          <p:cNvSpPr txBox="1"/>
          <p:nvPr/>
        </p:nvSpPr>
        <p:spPr>
          <a:xfrm>
            <a:off x="4085539" y="2884932"/>
            <a:ext cx="192755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Retrieval (정보 검색)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3685946" y="3451860"/>
            <a:ext cx="2018995" cy="647395"/>
          </a:xfrm>
          <a:prstGeom prst="roundRect">
            <a:avLst>
              <a:gd name="adj" fmla="val 33234"/>
            </a:avLst>
          </a:prstGeom>
          <a:solidFill>
            <a:srgbClr val="F8FAFC"/>
          </a:solidFill>
          <a:ln/>
        </p:spPr>
      </p:sp>
      <p:sp>
        <p:nvSpPr>
          <p:cNvPr id="29" name="Shape 21"/>
          <p:cNvSpPr/>
          <p:nvPr/>
        </p:nvSpPr>
        <p:spPr>
          <a:xfrm>
            <a:off x="3685946" y="3451860"/>
            <a:ext cx="38405" cy="647395"/>
          </a:xfrm>
          <a:prstGeom prst="roundRect">
            <a:avLst>
              <a:gd name="adj" fmla="val 560221"/>
            </a:avLst>
          </a:prstGeom>
          <a:solidFill>
            <a:srgbClr val="0891B2"/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30" name="Text 22"/>
          <p:cNvSpPr txBox="1"/>
          <p:nvPr/>
        </p:nvSpPr>
        <p:spPr>
          <a:xfrm>
            <a:off x="3838651" y="3682289"/>
            <a:ext cx="171632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i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"어디서 정보를 찾을까?"</a:t>
            </a:r>
            <a:endParaRPr lang="en-US" sz="1000" dirty="0"/>
          </a:p>
        </p:txBody>
      </p:sp>
      <p:sp>
        <p:nvSpPr>
          <p:cNvPr id="31" name="Text 23"/>
          <p:cNvSpPr txBox="1"/>
          <p:nvPr/>
        </p:nvSpPr>
        <p:spPr>
          <a:xfrm>
            <a:off x="3685946" y="4251960"/>
            <a:ext cx="21817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소스</a:t>
            </a:r>
            <a:endParaRPr lang="en-US" sz="900" dirty="0"/>
          </a:p>
        </p:txBody>
      </p:sp>
      <p:sp>
        <p:nvSpPr>
          <p:cNvPr id="32" name="Text 24"/>
          <p:cNvSpPr txBox="1"/>
          <p:nvPr/>
        </p:nvSpPr>
        <p:spPr>
          <a:xfrm>
            <a:off x="3685946" y="4513478"/>
            <a:ext cx="211317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CSV 경로: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DuckDB (SQL 실행)</a:t>
            </a:r>
            <a:endParaRPr lang="en-US" sz="1000" dirty="0"/>
          </a:p>
        </p:txBody>
      </p:sp>
      <p:sp>
        <p:nvSpPr>
          <p:cNvPr id="33" name="Text 25"/>
          <p:cNvSpPr txBox="1"/>
          <p:nvPr/>
        </p:nvSpPr>
        <p:spPr>
          <a:xfrm>
            <a:off x="3685946" y="4757623"/>
            <a:ext cx="21003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MD 경로: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ChromaDB (벡터)</a:t>
            </a:r>
            <a:endParaRPr lang="en-US" sz="1000" dirty="0"/>
          </a:p>
        </p:txBody>
      </p:sp>
      <p:sp>
        <p:nvSpPr>
          <p:cNvPr id="34" name="Text 26"/>
          <p:cNvSpPr txBox="1"/>
          <p:nvPr/>
        </p:nvSpPr>
        <p:spPr>
          <a:xfrm>
            <a:off x="3685946" y="5000854"/>
            <a:ext cx="21817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관련 문서/데이터셋 추출</a:t>
            </a:r>
            <a:endParaRPr lang="en-US" sz="1000" dirty="0"/>
          </a:p>
        </p:txBody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6"/>
          <a:srcRect l="0" r="0" t="-5" b="-5"/>
          <a:stretch/>
        </p:blipFill>
        <p:spPr>
          <a:xfrm>
            <a:off x="6490411" y="2622499"/>
            <a:ext cx="2475281" cy="2860243"/>
          </a:xfrm>
          <a:prstGeom prst="rect">
            <a:avLst/>
          </a:prstGeom>
        </p:spPr>
      </p:pic>
      <p:sp>
        <p:nvSpPr>
          <p:cNvPr id="36" name="Shape 27"/>
          <p:cNvSpPr/>
          <p:nvPr/>
        </p:nvSpPr>
        <p:spPr>
          <a:xfrm>
            <a:off x="6690665" y="3279953"/>
            <a:ext cx="2076602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37" name="Shape 28"/>
          <p:cNvSpPr/>
          <p:nvPr/>
        </p:nvSpPr>
        <p:spPr>
          <a:xfrm>
            <a:off x="6690665" y="2861158"/>
            <a:ext cx="304495" cy="304495"/>
          </a:xfrm>
          <a:prstGeom prst="ellipse">
            <a:avLst/>
          </a:prstGeom>
          <a:solidFill>
            <a:srgbClr val="F0F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6652260" y="2861158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200" dirty="0"/>
          </a:p>
        </p:txBody>
      </p:sp>
      <p:sp>
        <p:nvSpPr>
          <p:cNvPr id="39" name="Text 30"/>
          <p:cNvSpPr txBox="1"/>
          <p:nvPr/>
        </p:nvSpPr>
        <p:spPr>
          <a:xfrm>
            <a:off x="7090258" y="2884932"/>
            <a:ext cx="199522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Synthesis (답변 생성)</a:t>
            </a:r>
            <a:endParaRPr lang="en-US" sz="1300" dirty="0"/>
          </a:p>
        </p:txBody>
      </p:sp>
      <p:sp>
        <p:nvSpPr>
          <p:cNvPr id="40" name="Shape 31"/>
          <p:cNvSpPr/>
          <p:nvPr/>
        </p:nvSpPr>
        <p:spPr>
          <a:xfrm>
            <a:off x="6690665" y="3451860"/>
            <a:ext cx="2076602" cy="647395"/>
          </a:xfrm>
          <a:prstGeom prst="roundRect">
            <a:avLst>
              <a:gd name="adj" fmla="val 33234"/>
            </a:avLst>
          </a:prstGeom>
          <a:solidFill>
            <a:srgbClr val="F8FAFC"/>
          </a:solidFill>
          <a:ln/>
        </p:spPr>
      </p:sp>
      <p:sp>
        <p:nvSpPr>
          <p:cNvPr id="41" name="Shape 32"/>
          <p:cNvSpPr/>
          <p:nvPr/>
        </p:nvSpPr>
        <p:spPr>
          <a:xfrm>
            <a:off x="6690665" y="3451860"/>
            <a:ext cx="38405" cy="647395"/>
          </a:xfrm>
          <a:prstGeom prst="roundRect">
            <a:avLst>
              <a:gd name="adj" fmla="val 560221"/>
            </a:avLst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42" name="Text 33"/>
          <p:cNvSpPr txBox="1"/>
          <p:nvPr/>
        </p:nvSpPr>
        <p:spPr>
          <a:xfrm>
            <a:off x="6842455" y="3682289"/>
            <a:ext cx="185897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i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"어떻게 답변을 구성할까?"</a:t>
            </a:r>
            <a:endParaRPr lang="en-US" sz="1000" dirty="0"/>
          </a:p>
        </p:txBody>
      </p:sp>
      <p:sp>
        <p:nvSpPr>
          <p:cNvPr id="43" name="Text 34"/>
          <p:cNvSpPr txBox="1"/>
          <p:nvPr/>
        </p:nvSpPr>
        <p:spPr>
          <a:xfrm>
            <a:off x="6690665" y="4251960"/>
            <a:ext cx="224302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처리 로직</a:t>
            </a:r>
            <a:endParaRPr lang="en-US" sz="900" dirty="0"/>
          </a:p>
        </p:txBody>
      </p:sp>
      <p:sp>
        <p:nvSpPr>
          <p:cNvPr id="44" name="Text 35"/>
          <p:cNvSpPr txBox="1"/>
          <p:nvPr/>
        </p:nvSpPr>
        <p:spPr>
          <a:xfrm>
            <a:off x="6690665" y="4513478"/>
            <a:ext cx="215981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LLM에 검색 Context 주입</a:t>
            </a:r>
            <a:endParaRPr lang="en-US" sz="1000" dirty="0"/>
          </a:p>
        </p:txBody>
      </p:sp>
      <p:sp>
        <p:nvSpPr>
          <p:cNvPr id="45" name="Text 36"/>
          <p:cNvSpPr txBox="1"/>
          <p:nvPr/>
        </p:nvSpPr>
        <p:spPr>
          <a:xfrm>
            <a:off x="6690665" y="4757623"/>
            <a:ext cx="215981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환각(Hallucination) 방지</a:t>
            </a:r>
            <a:endParaRPr lang="en-US" sz="1000" dirty="0"/>
          </a:p>
        </p:txBody>
      </p:sp>
      <p:sp>
        <p:nvSpPr>
          <p:cNvPr id="46" name="Text 37"/>
          <p:cNvSpPr txBox="1"/>
          <p:nvPr/>
        </p:nvSpPr>
        <p:spPr>
          <a:xfrm>
            <a:off x="6690665" y="5000854"/>
            <a:ext cx="224302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논리적 답변 및 인사이트 생성</a:t>
            </a:r>
            <a:endParaRPr lang="en-US" sz="1000" dirty="0"/>
          </a:p>
        </p:txBody>
      </p:sp>
      <p:pic>
        <p:nvPicPr>
          <p:cNvPr id="47" name="Image 7" descr="preencoded.png">    </p:cNvPr>
          <p:cNvPicPr>
            <a:picLocks noChangeAspect="1"/>
          </p:cNvPicPr>
          <p:nvPr/>
        </p:nvPicPr>
        <p:blipFill>
          <a:blip r:embed="rId7"/>
          <a:srcRect l="0" r="0" t="-12" b="-12"/>
          <a:stretch/>
        </p:blipFill>
        <p:spPr>
          <a:xfrm>
            <a:off x="9556394" y="2622499"/>
            <a:ext cx="2063801" cy="2860243"/>
          </a:xfrm>
          <a:prstGeom prst="rect">
            <a:avLst/>
          </a:prstGeom>
        </p:spPr>
      </p:pic>
      <p:sp>
        <p:nvSpPr>
          <p:cNvPr id="48" name="Shape 38"/>
          <p:cNvSpPr/>
          <p:nvPr/>
        </p:nvSpPr>
        <p:spPr>
          <a:xfrm>
            <a:off x="9756648" y="3279953"/>
            <a:ext cx="1666951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49" name="Shape 39"/>
          <p:cNvSpPr/>
          <p:nvPr/>
        </p:nvSpPr>
        <p:spPr>
          <a:xfrm>
            <a:off x="9756648" y="2861158"/>
            <a:ext cx="304495" cy="304495"/>
          </a:xfrm>
          <a:prstGeom prst="ellipse">
            <a:avLst/>
          </a:prstGeom>
          <a:solidFill>
            <a:srgbClr val="FFF1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Text 40"/>
          <p:cNvSpPr/>
          <p:nvPr/>
        </p:nvSpPr>
        <p:spPr>
          <a:xfrm>
            <a:off x="9718243" y="2861158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1D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200" dirty="0"/>
          </a:p>
        </p:txBody>
      </p:sp>
      <p:sp>
        <p:nvSpPr>
          <p:cNvPr id="51" name="Text 41"/>
          <p:cNvSpPr txBox="1"/>
          <p:nvPr/>
        </p:nvSpPr>
        <p:spPr>
          <a:xfrm>
            <a:off x="10156241" y="2884932"/>
            <a:ext cx="13716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 (Streamlit)</a:t>
            </a:r>
            <a:endParaRPr lang="en-US" sz="1300" dirty="0"/>
          </a:p>
        </p:txBody>
      </p:sp>
      <p:sp>
        <p:nvSpPr>
          <p:cNvPr id="52" name="Shape 42"/>
          <p:cNvSpPr/>
          <p:nvPr/>
        </p:nvSpPr>
        <p:spPr>
          <a:xfrm>
            <a:off x="9756648" y="3451860"/>
            <a:ext cx="1666951" cy="647395"/>
          </a:xfrm>
          <a:prstGeom prst="roundRect">
            <a:avLst>
              <a:gd name="adj" fmla="val 33234"/>
            </a:avLst>
          </a:prstGeom>
          <a:solidFill>
            <a:srgbClr val="F8FAFC"/>
          </a:solidFill>
          <a:ln/>
        </p:spPr>
      </p:sp>
      <p:sp>
        <p:nvSpPr>
          <p:cNvPr id="53" name="Shape 43"/>
          <p:cNvSpPr/>
          <p:nvPr/>
        </p:nvSpPr>
        <p:spPr>
          <a:xfrm>
            <a:off x="9756648" y="3451860"/>
            <a:ext cx="38405" cy="647395"/>
          </a:xfrm>
          <a:prstGeom prst="roundRect">
            <a:avLst>
              <a:gd name="adj" fmla="val 560221"/>
            </a:avLst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54" name="Text 44"/>
          <p:cNvSpPr txBox="1"/>
          <p:nvPr/>
        </p:nvSpPr>
        <p:spPr>
          <a:xfrm>
            <a:off x="9908438" y="3682289"/>
            <a:ext cx="134599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i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"어떻게 전달할까?"</a:t>
            </a:r>
            <a:endParaRPr lang="en-US" sz="1000" dirty="0"/>
          </a:p>
        </p:txBody>
      </p:sp>
      <p:sp>
        <p:nvSpPr>
          <p:cNvPr id="55" name="Text 45"/>
          <p:cNvSpPr txBox="1"/>
          <p:nvPr/>
        </p:nvSpPr>
        <p:spPr>
          <a:xfrm>
            <a:off x="9756648" y="4251960"/>
            <a:ext cx="18004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경험</a:t>
            </a:r>
            <a:endParaRPr lang="en-US" sz="900" dirty="0"/>
          </a:p>
        </p:txBody>
      </p:sp>
      <p:sp>
        <p:nvSpPr>
          <p:cNvPr id="56" name="Text 46"/>
          <p:cNvSpPr txBox="1"/>
          <p:nvPr/>
        </p:nvSpPr>
        <p:spPr>
          <a:xfrm>
            <a:off x="9756648" y="4513478"/>
            <a:ext cx="18004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직관적 채팅 인터페이스</a:t>
            </a:r>
            <a:endParaRPr lang="en-US" sz="1000" dirty="0"/>
          </a:p>
        </p:txBody>
      </p:sp>
      <p:sp>
        <p:nvSpPr>
          <p:cNvPr id="57" name="Text 47"/>
          <p:cNvSpPr txBox="1"/>
          <p:nvPr/>
        </p:nvSpPr>
        <p:spPr>
          <a:xfrm>
            <a:off x="9756648" y="4757623"/>
            <a:ext cx="17629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답변 근거(Source) 시각화</a:t>
            </a:r>
            <a:endParaRPr lang="en-US" sz="1000" dirty="0"/>
          </a:p>
        </p:txBody>
      </p:sp>
      <p:sp>
        <p:nvSpPr>
          <p:cNvPr id="58" name="Text 48"/>
          <p:cNvSpPr txBox="1"/>
          <p:nvPr/>
        </p:nvSpPr>
        <p:spPr>
          <a:xfrm>
            <a:off x="9756648" y="5000854"/>
            <a:ext cx="186171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대화 히스토리 및 맥락 유지</a:t>
            </a:r>
            <a:endParaRPr lang="en-US" sz="1000" dirty="0"/>
          </a:p>
        </p:txBody>
      </p:sp>
      <p:pic>
        <p:nvPicPr>
          <p:cNvPr id="59" name="Image 8" descr="preencoded.png">    </p:cNvPr>
          <p:cNvPicPr>
            <a:picLocks noChangeAspect="1"/>
          </p:cNvPicPr>
          <p:nvPr/>
        </p:nvPicPr>
        <p:blipFill>
          <a:blip r:embed="rId8"/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34195" y="-952805"/>
            <a:ext cx="3810305" cy="3810305"/>
          </a:xfrm>
          <a:prstGeom prst="ellipse">
            <a:avLst/>
          </a:prstGeom>
          <a:solidFill>
            <a:srgbClr val="F1F5F9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476402" y="4476902"/>
            <a:ext cx="2857500" cy="2857500"/>
          </a:xfrm>
          <a:prstGeom prst="ellipse">
            <a:avLst/>
          </a:prstGeom>
          <a:solidFill>
            <a:srgbClr val="E2E8F0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54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476402"/>
            <a:ext cx="11354105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spc="-66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운영·모니터링·보안 베스트 프랙티스</a:t>
            </a:r>
            <a:endParaRPr lang="en-US" sz="33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200607"/>
            <a:ext cx="1123980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안정적이고 신뢰할 수 있는 RAG 챗봇 서비스를 위한 4가지 핵심 원칙</a:t>
            </a:r>
            <a:endParaRPr lang="en-US" sz="16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rcRect l="-5" r="-5" t="0" b="0"/>
          <a:stretch/>
        </p:blipFill>
        <p:spPr>
          <a:xfrm>
            <a:off x="571500" y="2295144"/>
            <a:ext cx="5381244" cy="1652321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71500" y="2295144"/>
            <a:ext cx="57607" cy="1633118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47649" y="2572207"/>
            <a:ext cx="533095" cy="533095"/>
          </a:xfrm>
          <a:prstGeom prst="roundRect">
            <a:avLst>
              <a:gd name="adj" fmla="val 73511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rcRect l="0" r="0" t="-45" b="-45"/>
          <a:stretch/>
        </p:blipFill>
        <p:spPr>
          <a:xfrm>
            <a:off x="985723" y="2723998"/>
            <a:ext cx="256946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571854" y="2572207"/>
            <a:ext cx="421995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 모니터링 (Monitoring)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1571854" y="2943454"/>
            <a:ext cx="4181551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응답의 정확도, 지연 시간(Latency), 검색 히트율을 실시간으로 추적하고 데이터 드리프트(Drift)를 감지하여 서비스 품질을 유지합니다.</a:t>
            </a:r>
            <a:endParaRPr lang="en-US" sz="12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2"/>
          <a:srcRect l="-5" r="-5" t="0" b="0"/>
          <a:stretch/>
        </p:blipFill>
        <p:spPr>
          <a:xfrm>
            <a:off x="6238951" y="2295144"/>
            <a:ext cx="5381244" cy="1652321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238951" y="2295144"/>
            <a:ext cx="57607" cy="1633118"/>
          </a:xfrm>
          <a:prstGeom prst="rect">
            <a:avLst/>
          </a:prstGeom>
          <a:solidFill>
            <a:srgbClr val="06B6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515100" y="2572207"/>
            <a:ext cx="533095" cy="533095"/>
          </a:xfrm>
          <a:prstGeom prst="roundRect">
            <a:avLst>
              <a:gd name="adj" fmla="val 73511"/>
            </a:avLst>
          </a:prstGeom>
          <a:solidFill>
            <a:srgbClr val="ECF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667805" y="2723998"/>
            <a:ext cx="228600" cy="22860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239305" y="2572207"/>
            <a:ext cx="421995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재학습 및 재임베딩 (Retraining)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7239305" y="2943454"/>
            <a:ext cx="4181551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최신 정보를 반영하기 위해 데이터 및 문서의 갱신 주기를 수립하고, 벡터 DB 임베딩 업데이트와 모델 배포 과정을 자동화합니다.</a:t>
            </a:r>
            <a:endParaRPr lang="en-US" sz="12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2"/>
          <a:srcRect l="-5" r="-5" t="0" b="0"/>
          <a:stretch/>
        </p:blipFill>
        <p:spPr>
          <a:xfrm>
            <a:off x="571500" y="4233672"/>
            <a:ext cx="5381244" cy="1652321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571500" y="4233672"/>
            <a:ext cx="57607" cy="1633118"/>
          </a:xfrm>
          <a:prstGeom prst="rect">
            <a:avLst/>
          </a:prstGeom>
          <a:solidFill>
            <a:srgbClr val="8B5C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847649" y="4509821"/>
            <a:ext cx="533095" cy="533095"/>
          </a:xfrm>
          <a:prstGeom prst="roundRect">
            <a:avLst>
              <a:gd name="adj" fmla="val 73511"/>
            </a:avLst>
          </a:prstGeom>
          <a:solidFill>
            <a:srgbClr val="F5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5"/>
          <a:srcRect l="-80" r="-80" t="0" b="0"/>
          <a:stretch/>
        </p:blipFill>
        <p:spPr>
          <a:xfrm>
            <a:off x="972007" y="4662526"/>
            <a:ext cx="286207" cy="22860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571854" y="4509821"/>
            <a:ext cx="421995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 및 프라이버시 (Security)</a:t>
            </a:r>
            <a:endParaRPr lang="en-US" sz="1600" dirty="0"/>
          </a:p>
        </p:txBody>
      </p:sp>
      <p:sp>
        <p:nvSpPr>
          <p:cNvPr id="26" name="Text 18"/>
          <p:cNvSpPr txBox="1"/>
          <p:nvPr/>
        </p:nvSpPr>
        <p:spPr>
          <a:xfrm>
            <a:off x="1571854" y="4881982"/>
            <a:ext cx="4181551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권한에 따른 문서 접근 제어(Filter)를 구현하고, PII(개인식별정보) 마스킹 처리를 통해 민감한 데이터 유출을 방지합니다.</a:t>
            </a:r>
            <a:endParaRPr lang="en-US" sz="120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2"/>
          <a:srcRect l="-5" r="-5" t="0" b="0"/>
          <a:stretch/>
        </p:blipFill>
        <p:spPr>
          <a:xfrm>
            <a:off x="6238951" y="4233672"/>
            <a:ext cx="5381244" cy="1652321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6238951" y="4233672"/>
            <a:ext cx="57607" cy="1633118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0"/>
          <p:cNvSpPr/>
          <p:nvPr/>
        </p:nvSpPr>
        <p:spPr>
          <a:xfrm>
            <a:off x="6515100" y="4509821"/>
            <a:ext cx="533095" cy="533095"/>
          </a:xfrm>
          <a:prstGeom prst="roundRect">
            <a:avLst>
              <a:gd name="adj" fmla="val 73511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6"/>
          <a:srcRect l="-57" r="-57" t="0" b="0"/>
          <a:stretch/>
        </p:blipFill>
        <p:spPr>
          <a:xfrm>
            <a:off x="6681521" y="4662526"/>
            <a:ext cx="200254" cy="228600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7239305" y="4509821"/>
            <a:ext cx="421995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근거 노출 및 투명성 (Citation)</a:t>
            </a:r>
            <a:endParaRPr lang="en-US" sz="1600" dirty="0"/>
          </a:p>
        </p:txBody>
      </p:sp>
      <p:sp>
        <p:nvSpPr>
          <p:cNvPr id="32" name="Text 22"/>
          <p:cNvSpPr txBox="1"/>
          <p:nvPr/>
        </p:nvSpPr>
        <p:spPr>
          <a:xfrm>
            <a:off x="7239305" y="4881982"/>
            <a:ext cx="4181551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답변 생성 시 활용된 원문 문서의 출처 링크나 인용구를 명시하여 사용자가 정보의 진위 여부를 직접 확인할 수 있도록 합니다.</a:t>
            </a:r>
            <a:endParaRPr lang="en-US" sz="1200" dirty="0"/>
          </a:p>
        </p:txBody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7"/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2026-03-21T08:38:03Z</dcterms:created>
  <dcterms:modified xsi:type="dcterms:W3CDTF">2026-03-21T08:38:03Z</dcterms:modified>
</cp:coreProperties>
</file>