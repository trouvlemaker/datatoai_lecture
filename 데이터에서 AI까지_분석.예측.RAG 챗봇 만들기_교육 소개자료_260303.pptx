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52"/>
    <p:restoredTop sz="96932"/>
  </p:normalViewPr>
  <p:slideViewPr>
    <p:cSldViewPr snapToGrid="0" showGuides="1">
      <p:cViewPr varScale="1">
        <p:scale>
          <a:sx n="155" d="100"/>
          <a:sy n="155" d="100"/>
        </p:scale>
        <p:origin x="488" y="19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C50B15-7FEF-E2B8-1133-237B86DE7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374A164-4D34-FC17-25EA-C959E5CFF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04B0CA-1287-92D0-B65B-B120E48C9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B027-335E-7C4F-837A-195447C3F278}" type="datetimeFigureOut">
              <a:rPr kumimoji="1" lang="ko-KR" altLang="en-US" smtClean="0"/>
              <a:t>2026. 3. 3.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80E5DE-DE2D-46F0-DEB6-8B991E8A1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968D06-4181-41D1-1282-DCD4B1799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14C53-7DF1-BA49-B1FE-7970F839949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90949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3C6197-FA91-9285-3F00-7C70BB634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9D7D30-2D9E-D4C1-3E50-A8D8D68A5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7DA733-BC91-C009-ED11-6C7CDBBFD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B027-335E-7C4F-837A-195447C3F278}" type="datetimeFigureOut">
              <a:rPr kumimoji="1" lang="ko-KR" altLang="en-US" smtClean="0"/>
              <a:t>2026. 3. 3.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2956CD-EECD-B570-567B-497086F92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159EC0-EEBE-1253-F635-B8579D5BA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14C53-7DF1-BA49-B1FE-7970F839949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94996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5F46F-B995-4343-480E-A10B31731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A26162-994F-16DF-BDC5-7DB310CA0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85ED6C-AD50-7947-4809-1DE017B17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B027-335E-7C4F-837A-195447C3F278}" type="datetimeFigureOut">
              <a:rPr kumimoji="1" lang="ko-KR" altLang="en-US" smtClean="0"/>
              <a:t>2026. 3. 3.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C16124-D46E-4539-265D-FA73A4C65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64135E-563F-B811-2D0B-4D71685E1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14C53-7DF1-BA49-B1FE-7970F839949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1492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037001-D0D8-D24E-9E14-603F21F13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3EC6E9-889A-DEA8-A374-3DEDCF5EC3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A98AEF8-CA91-0986-8047-D79523C87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1653A8-38AF-56BF-9E6C-FF7CA58DA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B027-335E-7C4F-837A-195447C3F278}" type="datetimeFigureOut">
              <a:rPr kumimoji="1" lang="ko-KR" altLang="en-US" smtClean="0"/>
              <a:t>2026. 3. 3.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EF2B6E-C451-32AA-0D7D-637510A97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47C0D7-A541-7956-DFF5-9198A4752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14C53-7DF1-BA49-B1FE-7970F839949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69698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57C02D-B040-2A0B-4080-6C265E3EC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431BB0-C65E-CD49-C55E-058B232B3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F7E755-80EF-449B-D8D9-A256A0853A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4EF77D-D966-0DC5-3C13-CF6263FCBE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9060177-2187-DEFC-8ED5-7E0AC4D403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4EE674B-587F-87D3-D8FA-56C38E21A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B027-335E-7C4F-837A-195447C3F278}" type="datetimeFigureOut">
              <a:rPr kumimoji="1" lang="ko-KR" altLang="en-US" smtClean="0"/>
              <a:t>2026. 3. 3.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F1AD65F-38B9-5CA0-D7C1-9E809EBBF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A490518-4FFD-5B8F-F55D-6E215EA3C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14C53-7DF1-BA49-B1FE-7970F839949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2194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D6B04-49CD-5F87-FF1F-123A997EF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1C3A909-B74A-F364-800E-AD94E892B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B027-335E-7C4F-837A-195447C3F278}" type="datetimeFigureOut">
              <a:rPr kumimoji="1" lang="ko-KR" altLang="en-US" smtClean="0"/>
              <a:t>2026. 3. 3.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A40862F-3DF0-C663-CA42-C504112B0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96AE2B-C9B2-CE4E-3549-71D79D4BE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14C53-7DF1-BA49-B1FE-7970F839949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69923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D2C402-1631-7049-779B-E7F14AAD6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B027-335E-7C4F-837A-195447C3F278}" type="datetimeFigureOut">
              <a:rPr kumimoji="1" lang="ko-KR" altLang="en-US" smtClean="0"/>
              <a:t>2026. 3. 3.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F205CD2-4907-13B7-4900-A30619FAE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084B8F-1F94-0F60-E5FC-54F0FB73B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14C53-7DF1-BA49-B1FE-7970F839949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83024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0E9A3-012D-5C0A-22D9-BC451681C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CA6D92-7465-98D2-E5DF-42A3EE84A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B764D65-BC4D-45A0-2309-475A47438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A00866-D653-BEA4-030D-9E35CEBA3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B027-335E-7C4F-837A-195447C3F278}" type="datetimeFigureOut">
              <a:rPr kumimoji="1" lang="ko-KR" altLang="en-US" smtClean="0"/>
              <a:t>2026. 3. 3.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50D867-61D6-AD8A-D355-DA1DF6806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DD473D-0619-171F-DD8E-52E8B05DD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14C53-7DF1-BA49-B1FE-7970F839949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78282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3C304E-0648-B0BB-B4A1-FC23EAEB0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24837CC-2FE1-8C0B-6B7B-71C84D4E8C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3520B9-B236-3ADA-61D3-628BAEE04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6831E4-E27F-68B3-0D8F-17DDF8439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B027-335E-7C4F-837A-195447C3F278}" type="datetimeFigureOut">
              <a:rPr kumimoji="1" lang="ko-KR" altLang="en-US" smtClean="0"/>
              <a:t>2026. 3. 3.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2F2A47-FF76-274B-6897-7CE21AD53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E06A69-87C8-E768-1840-6AC3CD76C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14C53-7DF1-BA49-B1FE-7970F839949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54016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295BEA-9BE1-224D-6B28-CE4BE2BA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64EBBC-6C54-2E10-A3BA-3B56C32C33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50B215-3A21-396F-41F6-9AD9F4306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B027-335E-7C4F-837A-195447C3F278}" type="datetimeFigureOut">
              <a:rPr kumimoji="1" lang="ko-KR" altLang="en-US" smtClean="0"/>
              <a:t>2026. 3. 3.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64073A-4325-AB71-23D6-737579244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2410FE-457E-00BD-5427-55281D505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14C53-7DF1-BA49-B1FE-7970F839949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51630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E55A60A-6B71-CD40-2E09-A487AEF964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71C2D9-15E7-6242-F968-FEA11AD375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F3EECB-8984-82A2-055D-5E3448B5C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7B027-335E-7C4F-837A-195447C3F278}" type="datetimeFigureOut">
              <a:rPr kumimoji="1" lang="ko-KR" altLang="en-US" smtClean="0"/>
              <a:t>2026. 3. 3.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17B1C1-AD8F-1FD7-CBE3-5D099B952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3DCC5F-1A7A-2311-B785-DE97B49F4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14C53-7DF1-BA49-B1FE-7970F839949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47174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CD8D1D4-CB0D-FDE9-83A3-EE09E3C3D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56EA96-A58F-A5BE-0A8C-2E313299D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762B8F-14AC-8E72-66D9-5A7B54384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37B027-335E-7C4F-837A-195447C3F278}" type="datetimeFigureOut">
              <a:rPr kumimoji="1" lang="ko-KR" altLang="en-US" smtClean="0"/>
              <a:t>2026. 3. 3.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6E67E8-5185-2E94-B4AA-D03798E9BF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E599B7-24BF-A02D-1759-4D8B2D525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B14C53-7DF1-BA49-B1FE-7970F839949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88078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0">
            <a:extLst>
              <a:ext uri="{FF2B5EF4-FFF2-40B4-BE49-F238E27FC236}">
                <a16:creationId xmlns:a16="http://schemas.microsoft.com/office/drawing/2014/main" id="{2F1ACD5F-70AA-72DA-A1B0-F8DCD3D75A91}"/>
              </a:ext>
            </a:extLst>
          </p:cNvPr>
          <p:cNvSpPr txBox="1"/>
          <p:nvPr/>
        </p:nvSpPr>
        <p:spPr>
          <a:xfrm>
            <a:off x="609905" y="3867506"/>
            <a:ext cx="704085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dirty="0"/>
              <a:t>실무형 가이드</a:t>
            </a:r>
            <a:r>
              <a:rPr lang="en-US" altLang="ko-KR" dirty="0"/>
              <a:t>: </a:t>
            </a:r>
            <a:r>
              <a:rPr lang="ko-KR" altLang="en-US" dirty="0"/>
              <a:t>데이터 분석을 예측과 </a:t>
            </a:r>
            <a:r>
              <a:rPr lang="ko-KR" altLang="en-US" dirty="0" err="1"/>
              <a:t>챗봇으로</a:t>
            </a:r>
            <a:r>
              <a:rPr lang="ko-KR" altLang="en-US" dirty="0"/>
              <a:t> 확장하기</a:t>
            </a:r>
            <a:endParaRPr lang="en-US" sz="1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3C32FD01-2402-D97C-EB96-95F68CD89429}"/>
              </a:ext>
            </a:extLst>
          </p:cNvPr>
          <p:cNvSpPr txBox="1"/>
          <p:nvPr/>
        </p:nvSpPr>
        <p:spPr>
          <a:xfrm>
            <a:off x="609905" y="2022606"/>
            <a:ext cx="10439705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600" b="1" dirty="0">
                <a:latin typeface="Malgun Gothic" panose="020B0503020000020004" pitchFamily="34" charset="-127"/>
                <a:ea typeface="Malgun Gothic" panose="020B0503020000020004" pitchFamily="34" charset="-127"/>
                <a:cs typeface="Noto Sans KR" pitchFamily="34" charset="-120"/>
              </a:rPr>
              <a:t>데이터에서 </a:t>
            </a:r>
            <a:r>
              <a:rPr lang="en-US" sz="3600" b="1" dirty="0">
                <a:latin typeface="Malgun Gothic" panose="020B0503020000020004" pitchFamily="34" charset="-127"/>
                <a:ea typeface="Malgun Gothic" panose="020B0503020000020004" pitchFamily="34" charset="-127"/>
                <a:cs typeface="Noto Sans KR" pitchFamily="34" charset="-120"/>
              </a:rPr>
              <a:t>AI</a:t>
            </a:r>
            <a:r>
              <a:rPr lang="ko-KR" altLang="en-US" sz="3600" b="1" dirty="0">
                <a:latin typeface="Malgun Gothic" panose="020B0503020000020004" pitchFamily="34" charset="-127"/>
                <a:ea typeface="Malgun Gothic" panose="020B0503020000020004" pitchFamily="34" charset="-127"/>
                <a:cs typeface="Noto Sans KR" pitchFamily="34" charset="-120"/>
              </a:rPr>
              <a:t>까지</a:t>
            </a:r>
            <a:r>
              <a:rPr lang="en-US" altLang="ko-KR" sz="3600" b="1" dirty="0">
                <a:latin typeface="Malgun Gothic" panose="020B0503020000020004" pitchFamily="34" charset="-127"/>
                <a:ea typeface="Malgun Gothic" panose="020B0503020000020004" pitchFamily="34" charset="-127"/>
                <a:cs typeface="Noto Sans KR" pitchFamily="34" charset="-120"/>
              </a:rPr>
              <a:t>: </a:t>
            </a:r>
            <a:r>
              <a:rPr lang="ko-KR" altLang="en-US" sz="3600" b="1" dirty="0">
                <a:latin typeface="Malgun Gothic" panose="020B0503020000020004" pitchFamily="34" charset="-127"/>
                <a:ea typeface="Malgun Gothic" panose="020B0503020000020004" pitchFamily="34" charset="-127"/>
                <a:cs typeface="Noto Sans KR" pitchFamily="34" charset="-120"/>
              </a:rPr>
              <a:t>분석</a:t>
            </a:r>
            <a:r>
              <a:rPr lang="en-US" altLang="ko-KR" sz="3600" b="1" dirty="0">
                <a:latin typeface="Malgun Gothic" panose="020B0503020000020004" pitchFamily="34" charset="-127"/>
                <a:ea typeface="Malgun Gothic" panose="020B0503020000020004" pitchFamily="34" charset="-127"/>
                <a:cs typeface="Noto Sans KR" pitchFamily="34" charset="-120"/>
              </a:rPr>
              <a:t>·</a:t>
            </a:r>
            <a:r>
              <a:rPr lang="ko-KR" altLang="en-US" sz="3600" b="1" dirty="0">
                <a:latin typeface="Malgun Gothic" panose="020B0503020000020004" pitchFamily="34" charset="-127"/>
                <a:ea typeface="Malgun Gothic" panose="020B0503020000020004" pitchFamily="34" charset="-127"/>
                <a:cs typeface="Noto Sans KR" pitchFamily="34" charset="-120"/>
              </a:rPr>
              <a:t>예측</a:t>
            </a:r>
            <a:r>
              <a:rPr lang="en-US" altLang="ko-KR" sz="3600" b="1" dirty="0">
                <a:latin typeface="Malgun Gothic" panose="020B0503020000020004" pitchFamily="34" charset="-127"/>
                <a:ea typeface="Malgun Gothic" panose="020B0503020000020004" pitchFamily="34" charset="-127"/>
                <a:cs typeface="Noto Sans KR" pitchFamily="34" charset="-120"/>
              </a:rPr>
              <a:t>·</a:t>
            </a:r>
            <a:r>
              <a:rPr lang="en-US" sz="3600" b="1" dirty="0">
                <a:latin typeface="Malgun Gothic" panose="020B0503020000020004" pitchFamily="34" charset="-127"/>
                <a:ea typeface="Malgun Gothic" panose="020B0503020000020004" pitchFamily="34" charset="-127"/>
                <a:cs typeface="Noto Sans KR" pitchFamily="34" charset="-120"/>
              </a:rPr>
              <a:t>RAG </a:t>
            </a:r>
            <a:r>
              <a:rPr lang="ko-KR" altLang="en-US" sz="3600" b="1" dirty="0" err="1">
                <a:latin typeface="Malgun Gothic" panose="020B0503020000020004" pitchFamily="34" charset="-127"/>
                <a:ea typeface="Malgun Gothic" panose="020B0503020000020004" pitchFamily="34" charset="-127"/>
                <a:cs typeface="Noto Sans KR" pitchFamily="34" charset="-120"/>
              </a:rPr>
              <a:t>챗봇</a:t>
            </a:r>
            <a:r>
              <a:rPr lang="ko-KR" altLang="en-US" sz="3600" b="1" dirty="0">
                <a:latin typeface="Malgun Gothic" panose="020B0503020000020004" pitchFamily="34" charset="-127"/>
                <a:ea typeface="Malgun Gothic" panose="020B0503020000020004" pitchFamily="34" charset="-127"/>
                <a:cs typeface="Noto Sans KR" pitchFamily="34" charset="-120"/>
              </a:rPr>
              <a:t> 만들기</a:t>
            </a:r>
            <a:endParaRPr lang="en-US" sz="36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D2254770-40AF-3402-AD10-1DC2C8AD3CDB}"/>
              </a:ext>
            </a:extLst>
          </p:cNvPr>
          <p:cNvSpPr/>
          <p:nvPr/>
        </p:nvSpPr>
        <p:spPr>
          <a:xfrm>
            <a:off x="609904" y="2972205"/>
            <a:ext cx="9761533" cy="5075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503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3">
            <a:extLst>
              <a:ext uri="{FF2B5EF4-FFF2-40B4-BE49-F238E27FC236}">
                <a16:creationId xmlns:a16="http://schemas.microsoft.com/office/drawing/2014/main" id="{C78C7F4B-A49A-3BEF-5D36-B3809F68EC01}"/>
              </a:ext>
            </a:extLst>
          </p:cNvPr>
          <p:cNvSpPr/>
          <p:nvPr/>
        </p:nvSpPr>
        <p:spPr>
          <a:xfrm>
            <a:off x="8161637" y="2092470"/>
            <a:ext cx="3657601" cy="3678631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3">
            <a:extLst>
              <a:ext uri="{FF2B5EF4-FFF2-40B4-BE49-F238E27FC236}">
                <a16:creationId xmlns:a16="http://schemas.microsoft.com/office/drawing/2014/main" id="{F0B75614-6096-1A40-1021-30B33EADABA2}"/>
              </a:ext>
            </a:extLst>
          </p:cNvPr>
          <p:cNvSpPr/>
          <p:nvPr/>
        </p:nvSpPr>
        <p:spPr>
          <a:xfrm>
            <a:off x="4267200" y="2097011"/>
            <a:ext cx="3657600" cy="3678631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3">
            <a:extLst>
              <a:ext uri="{FF2B5EF4-FFF2-40B4-BE49-F238E27FC236}">
                <a16:creationId xmlns:a16="http://schemas.microsoft.com/office/drawing/2014/main" id="{603660C0-24DB-8F07-C50E-75B1EE78B5EC}"/>
              </a:ext>
            </a:extLst>
          </p:cNvPr>
          <p:cNvSpPr/>
          <p:nvPr/>
        </p:nvSpPr>
        <p:spPr>
          <a:xfrm>
            <a:off x="397476" y="2092471"/>
            <a:ext cx="3657600" cy="3678631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816E125C-79D2-0062-5C21-2DF85FF40146}"/>
              </a:ext>
            </a:extLst>
          </p:cNvPr>
          <p:cNvSpPr/>
          <p:nvPr/>
        </p:nvSpPr>
        <p:spPr>
          <a:xfrm>
            <a:off x="397476" y="2092471"/>
            <a:ext cx="3657600" cy="57607"/>
          </a:xfrm>
          <a:prstGeom prst="roundRect">
            <a:avLst>
              <a:gd name="adj" fmla="val 132276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7BCE3C04-3883-F3F2-5F2E-D28655CC09EE}"/>
              </a:ext>
            </a:extLst>
          </p:cNvPr>
          <p:cNvSpPr/>
          <p:nvPr/>
        </p:nvSpPr>
        <p:spPr>
          <a:xfrm>
            <a:off x="626076" y="2874283"/>
            <a:ext cx="320040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CFB90AB1-C1E3-204C-6598-FAEEDE20FA84}"/>
              </a:ext>
            </a:extLst>
          </p:cNvPr>
          <p:cNvSpPr/>
          <p:nvPr/>
        </p:nvSpPr>
        <p:spPr>
          <a:xfrm>
            <a:off x="626076" y="2378678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DAC87924-EF80-297C-CE17-C5869B66AE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760" r="-760"/>
          <a:stretch/>
        </p:blipFill>
        <p:spPr>
          <a:xfrm>
            <a:off x="740376" y="2482919"/>
            <a:ext cx="152705" cy="171907"/>
          </a:xfrm>
          <a:prstGeom prst="rect">
            <a:avLst/>
          </a:prstGeom>
        </p:spPr>
      </p:pic>
      <p:sp>
        <p:nvSpPr>
          <p:cNvPr id="6" name="Text 7">
            <a:extLst>
              <a:ext uri="{FF2B5EF4-FFF2-40B4-BE49-F238E27FC236}">
                <a16:creationId xmlns:a16="http://schemas.microsoft.com/office/drawing/2014/main" id="{43901E11-08EA-736D-02AB-635CDE7B306C}"/>
              </a:ext>
            </a:extLst>
          </p:cNvPr>
          <p:cNvSpPr txBox="1"/>
          <p:nvPr/>
        </p:nvSpPr>
        <p:spPr>
          <a:xfrm>
            <a:off x="1120766" y="2426227"/>
            <a:ext cx="11146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 kern="0" spc="75" dirty="0">
                <a:solidFill>
                  <a:srgbClr val="1E293B"/>
                </a:solidFill>
                <a:latin typeface="Noto Sans KR" pitchFamily="34" charset="0"/>
              </a:rPr>
              <a:t>최종 결과물</a:t>
            </a:r>
            <a:endParaRPr lang="en-US" sz="1500" dirty="0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30353AB4-8977-A465-67A9-A7B5562C218B}"/>
              </a:ext>
            </a:extLst>
          </p:cNvPr>
          <p:cNvSpPr/>
          <p:nvPr/>
        </p:nvSpPr>
        <p:spPr>
          <a:xfrm>
            <a:off x="626076" y="3149517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D6898328-95E1-51E3-F484-2731E242C2A3}"/>
              </a:ext>
            </a:extLst>
          </p:cNvPr>
          <p:cNvSpPr txBox="1"/>
          <p:nvPr/>
        </p:nvSpPr>
        <p:spPr>
          <a:xfrm>
            <a:off x="797069" y="3073622"/>
            <a:ext cx="31053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데이터로 현황을 진단하고 </a:t>
            </a:r>
            <a:r>
              <a:rPr lang="en-US" sz="10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“왜 이런 결과가 나왔는지”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근거를 명확히 제시</a:t>
            </a:r>
            <a:endParaRPr lang="en-US" sz="1000" dirty="0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B14F4C11-151B-5446-321C-EA624979ED59}"/>
              </a:ext>
            </a:extLst>
          </p:cNvPr>
          <p:cNvSpPr/>
          <p:nvPr/>
        </p:nvSpPr>
        <p:spPr>
          <a:xfrm>
            <a:off x="626076" y="3664324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26ECAFF3-BC63-0762-AC90-3E9E74141EB0}"/>
              </a:ext>
            </a:extLst>
          </p:cNvPr>
          <p:cNvSpPr txBox="1"/>
          <p:nvPr/>
        </p:nvSpPr>
        <p:spPr>
          <a:xfrm>
            <a:off x="797069" y="3588429"/>
            <a:ext cx="31053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모델로 </a:t>
            </a:r>
            <a:r>
              <a:rPr lang="en-US" sz="10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What-if 시나리오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(프로모션/요일/가격 등)를 돌려 의사결정 지원</a:t>
            </a:r>
            <a:endParaRPr lang="en-US" sz="1000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DDE77977-19AC-8239-EFA7-1F5B403F9329}"/>
              </a:ext>
            </a:extLst>
          </p:cNvPr>
          <p:cNvSpPr/>
          <p:nvPr/>
        </p:nvSpPr>
        <p:spPr>
          <a:xfrm>
            <a:off x="626076" y="4178217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36296DED-E02C-0AF9-9062-A60D51061AB3}"/>
              </a:ext>
            </a:extLst>
          </p:cNvPr>
          <p:cNvSpPr txBox="1"/>
          <p:nvPr/>
        </p:nvSpPr>
        <p:spPr>
          <a:xfrm>
            <a:off x="797069" y="4102322"/>
            <a:ext cx="31053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문서+표 데이터를 함께 읽는 </a:t>
            </a:r>
            <a:r>
              <a:rPr lang="en-US" sz="10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분석 챗봇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만들어 질문하면 답이 나오게 구현</a:t>
            </a:r>
            <a:endParaRPr lang="en-US" sz="1000" dirty="0"/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56A23463-8243-C397-CCFC-4F1268EA7B18}"/>
              </a:ext>
            </a:extLst>
          </p:cNvPr>
          <p:cNvSpPr/>
          <p:nvPr/>
        </p:nvSpPr>
        <p:spPr>
          <a:xfrm>
            <a:off x="626076" y="4693024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10583298-5C8F-81DE-31E3-597BEAAD0B3F}"/>
              </a:ext>
            </a:extLst>
          </p:cNvPr>
          <p:cNvSpPr txBox="1"/>
          <p:nvPr/>
        </p:nvSpPr>
        <p:spPr>
          <a:xfrm>
            <a:off x="797069" y="4617129"/>
            <a:ext cx="31053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보고서 1페이지 + 데모 화면까지 만들어 </a:t>
            </a:r>
            <a:r>
              <a:rPr lang="en-US" sz="10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‘보여줄 수 있는 결과물’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완성</a:t>
            </a:r>
            <a:endParaRPr lang="en-US" sz="1000" dirty="0"/>
          </a:p>
        </p:txBody>
      </p:sp>
      <p:sp>
        <p:nvSpPr>
          <p:cNvPr id="15" name="Shape 17">
            <a:extLst>
              <a:ext uri="{FF2B5EF4-FFF2-40B4-BE49-F238E27FC236}">
                <a16:creationId xmlns:a16="http://schemas.microsoft.com/office/drawing/2014/main" id="{56020EBC-15F3-D96A-FDFA-C43980EA84FD}"/>
              </a:ext>
            </a:extLst>
          </p:cNvPr>
          <p:cNvSpPr/>
          <p:nvPr/>
        </p:nvSpPr>
        <p:spPr>
          <a:xfrm>
            <a:off x="4283676" y="2092471"/>
            <a:ext cx="3657600" cy="57607"/>
          </a:xfrm>
          <a:prstGeom prst="roundRect">
            <a:avLst>
              <a:gd name="adj" fmla="val 132276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8">
            <a:extLst>
              <a:ext uri="{FF2B5EF4-FFF2-40B4-BE49-F238E27FC236}">
                <a16:creationId xmlns:a16="http://schemas.microsoft.com/office/drawing/2014/main" id="{56AD1913-BA9D-E024-3E73-C68E0D640E62}"/>
              </a:ext>
            </a:extLst>
          </p:cNvPr>
          <p:cNvSpPr/>
          <p:nvPr/>
        </p:nvSpPr>
        <p:spPr>
          <a:xfrm>
            <a:off x="4512276" y="2874283"/>
            <a:ext cx="320040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9">
            <a:extLst>
              <a:ext uri="{FF2B5EF4-FFF2-40B4-BE49-F238E27FC236}">
                <a16:creationId xmlns:a16="http://schemas.microsoft.com/office/drawing/2014/main" id="{F301B7FA-8578-EF1C-82F4-8F9DBAC663EA}"/>
              </a:ext>
            </a:extLst>
          </p:cNvPr>
          <p:cNvSpPr/>
          <p:nvPr/>
        </p:nvSpPr>
        <p:spPr>
          <a:xfrm>
            <a:off x="4512276" y="2378678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F1823651-8433-473C-7C3E-40D89FD33C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064" r="-1064"/>
          <a:stretch/>
        </p:blipFill>
        <p:spPr>
          <a:xfrm>
            <a:off x="4592743" y="2482919"/>
            <a:ext cx="219456" cy="171907"/>
          </a:xfrm>
          <a:prstGeom prst="rect">
            <a:avLst/>
          </a:prstGeom>
        </p:spPr>
      </p:pic>
      <p:sp>
        <p:nvSpPr>
          <p:cNvPr id="19" name="Text 20">
            <a:extLst>
              <a:ext uri="{FF2B5EF4-FFF2-40B4-BE49-F238E27FC236}">
                <a16:creationId xmlns:a16="http://schemas.microsoft.com/office/drawing/2014/main" id="{FA1E6BF9-2DB8-D0B4-3C81-8D22D352D5DE}"/>
              </a:ext>
            </a:extLst>
          </p:cNvPr>
          <p:cNvSpPr txBox="1"/>
          <p:nvPr/>
        </p:nvSpPr>
        <p:spPr>
          <a:xfrm>
            <a:off x="5006966" y="2426227"/>
            <a:ext cx="29343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 kern="0" spc="75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기술적을 익히는 것 </a:t>
            </a:r>
            <a:r>
              <a:rPr lang="en-US" altLang="ko-KR" sz="1500" b="1" kern="0" spc="75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en-US" sz="1500" b="1" kern="0" spc="75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Skill</a:t>
            </a:r>
            <a:r>
              <a:rPr lang="en-US" altLang="ko-KR" sz="1500" b="1" kern="0" spc="75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500" dirty="0"/>
          </a:p>
        </p:txBody>
      </p:sp>
      <p:sp>
        <p:nvSpPr>
          <p:cNvPr id="20" name="Shape 21">
            <a:extLst>
              <a:ext uri="{FF2B5EF4-FFF2-40B4-BE49-F238E27FC236}">
                <a16:creationId xmlns:a16="http://schemas.microsoft.com/office/drawing/2014/main" id="{84037F45-ABCF-F17A-B51D-51F4E03F6801}"/>
              </a:ext>
            </a:extLst>
          </p:cNvPr>
          <p:cNvSpPr/>
          <p:nvPr/>
        </p:nvSpPr>
        <p:spPr>
          <a:xfrm>
            <a:off x="4512276" y="3149517"/>
            <a:ext cx="57607" cy="57607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74DD7380-928C-DD2B-8A7C-F2F622A11FEB}"/>
              </a:ext>
            </a:extLst>
          </p:cNvPr>
          <p:cNvSpPr txBox="1"/>
          <p:nvPr/>
        </p:nvSpPr>
        <p:spPr>
          <a:xfrm>
            <a:off x="4683269" y="3073622"/>
            <a:ext cx="383956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준비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데이터 구조 파악, 시각화, 핵심 지표 설계</a:t>
            </a:r>
            <a:endParaRPr lang="en-US" sz="1000" dirty="0"/>
          </a:p>
        </p:txBody>
      </p:sp>
      <p:sp>
        <p:nvSpPr>
          <p:cNvPr id="22" name="Shape 23">
            <a:extLst>
              <a:ext uri="{FF2B5EF4-FFF2-40B4-BE49-F238E27FC236}">
                <a16:creationId xmlns:a16="http://schemas.microsoft.com/office/drawing/2014/main" id="{A53C7093-11F0-3019-E903-D677A5D9B6F3}"/>
              </a:ext>
            </a:extLst>
          </p:cNvPr>
          <p:cNvSpPr/>
          <p:nvPr/>
        </p:nvSpPr>
        <p:spPr>
          <a:xfrm>
            <a:off x="4512276" y="3464071"/>
            <a:ext cx="57607" cy="57607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E460369A-0096-7475-5104-297D5AFCC9A8}"/>
              </a:ext>
            </a:extLst>
          </p:cNvPr>
          <p:cNvSpPr txBox="1"/>
          <p:nvPr/>
        </p:nvSpPr>
        <p:spPr>
          <a:xfrm>
            <a:off x="4683269" y="3388175"/>
            <a:ext cx="31053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예측/검증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누수 없는 검증(Time 기반), 피처 엔지니어링, 모델 튜닝 및 해석(SHAP)</a:t>
            </a:r>
            <a:endParaRPr lang="en-US" sz="1000" dirty="0"/>
          </a:p>
        </p:txBody>
      </p:sp>
      <p:sp>
        <p:nvSpPr>
          <p:cNvPr id="24" name="Shape 25">
            <a:extLst>
              <a:ext uri="{FF2B5EF4-FFF2-40B4-BE49-F238E27FC236}">
                <a16:creationId xmlns:a16="http://schemas.microsoft.com/office/drawing/2014/main" id="{A8965D95-DC76-80E1-62CA-0D6CA4953CE3}"/>
              </a:ext>
            </a:extLst>
          </p:cNvPr>
          <p:cNvSpPr/>
          <p:nvPr/>
        </p:nvSpPr>
        <p:spPr>
          <a:xfrm>
            <a:off x="4512276" y="3978878"/>
            <a:ext cx="57607" cy="57607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578EDD78-78DA-E6D1-9653-31EEEEA0100B}"/>
              </a:ext>
            </a:extLst>
          </p:cNvPr>
          <p:cNvSpPr txBox="1"/>
          <p:nvPr/>
        </p:nvSpPr>
        <p:spPr>
          <a:xfrm>
            <a:off x="4683269" y="3902068"/>
            <a:ext cx="31053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구성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문서 청킹·저장·검색 + 표 데이터 검색(Text-to-SQL) 연결</a:t>
            </a:r>
            <a:endParaRPr lang="en-US" sz="1000" dirty="0"/>
          </a:p>
        </p:txBody>
      </p:sp>
      <p:sp>
        <p:nvSpPr>
          <p:cNvPr id="26" name="Shape 27">
            <a:extLst>
              <a:ext uri="{FF2B5EF4-FFF2-40B4-BE49-F238E27FC236}">
                <a16:creationId xmlns:a16="http://schemas.microsoft.com/office/drawing/2014/main" id="{4A0CF701-B7D8-EED3-86E4-7F2888505A5F}"/>
              </a:ext>
            </a:extLst>
          </p:cNvPr>
          <p:cNvSpPr/>
          <p:nvPr/>
        </p:nvSpPr>
        <p:spPr>
          <a:xfrm>
            <a:off x="4512276" y="4492771"/>
            <a:ext cx="57607" cy="57607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EC8CD70D-0FDE-2BFC-96F8-56C7BBEA2F52}"/>
              </a:ext>
            </a:extLst>
          </p:cNvPr>
          <p:cNvSpPr txBox="1"/>
          <p:nvPr/>
        </p:nvSpPr>
        <p:spPr>
          <a:xfrm>
            <a:off x="4683269" y="4416875"/>
            <a:ext cx="31053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질문에 따라 </a:t>
            </a:r>
            <a:r>
              <a:rPr lang="en-US" sz="10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en-US" sz="10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RDB를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고르는 라우팅, 모호하면 되묻는 로직</a:t>
            </a:r>
            <a:endParaRPr lang="en-US" sz="1000" dirty="0"/>
          </a:p>
        </p:txBody>
      </p:sp>
      <p:sp>
        <p:nvSpPr>
          <p:cNvPr id="28" name="Shape 29">
            <a:extLst>
              <a:ext uri="{FF2B5EF4-FFF2-40B4-BE49-F238E27FC236}">
                <a16:creationId xmlns:a16="http://schemas.microsoft.com/office/drawing/2014/main" id="{AFCA2D34-54B5-CF74-945B-D92F517E162B}"/>
              </a:ext>
            </a:extLst>
          </p:cNvPr>
          <p:cNvSpPr/>
          <p:nvPr/>
        </p:nvSpPr>
        <p:spPr>
          <a:xfrm>
            <a:off x="4512276" y="5007578"/>
            <a:ext cx="57607" cy="57607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EF450A4B-18BD-8139-D31E-35300256CD8F}"/>
              </a:ext>
            </a:extLst>
          </p:cNvPr>
          <p:cNvSpPr txBox="1"/>
          <p:nvPr/>
        </p:nvSpPr>
        <p:spPr>
          <a:xfrm>
            <a:off x="4683269" y="4930768"/>
            <a:ext cx="31053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데모화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Streamlit으로 ‘질문→답변→근거’가 보이는 화면 구성</a:t>
            </a:r>
            <a:endParaRPr lang="en-US" sz="1000" dirty="0"/>
          </a:p>
        </p:txBody>
      </p:sp>
      <p:sp>
        <p:nvSpPr>
          <p:cNvPr id="30" name="Shape 32">
            <a:extLst>
              <a:ext uri="{FF2B5EF4-FFF2-40B4-BE49-F238E27FC236}">
                <a16:creationId xmlns:a16="http://schemas.microsoft.com/office/drawing/2014/main" id="{D4C58080-1BB4-58CD-1D7D-757941F443C9}"/>
              </a:ext>
            </a:extLst>
          </p:cNvPr>
          <p:cNvSpPr/>
          <p:nvPr/>
        </p:nvSpPr>
        <p:spPr>
          <a:xfrm>
            <a:off x="8169876" y="2092471"/>
            <a:ext cx="3657600" cy="57607"/>
          </a:xfrm>
          <a:prstGeom prst="roundRect">
            <a:avLst>
              <a:gd name="adj" fmla="val 132276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33">
            <a:extLst>
              <a:ext uri="{FF2B5EF4-FFF2-40B4-BE49-F238E27FC236}">
                <a16:creationId xmlns:a16="http://schemas.microsoft.com/office/drawing/2014/main" id="{9CDA6273-7755-1000-4395-63429A72178A}"/>
              </a:ext>
            </a:extLst>
          </p:cNvPr>
          <p:cNvSpPr/>
          <p:nvPr/>
        </p:nvSpPr>
        <p:spPr>
          <a:xfrm>
            <a:off x="8398476" y="2874283"/>
            <a:ext cx="320040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4">
            <a:extLst>
              <a:ext uri="{FF2B5EF4-FFF2-40B4-BE49-F238E27FC236}">
                <a16:creationId xmlns:a16="http://schemas.microsoft.com/office/drawing/2014/main" id="{4230EA78-0763-9C63-E869-E3B73FA620EA}"/>
              </a:ext>
            </a:extLst>
          </p:cNvPr>
          <p:cNvSpPr/>
          <p:nvPr/>
        </p:nvSpPr>
        <p:spPr>
          <a:xfrm>
            <a:off x="8398476" y="2378678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2" descr="preencoded.png">
            <a:extLst>
              <a:ext uri="{FF2B5EF4-FFF2-40B4-BE49-F238E27FC236}">
                <a16:creationId xmlns:a16="http://schemas.microsoft.com/office/drawing/2014/main" id="{5FD823A4-A941-432F-8D98-4F94BADD6E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02717" y="2482919"/>
            <a:ext cx="171907" cy="171907"/>
          </a:xfrm>
          <a:prstGeom prst="rect">
            <a:avLst/>
          </a:prstGeom>
        </p:spPr>
      </p:pic>
      <p:sp>
        <p:nvSpPr>
          <p:cNvPr id="34" name="Text 35">
            <a:extLst>
              <a:ext uri="{FF2B5EF4-FFF2-40B4-BE49-F238E27FC236}">
                <a16:creationId xmlns:a16="http://schemas.microsoft.com/office/drawing/2014/main" id="{155CBBFA-32BF-CAF8-3865-F09D8832C13E}"/>
              </a:ext>
            </a:extLst>
          </p:cNvPr>
          <p:cNvSpPr txBox="1"/>
          <p:nvPr/>
        </p:nvSpPr>
        <p:spPr>
          <a:xfrm>
            <a:off x="8893166" y="2426227"/>
            <a:ext cx="32004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indent="0">
              <a:buNone/>
              <a:defRPr sz="1500" b="1" kern="0" spc="75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r>
              <a:rPr lang="ko-KR" altLang="en-US" dirty="0"/>
              <a:t>비즈니스 관점에서 익히는 것</a:t>
            </a:r>
            <a:r>
              <a:rPr lang="en-US" altLang="ko-KR" dirty="0"/>
              <a:t>(</a:t>
            </a:r>
            <a:r>
              <a:rPr lang="en" altLang="ko-KR" dirty="0"/>
              <a:t>Business Skill)</a:t>
            </a:r>
            <a:endParaRPr lang="en-US" dirty="0"/>
          </a:p>
        </p:txBody>
      </p:sp>
      <p:sp>
        <p:nvSpPr>
          <p:cNvPr id="35" name="Shape 36">
            <a:extLst>
              <a:ext uri="{FF2B5EF4-FFF2-40B4-BE49-F238E27FC236}">
                <a16:creationId xmlns:a16="http://schemas.microsoft.com/office/drawing/2014/main" id="{7713BB0A-7B26-B74F-5E8A-E2FD68E2B193}"/>
              </a:ext>
            </a:extLst>
          </p:cNvPr>
          <p:cNvSpPr/>
          <p:nvPr/>
        </p:nvSpPr>
        <p:spPr>
          <a:xfrm>
            <a:off x="8398476" y="3149517"/>
            <a:ext cx="57607" cy="57607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7">
            <a:extLst>
              <a:ext uri="{FF2B5EF4-FFF2-40B4-BE49-F238E27FC236}">
                <a16:creationId xmlns:a16="http://schemas.microsoft.com/office/drawing/2014/main" id="{4147F26D-C571-0B68-0A18-D1883686CDCE}"/>
              </a:ext>
            </a:extLst>
          </p:cNvPr>
          <p:cNvSpPr txBox="1"/>
          <p:nvPr/>
        </p:nvSpPr>
        <p:spPr>
          <a:xfrm>
            <a:off x="8569469" y="3073622"/>
            <a:ext cx="31053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“분석”을 </a:t>
            </a:r>
            <a:r>
              <a:rPr lang="en-US" sz="10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문장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으로: 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</a:t>
            </a:r>
            <a:r>
              <a:rPr lang="en-US" sz="10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원인 → 우선순위 → 실행안</a:t>
            </a:r>
            <a:endParaRPr lang="en-US" sz="1000" dirty="0"/>
          </a:p>
        </p:txBody>
      </p:sp>
      <p:sp>
        <p:nvSpPr>
          <p:cNvPr id="37" name="Shape 38">
            <a:extLst>
              <a:ext uri="{FF2B5EF4-FFF2-40B4-BE49-F238E27FC236}">
                <a16:creationId xmlns:a16="http://schemas.microsoft.com/office/drawing/2014/main" id="{8271FBC0-A85B-625C-629B-EA6C58DA2455}"/>
              </a:ext>
            </a:extLst>
          </p:cNvPr>
          <p:cNvSpPr/>
          <p:nvPr/>
        </p:nvSpPr>
        <p:spPr>
          <a:xfrm>
            <a:off x="8398476" y="3664324"/>
            <a:ext cx="57607" cy="57607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9">
            <a:extLst>
              <a:ext uri="{FF2B5EF4-FFF2-40B4-BE49-F238E27FC236}">
                <a16:creationId xmlns:a16="http://schemas.microsoft.com/office/drawing/2014/main" id="{B072C1ED-32C7-7C92-65BC-372C371FACCF}"/>
              </a:ext>
            </a:extLst>
          </p:cNvPr>
          <p:cNvSpPr txBox="1"/>
          <p:nvPr/>
        </p:nvSpPr>
        <p:spPr>
          <a:xfrm>
            <a:off x="8572769" y="3588429"/>
            <a:ext cx="338363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해석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거래 수 vs 객단가, 세그먼트별 차이 파악 </a:t>
            </a:r>
            <a:r>
              <a:rPr lang="en-US" sz="10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구조화</a:t>
            </a:r>
            <a:endParaRPr lang="en-US" sz="1000" dirty="0"/>
          </a:p>
        </p:txBody>
      </p:sp>
      <p:sp>
        <p:nvSpPr>
          <p:cNvPr id="39" name="Shape 40">
            <a:extLst>
              <a:ext uri="{FF2B5EF4-FFF2-40B4-BE49-F238E27FC236}">
                <a16:creationId xmlns:a16="http://schemas.microsoft.com/office/drawing/2014/main" id="{FEA60882-2B02-0C48-6A47-175028B9C75A}"/>
              </a:ext>
            </a:extLst>
          </p:cNvPr>
          <p:cNvSpPr/>
          <p:nvPr/>
        </p:nvSpPr>
        <p:spPr>
          <a:xfrm>
            <a:off x="8398476" y="4178217"/>
            <a:ext cx="57607" cy="57607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41">
            <a:extLst>
              <a:ext uri="{FF2B5EF4-FFF2-40B4-BE49-F238E27FC236}">
                <a16:creationId xmlns:a16="http://schemas.microsoft.com/office/drawing/2014/main" id="{03A1BB7C-7274-83E3-AB35-34F96D7D7172}"/>
              </a:ext>
            </a:extLst>
          </p:cNvPr>
          <p:cNvSpPr txBox="1"/>
          <p:nvPr/>
        </p:nvSpPr>
        <p:spPr>
          <a:xfrm>
            <a:off x="8569469" y="4036485"/>
            <a:ext cx="32580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“좋아 보이는 결과”가 </a:t>
            </a:r>
            <a:r>
              <a:rPr lang="en-US" sz="1000" dirty="0" err="1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아니라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000" b="1" dirty="0" err="1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성과로</a:t>
            </a:r>
            <a:r>
              <a:rPr lang="en-US" sz="10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이어지는 질문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설계법</a:t>
            </a:r>
            <a:endParaRPr lang="en-US" sz="1000" dirty="0"/>
          </a:p>
        </p:txBody>
      </p:sp>
      <p:sp>
        <p:nvSpPr>
          <p:cNvPr id="41" name="Shape 42">
            <a:extLst>
              <a:ext uri="{FF2B5EF4-FFF2-40B4-BE49-F238E27FC236}">
                <a16:creationId xmlns:a16="http://schemas.microsoft.com/office/drawing/2014/main" id="{E8E89F56-5F9F-41C3-1C8A-B70AFA02EADA}"/>
              </a:ext>
            </a:extLst>
          </p:cNvPr>
          <p:cNvSpPr/>
          <p:nvPr/>
        </p:nvSpPr>
        <p:spPr>
          <a:xfrm>
            <a:off x="8398476" y="4693024"/>
            <a:ext cx="57607" cy="57607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3">
            <a:extLst>
              <a:ext uri="{FF2B5EF4-FFF2-40B4-BE49-F238E27FC236}">
                <a16:creationId xmlns:a16="http://schemas.microsoft.com/office/drawing/2014/main" id="{F4C0FC06-DB91-C19E-0CBB-81E42C01E5A7}"/>
              </a:ext>
            </a:extLst>
          </p:cNvPr>
          <p:cNvSpPr txBox="1"/>
          <p:nvPr/>
        </p:nvSpPr>
        <p:spPr>
          <a:xfrm>
            <a:off x="8569469" y="4617129"/>
            <a:ext cx="31053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프로모션/전략의 </a:t>
            </a:r>
            <a:r>
              <a:rPr lang="en-US" sz="10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ROI 관점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시나리오를 비교하고 추천하는 법</a:t>
            </a:r>
            <a:endParaRPr lang="en-US" sz="1000" dirty="0"/>
          </a:p>
        </p:txBody>
      </p:sp>
      <p:sp>
        <p:nvSpPr>
          <p:cNvPr id="43" name="Shape 44">
            <a:extLst>
              <a:ext uri="{FF2B5EF4-FFF2-40B4-BE49-F238E27FC236}">
                <a16:creationId xmlns:a16="http://schemas.microsoft.com/office/drawing/2014/main" id="{8DF8100F-B5F6-A7C4-046F-DB06AFF0B488}"/>
              </a:ext>
            </a:extLst>
          </p:cNvPr>
          <p:cNvSpPr/>
          <p:nvPr/>
        </p:nvSpPr>
        <p:spPr>
          <a:xfrm>
            <a:off x="8398476" y="5206917"/>
            <a:ext cx="57607" cy="57607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5">
            <a:extLst>
              <a:ext uri="{FF2B5EF4-FFF2-40B4-BE49-F238E27FC236}">
                <a16:creationId xmlns:a16="http://schemas.microsoft.com/office/drawing/2014/main" id="{04A80CDA-73E3-C08C-7D6B-EC0C3BB280FF}"/>
              </a:ext>
            </a:extLst>
          </p:cNvPr>
          <p:cNvSpPr txBox="1"/>
          <p:nvPr/>
        </p:nvSpPr>
        <p:spPr>
          <a:xfrm>
            <a:off x="8569469" y="5131022"/>
            <a:ext cx="31053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면접/보고용으로 </a:t>
            </a:r>
            <a:r>
              <a:rPr lang="en-US" sz="10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1페이지 요약(Executive Summary)</a:t>
            </a: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만드는 법</a:t>
            </a:r>
            <a:endParaRPr lang="en-US" sz="1000" dirty="0"/>
          </a:p>
        </p:txBody>
      </p:sp>
      <p:sp>
        <p:nvSpPr>
          <p:cNvPr id="45" name="Shape 1">
            <a:extLst>
              <a:ext uri="{FF2B5EF4-FFF2-40B4-BE49-F238E27FC236}">
                <a16:creationId xmlns:a16="http://schemas.microsoft.com/office/drawing/2014/main" id="{75B4A54B-B75A-7EAC-7D9B-D0FDAC226832}"/>
              </a:ext>
            </a:extLst>
          </p:cNvPr>
          <p:cNvSpPr/>
          <p:nvPr/>
        </p:nvSpPr>
        <p:spPr>
          <a:xfrm>
            <a:off x="457200" y="1050322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B3DF817E-0028-D67F-2AA7-A2E61126E45F}"/>
              </a:ext>
            </a:extLst>
          </p:cNvPr>
          <p:cNvSpPr txBox="1"/>
          <p:nvPr/>
        </p:nvSpPr>
        <p:spPr>
          <a:xfrm>
            <a:off x="457200" y="383724"/>
            <a:ext cx="48232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7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이 강의를 통해 얻을 수 있는 것</a:t>
            </a:r>
            <a:endParaRPr lang="en-US" sz="27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B94648C-41D9-A4D5-C8D9-05558BFFE2AF}"/>
              </a:ext>
            </a:extLst>
          </p:cNvPr>
          <p:cNvSpPr txBox="1"/>
          <p:nvPr/>
        </p:nvSpPr>
        <p:spPr>
          <a:xfrm>
            <a:off x="397476" y="1188896"/>
            <a:ext cx="11696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ko-KR" altLang="en-US" kern="0" spc="-56" dirty="0">
                <a:latin typeface="+mn-ea"/>
                <a:cs typeface="Noto Sans KR" pitchFamily="34" charset="-120"/>
              </a:rPr>
              <a:t>데이터 기반 문제 해결을 위해 </a:t>
            </a:r>
            <a:r>
              <a:rPr lang="en-US" altLang="ko-KR" kern="0" spc="-56" dirty="0">
                <a:latin typeface="+mn-ea"/>
                <a:cs typeface="Noto Sans KR" pitchFamily="34" charset="-120"/>
              </a:rPr>
              <a:t>[</a:t>
            </a:r>
            <a:r>
              <a:rPr lang="ko-KR" altLang="en-US" kern="0" spc="-56" dirty="0">
                <a:latin typeface="+mn-ea"/>
                <a:cs typeface="Noto Sans KR" pitchFamily="34" charset="-120"/>
              </a:rPr>
              <a:t>원인 분석</a:t>
            </a:r>
            <a:r>
              <a:rPr lang="en-US" altLang="ko-KR" kern="0" spc="-56" dirty="0">
                <a:latin typeface="+mn-ea"/>
                <a:cs typeface="Noto Sans KR" pitchFamily="34" charset="-120"/>
              </a:rPr>
              <a:t>/</a:t>
            </a:r>
            <a:r>
              <a:rPr lang="ko-KR" altLang="en-US" kern="0" spc="-56" dirty="0">
                <a:latin typeface="+mn-ea"/>
                <a:cs typeface="Noto Sans KR" pitchFamily="34" charset="-120"/>
              </a:rPr>
              <a:t>검증</a:t>
            </a:r>
            <a:r>
              <a:rPr lang="en-US" altLang="ko-KR" kern="0" spc="-56" dirty="0">
                <a:latin typeface="+mn-ea"/>
                <a:cs typeface="Noto Sans KR" pitchFamily="34" charset="-120"/>
              </a:rPr>
              <a:t>],</a:t>
            </a:r>
            <a:r>
              <a:rPr lang="ko-KR" altLang="en-US" kern="0" spc="-56" dirty="0">
                <a:latin typeface="+mn-ea"/>
                <a:cs typeface="Noto Sans KR" pitchFamily="34" charset="-120"/>
              </a:rPr>
              <a:t> </a:t>
            </a:r>
            <a:r>
              <a:rPr lang="en-US" altLang="ko-KR" kern="0" spc="-56" dirty="0">
                <a:latin typeface="+mn-ea"/>
                <a:cs typeface="Noto Sans KR" pitchFamily="34" charset="-120"/>
              </a:rPr>
              <a:t>[What-If], [RAG </a:t>
            </a:r>
            <a:r>
              <a:rPr lang="ko-KR" altLang="en-US" kern="0" spc="-56" dirty="0" err="1">
                <a:latin typeface="+mn-ea"/>
                <a:cs typeface="Noto Sans KR" pitchFamily="34" charset="-120"/>
              </a:rPr>
              <a:t>챗봇</a:t>
            </a:r>
            <a:r>
              <a:rPr lang="en-US" altLang="ko-KR" kern="0" spc="-56" dirty="0">
                <a:latin typeface="+mn-ea"/>
                <a:cs typeface="Noto Sans KR" pitchFamily="34" charset="-120"/>
              </a:rPr>
              <a:t>]</a:t>
            </a:r>
            <a:r>
              <a:rPr lang="ko-KR" altLang="en-US" kern="0" spc="-56" dirty="0" err="1">
                <a:latin typeface="+mn-ea"/>
                <a:cs typeface="Noto Sans KR" pitchFamily="34" charset="-120"/>
              </a:rPr>
              <a:t>으로</a:t>
            </a:r>
            <a:r>
              <a:rPr lang="en-US" altLang="ko-KR" kern="0" spc="-56" dirty="0">
                <a:latin typeface="+mn-ea"/>
                <a:cs typeface="Noto Sans KR" pitchFamily="34" charset="-120"/>
              </a:rPr>
              <a:t> </a:t>
            </a:r>
            <a:r>
              <a:rPr lang="ko-KR" altLang="en-US" kern="0" spc="-56" dirty="0">
                <a:latin typeface="+mn-ea"/>
                <a:cs typeface="Noto Sans KR" pitchFamily="34" charset="-120"/>
              </a:rPr>
              <a:t>이어지는 결과물로 만들어보는 실전 강의</a:t>
            </a:r>
            <a:endParaRPr lang="en-US" altLang="ko-KR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00277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3861F58D-F81F-CDCE-26FB-FF42758F7DA9}"/>
              </a:ext>
            </a:extLst>
          </p:cNvPr>
          <p:cNvSpPr/>
          <p:nvPr/>
        </p:nvSpPr>
        <p:spPr>
          <a:xfrm>
            <a:off x="457200" y="1050322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4A5C958A-E441-7413-8F74-BFA88FE5B7E4}"/>
              </a:ext>
            </a:extLst>
          </p:cNvPr>
          <p:cNvSpPr txBox="1"/>
          <p:nvPr/>
        </p:nvSpPr>
        <p:spPr>
          <a:xfrm>
            <a:off x="457199" y="383724"/>
            <a:ext cx="906574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indent="0">
              <a:buNone/>
              <a:defRPr sz="2700" b="1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" altLang="ko-KR" dirty="0"/>
              <a:t>AI </a:t>
            </a:r>
            <a:r>
              <a:rPr lang="ko-KR" altLang="en-US" dirty="0"/>
              <a:t>시대에도 </a:t>
            </a:r>
            <a:r>
              <a:rPr lang="en-US" altLang="ko-KR" dirty="0"/>
              <a:t>DA/DS</a:t>
            </a:r>
            <a:r>
              <a:rPr lang="ko-KR" altLang="en-US" dirty="0"/>
              <a:t>가 필요한 이유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936E8E-78F1-315E-47C1-7F4B329B23C3}"/>
              </a:ext>
            </a:extLst>
          </p:cNvPr>
          <p:cNvSpPr txBox="1"/>
          <p:nvPr/>
        </p:nvSpPr>
        <p:spPr>
          <a:xfrm>
            <a:off x="397476" y="1188896"/>
            <a:ext cx="11108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altLang="ko-KR" kern="0" spc="-56" dirty="0">
                <a:latin typeface="+mn-ea"/>
                <a:cs typeface="Noto Sans KR" pitchFamily="34" charset="-120"/>
              </a:rPr>
              <a:t>AI</a:t>
            </a:r>
            <a:r>
              <a:rPr lang="ko-KR" altLang="en-US" kern="0" spc="-56" dirty="0">
                <a:latin typeface="+mn-ea"/>
                <a:cs typeface="Noto Sans KR" pitchFamily="34" charset="-120"/>
              </a:rPr>
              <a:t>는 답변은 잘하지만</a:t>
            </a:r>
            <a:r>
              <a:rPr lang="en-US" altLang="ko-KR" kern="0" spc="-56" dirty="0">
                <a:latin typeface="+mn-ea"/>
                <a:cs typeface="Noto Sans KR" pitchFamily="34" charset="-120"/>
              </a:rPr>
              <a:t>,</a:t>
            </a:r>
            <a:r>
              <a:rPr lang="ko-KR" altLang="en-US" kern="0" spc="-56" dirty="0">
                <a:latin typeface="+mn-ea"/>
                <a:cs typeface="Noto Sans KR" pitchFamily="34" charset="-120"/>
              </a:rPr>
              <a:t> 정답을 보장하지는 </a:t>
            </a:r>
            <a:r>
              <a:rPr lang="ko-KR" altLang="en-US" sz="1800" kern="0" spc="-56" dirty="0">
                <a:latin typeface="+mn-ea"/>
                <a:cs typeface="Noto Sans KR" pitchFamily="34" charset="-120"/>
              </a:rPr>
              <a:t>못합니다</a:t>
            </a:r>
            <a:r>
              <a:rPr lang="en-US" altLang="ko-KR" sz="1800" kern="0" spc="-56" dirty="0">
                <a:latin typeface="+mn-ea"/>
                <a:cs typeface="Noto Sans KR" pitchFamily="34" charset="-120"/>
              </a:rPr>
              <a:t>. </a:t>
            </a:r>
            <a:r>
              <a:rPr lang="ko-KR" altLang="en-US" sz="1800" kern="0" spc="-56" dirty="0">
                <a:latin typeface="+mn-ea"/>
                <a:cs typeface="Noto Sans KR" pitchFamily="34" charset="-120"/>
              </a:rPr>
              <a:t>정답을 만들고 검증하는 역할이 바로 </a:t>
            </a:r>
            <a:r>
              <a:rPr lang="en-US" altLang="ko-KR" sz="1800" kern="0" spc="-56" dirty="0">
                <a:latin typeface="+mn-ea"/>
                <a:cs typeface="Noto Sans KR" pitchFamily="34" charset="-120"/>
              </a:rPr>
              <a:t>DA/DS</a:t>
            </a:r>
            <a:r>
              <a:rPr lang="ko-KR" altLang="en-US" sz="1800" kern="0" spc="-56" dirty="0">
                <a:latin typeface="+mn-ea"/>
                <a:cs typeface="Noto Sans KR" pitchFamily="34" charset="-120"/>
              </a:rPr>
              <a:t>입니다</a:t>
            </a:r>
            <a:endParaRPr lang="en-US" altLang="ko-KR" sz="1800" dirty="0">
              <a:latin typeface="+mn-ea"/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9A0A2CA2-F54A-E4D6-FC7B-80B3ACBAD745}"/>
              </a:ext>
            </a:extLst>
          </p:cNvPr>
          <p:cNvSpPr/>
          <p:nvPr/>
        </p:nvSpPr>
        <p:spPr>
          <a:xfrm>
            <a:off x="397476" y="1687658"/>
            <a:ext cx="5600700" cy="1649903"/>
          </a:xfrm>
          <a:prstGeom prst="roundRect">
            <a:avLst>
              <a:gd name="adj" fmla="val 3413"/>
            </a:avLst>
          </a:prstGeom>
          <a:solidFill>
            <a:schemeClr val="bg1">
              <a:lumMod val="85000"/>
            </a:schemeClr>
          </a:solidFill>
          <a:ln w="254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5FB59D54-F09A-49E8-CAA6-F26138761C69}"/>
              </a:ext>
            </a:extLst>
          </p:cNvPr>
          <p:cNvSpPr/>
          <p:nvPr/>
        </p:nvSpPr>
        <p:spPr>
          <a:xfrm>
            <a:off x="663566" y="2193054"/>
            <a:ext cx="5105095" cy="9144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A5A3953-305D-364A-A8E5-47038CD2B91E}"/>
              </a:ext>
            </a:extLst>
          </p:cNvPr>
          <p:cNvSpPr txBox="1"/>
          <p:nvPr/>
        </p:nvSpPr>
        <p:spPr>
          <a:xfrm>
            <a:off x="677657" y="1829243"/>
            <a:ext cx="151150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잘하는 것</a:t>
            </a:r>
            <a:endParaRPr lang="en-US" sz="15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D2DF0B4-480E-4BDD-AF5D-4C550777472E}"/>
              </a:ext>
            </a:extLst>
          </p:cNvPr>
          <p:cNvSpPr txBox="1"/>
          <p:nvPr/>
        </p:nvSpPr>
        <p:spPr>
          <a:xfrm>
            <a:off x="1006466" y="2353988"/>
            <a:ext cx="324154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Wingdings" pitchFamily="2" charset="2"/>
              <a:buChar char="ü"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 및 요약</a:t>
            </a: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문서 요약, 글쓰기, 아이디어 확장</a:t>
            </a:r>
            <a:endParaRPr lang="en-US" sz="10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1B0F3D90-FF37-B174-B98D-0B513A56856B}"/>
              </a:ext>
            </a:extLst>
          </p:cNvPr>
          <p:cNvSpPr txBox="1"/>
          <p:nvPr/>
        </p:nvSpPr>
        <p:spPr>
          <a:xfrm>
            <a:off x="1006466" y="2630137"/>
            <a:ext cx="31619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Wingdings" pitchFamily="2" charset="2"/>
              <a:buChar char="ü"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초안</a:t>
            </a: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코드 초안 작성, 자동화 흐름 설계</a:t>
            </a:r>
            <a:endParaRPr lang="en-US" sz="10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3985C3AA-74F4-BC21-09B6-52463EBD2782}"/>
              </a:ext>
            </a:extLst>
          </p:cNvPr>
          <p:cNvSpPr txBox="1"/>
          <p:nvPr/>
        </p:nvSpPr>
        <p:spPr>
          <a:xfrm>
            <a:off x="1006466" y="2906286"/>
            <a:ext cx="33375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Wingdings" pitchFamily="2" charset="2"/>
              <a:buChar char="ü"/>
            </a:pPr>
            <a:r>
              <a:rPr lang="en-US" sz="10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응답</a:t>
            </a:r>
            <a:r>
              <a:rPr lang="en-US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질문에 대해 그럴듯한 답변을 즉시 제공</a:t>
            </a:r>
            <a:endParaRPr lang="en-US" sz="100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34C916FF-0535-CDD2-6A45-6DBC67DD00A0}"/>
              </a:ext>
            </a:extLst>
          </p:cNvPr>
          <p:cNvSpPr/>
          <p:nvPr/>
        </p:nvSpPr>
        <p:spPr>
          <a:xfrm>
            <a:off x="6226776" y="1687658"/>
            <a:ext cx="5600700" cy="1649903"/>
          </a:xfrm>
          <a:prstGeom prst="roundRect">
            <a:avLst>
              <a:gd name="adj" fmla="val 3413"/>
            </a:avLst>
          </a:prstGeom>
          <a:solidFill>
            <a:schemeClr val="tx2">
              <a:lumMod val="75000"/>
              <a:lumOff val="25000"/>
            </a:schemeClr>
          </a:solidFill>
          <a:ln w="254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8E91BC44-1F97-8F83-83D6-CF0E441F057F}"/>
              </a:ext>
            </a:extLst>
          </p:cNvPr>
          <p:cNvSpPr/>
          <p:nvPr/>
        </p:nvSpPr>
        <p:spPr>
          <a:xfrm>
            <a:off x="6492866" y="2193054"/>
            <a:ext cx="5105095" cy="9144"/>
          </a:xfrm>
          <a:prstGeom prst="rect">
            <a:avLst/>
          </a:prstGeom>
          <a:solidFill>
            <a:srgbClr val="000000">
              <a:alpha val="1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3EEC6A59-5FB8-BDBA-CC73-8896AECA8F38}"/>
              </a:ext>
            </a:extLst>
          </p:cNvPr>
          <p:cNvSpPr txBox="1"/>
          <p:nvPr/>
        </p:nvSpPr>
        <p:spPr>
          <a:xfrm>
            <a:off x="6492866" y="1837352"/>
            <a:ext cx="262981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AI의 약점 → DA/DS가 필요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04985703-5968-3323-43C4-D8019490A653}"/>
              </a:ext>
            </a:extLst>
          </p:cNvPr>
          <p:cNvSpPr txBox="1"/>
          <p:nvPr/>
        </p:nvSpPr>
        <p:spPr>
          <a:xfrm>
            <a:off x="6854969" y="2353988"/>
            <a:ext cx="287395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Wingdings" pitchFamily="2" charset="2"/>
              <a:buChar char="ü"/>
            </a:pPr>
            <a:r>
              <a:rPr lang="en-US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정합성</a:t>
            </a:r>
            <a:r>
              <a:rPr lang="en-US" sz="10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데이터 누락/중복/오류 검증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C24F562C-297B-BC84-FE03-8BC0A45F03FB}"/>
              </a:ext>
            </a:extLst>
          </p:cNvPr>
          <p:cNvSpPr txBox="1"/>
          <p:nvPr/>
        </p:nvSpPr>
        <p:spPr>
          <a:xfrm>
            <a:off x="6854969" y="2630137"/>
            <a:ext cx="42976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Wingdings" pitchFamily="2" charset="2"/>
              <a:buChar char="ü"/>
            </a:pPr>
            <a:r>
              <a:rPr lang="en-US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 정의 &amp; 인과성</a:t>
            </a:r>
            <a:r>
              <a:rPr lang="en-US" sz="10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매출의 의미 정의, 상관관계와 인과관계 구분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7188AC1F-E4C8-FD39-20A2-747E8FDA8986}"/>
              </a:ext>
            </a:extLst>
          </p:cNvPr>
          <p:cNvSpPr txBox="1"/>
          <p:nvPr/>
        </p:nvSpPr>
        <p:spPr>
          <a:xfrm>
            <a:off x="6854969" y="2906286"/>
            <a:ext cx="368960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buFont typeface="Wingdings" pitchFamily="2" charset="2"/>
              <a:buChar char="ü"/>
            </a:pPr>
            <a:r>
              <a:rPr lang="en-US" sz="10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있는 검증</a:t>
            </a:r>
            <a:r>
              <a:rPr lang="en-US" sz="1000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누수 없는 평가, 비용·리스크·ROI 고려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06AE2311-6C5B-146B-8BD6-7A87AED80A33}"/>
              </a:ext>
            </a:extLst>
          </p:cNvPr>
          <p:cNvSpPr/>
          <p:nvPr/>
        </p:nvSpPr>
        <p:spPr>
          <a:xfrm>
            <a:off x="397476" y="3765500"/>
            <a:ext cx="7467905" cy="2476195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9" descr="preencoded.png">
            <a:extLst>
              <a:ext uri="{FF2B5EF4-FFF2-40B4-BE49-F238E27FC236}">
                <a16:creationId xmlns:a16="http://schemas.microsoft.com/office/drawing/2014/main" id="{01F4CBED-015C-BE48-5CA2-9382B7D510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3" r="-33"/>
          <a:stretch/>
        </p:blipFill>
        <p:spPr>
          <a:xfrm>
            <a:off x="596815" y="4355288"/>
            <a:ext cx="171907" cy="152705"/>
          </a:xfrm>
          <a:prstGeom prst="rect">
            <a:avLst/>
          </a:prstGeom>
        </p:spPr>
      </p:pic>
      <p:sp>
        <p:nvSpPr>
          <p:cNvPr id="32" name="Text 22">
            <a:extLst>
              <a:ext uri="{FF2B5EF4-FFF2-40B4-BE49-F238E27FC236}">
                <a16:creationId xmlns:a16="http://schemas.microsoft.com/office/drawing/2014/main" id="{404D3563-F388-8A32-8A43-7F9C6C8EA353}"/>
              </a:ext>
            </a:extLst>
          </p:cNvPr>
          <p:cNvSpPr txBox="1"/>
          <p:nvPr/>
        </p:nvSpPr>
        <p:spPr>
          <a:xfrm>
            <a:off x="844617" y="4317798"/>
            <a:ext cx="27386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DA/DS가 하는 “정답 만들기” 5단계</a:t>
            </a:r>
            <a:endParaRPr lang="en-US" sz="1200" dirty="0"/>
          </a:p>
        </p:txBody>
      </p:sp>
      <p:sp>
        <p:nvSpPr>
          <p:cNvPr id="33" name="Shape 23">
            <a:extLst>
              <a:ext uri="{FF2B5EF4-FFF2-40B4-BE49-F238E27FC236}">
                <a16:creationId xmlns:a16="http://schemas.microsoft.com/office/drawing/2014/main" id="{087C920A-B5AD-FCD7-DAEF-E43DB1D4A33F}"/>
              </a:ext>
            </a:extLst>
          </p:cNvPr>
          <p:cNvSpPr/>
          <p:nvPr/>
        </p:nvSpPr>
        <p:spPr>
          <a:xfrm>
            <a:off x="596815" y="4736593"/>
            <a:ext cx="1352398" cy="961949"/>
          </a:xfrm>
          <a:prstGeom prst="roundRect">
            <a:avLst>
              <a:gd name="adj" fmla="val 150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460B43F3-0B3F-2DEA-DA59-C9C2697E3454}"/>
              </a:ext>
            </a:extLst>
          </p:cNvPr>
          <p:cNvSpPr/>
          <p:nvPr/>
        </p:nvSpPr>
        <p:spPr>
          <a:xfrm>
            <a:off x="1178373" y="4841749"/>
            <a:ext cx="190195" cy="1901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C4367FA9-70CB-110D-DEFB-70A2ED108756}"/>
              </a:ext>
            </a:extLst>
          </p:cNvPr>
          <p:cNvSpPr/>
          <p:nvPr/>
        </p:nvSpPr>
        <p:spPr>
          <a:xfrm>
            <a:off x="1139969" y="4841749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CF7D2A04-69FB-B896-48FC-44AFD3899198}"/>
              </a:ext>
            </a:extLst>
          </p:cNvPr>
          <p:cNvSpPr txBox="1"/>
          <p:nvPr/>
        </p:nvSpPr>
        <p:spPr>
          <a:xfrm>
            <a:off x="971719" y="5088637"/>
            <a:ext cx="60807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</a:t>
            </a:r>
            <a:endParaRPr lang="en-US" sz="900" dirty="0"/>
          </a:p>
        </p:txBody>
      </p:sp>
      <p:sp>
        <p:nvSpPr>
          <p:cNvPr id="37" name="Text 27">
            <a:extLst>
              <a:ext uri="{FF2B5EF4-FFF2-40B4-BE49-F238E27FC236}">
                <a16:creationId xmlns:a16="http://schemas.microsoft.com/office/drawing/2014/main" id="{731AAADA-6C4B-F32A-4662-81C9320F09BC}"/>
              </a:ext>
            </a:extLst>
          </p:cNvPr>
          <p:cNvSpPr txBox="1"/>
          <p:nvPr/>
        </p:nvSpPr>
        <p:spPr>
          <a:xfrm>
            <a:off x="1037556" y="5312665"/>
            <a:ext cx="4764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목표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 기준</a:t>
            </a:r>
            <a:endParaRPr lang="en-US" sz="800" dirty="0"/>
          </a:p>
        </p:txBody>
      </p:sp>
      <p:sp>
        <p:nvSpPr>
          <p:cNvPr id="38" name="Shape 28">
            <a:extLst>
              <a:ext uri="{FF2B5EF4-FFF2-40B4-BE49-F238E27FC236}">
                <a16:creationId xmlns:a16="http://schemas.microsoft.com/office/drawing/2014/main" id="{7D0CAD35-C61F-6F7A-A2C1-07EB84D176F4}"/>
              </a:ext>
            </a:extLst>
          </p:cNvPr>
          <p:cNvSpPr/>
          <p:nvPr/>
        </p:nvSpPr>
        <p:spPr>
          <a:xfrm>
            <a:off x="2026022" y="4736593"/>
            <a:ext cx="1352398" cy="961949"/>
          </a:xfrm>
          <a:prstGeom prst="roundRect">
            <a:avLst>
              <a:gd name="adj" fmla="val 150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29">
            <a:extLst>
              <a:ext uri="{FF2B5EF4-FFF2-40B4-BE49-F238E27FC236}">
                <a16:creationId xmlns:a16="http://schemas.microsoft.com/office/drawing/2014/main" id="{E1A50D4A-85CE-37F1-0810-CD2730C7AF5B}"/>
              </a:ext>
            </a:extLst>
          </p:cNvPr>
          <p:cNvSpPr/>
          <p:nvPr/>
        </p:nvSpPr>
        <p:spPr>
          <a:xfrm>
            <a:off x="2606666" y="4841749"/>
            <a:ext cx="190195" cy="1901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0">
            <a:extLst>
              <a:ext uri="{FF2B5EF4-FFF2-40B4-BE49-F238E27FC236}">
                <a16:creationId xmlns:a16="http://schemas.microsoft.com/office/drawing/2014/main" id="{44EDC3FA-3262-2571-AD71-2AF8CF822080}"/>
              </a:ext>
            </a:extLst>
          </p:cNvPr>
          <p:cNvSpPr/>
          <p:nvPr/>
        </p:nvSpPr>
        <p:spPr>
          <a:xfrm>
            <a:off x="2569176" y="4841749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41" name="Text 31">
            <a:extLst>
              <a:ext uri="{FF2B5EF4-FFF2-40B4-BE49-F238E27FC236}">
                <a16:creationId xmlns:a16="http://schemas.microsoft.com/office/drawing/2014/main" id="{94FDFA7A-BB36-685C-D558-A39D661CAFBE}"/>
              </a:ext>
            </a:extLst>
          </p:cNvPr>
          <p:cNvSpPr txBox="1"/>
          <p:nvPr/>
        </p:nvSpPr>
        <p:spPr>
          <a:xfrm>
            <a:off x="2335089" y="5088637"/>
            <a:ext cx="7397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점검</a:t>
            </a:r>
            <a:endParaRPr lang="en-US" sz="900" dirty="0"/>
          </a:p>
        </p:txBody>
      </p:sp>
      <p:sp>
        <p:nvSpPr>
          <p:cNvPr id="42" name="Text 32">
            <a:extLst>
              <a:ext uri="{FF2B5EF4-FFF2-40B4-BE49-F238E27FC236}">
                <a16:creationId xmlns:a16="http://schemas.microsoft.com/office/drawing/2014/main" id="{0999BE51-543E-CD0E-DF88-7F47E7A4AA1C}"/>
              </a:ext>
            </a:extLst>
          </p:cNvPr>
          <p:cNvSpPr txBox="1"/>
          <p:nvPr/>
        </p:nvSpPr>
        <p:spPr>
          <a:xfrm>
            <a:off x="2418300" y="5312665"/>
            <a:ext cx="571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신뢰성 확인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정제</a:t>
            </a:r>
            <a:endParaRPr lang="en-US" sz="800" dirty="0"/>
          </a:p>
        </p:txBody>
      </p:sp>
      <p:sp>
        <p:nvSpPr>
          <p:cNvPr id="43" name="Shape 33">
            <a:extLst>
              <a:ext uri="{FF2B5EF4-FFF2-40B4-BE49-F238E27FC236}">
                <a16:creationId xmlns:a16="http://schemas.microsoft.com/office/drawing/2014/main" id="{B3CFF447-8DB4-AB15-15BA-DF866A5A7478}"/>
              </a:ext>
            </a:extLst>
          </p:cNvPr>
          <p:cNvSpPr/>
          <p:nvPr/>
        </p:nvSpPr>
        <p:spPr>
          <a:xfrm>
            <a:off x="3454315" y="4736593"/>
            <a:ext cx="1352398" cy="961949"/>
          </a:xfrm>
          <a:prstGeom prst="roundRect">
            <a:avLst>
              <a:gd name="adj" fmla="val 150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4">
            <a:extLst>
              <a:ext uri="{FF2B5EF4-FFF2-40B4-BE49-F238E27FC236}">
                <a16:creationId xmlns:a16="http://schemas.microsoft.com/office/drawing/2014/main" id="{6DAEB117-AB02-724E-B695-C23E3B20F5E3}"/>
              </a:ext>
            </a:extLst>
          </p:cNvPr>
          <p:cNvSpPr/>
          <p:nvPr/>
        </p:nvSpPr>
        <p:spPr>
          <a:xfrm>
            <a:off x="4035873" y="4841749"/>
            <a:ext cx="190195" cy="1901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5">
            <a:extLst>
              <a:ext uri="{FF2B5EF4-FFF2-40B4-BE49-F238E27FC236}">
                <a16:creationId xmlns:a16="http://schemas.microsoft.com/office/drawing/2014/main" id="{A08068BF-AE6D-332A-C6AF-447DF0F26E39}"/>
              </a:ext>
            </a:extLst>
          </p:cNvPr>
          <p:cNvSpPr/>
          <p:nvPr/>
        </p:nvSpPr>
        <p:spPr>
          <a:xfrm>
            <a:off x="3997469" y="4841749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36">
            <a:extLst>
              <a:ext uri="{FF2B5EF4-FFF2-40B4-BE49-F238E27FC236}">
                <a16:creationId xmlns:a16="http://schemas.microsoft.com/office/drawing/2014/main" id="{458E4CD6-35FA-0BA4-BEBB-60C920D37BA5}"/>
              </a:ext>
            </a:extLst>
          </p:cNvPr>
          <p:cNvSpPr txBox="1"/>
          <p:nvPr/>
        </p:nvSpPr>
        <p:spPr>
          <a:xfrm>
            <a:off x="3761553" y="5088637"/>
            <a:ext cx="7406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분석/모델링</a:t>
            </a:r>
            <a:endParaRPr lang="en-US" sz="900" dirty="0"/>
          </a:p>
        </p:txBody>
      </p:sp>
      <p:sp>
        <p:nvSpPr>
          <p:cNvPr id="47" name="Text 37">
            <a:extLst>
              <a:ext uri="{FF2B5EF4-FFF2-40B4-BE49-F238E27FC236}">
                <a16:creationId xmlns:a16="http://schemas.microsoft.com/office/drawing/2014/main" id="{5547B8BA-19D2-54D2-9C5D-67CB1E3BCAE9}"/>
              </a:ext>
            </a:extLst>
          </p:cNvPr>
          <p:cNvSpPr txBox="1"/>
          <p:nvPr/>
        </p:nvSpPr>
        <p:spPr>
          <a:xfrm>
            <a:off x="3895056" y="5312665"/>
            <a:ext cx="4764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 규명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패턴 예측</a:t>
            </a:r>
            <a:endParaRPr lang="en-US" sz="800" dirty="0"/>
          </a:p>
        </p:txBody>
      </p:sp>
      <p:sp>
        <p:nvSpPr>
          <p:cNvPr id="48" name="Shape 38">
            <a:extLst>
              <a:ext uri="{FF2B5EF4-FFF2-40B4-BE49-F238E27FC236}">
                <a16:creationId xmlns:a16="http://schemas.microsoft.com/office/drawing/2014/main" id="{F86E222C-6048-2958-2FCE-11E59AC4FDD9}"/>
              </a:ext>
            </a:extLst>
          </p:cNvPr>
          <p:cNvSpPr/>
          <p:nvPr/>
        </p:nvSpPr>
        <p:spPr>
          <a:xfrm>
            <a:off x="4883522" y="4736593"/>
            <a:ext cx="1352398" cy="961949"/>
          </a:xfrm>
          <a:prstGeom prst="roundRect">
            <a:avLst>
              <a:gd name="adj" fmla="val 150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39">
            <a:extLst>
              <a:ext uri="{FF2B5EF4-FFF2-40B4-BE49-F238E27FC236}">
                <a16:creationId xmlns:a16="http://schemas.microsoft.com/office/drawing/2014/main" id="{01BF8F1A-1CDC-2943-1A50-B4352EED008F}"/>
              </a:ext>
            </a:extLst>
          </p:cNvPr>
          <p:cNvSpPr/>
          <p:nvPr/>
        </p:nvSpPr>
        <p:spPr>
          <a:xfrm>
            <a:off x="5464166" y="4841749"/>
            <a:ext cx="190195" cy="1901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0">
            <a:extLst>
              <a:ext uri="{FF2B5EF4-FFF2-40B4-BE49-F238E27FC236}">
                <a16:creationId xmlns:a16="http://schemas.microsoft.com/office/drawing/2014/main" id="{2DAE1B94-E74E-1A56-F9B7-3438F9A5AD00}"/>
              </a:ext>
            </a:extLst>
          </p:cNvPr>
          <p:cNvSpPr/>
          <p:nvPr/>
        </p:nvSpPr>
        <p:spPr>
          <a:xfrm>
            <a:off x="5426676" y="4841749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8137CC80-A65F-7E5D-444C-793DD9CDE395}"/>
              </a:ext>
            </a:extLst>
          </p:cNvPr>
          <p:cNvSpPr txBox="1"/>
          <p:nvPr/>
        </p:nvSpPr>
        <p:spPr>
          <a:xfrm>
            <a:off x="5407473" y="5088637"/>
            <a:ext cx="305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</a:t>
            </a:r>
            <a:endParaRPr lang="en-US" sz="900" dirty="0"/>
          </a:p>
        </p:txBody>
      </p:sp>
      <p:sp>
        <p:nvSpPr>
          <p:cNvPr id="52" name="Text 42">
            <a:extLst>
              <a:ext uri="{FF2B5EF4-FFF2-40B4-BE49-F238E27FC236}">
                <a16:creationId xmlns:a16="http://schemas.microsoft.com/office/drawing/2014/main" id="{38927EF8-05AC-C6B2-AADF-246E0E9CDD38}"/>
              </a:ext>
            </a:extLst>
          </p:cNvPr>
          <p:cNvSpPr txBox="1"/>
          <p:nvPr/>
        </p:nvSpPr>
        <p:spPr>
          <a:xfrm>
            <a:off x="5317862" y="5312665"/>
            <a:ext cx="4864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성능/근거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재현성</a:t>
            </a:r>
            <a:endParaRPr lang="en-US" sz="800" dirty="0"/>
          </a:p>
        </p:txBody>
      </p:sp>
      <p:sp>
        <p:nvSpPr>
          <p:cNvPr id="53" name="Shape 43">
            <a:extLst>
              <a:ext uri="{FF2B5EF4-FFF2-40B4-BE49-F238E27FC236}">
                <a16:creationId xmlns:a16="http://schemas.microsoft.com/office/drawing/2014/main" id="{9BFCE1E8-6C69-DF42-0B0C-5FFA74AF97B2}"/>
              </a:ext>
            </a:extLst>
          </p:cNvPr>
          <p:cNvSpPr/>
          <p:nvPr/>
        </p:nvSpPr>
        <p:spPr>
          <a:xfrm>
            <a:off x="6311815" y="4736593"/>
            <a:ext cx="1352398" cy="961949"/>
          </a:xfrm>
          <a:prstGeom prst="roundRect">
            <a:avLst>
              <a:gd name="adj" fmla="val 1505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4">
            <a:extLst>
              <a:ext uri="{FF2B5EF4-FFF2-40B4-BE49-F238E27FC236}">
                <a16:creationId xmlns:a16="http://schemas.microsoft.com/office/drawing/2014/main" id="{64289F6E-66C2-3831-6D83-0B44F802F4FA}"/>
              </a:ext>
            </a:extLst>
          </p:cNvPr>
          <p:cNvSpPr/>
          <p:nvPr/>
        </p:nvSpPr>
        <p:spPr>
          <a:xfrm>
            <a:off x="6893373" y="4841749"/>
            <a:ext cx="190195" cy="1901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5">
            <a:extLst>
              <a:ext uri="{FF2B5EF4-FFF2-40B4-BE49-F238E27FC236}">
                <a16:creationId xmlns:a16="http://schemas.microsoft.com/office/drawing/2014/main" id="{946B73FC-6357-01F1-E032-B1C948078308}"/>
              </a:ext>
            </a:extLst>
          </p:cNvPr>
          <p:cNvSpPr/>
          <p:nvPr/>
        </p:nvSpPr>
        <p:spPr>
          <a:xfrm>
            <a:off x="6854969" y="4841749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900" dirty="0"/>
          </a:p>
        </p:txBody>
      </p:sp>
      <p:sp>
        <p:nvSpPr>
          <p:cNvPr id="56" name="Text 46">
            <a:extLst>
              <a:ext uri="{FF2B5EF4-FFF2-40B4-BE49-F238E27FC236}">
                <a16:creationId xmlns:a16="http://schemas.microsoft.com/office/drawing/2014/main" id="{966E4B24-E5DC-6FD4-4AE7-7A36C3804472}"/>
              </a:ext>
            </a:extLst>
          </p:cNvPr>
          <p:cNvSpPr txBox="1"/>
          <p:nvPr/>
        </p:nvSpPr>
        <p:spPr>
          <a:xfrm>
            <a:off x="6779073" y="5088637"/>
            <a:ext cx="4197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실행안</a:t>
            </a:r>
            <a:endParaRPr lang="en-US" sz="900" dirty="0"/>
          </a:p>
        </p:txBody>
      </p:sp>
      <p:sp>
        <p:nvSpPr>
          <p:cNvPr id="57" name="Text 47">
            <a:extLst>
              <a:ext uri="{FF2B5EF4-FFF2-40B4-BE49-F238E27FC236}">
                <a16:creationId xmlns:a16="http://schemas.microsoft.com/office/drawing/2014/main" id="{317FFE8E-D840-D804-6803-85BC4005CBA6}"/>
              </a:ext>
            </a:extLst>
          </p:cNvPr>
          <p:cNvSpPr txBox="1"/>
          <p:nvPr/>
        </p:nvSpPr>
        <p:spPr>
          <a:xfrm>
            <a:off x="6752556" y="5312665"/>
            <a:ext cx="4764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우선순위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측정</a:t>
            </a:r>
            <a:endParaRPr lang="en-US" sz="800" dirty="0"/>
          </a:p>
        </p:txBody>
      </p:sp>
      <p:sp>
        <p:nvSpPr>
          <p:cNvPr id="58" name="Shape 48">
            <a:extLst>
              <a:ext uri="{FF2B5EF4-FFF2-40B4-BE49-F238E27FC236}">
                <a16:creationId xmlns:a16="http://schemas.microsoft.com/office/drawing/2014/main" id="{639A0D1F-FF13-4882-2D9C-F879BB2916D3}"/>
              </a:ext>
            </a:extLst>
          </p:cNvPr>
          <p:cNvSpPr/>
          <p:nvPr/>
        </p:nvSpPr>
        <p:spPr>
          <a:xfrm>
            <a:off x="8093066" y="3765500"/>
            <a:ext cx="3733495" cy="2476195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49">
            <a:extLst>
              <a:ext uri="{FF2B5EF4-FFF2-40B4-BE49-F238E27FC236}">
                <a16:creationId xmlns:a16="http://schemas.microsoft.com/office/drawing/2014/main" id="{9A191905-EEF2-C3A8-F07A-8E4CFEB36B17}"/>
              </a:ext>
            </a:extLst>
          </p:cNvPr>
          <p:cNvSpPr/>
          <p:nvPr/>
        </p:nvSpPr>
        <p:spPr>
          <a:xfrm>
            <a:off x="8284176" y="4261105"/>
            <a:ext cx="33531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0">
            <a:extLst>
              <a:ext uri="{FF2B5EF4-FFF2-40B4-BE49-F238E27FC236}">
                <a16:creationId xmlns:a16="http://schemas.microsoft.com/office/drawing/2014/main" id="{9740050E-3470-7048-B3C4-C0AD17404A27}"/>
              </a:ext>
            </a:extLst>
          </p:cNvPr>
          <p:cNvSpPr txBox="1"/>
          <p:nvPr/>
        </p:nvSpPr>
        <p:spPr>
          <a:xfrm>
            <a:off x="8284176" y="3955695"/>
            <a:ext cx="3429000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핵심 포인트</a:t>
            </a:r>
            <a:endParaRPr lang="en-US" sz="1200" dirty="0"/>
          </a:p>
        </p:txBody>
      </p:sp>
      <p:sp>
        <p:nvSpPr>
          <p:cNvPr id="61" name="Shape 51">
            <a:extLst>
              <a:ext uri="{FF2B5EF4-FFF2-40B4-BE49-F238E27FC236}">
                <a16:creationId xmlns:a16="http://schemas.microsoft.com/office/drawing/2014/main" id="{5122F54E-70AB-3D37-8AAB-792A6390246B}"/>
              </a:ext>
            </a:extLst>
          </p:cNvPr>
          <p:cNvSpPr/>
          <p:nvPr/>
        </p:nvSpPr>
        <p:spPr>
          <a:xfrm>
            <a:off x="8284176" y="4384549"/>
            <a:ext cx="3353105" cy="352044"/>
          </a:xfrm>
          <a:prstGeom prst="roundRect">
            <a:avLst>
              <a:gd name="adj" fmla="val 1123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2" name="Image 10" descr="preencoded.png">
            <a:extLst>
              <a:ext uri="{FF2B5EF4-FFF2-40B4-BE49-F238E27FC236}">
                <a16:creationId xmlns:a16="http://schemas.microsoft.com/office/drawing/2014/main" id="{58AAB2D3-451F-DB50-D5B0-BDECB5989D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837" r="-837"/>
          <a:stretch/>
        </p:blipFill>
        <p:spPr>
          <a:xfrm>
            <a:off x="8398476" y="4496106"/>
            <a:ext cx="152705" cy="133502"/>
          </a:xfrm>
          <a:prstGeom prst="rect">
            <a:avLst/>
          </a:prstGeom>
        </p:spPr>
      </p:pic>
      <p:sp>
        <p:nvSpPr>
          <p:cNvPr id="63" name="Text 52">
            <a:extLst>
              <a:ext uri="{FF2B5EF4-FFF2-40B4-BE49-F238E27FC236}">
                <a16:creationId xmlns:a16="http://schemas.microsoft.com/office/drawing/2014/main" id="{8A056997-7536-FC0F-7A19-87EB942F5445}"/>
              </a:ext>
            </a:extLst>
          </p:cNvPr>
          <p:cNvSpPr txBox="1"/>
          <p:nvPr/>
        </p:nvSpPr>
        <p:spPr>
          <a:xfrm>
            <a:off x="8683769" y="4460444"/>
            <a:ext cx="18461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현재와 원인 설명</a:t>
            </a:r>
            <a:endParaRPr lang="en-US" sz="1000" dirty="0"/>
          </a:p>
        </p:txBody>
      </p:sp>
      <p:sp>
        <p:nvSpPr>
          <p:cNvPr id="64" name="Shape 53">
            <a:extLst>
              <a:ext uri="{FF2B5EF4-FFF2-40B4-BE49-F238E27FC236}">
                <a16:creationId xmlns:a16="http://schemas.microsoft.com/office/drawing/2014/main" id="{8D58E774-9822-A4B4-F2A0-BAE29F22F993}"/>
              </a:ext>
            </a:extLst>
          </p:cNvPr>
          <p:cNvSpPr/>
          <p:nvPr/>
        </p:nvSpPr>
        <p:spPr>
          <a:xfrm>
            <a:off x="8284176" y="4832605"/>
            <a:ext cx="3353105" cy="352044"/>
          </a:xfrm>
          <a:prstGeom prst="roundRect">
            <a:avLst>
              <a:gd name="adj" fmla="val 1123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5" name="Image 11" descr="preencoded.png">
            <a:extLst>
              <a:ext uri="{FF2B5EF4-FFF2-40B4-BE49-F238E27FC236}">
                <a16:creationId xmlns:a16="http://schemas.microsoft.com/office/drawing/2014/main" id="{23F99158-7E1F-C358-BB6B-4D26C3C221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07620" y="4944162"/>
            <a:ext cx="133502" cy="133502"/>
          </a:xfrm>
          <a:prstGeom prst="rect">
            <a:avLst/>
          </a:prstGeom>
        </p:spPr>
      </p:pic>
      <p:sp>
        <p:nvSpPr>
          <p:cNvPr id="66" name="Text 54">
            <a:extLst>
              <a:ext uri="{FF2B5EF4-FFF2-40B4-BE49-F238E27FC236}">
                <a16:creationId xmlns:a16="http://schemas.microsoft.com/office/drawing/2014/main" id="{B29869BB-AA38-B681-0559-FC87E67513F5}"/>
              </a:ext>
            </a:extLst>
          </p:cNvPr>
          <p:cNvSpPr txBox="1"/>
          <p:nvPr/>
        </p:nvSpPr>
        <p:spPr>
          <a:xfrm>
            <a:off x="8683769" y="4908500"/>
            <a:ext cx="14868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</a:t>
            </a: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선택지 비교</a:t>
            </a:r>
            <a:endParaRPr lang="en-US" sz="1000" dirty="0"/>
          </a:p>
        </p:txBody>
      </p:sp>
      <p:sp>
        <p:nvSpPr>
          <p:cNvPr id="67" name="Shape 55">
            <a:extLst>
              <a:ext uri="{FF2B5EF4-FFF2-40B4-BE49-F238E27FC236}">
                <a16:creationId xmlns:a16="http://schemas.microsoft.com/office/drawing/2014/main" id="{E5F1ADC9-679D-A973-00BB-94B9256F25A7}"/>
              </a:ext>
            </a:extLst>
          </p:cNvPr>
          <p:cNvSpPr/>
          <p:nvPr/>
        </p:nvSpPr>
        <p:spPr>
          <a:xfrm>
            <a:off x="8284176" y="5279746"/>
            <a:ext cx="3353105" cy="352044"/>
          </a:xfrm>
          <a:prstGeom prst="roundRect">
            <a:avLst>
              <a:gd name="adj" fmla="val 1123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8" name="Image 12" descr="preencoded.png">
            <a:extLst>
              <a:ext uri="{FF2B5EF4-FFF2-40B4-BE49-F238E27FC236}">
                <a16:creationId xmlns:a16="http://schemas.microsoft.com/office/drawing/2014/main" id="{00733643-952F-9578-8205-549D4B6687D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507" r="-1507"/>
          <a:stretch/>
        </p:blipFill>
        <p:spPr>
          <a:xfrm>
            <a:off x="8388417" y="5392218"/>
            <a:ext cx="171907" cy="133502"/>
          </a:xfrm>
          <a:prstGeom prst="rect">
            <a:avLst/>
          </a:prstGeom>
        </p:spPr>
      </p:pic>
      <p:sp>
        <p:nvSpPr>
          <p:cNvPr id="69" name="Text 56">
            <a:extLst>
              <a:ext uri="{FF2B5EF4-FFF2-40B4-BE49-F238E27FC236}">
                <a16:creationId xmlns:a16="http://schemas.microsoft.com/office/drawing/2014/main" id="{DA1DA1EE-BFEF-8148-8E2B-9FB5F6D4EA9E}"/>
              </a:ext>
            </a:extLst>
          </p:cNvPr>
          <p:cNvSpPr txBox="1"/>
          <p:nvPr/>
        </p:nvSpPr>
        <p:spPr>
          <a:xfrm>
            <a:off x="8683769" y="5356556"/>
            <a:ext cx="169346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</a:t>
            </a: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반복 분석 자동화</a:t>
            </a:r>
            <a:endParaRPr lang="en-US" sz="1000" dirty="0"/>
          </a:p>
        </p:txBody>
      </p:sp>
      <p:sp>
        <p:nvSpPr>
          <p:cNvPr id="70" name="Text 57">
            <a:extLst>
              <a:ext uri="{FF2B5EF4-FFF2-40B4-BE49-F238E27FC236}">
                <a16:creationId xmlns:a16="http://schemas.microsoft.com/office/drawing/2014/main" id="{57BE28F6-A032-4E05-B070-8579C4423CFC}"/>
              </a:ext>
            </a:extLst>
          </p:cNvPr>
          <p:cNvSpPr txBox="1"/>
          <p:nvPr/>
        </p:nvSpPr>
        <p:spPr>
          <a:xfrm>
            <a:off x="8245771" y="5747005"/>
            <a:ext cx="3429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 도구로 쓰되,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결과를 책임지는 방법</a:t>
            </a: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배웁니다.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067676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20">
            <a:extLst>
              <a:ext uri="{FF2B5EF4-FFF2-40B4-BE49-F238E27FC236}">
                <a16:creationId xmlns:a16="http://schemas.microsoft.com/office/drawing/2014/main" id="{1490A74E-31F3-1FF3-30CB-242281968989}"/>
              </a:ext>
            </a:extLst>
          </p:cNvPr>
          <p:cNvSpPr/>
          <p:nvPr/>
        </p:nvSpPr>
        <p:spPr>
          <a:xfrm>
            <a:off x="547726" y="1762049"/>
            <a:ext cx="5283403" cy="4019702"/>
          </a:xfrm>
          <a:prstGeom prst="roundRect">
            <a:avLst>
              <a:gd name="adj" fmla="val 862"/>
            </a:avLst>
          </a:prstGeom>
          <a:solidFill>
            <a:schemeClr val="bg1">
              <a:lumMod val="85000"/>
            </a:schemeClr>
          </a:solidFill>
          <a:ln w="254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6631EA42-D68C-CB44-47E3-60980593429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rcRect/>
          <a:stretch/>
        </p:blipFill>
        <p:spPr>
          <a:xfrm>
            <a:off x="833018" y="2162556"/>
            <a:ext cx="237744" cy="190195"/>
          </a:xfrm>
          <a:prstGeom prst="rect">
            <a:avLst/>
          </a:prstGeom>
        </p:spPr>
      </p:pic>
      <p:sp>
        <p:nvSpPr>
          <p:cNvPr id="8" name="Text 12">
            <a:extLst>
              <a:ext uri="{FF2B5EF4-FFF2-40B4-BE49-F238E27FC236}">
                <a16:creationId xmlns:a16="http://schemas.microsoft.com/office/drawing/2014/main" id="{8F2F056D-CF22-2BDC-9206-4DA27C797E88}"/>
              </a:ext>
            </a:extLst>
          </p:cNvPr>
          <p:cNvSpPr txBox="1"/>
          <p:nvPr/>
        </p:nvSpPr>
        <p:spPr>
          <a:xfrm>
            <a:off x="1257300" y="2115007"/>
            <a:ext cx="25722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보지 않는 것 (Anti-Patterns)</a:t>
            </a:r>
            <a:endParaRPr lang="en-US" sz="15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25FDA919-8F70-71DE-246F-A65879B17C2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761695" y="2790749"/>
            <a:ext cx="228600" cy="228600"/>
          </a:xfrm>
          <a:prstGeom prst="rect">
            <a:avLst/>
          </a:prstGeom>
        </p:spPr>
      </p:pic>
      <p:sp>
        <p:nvSpPr>
          <p:cNvPr id="10" name="Text 13">
            <a:extLst>
              <a:ext uri="{FF2B5EF4-FFF2-40B4-BE49-F238E27FC236}">
                <a16:creationId xmlns:a16="http://schemas.microsoft.com/office/drawing/2014/main" id="{22D1B003-9A32-F06B-D781-C0C4C17FBAC7}"/>
              </a:ext>
            </a:extLst>
          </p:cNvPr>
          <p:cNvSpPr txBox="1"/>
          <p:nvPr/>
        </p:nvSpPr>
        <p:spPr>
          <a:xfrm>
            <a:off x="1143000" y="2762402"/>
            <a:ext cx="16532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복잡한 모델 아키텍처</a:t>
            </a:r>
            <a:endParaRPr lang="en-US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1BBB7297-706B-3082-1A58-97501C172E2A}"/>
              </a:ext>
            </a:extLst>
          </p:cNvPr>
          <p:cNvSpPr txBox="1"/>
          <p:nvPr/>
        </p:nvSpPr>
        <p:spPr>
          <a:xfrm>
            <a:off x="1143000" y="3066898"/>
            <a:ext cx="427207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"Transformer의 Layer가 몇 층인지 설명하는 것은 비즈니스 미팅에서 중요하지 않습니다."</a:t>
            </a:r>
            <a:endParaRPr 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DCBD50FE-3098-E612-DDC6-8687C56BB75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761695" y="3834079"/>
            <a:ext cx="228600" cy="228600"/>
          </a:xfrm>
          <a:prstGeom prst="rect">
            <a:avLst/>
          </a:prstGeom>
        </p:spPr>
      </p:pic>
      <p:sp>
        <p:nvSpPr>
          <p:cNvPr id="13" name="Text 15">
            <a:extLst>
              <a:ext uri="{FF2B5EF4-FFF2-40B4-BE49-F238E27FC236}">
                <a16:creationId xmlns:a16="http://schemas.microsoft.com/office/drawing/2014/main" id="{0E728689-46B9-E3DC-EEF0-131273CC2F07}"/>
              </a:ext>
            </a:extLst>
          </p:cNvPr>
          <p:cNvSpPr txBox="1"/>
          <p:nvPr/>
        </p:nvSpPr>
        <p:spPr>
          <a:xfrm>
            <a:off x="1143000" y="3804818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난해한 수식 증명</a:t>
            </a:r>
            <a:endParaRPr lang="en-US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B538EF97-059F-CA6E-5E9F-20534A295F65}"/>
              </a:ext>
            </a:extLst>
          </p:cNvPr>
          <p:cNvSpPr txBox="1"/>
          <p:nvPr/>
        </p:nvSpPr>
        <p:spPr>
          <a:xfrm>
            <a:off x="1143000" y="4110228"/>
            <a:ext cx="4282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수학적 깊이는 필요하지만, 이를 그대로 읊는 것은 커뮤니케이션 실패입니다.</a:t>
            </a:r>
            <a:endParaRPr 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E1FA8B69-5245-ED24-E5D7-8AA27D5FA91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761695" y="4659782"/>
            <a:ext cx="228600" cy="228600"/>
          </a:xfrm>
          <a:prstGeom prst="rect">
            <a:avLst/>
          </a:prstGeom>
        </p:spPr>
      </p:pic>
      <p:sp>
        <p:nvSpPr>
          <p:cNvPr id="16" name="Text 17">
            <a:extLst>
              <a:ext uri="{FF2B5EF4-FFF2-40B4-BE49-F238E27FC236}">
                <a16:creationId xmlns:a16="http://schemas.microsoft.com/office/drawing/2014/main" id="{3E669510-ED6F-943B-3151-0E1798463C54}"/>
              </a:ext>
            </a:extLst>
          </p:cNvPr>
          <p:cNvSpPr txBox="1"/>
          <p:nvPr/>
        </p:nvSpPr>
        <p:spPr>
          <a:xfrm>
            <a:off x="1143000" y="4631436"/>
            <a:ext cx="24341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SOTA (State-of-the-art) 경쟁</a:t>
            </a:r>
            <a:endParaRPr lang="en-US" sz="13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54D60915-5E9A-0F39-9389-0AA3C46AEA88}"/>
              </a:ext>
            </a:extLst>
          </p:cNvPr>
          <p:cNvSpPr txBox="1"/>
          <p:nvPr/>
        </p:nvSpPr>
        <p:spPr>
          <a:xfrm>
            <a:off x="1143000" y="4935931"/>
            <a:ext cx="4120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0.1%의 정확도 향상보다 10%의 비용 절감 인사이트가 더 가치 있습니다.</a:t>
            </a:r>
            <a:endParaRPr 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65EF1BD9-1EB8-0FE8-60E4-9BB27FD6880E}"/>
              </a:ext>
            </a:extLst>
          </p:cNvPr>
          <p:cNvSpPr/>
          <p:nvPr/>
        </p:nvSpPr>
        <p:spPr>
          <a:xfrm>
            <a:off x="6361481" y="1762049"/>
            <a:ext cx="5373929" cy="4019702"/>
          </a:xfrm>
          <a:prstGeom prst="roundRect">
            <a:avLst>
              <a:gd name="adj" fmla="val 862"/>
            </a:avLst>
          </a:prstGeom>
          <a:solidFill>
            <a:schemeClr val="tx2">
              <a:lumMod val="75000"/>
              <a:lumOff val="25000"/>
            </a:schemeClr>
          </a:solidFill>
          <a:ln w="254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21">
            <a:extLst>
              <a:ext uri="{FF2B5EF4-FFF2-40B4-BE49-F238E27FC236}">
                <a16:creationId xmlns:a16="http://schemas.microsoft.com/office/drawing/2014/main" id="{E1809EF8-E5D7-08D3-0DEC-45BCE8E620AD}"/>
              </a:ext>
            </a:extLst>
          </p:cNvPr>
          <p:cNvSpPr/>
          <p:nvPr/>
        </p:nvSpPr>
        <p:spPr>
          <a:xfrm>
            <a:off x="6791249" y="2076602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2563EB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21A752AA-CB0F-74C3-729E-FE6D41CA9E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6872630" y="2171700"/>
            <a:ext cx="219456" cy="190195"/>
          </a:xfrm>
          <a:prstGeom prst="rect">
            <a:avLst/>
          </a:prstGeom>
        </p:spPr>
      </p:pic>
      <p:sp>
        <p:nvSpPr>
          <p:cNvPr id="22" name="Text 22">
            <a:extLst>
              <a:ext uri="{FF2B5EF4-FFF2-40B4-BE49-F238E27FC236}">
                <a16:creationId xmlns:a16="http://schemas.microsoft.com/office/drawing/2014/main" id="{8B65711E-B3F7-2242-D11A-B46A6B1BA093}"/>
              </a:ext>
            </a:extLst>
          </p:cNvPr>
          <p:cNvSpPr txBox="1"/>
          <p:nvPr/>
        </p:nvSpPr>
        <p:spPr>
          <a:xfrm>
            <a:off x="7286854" y="2095805"/>
            <a:ext cx="38770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반드시 보는 것 (Key Competencies)</a:t>
            </a:r>
            <a:endParaRPr lang="en-US" sz="1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9D3BAD39-30B9-61FB-FC1D-47F88D3D0D5C}"/>
              </a:ext>
            </a:extLst>
          </p:cNvPr>
          <p:cNvSpPr/>
          <p:nvPr/>
        </p:nvSpPr>
        <p:spPr>
          <a:xfrm>
            <a:off x="6791249" y="2800807"/>
            <a:ext cx="267005" cy="304495"/>
          </a:xfrm>
          <a:prstGeom prst="roundRect">
            <a:avLst>
              <a:gd name="adj" fmla="val 342465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60A5FA"/>
            </a:solidFill>
            <a:prstDash val="solid"/>
          </a:ln>
          <a:effectLst>
            <a:outerShdw blurRad="101600" dist="12700" dir="16200000" algn="bl" rotWithShape="0">
              <a:srgbClr val="38BDF8">
                <a:alpha val="50000"/>
              </a:srgbClr>
            </a:outerShdw>
          </a:effectLst>
        </p:spPr>
        <p:txBody>
          <a:bodyPr/>
          <a:lstStyle/>
          <a:p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9078EAC5-A4F3-A322-C06E-9DB57CB430A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837" r="-837"/>
          <a:stretch/>
        </p:blipFill>
        <p:spPr>
          <a:xfrm>
            <a:off x="6847942" y="2885846"/>
            <a:ext cx="152705" cy="133502"/>
          </a:xfrm>
          <a:prstGeom prst="rect">
            <a:avLst/>
          </a:prstGeom>
        </p:spPr>
      </p:pic>
      <p:sp>
        <p:nvSpPr>
          <p:cNvPr id="25" name="Text 24">
            <a:extLst>
              <a:ext uri="{FF2B5EF4-FFF2-40B4-BE49-F238E27FC236}">
                <a16:creationId xmlns:a16="http://schemas.microsoft.com/office/drawing/2014/main" id="{26467224-C5E6-3187-5AE9-7B5D44477E53}"/>
              </a:ext>
            </a:extLst>
          </p:cNvPr>
          <p:cNvSpPr txBox="1"/>
          <p:nvPr/>
        </p:nvSpPr>
        <p:spPr>
          <a:xfrm>
            <a:off x="7246620" y="2752344"/>
            <a:ext cx="23436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문제 구조화 (Structuring)</a:t>
            </a:r>
            <a:endParaRPr lang="en-US" sz="15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8C6901B6-239D-ADD5-72B4-6FADCEFD0696}"/>
              </a:ext>
            </a:extLst>
          </p:cNvPr>
          <p:cNvSpPr txBox="1"/>
          <p:nvPr/>
        </p:nvSpPr>
        <p:spPr>
          <a:xfrm>
            <a:off x="7246620" y="3114446"/>
            <a:ext cx="41532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복잡한 비즈니스 문제를 데이터로 풀 수 있는 작은 단위로 쪼개고 정의했는가?</a:t>
            </a:r>
            <a:endParaRPr lang="en-US" sz="12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C3D5AA14-2BC4-ED3A-DA3D-658BE456D300}"/>
              </a:ext>
            </a:extLst>
          </p:cNvPr>
          <p:cNvSpPr txBox="1"/>
          <p:nvPr/>
        </p:nvSpPr>
        <p:spPr>
          <a:xfrm>
            <a:off x="6791249" y="3905402"/>
            <a:ext cx="47439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가설 → 검증 → 결론 (Logic Flow) 단순 탐색이 아닌, 가설을 세우고 이를 데이터로 입증하는 논리적 흐름이 있는가?</a:t>
            </a:r>
            <a:endParaRPr lang="en-US" sz="12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F356D0AF-4DFE-13AF-9AB7-24328E78DDCA}"/>
              </a:ext>
            </a:extLst>
          </p:cNvPr>
          <p:cNvSpPr txBox="1"/>
          <p:nvPr/>
        </p:nvSpPr>
        <p:spPr>
          <a:xfrm>
            <a:off x="6791249" y="4667098"/>
            <a:ext cx="47439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비기술자와의 커뮤니케이션 분석 결과를 마케팅 팀장이나 CEO가 이해할 수 있는 비즈니스 언어로 전달하는가?</a:t>
            </a:r>
            <a:endParaRPr lang="en-US" sz="12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30" name="Image 6" descr="preencoded.png">
            <a:extLst>
              <a:ext uri="{FF2B5EF4-FFF2-40B4-BE49-F238E27FC236}">
                <a16:creationId xmlns:a16="http://schemas.microsoft.com/office/drawing/2014/main" id="{BC096418-97C8-342C-CEC9-1A37AD381D1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19495" y="3696005"/>
            <a:ext cx="152705" cy="152705"/>
          </a:xfrm>
          <a:prstGeom prst="rect">
            <a:avLst/>
          </a:prstGeom>
        </p:spPr>
      </p:pic>
      <p:sp>
        <p:nvSpPr>
          <p:cNvPr id="35" name="Shape 1">
            <a:extLst>
              <a:ext uri="{FF2B5EF4-FFF2-40B4-BE49-F238E27FC236}">
                <a16:creationId xmlns:a16="http://schemas.microsoft.com/office/drawing/2014/main" id="{9887E70C-0D90-36C6-BB33-EA0599ED8F27}"/>
              </a:ext>
            </a:extLst>
          </p:cNvPr>
          <p:cNvSpPr/>
          <p:nvPr/>
        </p:nvSpPr>
        <p:spPr>
          <a:xfrm>
            <a:off x="457200" y="1050322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4D2AEB22-FCD3-F32A-C2BC-1A7B80AB55F5}"/>
              </a:ext>
            </a:extLst>
          </p:cNvPr>
          <p:cNvSpPr txBox="1"/>
          <p:nvPr/>
        </p:nvSpPr>
        <p:spPr>
          <a:xfrm>
            <a:off x="457199" y="383724"/>
            <a:ext cx="906574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indent="0">
              <a:buNone/>
              <a:defRPr sz="2700" b="1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Data/AI </a:t>
            </a:r>
            <a:r>
              <a:rPr lang="en-US" altLang="ko-KR" dirty="0" err="1"/>
              <a:t>지원자에게</a:t>
            </a:r>
            <a:r>
              <a:rPr lang="en-US" altLang="ko-KR" dirty="0"/>
              <a:t> </a:t>
            </a:r>
            <a:r>
              <a:rPr lang="en-US" altLang="ko-KR" dirty="0" err="1"/>
              <a:t>기대하는</a:t>
            </a:r>
            <a:r>
              <a:rPr lang="en-US" altLang="ko-KR" dirty="0"/>
              <a:t> </a:t>
            </a:r>
            <a:r>
              <a:rPr lang="en-US" altLang="ko-KR" dirty="0" err="1"/>
              <a:t>것</a:t>
            </a:r>
            <a:endParaRPr lang="en-US" altLang="ko-KR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EFF697-1DAA-0F9B-1936-392A733581FF}"/>
              </a:ext>
            </a:extLst>
          </p:cNvPr>
          <p:cNvSpPr txBox="1"/>
          <p:nvPr/>
        </p:nvSpPr>
        <p:spPr>
          <a:xfrm>
            <a:off x="397476" y="1188896"/>
            <a:ext cx="11108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indent="0">
              <a:buNone/>
              <a:defRPr kern="0" spc="-56">
                <a:latin typeface="+mn-ea"/>
                <a:cs typeface="Noto Sans KR" pitchFamily="34" charset="-120"/>
              </a:defRPr>
            </a:lvl1pPr>
          </a:lstStyle>
          <a:p>
            <a:r>
              <a:rPr lang="ko-KR" altLang="en-US" dirty="0"/>
              <a:t>화려한 기술보다</a:t>
            </a:r>
            <a:r>
              <a:rPr lang="en-US" altLang="ko-KR" dirty="0"/>
              <a:t>, </a:t>
            </a:r>
            <a:r>
              <a:rPr lang="ko-KR" altLang="en-US" dirty="0"/>
              <a:t>문제를 풀어내는 역량을 봅니다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4772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20">
            <a:extLst>
              <a:ext uri="{FF2B5EF4-FFF2-40B4-BE49-F238E27FC236}">
                <a16:creationId xmlns:a16="http://schemas.microsoft.com/office/drawing/2014/main" id="{B6FC7B2F-9BA8-5E8E-1834-0CFC3D53C133}"/>
              </a:ext>
            </a:extLst>
          </p:cNvPr>
          <p:cNvSpPr/>
          <p:nvPr/>
        </p:nvSpPr>
        <p:spPr>
          <a:xfrm>
            <a:off x="547726" y="1762049"/>
            <a:ext cx="5283403" cy="4019702"/>
          </a:xfrm>
          <a:prstGeom prst="roundRect">
            <a:avLst>
              <a:gd name="adj" fmla="val 862"/>
            </a:avLst>
          </a:prstGeom>
          <a:solidFill>
            <a:schemeClr val="bg1">
              <a:lumMod val="85000"/>
            </a:schemeClr>
          </a:solidFill>
          <a:ln w="254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7B54F5D1-40A3-6C96-6D13-3C326E7DC47C}"/>
              </a:ext>
            </a:extLst>
          </p:cNvPr>
          <p:cNvSpPr/>
          <p:nvPr/>
        </p:nvSpPr>
        <p:spPr>
          <a:xfrm>
            <a:off x="457200" y="1050322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87637B86-1737-3D5C-D471-EB353DBFB4EC}"/>
              </a:ext>
            </a:extLst>
          </p:cNvPr>
          <p:cNvSpPr txBox="1"/>
          <p:nvPr/>
        </p:nvSpPr>
        <p:spPr>
          <a:xfrm>
            <a:off x="457199" y="383724"/>
            <a:ext cx="906574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indent="0">
              <a:buNone/>
              <a:defRPr sz="2700" b="1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데이터 분석의 핵심</a:t>
            </a:r>
            <a:r>
              <a:rPr lang="en-US" altLang="ko-KR" dirty="0"/>
              <a:t>: </a:t>
            </a:r>
            <a:r>
              <a:rPr lang="en-US" altLang="ko-KR" dirty="0" err="1"/>
              <a:t>질문과</a:t>
            </a:r>
            <a:r>
              <a:rPr lang="en-US" altLang="ko-KR" dirty="0"/>
              <a:t> </a:t>
            </a:r>
            <a:r>
              <a:rPr lang="en-US" altLang="ko-KR" dirty="0" err="1"/>
              <a:t>흐름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78E512-FEB7-EA80-E5A4-5E8B13EB50A3}"/>
              </a:ext>
            </a:extLst>
          </p:cNvPr>
          <p:cNvSpPr txBox="1"/>
          <p:nvPr/>
        </p:nvSpPr>
        <p:spPr>
          <a:xfrm>
            <a:off x="397476" y="1188896"/>
            <a:ext cx="11108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indent="0">
              <a:buNone/>
              <a:defRPr kern="0" spc="-56">
                <a:latin typeface="+mn-ea"/>
                <a:cs typeface="Noto Sans KR" pitchFamily="34" charset="-120"/>
              </a:defRPr>
            </a:lvl1pPr>
          </a:lstStyle>
          <a:p>
            <a:r>
              <a:rPr lang="en" altLang="ko-KR" dirty="0"/>
              <a:t>EDA</a:t>
            </a:r>
            <a:r>
              <a:rPr lang="ko-KR" altLang="en-US" dirty="0"/>
              <a:t>는 ‘그럴듯한 </a:t>
            </a:r>
            <a:r>
              <a:rPr lang="ko-KR" altLang="en-US" dirty="0" err="1"/>
              <a:t>시각화’가</a:t>
            </a:r>
            <a:r>
              <a:rPr lang="ko-KR" altLang="en-US" dirty="0"/>
              <a:t> 아니라 ‘결정할 </a:t>
            </a:r>
            <a:r>
              <a:rPr lang="ko-KR" altLang="en-US" dirty="0" err="1"/>
              <a:t>질문’의</a:t>
            </a:r>
            <a:r>
              <a:rPr lang="ko-KR" altLang="en-US" dirty="0"/>
              <a:t> 설계입니다</a:t>
            </a:r>
            <a:r>
              <a:rPr lang="en-US" altLang="ko-KR" dirty="0"/>
              <a:t>.</a:t>
            </a:r>
          </a:p>
        </p:txBody>
      </p:sp>
      <p:sp>
        <p:nvSpPr>
          <p:cNvPr id="5" name="Shape 12">
            <a:extLst>
              <a:ext uri="{FF2B5EF4-FFF2-40B4-BE49-F238E27FC236}">
                <a16:creationId xmlns:a16="http://schemas.microsoft.com/office/drawing/2014/main" id="{5A9BA851-8924-0EA3-2D0E-2AAB11C972FF}"/>
              </a:ext>
            </a:extLst>
          </p:cNvPr>
          <p:cNvSpPr/>
          <p:nvPr/>
        </p:nvSpPr>
        <p:spPr>
          <a:xfrm>
            <a:off x="6215177" y="1757569"/>
            <a:ext cx="5519318" cy="4035062"/>
          </a:xfrm>
          <a:prstGeom prst="roundRect">
            <a:avLst>
              <a:gd name="adj" fmla="val 772"/>
            </a:avLst>
          </a:prstGeom>
          <a:solidFill>
            <a:schemeClr val="tx2">
              <a:lumMod val="75000"/>
              <a:lumOff val="25000"/>
            </a:schemeClr>
          </a:solidFill>
          <a:ln w="254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" name="Shape 13">
            <a:extLst>
              <a:ext uri="{FF2B5EF4-FFF2-40B4-BE49-F238E27FC236}">
                <a16:creationId xmlns:a16="http://schemas.microsoft.com/office/drawing/2014/main" id="{86A2B4FD-7488-1022-F926-7BECB1067B20}"/>
              </a:ext>
            </a:extLst>
          </p:cNvPr>
          <p:cNvSpPr/>
          <p:nvPr/>
        </p:nvSpPr>
        <p:spPr>
          <a:xfrm>
            <a:off x="6324905" y="2626522"/>
            <a:ext cx="509595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Shape 14">
            <a:extLst>
              <a:ext uri="{FF2B5EF4-FFF2-40B4-BE49-F238E27FC236}">
                <a16:creationId xmlns:a16="http://schemas.microsoft.com/office/drawing/2014/main" id="{86F88497-AB73-0742-FC02-7AC33E831BA7}"/>
              </a:ext>
            </a:extLst>
          </p:cNvPr>
          <p:cNvSpPr/>
          <p:nvPr/>
        </p:nvSpPr>
        <p:spPr>
          <a:xfrm>
            <a:off x="6324905" y="207422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EBE45D61-0FA1-8A4F-94E5-A95FDC2BE6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20002" y="2169322"/>
            <a:ext cx="190195" cy="190195"/>
          </a:xfrm>
          <a:prstGeom prst="rect">
            <a:avLst/>
          </a:prstGeom>
        </p:spPr>
      </p:pic>
      <p:sp>
        <p:nvSpPr>
          <p:cNvPr id="9" name="Shape 15">
            <a:extLst>
              <a:ext uri="{FF2B5EF4-FFF2-40B4-BE49-F238E27FC236}">
                <a16:creationId xmlns:a16="http://schemas.microsoft.com/office/drawing/2014/main" id="{500A4A3D-DE7C-3AB5-BDB2-8F86CFA7A597}"/>
              </a:ext>
            </a:extLst>
          </p:cNvPr>
          <p:cNvSpPr/>
          <p:nvPr/>
        </p:nvSpPr>
        <p:spPr>
          <a:xfrm>
            <a:off x="6476695" y="3107039"/>
            <a:ext cx="228600" cy="228600"/>
          </a:xfrm>
          <a:prstGeom prst="roundRect">
            <a:avLst>
              <a:gd name="adj" fmla="val 66667"/>
            </a:avLst>
          </a:prstGeom>
          <a:noFill/>
          <a:ln w="254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Shape 16">
            <a:extLst>
              <a:ext uri="{FF2B5EF4-FFF2-40B4-BE49-F238E27FC236}">
                <a16:creationId xmlns:a16="http://schemas.microsoft.com/office/drawing/2014/main" id="{C5ECFB3D-C12F-4D5F-9C94-C5565C3BEEBA}"/>
              </a:ext>
            </a:extLst>
          </p:cNvPr>
          <p:cNvSpPr/>
          <p:nvPr/>
        </p:nvSpPr>
        <p:spPr>
          <a:xfrm>
            <a:off x="6324905" y="3944629"/>
            <a:ext cx="5095951" cy="819302"/>
          </a:xfrm>
          <a:prstGeom prst="roundRect">
            <a:avLst>
              <a:gd name="adj" fmla="val 10382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Shape 17">
            <a:extLst>
              <a:ext uri="{FF2B5EF4-FFF2-40B4-BE49-F238E27FC236}">
                <a16:creationId xmlns:a16="http://schemas.microsoft.com/office/drawing/2014/main" id="{9166B29E-297F-0EC0-E34B-16EA79B309BE}"/>
              </a:ext>
            </a:extLst>
          </p:cNvPr>
          <p:cNvSpPr/>
          <p:nvPr/>
        </p:nvSpPr>
        <p:spPr>
          <a:xfrm>
            <a:off x="6486754" y="4144883"/>
            <a:ext cx="228600" cy="228600"/>
          </a:xfrm>
          <a:prstGeom prst="roundRect">
            <a:avLst>
              <a:gd name="adj" fmla="val 66667"/>
            </a:avLst>
          </a:prstGeom>
          <a:solidFill>
            <a:srgbClr val="38BDF8"/>
          </a:solidFill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5EAE6F10-7285-0A14-8FE5-8580D8245C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571" r="-2571"/>
          <a:stretch/>
        </p:blipFill>
        <p:spPr>
          <a:xfrm>
            <a:off x="6548018" y="4202490"/>
            <a:ext cx="105156" cy="114300"/>
          </a:xfrm>
          <a:prstGeom prst="rect">
            <a:avLst/>
          </a:prstGeom>
        </p:spPr>
      </p:pic>
      <p:sp>
        <p:nvSpPr>
          <p:cNvPr id="13" name="Shape 18">
            <a:extLst>
              <a:ext uri="{FF2B5EF4-FFF2-40B4-BE49-F238E27FC236}">
                <a16:creationId xmlns:a16="http://schemas.microsoft.com/office/drawing/2014/main" id="{8D5865A1-4D98-918D-5172-0DBF8B038F44}"/>
              </a:ext>
            </a:extLst>
          </p:cNvPr>
          <p:cNvSpPr/>
          <p:nvPr/>
        </p:nvSpPr>
        <p:spPr>
          <a:xfrm>
            <a:off x="8450885" y="4144883"/>
            <a:ext cx="933602" cy="190195"/>
          </a:xfrm>
          <a:prstGeom prst="roundRect">
            <a:avLst>
              <a:gd name="adj" fmla="val 96154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Shape 19">
            <a:extLst>
              <a:ext uri="{FF2B5EF4-FFF2-40B4-BE49-F238E27FC236}">
                <a16:creationId xmlns:a16="http://schemas.microsoft.com/office/drawing/2014/main" id="{A6CC839C-1EF9-B160-B43B-53E2D3F16F7E}"/>
              </a:ext>
            </a:extLst>
          </p:cNvPr>
          <p:cNvSpPr/>
          <p:nvPr/>
        </p:nvSpPr>
        <p:spPr>
          <a:xfrm>
            <a:off x="6324905" y="5164439"/>
            <a:ext cx="509595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Shape 20">
            <a:extLst>
              <a:ext uri="{FF2B5EF4-FFF2-40B4-BE49-F238E27FC236}">
                <a16:creationId xmlns:a16="http://schemas.microsoft.com/office/drawing/2014/main" id="{4F15F6DF-DFBE-7A6E-9835-17EFBC2C1237}"/>
              </a:ext>
            </a:extLst>
          </p:cNvPr>
          <p:cNvSpPr/>
          <p:nvPr/>
        </p:nvSpPr>
        <p:spPr>
          <a:xfrm>
            <a:off x="646674" y="2106685"/>
            <a:ext cx="1676095" cy="323698"/>
          </a:xfrm>
          <a:prstGeom prst="roundRect">
            <a:avLst>
              <a:gd name="adj" fmla="val 282486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B8A12C91-4101-6E92-2CF9-7CBE8EAECA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8523" y="2209098"/>
            <a:ext cx="133502" cy="133502"/>
          </a:xfrm>
          <a:prstGeom prst="rect">
            <a:avLst/>
          </a:prstGeom>
        </p:spPr>
      </p:pic>
      <p:sp>
        <p:nvSpPr>
          <p:cNvPr id="17" name="Text 21">
            <a:extLst>
              <a:ext uri="{FF2B5EF4-FFF2-40B4-BE49-F238E27FC236}">
                <a16:creationId xmlns:a16="http://schemas.microsoft.com/office/drawing/2014/main" id="{13FA4D09-38AD-9E04-585D-3CFDC9A953EC}"/>
              </a:ext>
            </a:extLst>
          </p:cNvPr>
          <p:cNvSpPr txBox="1"/>
          <p:nvPr/>
        </p:nvSpPr>
        <p:spPr>
          <a:xfrm>
            <a:off x="1017920" y="2173436"/>
            <a:ext cx="12435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Common Mistake</a:t>
            </a:r>
            <a:endParaRPr 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59D0C7A2-4423-DDFF-CB77-BA6CEEB616A4}"/>
              </a:ext>
            </a:extLst>
          </p:cNvPr>
          <p:cNvSpPr txBox="1"/>
          <p:nvPr/>
        </p:nvSpPr>
        <p:spPr>
          <a:xfrm>
            <a:off x="646674" y="2621492"/>
            <a:ext cx="5095951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"EDA(</a:t>
            </a:r>
            <a:r>
              <a:rPr lang="en-US" sz="2200" dirty="0" err="1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탐색적</a:t>
            </a:r>
            <a:r>
              <a:rPr lang="en-US" sz="2200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 </a:t>
            </a:r>
            <a:r>
              <a:rPr lang="en-US" sz="2200" dirty="0" err="1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데이터</a:t>
            </a:r>
            <a:r>
              <a:rPr lang="en-US" sz="2200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 </a:t>
            </a:r>
            <a:r>
              <a:rPr lang="en-US" sz="2200" dirty="0" err="1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분석</a:t>
            </a:r>
            <a:r>
              <a:rPr lang="en-US" sz="2200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)</a:t>
            </a:r>
            <a:r>
              <a:rPr lang="en-US" sz="2200" dirty="0" err="1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는</a:t>
            </a:r>
            <a:r>
              <a:rPr lang="en-US" sz="2200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2200" dirty="0" err="1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그저</a:t>
            </a:r>
            <a:r>
              <a:rPr lang="en-US" sz="2200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 </a:t>
            </a:r>
            <a:r>
              <a:rPr lang="en-US" sz="2200" dirty="0" err="1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그래프를</a:t>
            </a:r>
            <a:r>
              <a:rPr lang="en-US" sz="2200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 </a:t>
            </a:r>
            <a:r>
              <a:rPr lang="en-US" sz="2200" dirty="0" err="1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그리는</a:t>
            </a:r>
            <a:r>
              <a:rPr lang="en-US" sz="2200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 </a:t>
            </a:r>
            <a:r>
              <a:rPr lang="en-US" sz="2200" dirty="0" err="1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것이</a:t>
            </a:r>
            <a:r>
              <a:rPr lang="en-US" sz="2200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 </a:t>
            </a:r>
            <a:r>
              <a:rPr lang="en-US" sz="2200" dirty="0" err="1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아닙니다</a:t>
            </a:r>
            <a:r>
              <a:rPr lang="en-US" sz="2200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."</a:t>
            </a:r>
            <a:endParaRPr lang="en-US" sz="2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 23">
            <a:extLst>
              <a:ext uri="{FF2B5EF4-FFF2-40B4-BE49-F238E27FC236}">
                <a16:creationId xmlns:a16="http://schemas.microsoft.com/office/drawing/2014/main" id="{30CBA30D-CFA8-6855-5226-D7CC36BC4111}"/>
              </a:ext>
            </a:extLst>
          </p:cNvPr>
          <p:cNvSpPr txBox="1"/>
          <p:nvPr/>
        </p:nvSpPr>
        <p:spPr>
          <a:xfrm>
            <a:off x="6790791" y="2119259"/>
            <a:ext cx="24295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실습 산출물 (Deliverables)</a:t>
            </a:r>
            <a:endParaRPr lang="en-US" sz="15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Text 25">
            <a:extLst>
              <a:ext uri="{FF2B5EF4-FFF2-40B4-BE49-F238E27FC236}">
                <a16:creationId xmlns:a16="http://schemas.microsoft.com/office/drawing/2014/main" id="{B034F306-8D82-784B-1203-F416F7CE7700}"/>
              </a:ext>
            </a:extLst>
          </p:cNvPr>
          <p:cNvSpPr txBox="1"/>
          <p:nvPr/>
        </p:nvSpPr>
        <p:spPr>
          <a:xfrm>
            <a:off x="6858000" y="3078692"/>
            <a:ext cx="16907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답할 수 있는 질문 3개</a:t>
            </a:r>
            <a:endParaRPr lang="en-US" sz="13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Text 26">
            <a:extLst>
              <a:ext uri="{FF2B5EF4-FFF2-40B4-BE49-F238E27FC236}">
                <a16:creationId xmlns:a16="http://schemas.microsoft.com/office/drawing/2014/main" id="{E25FC852-40AE-1917-173C-2C866187E8BA}"/>
              </a:ext>
            </a:extLst>
          </p:cNvPr>
          <p:cNvSpPr txBox="1"/>
          <p:nvPr/>
        </p:nvSpPr>
        <p:spPr>
          <a:xfrm>
            <a:off x="8565185" y="3116183"/>
            <a:ext cx="6958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Exploration</a:t>
            </a:r>
            <a:endParaRPr lang="en-US" sz="9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Text 27">
            <a:extLst>
              <a:ext uri="{FF2B5EF4-FFF2-40B4-BE49-F238E27FC236}">
                <a16:creationId xmlns:a16="http://schemas.microsoft.com/office/drawing/2014/main" id="{55C20E94-70E9-C664-07A1-69477ED5A9AE}"/>
              </a:ext>
            </a:extLst>
          </p:cNvPr>
          <p:cNvSpPr txBox="1"/>
          <p:nvPr/>
        </p:nvSpPr>
        <p:spPr>
          <a:xfrm>
            <a:off x="6858000" y="3373129"/>
            <a:ext cx="4282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데이터를 통해 확인할 수 있는 현상이나 패턴에 대한 구체적인 질문 리스트업</a:t>
            </a:r>
            <a:endParaRPr 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Text 28">
            <a:extLst>
              <a:ext uri="{FF2B5EF4-FFF2-40B4-BE49-F238E27FC236}">
                <a16:creationId xmlns:a16="http://schemas.microsoft.com/office/drawing/2014/main" id="{4AECBC27-37E2-02D9-6187-D63A4376ABFD}"/>
              </a:ext>
            </a:extLst>
          </p:cNvPr>
          <p:cNvSpPr txBox="1"/>
          <p:nvPr/>
        </p:nvSpPr>
        <p:spPr>
          <a:xfrm>
            <a:off x="6867144" y="4116536"/>
            <a:ext cx="16431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가장 중요한 질문 1개</a:t>
            </a:r>
            <a:endParaRPr lang="en-US" sz="13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" name="Text 29">
            <a:extLst>
              <a:ext uri="{FF2B5EF4-FFF2-40B4-BE49-F238E27FC236}">
                <a16:creationId xmlns:a16="http://schemas.microsoft.com/office/drawing/2014/main" id="{34B652D3-856F-458E-3136-35E242DF4721}"/>
              </a:ext>
            </a:extLst>
          </p:cNvPr>
          <p:cNvSpPr txBox="1"/>
          <p:nvPr/>
        </p:nvSpPr>
        <p:spPr>
          <a:xfrm>
            <a:off x="8526780" y="4154941"/>
            <a:ext cx="8668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Core Problem</a:t>
            </a:r>
            <a:endParaRPr lang="en-US" sz="9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9459FACB-F08A-634B-AC72-21841874163B}"/>
              </a:ext>
            </a:extLst>
          </p:cNvPr>
          <p:cNvSpPr txBox="1"/>
          <p:nvPr/>
        </p:nvSpPr>
        <p:spPr>
          <a:xfrm>
            <a:off x="6867144" y="4411887"/>
            <a:ext cx="4282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비즈니스 임팩트가 가장 크고, 프로젝트의 방향성을 결정짓는 핵심 질문 정의</a:t>
            </a:r>
            <a:endParaRPr 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27" name="Image 3" descr="preencoded.png">
            <a:extLst>
              <a:ext uri="{FF2B5EF4-FFF2-40B4-BE49-F238E27FC236}">
                <a16:creationId xmlns:a16="http://schemas.microsoft.com/office/drawing/2014/main" id="{ED65AAEB-5D37-CFBA-566A-15330212A4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132320" y="5350062"/>
            <a:ext cx="114300" cy="114300"/>
          </a:xfrm>
          <a:prstGeom prst="rect">
            <a:avLst/>
          </a:prstGeom>
        </p:spPr>
      </p:pic>
      <p:sp>
        <p:nvSpPr>
          <p:cNvPr id="28" name="Text 31">
            <a:extLst>
              <a:ext uri="{FF2B5EF4-FFF2-40B4-BE49-F238E27FC236}">
                <a16:creationId xmlns:a16="http://schemas.microsoft.com/office/drawing/2014/main" id="{E817C4C6-021A-D68D-CC81-7342D187EA8E}"/>
              </a:ext>
            </a:extLst>
          </p:cNvPr>
          <p:cNvSpPr txBox="1"/>
          <p:nvPr/>
        </p:nvSpPr>
        <p:spPr>
          <a:xfrm>
            <a:off x="7285025" y="5316229"/>
            <a:ext cx="34198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면접관은 '무엇을 분석했나'보다 '왜 그 질문을 던졌나'를 궁금해합니다.</a:t>
            </a:r>
            <a:endParaRPr lang="en-US" sz="9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Shape 33">
            <a:extLst>
              <a:ext uri="{FF2B5EF4-FFF2-40B4-BE49-F238E27FC236}">
                <a16:creationId xmlns:a16="http://schemas.microsoft.com/office/drawing/2014/main" id="{BCD54447-A9C3-D7F6-9036-3F063D0BF446}"/>
              </a:ext>
            </a:extLst>
          </p:cNvPr>
          <p:cNvSpPr/>
          <p:nvPr/>
        </p:nvSpPr>
        <p:spPr>
          <a:xfrm>
            <a:off x="646674" y="3983034"/>
            <a:ext cx="5095951" cy="1248156"/>
          </a:xfrm>
          <a:prstGeom prst="roundRect">
            <a:avLst>
              <a:gd name="adj" fmla="val 6711"/>
            </a:avLst>
          </a:prstGeom>
          <a:solidFill>
            <a:srgbClr val="1E293B">
              <a:alpha val="40000"/>
            </a:srgbClr>
          </a:solidFill>
          <a:ln w="12700">
            <a:solidFill>
              <a:schemeClr val="bg1">
                <a:alpha val="10000"/>
              </a:schemeClr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" name="Text 34">
            <a:extLst>
              <a:ext uri="{FF2B5EF4-FFF2-40B4-BE49-F238E27FC236}">
                <a16:creationId xmlns:a16="http://schemas.microsoft.com/office/drawing/2014/main" id="{488CFE3C-3DDA-ADA7-5758-0EDA4EC6C8AC}"/>
              </a:ext>
            </a:extLst>
          </p:cNvPr>
          <p:cNvSpPr txBox="1"/>
          <p:nvPr/>
        </p:nvSpPr>
        <p:spPr>
          <a:xfrm>
            <a:off x="961228" y="4297587"/>
            <a:ext cx="2062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THE ULTIMATE QUESTION</a:t>
            </a:r>
            <a:endParaRPr 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" name="Text 35">
            <a:extLst>
              <a:ext uri="{FF2B5EF4-FFF2-40B4-BE49-F238E27FC236}">
                <a16:creationId xmlns:a16="http://schemas.microsoft.com/office/drawing/2014/main" id="{76D96C33-8D07-8A90-97EC-4506C3E6D8A3}"/>
              </a:ext>
            </a:extLst>
          </p:cNvPr>
          <p:cNvSpPr txBox="1"/>
          <p:nvPr/>
        </p:nvSpPr>
        <p:spPr>
          <a:xfrm>
            <a:off x="961228" y="4592939"/>
            <a:ext cx="37627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"이 데이터로 무엇을 결정할 것인가?"</a:t>
            </a:r>
            <a:endParaRPr lang="en-US" sz="1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7589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1D739111-AE27-88AD-FCC5-6A06874BF592}"/>
              </a:ext>
            </a:extLst>
          </p:cNvPr>
          <p:cNvSpPr/>
          <p:nvPr/>
        </p:nvSpPr>
        <p:spPr>
          <a:xfrm>
            <a:off x="457200" y="1050322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74BF214A-7E61-E214-02C5-27986C1871D0}"/>
              </a:ext>
            </a:extLst>
          </p:cNvPr>
          <p:cNvSpPr txBox="1"/>
          <p:nvPr/>
        </p:nvSpPr>
        <p:spPr>
          <a:xfrm>
            <a:off x="457199" y="383724"/>
            <a:ext cx="906574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indent="0">
              <a:buNone/>
              <a:defRPr sz="2700" b="1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예측 모델의 핵심</a:t>
            </a:r>
            <a:r>
              <a:rPr lang="en-US" altLang="ko-KR" dirty="0"/>
              <a:t>: </a:t>
            </a:r>
            <a:r>
              <a:rPr lang="ko-KR" altLang="en-US" dirty="0"/>
              <a:t>예측은 결정을 위한 도구</a:t>
            </a:r>
            <a:endParaRPr lang="en-US" altLang="ko-KR" dirty="0"/>
          </a:p>
        </p:txBody>
      </p:sp>
      <p:sp>
        <p:nvSpPr>
          <p:cNvPr id="16" name="Shape 21">
            <a:extLst>
              <a:ext uri="{FF2B5EF4-FFF2-40B4-BE49-F238E27FC236}">
                <a16:creationId xmlns:a16="http://schemas.microsoft.com/office/drawing/2014/main" id="{3C062DED-3B23-48F4-A4A2-45B9D44A0307}"/>
              </a:ext>
            </a:extLst>
          </p:cNvPr>
          <p:cNvSpPr/>
          <p:nvPr/>
        </p:nvSpPr>
        <p:spPr>
          <a:xfrm>
            <a:off x="6211148" y="1762049"/>
            <a:ext cx="5810098" cy="4019702"/>
          </a:xfrm>
          <a:prstGeom prst="roundRect">
            <a:avLst>
              <a:gd name="adj" fmla="val 2051"/>
            </a:avLst>
          </a:prstGeom>
          <a:solidFill>
            <a:schemeClr val="tx2">
              <a:lumMod val="75000"/>
              <a:lumOff val="25000"/>
            </a:schemeClr>
          </a:solidFill>
          <a:ln w="254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24B38BA8-4BBF-8E90-0696-0D04B3F588F6}"/>
              </a:ext>
            </a:extLst>
          </p:cNvPr>
          <p:cNvSpPr txBox="1"/>
          <p:nvPr/>
        </p:nvSpPr>
        <p:spPr>
          <a:xfrm>
            <a:off x="6448892" y="3112039"/>
            <a:ext cx="21771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Scenario A: 가격 정책 변경</a:t>
            </a:r>
            <a:endParaRPr lang="en-US" sz="13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 23">
            <a:extLst>
              <a:ext uri="{FF2B5EF4-FFF2-40B4-BE49-F238E27FC236}">
                <a16:creationId xmlns:a16="http://schemas.microsoft.com/office/drawing/2014/main" id="{B4A021A0-3195-EF41-19FA-7DCBCFABDABD}"/>
              </a:ext>
            </a:extLst>
          </p:cNvPr>
          <p:cNvSpPr txBox="1"/>
          <p:nvPr/>
        </p:nvSpPr>
        <p:spPr>
          <a:xfrm>
            <a:off x="6448892" y="3407390"/>
            <a:ext cx="2310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"할인율을 15%로 올리면 예상 매출은?"</a:t>
            </a:r>
            <a:endParaRPr 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0" name="Shape 24">
            <a:extLst>
              <a:ext uri="{FF2B5EF4-FFF2-40B4-BE49-F238E27FC236}">
                <a16:creationId xmlns:a16="http://schemas.microsoft.com/office/drawing/2014/main" id="{94BECCC1-CBA1-AF45-DF15-04766FC77DD3}"/>
              </a:ext>
            </a:extLst>
          </p:cNvPr>
          <p:cNvSpPr/>
          <p:nvPr/>
        </p:nvSpPr>
        <p:spPr>
          <a:xfrm>
            <a:off x="10923966" y="3101981"/>
            <a:ext cx="857707" cy="228600"/>
          </a:xfrm>
          <a:prstGeom prst="roundRect">
            <a:avLst>
              <a:gd name="adj" fmla="val 66667"/>
            </a:avLst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Text 25">
            <a:extLst>
              <a:ext uri="{FF2B5EF4-FFF2-40B4-BE49-F238E27FC236}">
                <a16:creationId xmlns:a16="http://schemas.microsoft.com/office/drawing/2014/main" id="{043D2ABA-1EA0-F8E3-5FA9-81FF459D18A5}"/>
              </a:ext>
            </a:extLst>
          </p:cNvPr>
          <p:cNvSpPr txBox="1"/>
          <p:nvPr/>
        </p:nvSpPr>
        <p:spPr>
          <a:xfrm>
            <a:off x="10999861" y="3130327"/>
            <a:ext cx="7909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SIMULATION</a:t>
            </a:r>
            <a:endParaRPr lang="en-US" sz="9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Shape 26">
            <a:extLst>
              <a:ext uri="{FF2B5EF4-FFF2-40B4-BE49-F238E27FC236}">
                <a16:creationId xmlns:a16="http://schemas.microsoft.com/office/drawing/2014/main" id="{FF3B2080-6952-72AF-02B7-52ACDC4C120E}"/>
              </a:ext>
            </a:extLst>
          </p:cNvPr>
          <p:cNvSpPr/>
          <p:nvPr/>
        </p:nvSpPr>
        <p:spPr>
          <a:xfrm>
            <a:off x="6447978" y="4013105"/>
            <a:ext cx="5333695" cy="1019556"/>
          </a:xfrm>
          <a:prstGeom prst="roundRect">
            <a:avLst>
              <a:gd name="adj" fmla="val 6706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Text 27">
            <a:extLst>
              <a:ext uri="{FF2B5EF4-FFF2-40B4-BE49-F238E27FC236}">
                <a16:creationId xmlns:a16="http://schemas.microsoft.com/office/drawing/2014/main" id="{1A5FDA61-35D2-8546-1442-8F7DE1B884E3}"/>
              </a:ext>
            </a:extLst>
          </p:cNvPr>
          <p:cNvSpPr txBox="1"/>
          <p:nvPr/>
        </p:nvSpPr>
        <p:spPr>
          <a:xfrm>
            <a:off x="6609827" y="4164896"/>
            <a:ext cx="8293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Discount Rate</a:t>
            </a:r>
            <a:endParaRPr lang="en-US" sz="9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Text 28">
            <a:extLst>
              <a:ext uri="{FF2B5EF4-FFF2-40B4-BE49-F238E27FC236}">
                <a16:creationId xmlns:a16="http://schemas.microsoft.com/office/drawing/2014/main" id="{6395F112-FA27-638C-6F79-EA679AB7B1DF}"/>
              </a:ext>
            </a:extLst>
          </p:cNvPr>
          <p:cNvSpPr txBox="1"/>
          <p:nvPr/>
        </p:nvSpPr>
        <p:spPr>
          <a:xfrm>
            <a:off x="11372022" y="4164896"/>
            <a:ext cx="3337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15%</a:t>
            </a:r>
            <a:endParaRPr lang="en-US" sz="9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" name="Shape 29">
            <a:extLst>
              <a:ext uri="{FF2B5EF4-FFF2-40B4-BE49-F238E27FC236}">
                <a16:creationId xmlns:a16="http://schemas.microsoft.com/office/drawing/2014/main" id="{55A14851-60B4-1305-6FEF-6331380197CF}"/>
              </a:ext>
            </a:extLst>
          </p:cNvPr>
          <p:cNvSpPr/>
          <p:nvPr/>
        </p:nvSpPr>
        <p:spPr>
          <a:xfrm>
            <a:off x="6609827" y="4403554"/>
            <a:ext cx="5009998" cy="38405"/>
          </a:xfrm>
          <a:prstGeom prst="roundRect">
            <a:avLst>
              <a:gd name="adj" fmla="val 1190470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" name="Shape 30">
            <a:extLst>
              <a:ext uri="{FF2B5EF4-FFF2-40B4-BE49-F238E27FC236}">
                <a16:creationId xmlns:a16="http://schemas.microsoft.com/office/drawing/2014/main" id="{074FC080-2243-E683-4717-ECDE2933847E}"/>
              </a:ext>
            </a:extLst>
          </p:cNvPr>
          <p:cNvSpPr/>
          <p:nvPr/>
        </p:nvSpPr>
        <p:spPr>
          <a:xfrm>
            <a:off x="6609827" y="4403554"/>
            <a:ext cx="3010205" cy="38405"/>
          </a:xfrm>
          <a:prstGeom prst="roundRect">
            <a:avLst>
              <a:gd name="adj" fmla="val 1190470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A979D317-83D9-2403-2FC0-27DEF6EFF5ED}"/>
              </a:ext>
            </a:extLst>
          </p:cNvPr>
          <p:cNvSpPr/>
          <p:nvPr/>
        </p:nvSpPr>
        <p:spPr>
          <a:xfrm>
            <a:off x="9537736" y="4345947"/>
            <a:ext cx="152705" cy="15270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8BDF8"/>
            </a:solidFill>
            <a:prstDash val="solid"/>
          </a:ln>
          <a:effectLst>
            <a:outerShdw blurRad="381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" name="Shape 32">
            <a:extLst>
              <a:ext uri="{FF2B5EF4-FFF2-40B4-BE49-F238E27FC236}">
                <a16:creationId xmlns:a16="http://schemas.microsoft.com/office/drawing/2014/main" id="{84519FC7-A478-C141-68DD-4D99A5BF02BB}"/>
              </a:ext>
            </a:extLst>
          </p:cNvPr>
          <p:cNvSpPr/>
          <p:nvPr/>
        </p:nvSpPr>
        <p:spPr>
          <a:xfrm>
            <a:off x="6609827" y="4593749"/>
            <a:ext cx="500999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xt 33">
            <a:extLst>
              <a:ext uri="{FF2B5EF4-FFF2-40B4-BE49-F238E27FC236}">
                <a16:creationId xmlns:a16="http://schemas.microsoft.com/office/drawing/2014/main" id="{08B6FB3C-53B0-492C-3EA3-B9897226EC89}"/>
              </a:ext>
            </a:extLst>
          </p:cNvPr>
          <p:cNvSpPr txBox="1"/>
          <p:nvPr/>
        </p:nvSpPr>
        <p:spPr>
          <a:xfrm>
            <a:off x="6609827" y="4688847"/>
            <a:ext cx="14959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Predicted Revenue Impact</a:t>
            </a:r>
            <a:endParaRPr lang="en-US" sz="9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CDD7AC6F-B492-1B74-A6EB-7D0FE7FAEB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33" r="-133"/>
          <a:stretch/>
        </p:blipFill>
        <p:spPr>
          <a:xfrm>
            <a:off x="11006262" y="4731824"/>
            <a:ext cx="85954" cy="114300"/>
          </a:xfrm>
          <a:prstGeom prst="rect">
            <a:avLst/>
          </a:prstGeom>
        </p:spPr>
      </p:pic>
      <p:sp>
        <p:nvSpPr>
          <p:cNvPr id="31" name="Text 34">
            <a:extLst>
              <a:ext uri="{FF2B5EF4-FFF2-40B4-BE49-F238E27FC236}">
                <a16:creationId xmlns:a16="http://schemas.microsoft.com/office/drawing/2014/main" id="{4FCB1485-06B3-6B9F-B927-E1D068710DEA}"/>
              </a:ext>
            </a:extLst>
          </p:cNvPr>
          <p:cNvSpPr txBox="1"/>
          <p:nvPr/>
        </p:nvSpPr>
        <p:spPr>
          <a:xfrm>
            <a:off x="11130621" y="4679703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+12.5%</a:t>
            </a:r>
            <a:endParaRPr 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7" name="Shape 20">
            <a:extLst>
              <a:ext uri="{FF2B5EF4-FFF2-40B4-BE49-F238E27FC236}">
                <a16:creationId xmlns:a16="http://schemas.microsoft.com/office/drawing/2014/main" id="{DD2F2160-54F8-7E3E-B069-B7A2A5C3B8D7}"/>
              </a:ext>
            </a:extLst>
          </p:cNvPr>
          <p:cNvSpPr/>
          <p:nvPr/>
        </p:nvSpPr>
        <p:spPr>
          <a:xfrm>
            <a:off x="547726" y="1762049"/>
            <a:ext cx="5283403" cy="4019702"/>
          </a:xfrm>
          <a:prstGeom prst="roundRect">
            <a:avLst>
              <a:gd name="adj" fmla="val 862"/>
            </a:avLst>
          </a:prstGeom>
          <a:solidFill>
            <a:schemeClr val="bg1">
              <a:lumMod val="85000"/>
            </a:schemeClr>
          </a:solidFill>
          <a:ln w="254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8">
            <a:extLst>
              <a:ext uri="{FF2B5EF4-FFF2-40B4-BE49-F238E27FC236}">
                <a16:creationId xmlns:a16="http://schemas.microsoft.com/office/drawing/2014/main" id="{DB77E6AB-16E4-2690-428A-61F833746EAA}"/>
              </a:ext>
            </a:extLst>
          </p:cNvPr>
          <p:cNvSpPr txBox="1"/>
          <p:nvPr/>
        </p:nvSpPr>
        <p:spPr>
          <a:xfrm>
            <a:off x="1106292" y="2148289"/>
            <a:ext cx="3803459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Wingdings" pitchFamily="2" charset="2"/>
              <a:buChar char="v"/>
            </a:pPr>
            <a:r>
              <a:rPr lang="en-US" sz="1500" b="1" dirty="0" err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세그멘테이션</a:t>
            </a: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r>
              <a:rPr lang="ko-KR" altLang="en-US" sz="1500" dirty="0"/>
              <a:t> </a:t>
            </a: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&amp; 모델 분리 전략</a:t>
            </a:r>
            <a:endParaRPr lang="en-US" sz="1500" dirty="0"/>
          </a:p>
        </p:txBody>
      </p:sp>
      <p:pic>
        <p:nvPicPr>
          <p:cNvPr id="61" name="Image 4" descr="preencoded.png">
            <a:extLst>
              <a:ext uri="{FF2B5EF4-FFF2-40B4-BE49-F238E27FC236}">
                <a16:creationId xmlns:a16="http://schemas.microsoft.com/office/drawing/2014/main" id="{08C2A0C4-7A9C-0893-D38A-196ECB9FA9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14754" b="-214754"/>
          <a:stretch/>
        </p:blipFill>
        <p:spPr>
          <a:xfrm>
            <a:off x="1248095" y="2788341"/>
            <a:ext cx="190195" cy="895198"/>
          </a:xfrm>
          <a:prstGeom prst="rect">
            <a:avLst/>
          </a:prstGeom>
        </p:spPr>
      </p:pic>
      <p:sp>
        <p:nvSpPr>
          <p:cNvPr id="62" name="Text 9">
            <a:extLst>
              <a:ext uri="{FF2B5EF4-FFF2-40B4-BE49-F238E27FC236}">
                <a16:creationId xmlns:a16="http://schemas.microsoft.com/office/drawing/2014/main" id="{CEF5D800-F258-0245-7BBC-44EED4ABC36F}"/>
              </a:ext>
            </a:extLst>
          </p:cNvPr>
          <p:cNvSpPr txBox="1"/>
          <p:nvPr/>
        </p:nvSpPr>
        <p:spPr>
          <a:xfrm>
            <a:off x="1495588" y="3134899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 최적화 분석</a:t>
            </a:r>
            <a:endParaRPr lang="en-US" sz="1200" dirty="0"/>
          </a:p>
        </p:txBody>
      </p:sp>
      <p:sp>
        <p:nvSpPr>
          <p:cNvPr id="63" name="Text 10">
            <a:extLst>
              <a:ext uri="{FF2B5EF4-FFF2-40B4-BE49-F238E27FC236}">
                <a16:creationId xmlns:a16="http://schemas.microsoft.com/office/drawing/2014/main" id="{D7CD685D-5432-1362-74EC-660788661C4B}"/>
              </a:ext>
            </a:extLst>
          </p:cNvPr>
          <p:cNvSpPr txBox="1"/>
          <p:nvPr/>
        </p:nvSpPr>
        <p:spPr>
          <a:xfrm>
            <a:off x="1495587" y="3278833"/>
            <a:ext cx="3669536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데이터를 하나로 보지 않고, 고객 특성별로 나누어 숨겨진 패턴을 발견하고 맞춤형 전략을 수립합니다.</a:t>
            </a:r>
            <a:endParaRPr lang="en-US" sz="1100" dirty="0"/>
          </a:p>
        </p:txBody>
      </p:sp>
      <p:pic>
        <p:nvPicPr>
          <p:cNvPr id="64" name="Image 5" descr="preencoded.png">
            <a:extLst>
              <a:ext uri="{FF2B5EF4-FFF2-40B4-BE49-F238E27FC236}">
                <a16:creationId xmlns:a16="http://schemas.microsoft.com/office/drawing/2014/main" id="{19F17B76-7968-F2F0-5B48-8481A24904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204948" b="-204948"/>
          <a:stretch/>
        </p:blipFill>
        <p:spPr>
          <a:xfrm>
            <a:off x="1218834" y="3963802"/>
            <a:ext cx="219456" cy="895198"/>
          </a:xfrm>
          <a:prstGeom prst="rect">
            <a:avLst/>
          </a:prstGeom>
        </p:spPr>
      </p:pic>
      <p:sp>
        <p:nvSpPr>
          <p:cNvPr id="65" name="Text 11">
            <a:extLst>
              <a:ext uri="{FF2B5EF4-FFF2-40B4-BE49-F238E27FC236}">
                <a16:creationId xmlns:a16="http://schemas.microsoft.com/office/drawing/2014/main" id="{DEC00C2A-7815-BA95-2399-5A09DE07D61C}"/>
              </a:ext>
            </a:extLst>
          </p:cNvPr>
          <p:cNvSpPr txBox="1"/>
          <p:nvPr/>
        </p:nvSpPr>
        <p:spPr>
          <a:xfrm>
            <a:off x="1523934" y="4297101"/>
            <a:ext cx="3210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세그먼트별 모델 분리</a:t>
            </a:r>
            <a:endParaRPr lang="en-US" sz="1200" dirty="0"/>
          </a:p>
        </p:txBody>
      </p:sp>
      <p:sp>
        <p:nvSpPr>
          <p:cNvPr id="66" name="Text 12">
            <a:extLst>
              <a:ext uri="{FF2B5EF4-FFF2-40B4-BE49-F238E27FC236}">
                <a16:creationId xmlns:a16="http://schemas.microsoft.com/office/drawing/2014/main" id="{728E3905-845A-0447-8BD5-0E4AFBC39459}"/>
              </a:ext>
            </a:extLst>
          </p:cNvPr>
          <p:cNvSpPr txBox="1"/>
          <p:nvPr/>
        </p:nvSpPr>
        <p:spPr>
          <a:xfrm>
            <a:off x="1538593" y="4411401"/>
            <a:ext cx="358352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CatBoost</a:t>
            </a:r>
            <a:r>
              <a:rPr lang="en-US" sz="1100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등을 활용하여 클러스터·매장타입·도시별로 모델을 각각 분리해 예측 정확도를 극대화합니다. </a:t>
            </a:r>
            <a:endParaRPr lang="en-US" sz="1100" dirty="0"/>
          </a:p>
        </p:txBody>
      </p:sp>
      <p:sp>
        <p:nvSpPr>
          <p:cNvPr id="9" name="Text 15">
            <a:extLst>
              <a:ext uri="{FF2B5EF4-FFF2-40B4-BE49-F238E27FC236}">
                <a16:creationId xmlns:a16="http://schemas.microsoft.com/office/drawing/2014/main" id="{93CD032D-0638-9CFE-EFD7-7924FC8705EA}"/>
              </a:ext>
            </a:extLst>
          </p:cNvPr>
          <p:cNvSpPr txBox="1"/>
          <p:nvPr/>
        </p:nvSpPr>
        <p:spPr>
          <a:xfrm>
            <a:off x="6408658" y="2216002"/>
            <a:ext cx="23911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marL="285750" indent="-285750">
              <a:buFont typeface="Wingdings" pitchFamily="2" charset="2"/>
              <a:buChar char="v"/>
              <a:defRPr sz="1500" b="1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What-if </a:t>
            </a:r>
            <a:r>
              <a:rPr lang="en-US" dirty="0" err="1">
                <a:solidFill>
                  <a:schemeClr val="bg1"/>
                </a:solidFill>
              </a:rPr>
              <a:t>시나리오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분석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950F2D-CCD0-E48A-2DEA-4B4C7724B74F}"/>
              </a:ext>
            </a:extLst>
          </p:cNvPr>
          <p:cNvSpPr txBox="1"/>
          <p:nvPr/>
        </p:nvSpPr>
        <p:spPr>
          <a:xfrm>
            <a:off x="6408658" y="2694542"/>
            <a:ext cx="60008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5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예시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3D49428-56AD-7A45-0C98-E525B68C1EB3}"/>
              </a:ext>
            </a:extLst>
          </p:cNvPr>
          <p:cNvSpPr txBox="1"/>
          <p:nvPr/>
        </p:nvSpPr>
        <p:spPr>
          <a:xfrm>
            <a:off x="397476" y="1188896"/>
            <a:ext cx="11108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indent="0">
              <a:buNone/>
              <a:defRPr kern="0" spc="-56">
                <a:latin typeface="+mn-ea"/>
                <a:cs typeface="Noto Sans KR" pitchFamily="34" charset="-120"/>
              </a:defRPr>
            </a:lvl1pPr>
          </a:lstStyle>
          <a:p>
            <a:r>
              <a:rPr lang="ko-KR" altLang="en-US" dirty="0"/>
              <a:t>정확도보다 중요한 건</a:t>
            </a:r>
            <a:r>
              <a:rPr lang="en-US" altLang="ko-KR" dirty="0"/>
              <a:t>, </a:t>
            </a:r>
            <a:r>
              <a:rPr lang="ko-KR" altLang="en-US" dirty="0"/>
              <a:t>선택지를 비교하고 결정을 돕는 것입니다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6908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274E09A0-02A7-7F19-13EE-93DBAD6B23C3}"/>
              </a:ext>
            </a:extLst>
          </p:cNvPr>
          <p:cNvSpPr/>
          <p:nvPr/>
        </p:nvSpPr>
        <p:spPr>
          <a:xfrm>
            <a:off x="457200" y="1050322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FC94281A-FB1C-51D4-64EC-2680697B99B9}"/>
              </a:ext>
            </a:extLst>
          </p:cNvPr>
          <p:cNvSpPr txBox="1"/>
          <p:nvPr/>
        </p:nvSpPr>
        <p:spPr>
          <a:xfrm>
            <a:off x="457199" y="383724"/>
            <a:ext cx="906574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indent="0">
              <a:buNone/>
              <a:defRPr sz="2700" b="1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/>
              <a:t>RAG Agent</a:t>
            </a:r>
            <a:r>
              <a:rPr lang="ko-KR" altLang="en-US" dirty="0"/>
              <a:t>의 핵심</a:t>
            </a:r>
            <a:r>
              <a:rPr lang="en-US" altLang="ko-KR" dirty="0"/>
              <a:t>: </a:t>
            </a:r>
            <a:r>
              <a:rPr lang="en-US" altLang="ko-KR" dirty="0" err="1"/>
              <a:t>분석</a:t>
            </a:r>
            <a:r>
              <a:rPr lang="en-US" altLang="ko-KR" dirty="0"/>
              <a:t> </a:t>
            </a:r>
            <a:r>
              <a:rPr lang="en-US" altLang="ko-KR" dirty="0" err="1"/>
              <a:t>결과를</a:t>
            </a:r>
            <a:r>
              <a:rPr lang="en-US" altLang="ko-KR" dirty="0"/>
              <a:t> </a:t>
            </a:r>
            <a:r>
              <a:rPr lang="ko-KR" altLang="en-US" dirty="0"/>
              <a:t>서비스로</a:t>
            </a:r>
            <a:endParaRPr lang="en-US" altLang="ko-KR" dirty="0"/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71FAF771-215A-4975-FAF0-F16060DA84AC}"/>
              </a:ext>
            </a:extLst>
          </p:cNvPr>
          <p:cNvSpPr/>
          <p:nvPr/>
        </p:nvSpPr>
        <p:spPr>
          <a:xfrm>
            <a:off x="1218895" y="4886554"/>
            <a:ext cx="3105302" cy="705002"/>
          </a:xfrm>
          <a:prstGeom prst="roundRect">
            <a:avLst>
              <a:gd name="adj" fmla="val 1402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F2C41DD9-6C72-8BEB-1BBE-CF84DC19DAAF}"/>
              </a:ext>
            </a:extLst>
          </p:cNvPr>
          <p:cNvSpPr/>
          <p:nvPr/>
        </p:nvSpPr>
        <p:spPr>
          <a:xfrm>
            <a:off x="1380744" y="5048402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61540AC8-BB36-CF02-EB0A-CC0D6DC495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95044" y="5162702"/>
            <a:ext cx="152705" cy="152705"/>
          </a:xfrm>
          <a:prstGeom prst="rect">
            <a:avLst/>
          </a:prstGeom>
        </p:spPr>
      </p:pic>
      <p:sp>
        <p:nvSpPr>
          <p:cNvPr id="7" name="Shape 10">
            <a:extLst>
              <a:ext uri="{FF2B5EF4-FFF2-40B4-BE49-F238E27FC236}">
                <a16:creationId xmlns:a16="http://schemas.microsoft.com/office/drawing/2014/main" id="{F9252330-2B86-4D26-E78D-1A0FDD710C6E}"/>
              </a:ext>
            </a:extLst>
          </p:cNvPr>
          <p:cNvSpPr/>
          <p:nvPr/>
        </p:nvSpPr>
        <p:spPr>
          <a:xfrm>
            <a:off x="4546397" y="4886554"/>
            <a:ext cx="3105302" cy="705002"/>
          </a:xfrm>
          <a:prstGeom prst="roundRect">
            <a:avLst>
              <a:gd name="adj" fmla="val 1402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Shape 11">
            <a:extLst>
              <a:ext uri="{FF2B5EF4-FFF2-40B4-BE49-F238E27FC236}">
                <a16:creationId xmlns:a16="http://schemas.microsoft.com/office/drawing/2014/main" id="{9225FE99-6983-5A4F-0696-93509B6C7E12}"/>
              </a:ext>
            </a:extLst>
          </p:cNvPr>
          <p:cNvSpPr/>
          <p:nvPr/>
        </p:nvSpPr>
        <p:spPr>
          <a:xfrm>
            <a:off x="4708246" y="5048402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CB6AE102-1AFC-49DA-3DE6-F23C34802B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4803343" y="5162702"/>
            <a:ext cx="190195" cy="152705"/>
          </a:xfrm>
          <a:prstGeom prst="rect">
            <a:avLst/>
          </a:prstGeom>
        </p:spPr>
      </p:pic>
      <p:sp>
        <p:nvSpPr>
          <p:cNvPr id="10" name="Shape 12">
            <a:extLst>
              <a:ext uri="{FF2B5EF4-FFF2-40B4-BE49-F238E27FC236}">
                <a16:creationId xmlns:a16="http://schemas.microsoft.com/office/drawing/2014/main" id="{5A4150E6-00BC-6DF4-6966-8A07503B9DCF}"/>
              </a:ext>
            </a:extLst>
          </p:cNvPr>
          <p:cNvSpPr/>
          <p:nvPr/>
        </p:nvSpPr>
        <p:spPr>
          <a:xfrm>
            <a:off x="7873898" y="4886554"/>
            <a:ext cx="3105302" cy="705002"/>
          </a:xfrm>
          <a:prstGeom prst="roundRect">
            <a:avLst>
              <a:gd name="adj" fmla="val 14022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6EF948F7-076F-3A08-FC75-5023E7DC55A3}"/>
              </a:ext>
            </a:extLst>
          </p:cNvPr>
          <p:cNvSpPr/>
          <p:nvPr/>
        </p:nvSpPr>
        <p:spPr>
          <a:xfrm>
            <a:off x="8035747" y="5048402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D7ADFC04-818F-F71D-B1B3-23423925F5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50047" y="5162702"/>
            <a:ext cx="152705" cy="152705"/>
          </a:xfrm>
          <a:prstGeom prst="rect">
            <a:avLst/>
          </a:prstGeom>
        </p:spPr>
      </p:pic>
      <p:sp>
        <p:nvSpPr>
          <p:cNvPr id="13" name="Text 14">
            <a:extLst>
              <a:ext uri="{FF2B5EF4-FFF2-40B4-BE49-F238E27FC236}">
                <a16:creationId xmlns:a16="http://schemas.microsoft.com/office/drawing/2014/main" id="{35E35388-7193-0138-DA44-AF2ACFE42817}"/>
              </a:ext>
            </a:extLst>
          </p:cNvPr>
          <p:cNvSpPr txBox="1"/>
          <p:nvPr/>
        </p:nvSpPr>
        <p:spPr>
          <a:xfrm>
            <a:off x="661111" y="4238244"/>
            <a:ext cx="27486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일회성 보고서가 아닌지속 가능한 데이터로 저장</a:t>
            </a:r>
            <a:endParaRPr 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7A6ED737-D351-7A4A-D657-1291D6464E6E}"/>
              </a:ext>
            </a:extLst>
          </p:cNvPr>
          <p:cNvSpPr txBox="1"/>
          <p:nvPr/>
        </p:nvSpPr>
        <p:spPr>
          <a:xfrm>
            <a:off x="4372661" y="4238244"/>
            <a:ext cx="2634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분석 맥락을 이해하고필요한 정보만 검색/생성</a:t>
            </a:r>
            <a:endParaRPr 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0BFF7134-8EA1-E306-3FE6-5F3B9FE87DFA}"/>
              </a:ext>
            </a:extLst>
          </p:cNvPr>
          <p:cNvSpPr txBox="1"/>
          <p:nvPr/>
        </p:nvSpPr>
        <p:spPr>
          <a:xfrm>
            <a:off x="8513064" y="4238244"/>
            <a:ext cx="2586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누구나 쉬운 자연어로인사이트 접근성 극대화</a:t>
            </a:r>
            <a:endParaRPr 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38360241-32D2-9027-745F-5E96FA14B765}"/>
              </a:ext>
            </a:extLst>
          </p:cNvPr>
          <p:cNvSpPr txBox="1"/>
          <p:nvPr/>
        </p:nvSpPr>
        <p:spPr>
          <a:xfrm>
            <a:off x="1914754" y="5067605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분석 결과 재사용</a:t>
            </a:r>
            <a:endParaRPr 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B202C453-F659-71EC-04E4-54DE68F617AF}"/>
              </a:ext>
            </a:extLst>
          </p:cNvPr>
          <p:cNvSpPr txBox="1"/>
          <p:nvPr/>
        </p:nvSpPr>
        <p:spPr>
          <a:xfrm>
            <a:off x="1914754" y="5248656"/>
            <a:ext cx="9144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Repeated Value</a:t>
            </a:r>
            <a:endParaRPr lang="en-US" sz="9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74A90725-34BE-3850-5489-5117580AE8D3}"/>
              </a:ext>
            </a:extLst>
          </p:cNvPr>
          <p:cNvSpPr txBox="1"/>
          <p:nvPr/>
        </p:nvSpPr>
        <p:spPr>
          <a:xfrm>
            <a:off x="5242255" y="5067605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자연어 질의 대응</a:t>
            </a:r>
            <a:endParaRPr 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286D3F02-ACCE-DBD8-4313-0FC57F7EB694}"/>
              </a:ext>
            </a:extLst>
          </p:cNvPr>
          <p:cNvSpPr txBox="1"/>
          <p:nvPr/>
        </p:nvSpPr>
        <p:spPr>
          <a:xfrm>
            <a:off x="5242255" y="5248656"/>
            <a:ext cx="9720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Democratization</a:t>
            </a:r>
            <a:endParaRPr lang="en-US" sz="9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0DC14211-949F-BE5A-5796-9AE4AAFBF5CE}"/>
              </a:ext>
            </a:extLst>
          </p:cNvPr>
          <p:cNvSpPr txBox="1"/>
          <p:nvPr/>
        </p:nvSpPr>
        <p:spPr>
          <a:xfrm>
            <a:off x="8568842" y="5067605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확장 가능한 구조</a:t>
            </a:r>
            <a:endParaRPr 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DB73E380-5769-D690-BEA7-9847CE44420C}"/>
              </a:ext>
            </a:extLst>
          </p:cNvPr>
          <p:cNvSpPr txBox="1"/>
          <p:nvPr/>
        </p:nvSpPr>
        <p:spPr>
          <a:xfrm>
            <a:off x="8568842" y="5248656"/>
            <a:ext cx="12289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Scalable Architecture</a:t>
            </a:r>
            <a:endParaRPr lang="en-US" sz="9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5125ED5A-64CB-AB32-F9F1-12BF92338631}"/>
              </a:ext>
            </a:extLst>
          </p:cNvPr>
          <p:cNvSpPr/>
          <p:nvPr/>
        </p:nvSpPr>
        <p:spPr>
          <a:xfrm>
            <a:off x="609905" y="2257654"/>
            <a:ext cx="2743200" cy="1828800"/>
          </a:xfrm>
          <a:prstGeom prst="roundRect">
            <a:avLst>
              <a:gd name="adj" fmla="val 3125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Shape 26">
            <a:extLst>
              <a:ext uri="{FF2B5EF4-FFF2-40B4-BE49-F238E27FC236}">
                <a16:creationId xmlns:a16="http://schemas.microsoft.com/office/drawing/2014/main" id="{261A84C8-4767-92E4-98C7-B62CE51DC10B}"/>
              </a:ext>
            </a:extLst>
          </p:cNvPr>
          <p:cNvSpPr/>
          <p:nvPr/>
        </p:nvSpPr>
        <p:spPr>
          <a:xfrm>
            <a:off x="609905" y="2314346"/>
            <a:ext cx="2723998" cy="1809598"/>
          </a:xfrm>
          <a:prstGeom prst="roundRect">
            <a:avLst>
              <a:gd name="adj" fmla="val 3191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Shape 27">
            <a:extLst>
              <a:ext uri="{FF2B5EF4-FFF2-40B4-BE49-F238E27FC236}">
                <a16:creationId xmlns:a16="http://schemas.microsoft.com/office/drawing/2014/main" id="{7FF3E6CF-063A-3A61-08F8-7735170BD7BE}"/>
              </a:ext>
            </a:extLst>
          </p:cNvPr>
          <p:cNvSpPr/>
          <p:nvPr/>
        </p:nvSpPr>
        <p:spPr>
          <a:xfrm>
            <a:off x="609905" y="2371954"/>
            <a:ext cx="2723998" cy="1809598"/>
          </a:xfrm>
          <a:prstGeom prst="roundRect">
            <a:avLst>
              <a:gd name="adj" fmla="val 3191"/>
            </a:avLst>
          </a:prstGeom>
          <a:solidFill>
            <a:srgbClr val="1E293B">
              <a:alpha val="3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" name="Shape 28">
            <a:extLst>
              <a:ext uri="{FF2B5EF4-FFF2-40B4-BE49-F238E27FC236}">
                <a16:creationId xmlns:a16="http://schemas.microsoft.com/office/drawing/2014/main" id="{DD8D54A4-CB63-78B6-3C69-A7FD1AF58DF7}"/>
              </a:ext>
            </a:extLst>
          </p:cNvPr>
          <p:cNvSpPr/>
          <p:nvPr/>
        </p:nvSpPr>
        <p:spPr>
          <a:xfrm>
            <a:off x="1676095" y="2542946"/>
            <a:ext cx="609905" cy="609905"/>
          </a:xfrm>
          <a:prstGeom prst="roundRect">
            <a:avLst>
              <a:gd name="adj" fmla="val 149925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26" name="Image 4" descr="preencoded.png">
            <a:extLst>
              <a:ext uri="{FF2B5EF4-FFF2-40B4-BE49-F238E27FC236}">
                <a16:creationId xmlns:a16="http://schemas.microsoft.com/office/drawing/2014/main" id="{5CF24C69-6366-9828-7BE2-B68666678CF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66" r="-266"/>
          <a:stretch/>
        </p:blipFill>
        <p:spPr>
          <a:xfrm>
            <a:off x="1819656" y="2704795"/>
            <a:ext cx="323698" cy="286207"/>
          </a:xfrm>
          <a:prstGeom prst="rect">
            <a:avLst/>
          </a:prstGeom>
        </p:spPr>
      </p:pic>
      <p:sp>
        <p:nvSpPr>
          <p:cNvPr id="27" name="Text 29">
            <a:extLst>
              <a:ext uri="{FF2B5EF4-FFF2-40B4-BE49-F238E27FC236}">
                <a16:creationId xmlns:a16="http://schemas.microsoft.com/office/drawing/2014/main" id="{7C7397EB-9F2B-C40F-5237-55A46BF4EC6D}"/>
              </a:ext>
            </a:extLst>
          </p:cNvPr>
          <p:cNvSpPr txBox="1"/>
          <p:nvPr/>
        </p:nvSpPr>
        <p:spPr>
          <a:xfrm>
            <a:off x="1286561" y="3314700"/>
            <a:ext cx="15197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분석 결과 (Assets)</a:t>
            </a:r>
            <a:endParaRPr lang="en-US" sz="13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" name="Text 30">
            <a:extLst>
              <a:ext uri="{FF2B5EF4-FFF2-40B4-BE49-F238E27FC236}">
                <a16:creationId xmlns:a16="http://schemas.microsoft.com/office/drawing/2014/main" id="{43AB9E12-B039-DB1F-274A-F8D78225721D}"/>
              </a:ext>
            </a:extLst>
          </p:cNvPr>
          <p:cNvSpPr txBox="1"/>
          <p:nvPr/>
        </p:nvSpPr>
        <p:spPr>
          <a:xfrm>
            <a:off x="1413662" y="3638398"/>
            <a:ext cx="12289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Charts, Reports, Logs</a:t>
            </a:r>
            <a:endParaRPr lang="en-US" sz="9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" name="Shape 34">
            <a:extLst>
              <a:ext uri="{FF2B5EF4-FFF2-40B4-BE49-F238E27FC236}">
                <a16:creationId xmlns:a16="http://schemas.microsoft.com/office/drawing/2014/main" id="{5767E272-1700-1841-F18F-F80E695E539C}"/>
              </a:ext>
            </a:extLst>
          </p:cNvPr>
          <p:cNvSpPr/>
          <p:nvPr/>
        </p:nvSpPr>
        <p:spPr>
          <a:xfrm>
            <a:off x="4267505" y="2257654"/>
            <a:ext cx="2743200" cy="1828800"/>
          </a:xfrm>
          <a:prstGeom prst="roundRect">
            <a:avLst>
              <a:gd name="adj" fmla="val 3125"/>
            </a:avLst>
          </a:prstGeom>
          <a:solidFill>
            <a:schemeClr val="tx2">
              <a:lumMod val="75000"/>
              <a:lumOff val="25000"/>
            </a:schemeClr>
          </a:solidFill>
          <a:ln w="254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4" name="Shape 35">
            <a:extLst>
              <a:ext uri="{FF2B5EF4-FFF2-40B4-BE49-F238E27FC236}">
                <a16:creationId xmlns:a16="http://schemas.microsoft.com/office/drawing/2014/main" id="{9938CE9A-BE62-64C3-12BC-60BD72EE7D4C}"/>
              </a:ext>
            </a:extLst>
          </p:cNvPr>
          <p:cNvSpPr/>
          <p:nvPr/>
        </p:nvSpPr>
        <p:spPr>
          <a:xfrm>
            <a:off x="5219395" y="2476195"/>
            <a:ext cx="381305" cy="381305"/>
          </a:xfrm>
          <a:prstGeom prst="roundRect">
            <a:avLst>
              <a:gd name="adj" fmla="val 23981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35" name="Image 6" descr="preencoded.png">
            <a:extLst>
              <a:ext uri="{FF2B5EF4-FFF2-40B4-BE49-F238E27FC236}">
                <a16:creationId xmlns:a16="http://schemas.microsoft.com/office/drawing/2014/main" id="{12AF6C61-6851-BE2F-22EB-6621AB75535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5343754" y="2590495"/>
            <a:ext cx="133502" cy="152705"/>
          </a:xfrm>
          <a:prstGeom prst="rect">
            <a:avLst/>
          </a:prstGeom>
        </p:spPr>
      </p:pic>
      <p:sp>
        <p:nvSpPr>
          <p:cNvPr id="36" name="Shape 36">
            <a:extLst>
              <a:ext uri="{FF2B5EF4-FFF2-40B4-BE49-F238E27FC236}">
                <a16:creationId xmlns:a16="http://schemas.microsoft.com/office/drawing/2014/main" id="{084040A2-A9A8-1C54-298D-9D53B2A6F3B5}"/>
              </a:ext>
            </a:extLst>
          </p:cNvPr>
          <p:cNvSpPr/>
          <p:nvPr/>
        </p:nvSpPr>
        <p:spPr>
          <a:xfrm>
            <a:off x="5676595" y="2476195"/>
            <a:ext cx="381305" cy="381305"/>
          </a:xfrm>
          <a:prstGeom prst="roundRect">
            <a:avLst>
              <a:gd name="adj" fmla="val 23981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37" name="Image 7" descr="preencoded.png">
            <a:extLst>
              <a:ext uri="{FF2B5EF4-FFF2-40B4-BE49-F238E27FC236}">
                <a16:creationId xmlns:a16="http://schemas.microsoft.com/office/drawing/2014/main" id="{4A2DE9C7-0C32-6271-7E84-97D7763D109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790895" y="2590495"/>
            <a:ext cx="152705" cy="152705"/>
          </a:xfrm>
          <a:prstGeom prst="rect">
            <a:avLst/>
          </a:prstGeom>
        </p:spPr>
      </p:pic>
      <p:sp>
        <p:nvSpPr>
          <p:cNvPr id="38" name="Text 37">
            <a:extLst>
              <a:ext uri="{FF2B5EF4-FFF2-40B4-BE49-F238E27FC236}">
                <a16:creationId xmlns:a16="http://schemas.microsoft.com/office/drawing/2014/main" id="{9703E8D3-EF0E-0013-D4F0-A169791B63EB}"/>
              </a:ext>
            </a:extLst>
          </p:cNvPr>
          <p:cNvSpPr txBox="1"/>
          <p:nvPr/>
        </p:nvSpPr>
        <p:spPr>
          <a:xfrm>
            <a:off x="5152644" y="3019349"/>
            <a:ext cx="11100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RAG Engine</a:t>
            </a:r>
            <a:endParaRPr lang="en-US" sz="13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" name="Text 38">
            <a:extLst>
              <a:ext uri="{FF2B5EF4-FFF2-40B4-BE49-F238E27FC236}">
                <a16:creationId xmlns:a16="http://schemas.microsoft.com/office/drawing/2014/main" id="{87267A44-C5FC-AA02-2E2F-23012BB78E70}"/>
              </a:ext>
            </a:extLst>
          </p:cNvPr>
          <p:cNvSpPr txBox="1"/>
          <p:nvPr/>
        </p:nvSpPr>
        <p:spPr>
          <a:xfrm>
            <a:off x="5204765" y="3343046"/>
            <a:ext cx="9628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Vector DB + LLM</a:t>
            </a:r>
            <a:endParaRPr lang="en-US" sz="9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" name="Shape 39">
            <a:extLst>
              <a:ext uri="{FF2B5EF4-FFF2-40B4-BE49-F238E27FC236}">
                <a16:creationId xmlns:a16="http://schemas.microsoft.com/office/drawing/2014/main" id="{4AE495D6-1C10-0C69-1B85-0795A374A1F7}"/>
              </a:ext>
            </a:extLst>
          </p:cNvPr>
          <p:cNvSpPr/>
          <p:nvPr/>
        </p:nvSpPr>
        <p:spPr>
          <a:xfrm>
            <a:off x="4978908" y="3619195"/>
            <a:ext cx="1324051" cy="247802"/>
          </a:xfrm>
          <a:prstGeom prst="roundRect">
            <a:avLst>
              <a:gd name="adj" fmla="val 369004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" name="Text 40">
            <a:extLst>
              <a:ext uri="{FF2B5EF4-FFF2-40B4-BE49-F238E27FC236}">
                <a16:creationId xmlns:a16="http://schemas.microsoft.com/office/drawing/2014/main" id="{B3F488BF-3F07-71C8-718C-44FF7FBDE8D7}"/>
              </a:ext>
            </a:extLst>
          </p:cNvPr>
          <p:cNvSpPr txBox="1"/>
          <p:nvPr/>
        </p:nvSpPr>
        <p:spPr>
          <a:xfrm>
            <a:off x="5102352" y="3657600"/>
            <a:ext cx="1162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Context Awareness</a:t>
            </a:r>
            <a:endParaRPr lang="en-US" sz="9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E90DA00A-7FFA-F49E-64A7-CF0287F2F7A7}"/>
              </a:ext>
            </a:extLst>
          </p:cNvPr>
          <p:cNvSpPr/>
          <p:nvPr/>
        </p:nvSpPr>
        <p:spPr>
          <a:xfrm>
            <a:off x="7925105" y="2257654"/>
            <a:ext cx="3657600" cy="1828800"/>
          </a:xfrm>
          <a:prstGeom prst="roundRect">
            <a:avLst>
              <a:gd name="adj" fmla="val 3125"/>
            </a:avLst>
          </a:prstGeom>
          <a:solidFill>
            <a:schemeClr val="tx2">
              <a:lumMod val="75000"/>
              <a:lumOff val="25000"/>
            </a:schemeClr>
          </a:solidFill>
          <a:ln w="254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E99FF251-35CF-40AD-3D98-00D1A30D3C23}"/>
              </a:ext>
            </a:extLst>
          </p:cNvPr>
          <p:cNvSpPr/>
          <p:nvPr/>
        </p:nvSpPr>
        <p:spPr>
          <a:xfrm>
            <a:off x="9028786" y="2419502"/>
            <a:ext cx="2400300" cy="304495"/>
          </a:xfrm>
          <a:prstGeom prst="roundRect">
            <a:avLst>
              <a:gd name="adj" fmla="val 75075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947E7958-BBCE-A20B-E042-17D41795583B}"/>
              </a:ext>
            </a:extLst>
          </p:cNvPr>
          <p:cNvSpPr txBox="1"/>
          <p:nvPr/>
        </p:nvSpPr>
        <p:spPr>
          <a:xfrm>
            <a:off x="9143086" y="2486254"/>
            <a:ext cx="22576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Q. 이번 분기 마케팅 ROI가 가장 높은 채널은?</a:t>
            </a:r>
            <a:endParaRPr lang="en-US" sz="9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A36B99A5-80A6-4223-C85A-D4585BD101BB}"/>
              </a:ext>
            </a:extLst>
          </p:cNvPr>
          <p:cNvSpPr/>
          <p:nvPr/>
        </p:nvSpPr>
        <p:spPr>
          <a:xfrm>
            <a:off x="8058547" y="3022067"/>
            <a:ext cx="3333902" cy="476402"/>
          </a:xfrm>
          <a:prstGeom prst="roundRect">
            <a:avLst>
              <a:gd name="adj" fmla="val 30710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48" name="Image 9" descr="preencoded.png">
            <a:extLst>
              <a:ext uri="{FF2B5EF4-FFF2-40B4-BE49-F238E27FC236}">
                <a16:creationId xmlns:a16="http://schemas.microsoft.com/office/drawing/2014/main" id="{67A79428-2C8A-B82A-0DA9-E1EFDF4B89E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80" b="-80"/>
          <a:stretch/>
        </p:blipFill>
        <p:spPr>
          <a:xfrm>
            <a:off x="8131507" y="2849246"/>
            <a:ext cx="142646" cy="114300"/>
          </a:xfrm>
          <a:prstGeom prst="rect">
            <a:avLst/>
          </a:prstGeom>
        </p:spPr>
      </p:pic>
      <p:sp>
        <p:nvSpPr>
          <p:cNvPr id="49" name="Text 46">
            <a:extLst>
              <a:ext uri="{FF2B5EF4-FFF2-40B4-BE49-F238E27FC236}">
                <a16:creationId xmlns:a16="http://schemas.microsoft.com/office/drawing/2014/main" id="{780F58A1-095E-D95C-0E5D-453C84CE02ED}"/>
              </a:ext>
            </a:extLst>
          </p:cNvPr>
          <p:cNvSpPr txBox="1"/>
          <p:nvPr/>
        </p:nvSpPr>
        <p:spPr>
          <a:xfrm>
            <a:off x="8312558" y="2816327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Answer:</a:t>
            </a:r>
            <a:endParaRPr lang="en-US" sz="9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8B4F45E0-E521-2A1C-3C1F-4BFF14CFE7D2}"/>
              </a:ext>
            </a:extLst>
          </p:cNvPr>
          <p:cNvSpPr txBox="1"/>
          <p:nvPr/>
        </p:nvSpPr>
        <p:spPr>
          <a:xfrm>
            <a:off x="8181991" y="3098876"/>
            <a:ext cx="31720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Instagram 채널이 350%로 가장 높습니다. 특히 20대 타겟 캠페인이 주요했습니다.</a:t>
            </a:r>
            <a:endParaRPr lang="en-US" sz="9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8BE57094-DF6D-DAF4-21A7-241D7BE1F2EA}"/>
              </a:ext>
            </a:extLst>
          </p:cNvPr>
          <p:cNvSpPr/>
          <p:nvPr/>
        </p:nvSpPr>
        <p:spPr>
          <a:xfrm>
            <a:off x="8086954" y="3610051"/>
            <a:ext cx="3333902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" name="Shape 49">
            <a:extLst>
              <a:ext uri="{FF2B5EF4-FFF2-40B4-BE49-F238E27FC236}">
                <a16:creationId xmlns:a16="http://schemas.microsoft.com/office/drawing/2014/main" id="{AEF2E5C6-A9D4-91A0-FD77-2ECED03BC73C}"/>
              </a:ext>
            </a:extLst>
          </p:cNvPr>
          <p:cNvSpPr/>
          <p:nvPr/>
        </p:nvSpPr>
        <p:spPr>
          <a:xfrm>
            <a:off x="8086954" y="3696005"/>
            <a:ext cx="3143707" cy="228600"/>
          </a:xfrm>
          <a:prstGeom prst="roundRect">
            <a:avLst>
              <a:gd name="adj" fmla="val 66667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5DD81EE9-D54E-8CFF-37C9-EA5A7381739A}"/>
              </a:ext>
            </a:extLst>
          </p:cNvPr>
          <p:cNvSpPr txBox="1"/>
          <p:nvPr/>
        </p:nvSpPr>
        <p:spPr>
          <a:xfrm>
            <a:off x="8172907" y="3696005"/>
            <a:ext cx="1295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Ask a question...</a:t>
            </a:r>
            <a:endParaRPr lang="en-US" sz="12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54" name="Image 10" descr="preencoded.png">
            <a:extLst>
              <a:ext uri="{FF2B5EF4-FFF2-40B4-BE49-F238E27FC236}">
                <a16:creationId xmlns:a16="http://schemas.microsoft.com/office/drawing/2014/main" id="{3D35E654-BFE0-80F9-6ABD-A18EEB5C239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1306556" y="3752698"/>
            <a:ext cx="114300" cy="114300"/>
          </a:xfrm>
          <a:prstGeom prst="rect">
            <a:avLst/>
          </a:prstGeom>
        </p:spPr>
      </p:pic>
      <p:sp>
        <p:nvSpPr>
          <p:cNvPr id="55" name="삼각형 54">
            <a:extLst>
              <a:ext uri="{FF2B5EF4-FFF2-40B4-BE49-F238E27FC236}">
                <a16:creationId xmlns:a16="http://schemas.microsoft.com/office/drawing/2014/main" id="{12339769-12C3-45DD-2E23-D5AEF921B61F}"/>
              </a:ext>
            </a:extLst>
          </p:cNvPr>
          <p:cNvSpPr/>
          <p:nvPr/>
        </p:nvSpPr>
        <p:spPr>
          <a:xfrm rot="5400000">
            <a:off x="3577202" y="3023607"/>
            <a:ext cx="590563" cy="231302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6" name="삼각형 55">
            <a:extLst>
              <a:ext uri="{FF2B5EF4-FFF2-40B4-BE49-F238E27FC236}">
                <a16:creationId xmlns:a16="http://schemas.microsoft.com/office/drawing/2014/main" id="{1DBF5F45-5468-5E02-6957-EF2067434963}"/>
              </a:ext>
            </a:extLst>
          </p:cNvPr>
          <p:cNvSpPr/>
          <p:nvPr/>
        </p:nvSpPr>
        <p:spPr>
          <a:xfrm rot="5400000">
            <a:off x="7211427" y="3018068"/>
            <a:ext cx="590563" cy="231302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Text 33">
            <a:extLst>
              <a:ext uri="{FF2B5EF4-FFF2-40B4-BE49-F238E27FC236}">
                <a16:creationId xmlns:a16="http://schemas.microsoft.com/office/drawing/2014/main" id="{F07255E0-D140-1C99-CE05-AA12B611EB28}"/>
              </a:ext>
            </a:extLst>
          </p:cNvPr>
          <p:cNvSpPr txBox="1"/>
          <p:nvPr/>
        </p:nvSpPr>
        <p:spPr>
          <a:xfrm>
            <a:off x="3266155" y="3051137"/>
            <a:ext cx="11247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NanumGothic" panose="020D0604000000000000" pitchFamily="34" charset="-127"/>
                <a:ea typeface="NanumGothic" panose="020D0604000000000000" pitchFamily="34" charset="-127"/>
                <a:cs typeface="ui-monospace" pitchFamily="34" charset="-120"/>
              </a:rPr>
              <a:t>Vectorizing</a:t>
            </a:r>
            <a:endParaRPr lang="en-US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9D0BEFE3-A89B-EC9D-1D2B-66A0F221C268}"/>
              </a:ext>
            </a:extLst>
          </p:cNvPr>
          <p:cNvSpPr txBox="1"/>
          <p:nvPr/>
        </p:nvSpPr>
        <p:spPr>
          <a:xfrm>
            <a:off x="6981384" y="3047765"/>
            <a:ext cx="10387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NanumGothic" panose="020D0604000000000000" pitchFamily="34" charset="-127"/>
                <a:ea typeface="NanumGothic" panose="020D0604000000000000" pitchFamily="34" charset="-127"/>
                <a:cs typeface="ui-monospace" pitchFamily="34" charset="-120"/>
              </a:rPr>
              <a:t>Generation</a:t>
            </a:r>
            <a:endParaRPr lang="en-US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0070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>
            <a:extLst>
              <a:ext uri="{FF2B5EF4-FFF2-40B4-BE49-F238E27FC236}">
                <a16:creationId xmlns:a16="http://schemas.microsoft.com/office/drawing/2014/main" id="{807BCC3E-4B6A-B5BF-2545-59BEB8F3803A}"/>
              </a:ext>
            </a:extLst>
          </p:cNvPr>
          <p:cNvSpPr/>
          <p:nvPr/>
        </p:nvSpPr>
        <p:spPr>
          <a:xfrm>
            <a:off x="457200" y="1050322"/>
            <a:ext cx="11277295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E73774AE-B466-1AB0-6AE2-2637A4C70883}"/>
              </a:ext>
            </a:extLst>
          </p:cNvPr>
          <p:cNvSpPr txBox="1"/>
          <p:nvPr/>
        </p:nvSpPr>
        <p:spPr>
          <a:xfrm>
            <a:off x="457199" y="383724"/>
            <a:ext cx="906574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indent="0">
              <a:buNone/>
              <a:defRPr sz="2700" b="1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altLang="ko-KR" dirty="0" err="1"/>
              <a:t>이</a:t>
            </a:r>
            <a:r>
              <a:rPr lang="en-US" altLang="ko-KR" dirty="0"/>
              <a:t> </a:t>
            </a:r>
            <a:r>
              <a:rPr lang="en-US" altLang="ko-KR" dirty="0" err="1"/>
              <a:t>강의를</a:t>
            </a:r>
            <a:r>
              <a:rPr lang="en-US" altLang="ko-KR" dirty="0"/>
              <a:t> </a:t>
            </a:r>
            <a:r>
              <a:rPr lang="en-US" altLang="ko-KR" dirty="0" err="1"/>
              <a:t>듣고</a:t>
            </a:r>
            <a:r>
              <a:rPr lang="en-US" altLang="ko-KR" dirty="0"/>
              <a:t> </a:t>
            </a:r>
            <a:r>
              <a:rPr lang="en-US" altLang="ko-KR" dirty="0" err="1"/>
              <a:t>나면</a:t>
            </a:r>
            <a:endParaRPr lang="en-US" altLang="ko-KR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98B51DD5-6237-49A8-D9A4-13F68B91B534}"/>
              </a:ext>
            </a:extLst>
          </p:cNvPr>
          <p:cNvSpPr txBox="1"/>
          <p:nvPr/>
        </p:nvSpPr>
        <p:spPr>
          <a:xfrm>
            <a:off x="2835946" y="1629424"/>
            <a:ext cx="12335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BEFORE CLASS</a:t>
            </a:r>
            <a:endParaRPr 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EE11813F-3087-B8BA-4773-49BBD23D8265}"/>
              </a:ext>
            </a:extLst>
          </p:cNvPr>
          <p:cNvSpPr txBox="1"/>
          <p:nvPr/>
        </p:nvSpPr>
        <p:spPr>
          <a:xfrm>
            <a:off x="8294914" y="1610222"/>
            <a:ext cx="11192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AFTER CLASS</a:t>
            </a:r>
            <a:endParaRPr 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Shape 10">
            <a:extLst>
              <a:ext uri="{FF2B5EF4-FFF2-40B4-BE49-F238E27FC236}">
                <a16:creationId xmlns:a16="http://schemas.microsoft.com/office/drawing/2014/main" id="{2F00AB00-33F2-E09D-BFF0-B026B56B042C}"/>
              </a:ext>
            </a:extLst>
          </p:cNvPr>
          <p:cNvSpPr/>
          <p:nvPr/>
        </p:nvSpPr>
        <p:spPr>
          <a:xfrm>
            <a:off x="1268664" y="1972324"/>
            <a:ext cx="4267505" cy="3454541"/>
          </a:xfrm>
          <a:prstGeom prst="roundRect">
            <a:avLst>
              <a:gd name="adj" fmla="val 990"/>
            </a:avLst>
          </a:prstGeom>
          <a:solidFill>
            <a:schemeClr val="bg1">
              <a:lumMod val="85000"/>
            </a:schemeClr>
          </a:solidFill>
          <a:ln w="254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11">
            <a:extLst>
              <a:ext uri="{FF2B5EF4-FFF2-40B4-BE49-F238E27FC236}">
                <a16:creationId xmlns:a16="http://schemas.microsoft.com/office/drawing/2014/main" id="{5C3E75DE-A4F8-610F-C55E-A1DFADFE4610}"/>
              </a:ext>
            </a:extLst>
          </p:cNvPr>
          <p:cNvSpPr/>
          <p:nvPr/>
        </p:nvSpPr>
        <p:spPr>
          <a:xfrm>
            <a:off x="2942930" y="3460682"/>
            <a:ext cx="923544" cy="286207"/>
          </a:xfrm>
          <a:prstGeom prst="roundRect">
            <a:avLst>
              <a:gd name="adj" fmla="val 319489"/>
            </a:avLst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Shape 12">
            <a:extLst>
              <a:ext uri="{FF2B5EF4-FFF2-40B4-BE49-F238E27FC236}">
                <a16:creationId xmlns:a16="http://schemas.microsoft.com/office/drawing/2014/main" id="{B26C64E3-9FAE-EB5B-A7CB-35600BD832BB}"/>
              </a:ext>
            </a:extLst>
          </p:cNvPr>
          <p:cNvSpPr/>
          <p:nvPr/>
        </p:nvSpPr>
        <p:spPr>
          <a:xfrm>
            <a:off x="1583218" y="4394285"/>
            <a:ext cx="3638398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D8495506-127C-687C-28CE-DA4C0574B6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rcRect l="-33034" r="-33034"/>
          <a:stretch/>
        </p:blipFill>
        <p:spPr>
          <a:xfrm>
            <a:off x="1583218" y="4146482"/>
            <a:ext cx="190195" cy="152705"/>
          </a:xfrm>
          <a:prstGeom prst="rect">
            <a:avLst/>
          </a:prstGeom>
        </p:spPr>
      </p:pic>
      <p:sp>
        <p:nvSpPr>
          <p:cNvPr id="10" name="Shape 13">
            <a:extLst>
              <a:ext uri="{FF2B5EF4-FFF2-40B4-BE49-F238E27FC236}">
                <a16:creationId xmlns:a16="http://schemas.microsoft.com/office/drawing/2014/main" id="{7A69146C-8939-9A49-2580-62AF5843EB33}"/>
              </a:ext>
            </a:extLst>
          </p:cNvPr>
          <p:cNvSpPr/>
          <p:nvPr/>
        </p:nvSpPr>
        <p:spPr>
          <a:xfrm>
            <a:off x="1583218" y="4823138"/>
            <a:ext cx="3638398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0DAF5D82-7825-3FFC-25DA-1F253D0A133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rcRect l="-33034" r="-33034"/>
          <a:stretch/>
        </p:blipFill>
        <p:spPr>
          <a:xfrm>
            <a:off x="1583218" y="4575336"/>
            <a:ext cx="190195" cy="152705"/>
          </a:xfrm>
          <a:prstGeom prst="rect">
            <a:avLst/>
          </a:prstGeom>
        </p:spPr>
      </p:pic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C46FF89E-06E7-C238-04A7-D8CBEB537E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rcRect l="-33034" r="-33034"/>
          <a:stretch/>
        </p:blipFill>
        <p:spPr>
          <a:xfrm>
            <a:off x="1583218" y="5004189"/>
            <a:ext cx="190195" cy="152705"/>
          </a:xfrm>
          <a:prstGeom prst="rect">
            <a:avLst/>
          </a:prstGeom>
        </p:spPr>
      </p:pic>
      <p:sp>
        <p:nvSpPr>
          <p:cNvPr id="13" name="Text 14">
            <a:extLst>
              <a:ext uri="{FF2B5EF4-FFF2-40B4-BE49-F238E27FC236}">
                <a16:creationId xmlns:a16="http://schemas.microsoft.com/office/drawing/2014/main" id="{96255BDD-A037-7C1B-F6A8-535221493484}"/>
              </a:ext>
            </a:extLst>
          </p:cNvPr>
          <p:cNvSpPr txBox="1"/>
          <p:nvPr/>
        </p:nvSpPr>
        <p:spPr>
          <a:xfrm>
            <a:off x="2221469" y="3108638"/>
            <a:ext cx="25054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"모델을 돌릴 줄 아는 지원자"</a:t>
            </a:r>
            <a:endParaRPr lang="en-US" sz="15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B3082E21-E1BC-E1EB-160E-A5541213AB40}"/>
              </a:ext>
            </a:extLst>
          </p:cNvPr>
          <p:cNvSpPr txBox="1"/>
          <p:nvPr/>
        </p:nvSpPr>
        <p:spPr>
          <a:xfrm>
            <a:off x="3066374" y="3508231"/>
            <a:ext cx="7763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Technician</a:t>
            </a:r>
            <a:endParaRPr 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B9E58ADF-EDAB-8CAC-28A3-BCA3E4EB395F}"/>
              </a:ext>
            </a:extLst>
          </p:cNvPr>
          <p:cNvSpPr txBox="1"/>
          <p:nvPr/>
        </p:nvSpPr>
        <p:spPr>
          <a:xfrm>
            <a:off x="1887713" y="4128194"/>
            <a:ext cx="18150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복잡한 수식과 알고리즘만 강조</a:t>
            </a:r>
            <a:endParaRPr 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F4FD777E-A04E-01AD-35B5-69B703034F28}"/>
              </a:ext>
            </a:extLst>
          </p:cNvPr>
          <p:cNvSpPr txBox="1"/>
          <p:nvPr/>
        </p:nvSpPr>
        <p:spPr>
          <a:xfrm>
            <a:off x="1887713" y="4556133"/>
            <a:ext cx="23765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"정확도 99% 달성했습니다" (So what?)</a:t>
            </a:r>
            <a:endParaRPr 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2F7CEBF6-4A2A-ABE2-0425-F25239835C38}"/>
              </a:ext>
            </a:extLst>
          </p:cNvPr>
          <p:cNvSpPr txBox="1"/>
          <p:nvPr/>
        </p:nvSpPr>
        <p:spPr>
          <a:xfrm>
            <a:off x="1887713" y="4984987"/>
            <a:ext cx="18534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비즈니스 맥락 없는 데이터 분석</a:t>
            </a:r>
            <a:endParaRPr 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8" name="Image 3" descr="preencoded.png">
            <a:extLst>
              <a:ext uri="{FF2B5EF4-FFF2-40B4-BE49-F238E27FC236}">
                <a16:creationId xmlns:a16="http://schemas.microsoft.com/office/drawing/2014/main" id="{A61B0AA3-AE14-1027-C930-2D218AC26E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rcRect t="-24" b="-24"/>
          <a:stretch/>
        </p:blipFill>
        <p:spPr>
          <a:xfrm>
            <a:off x="3164215" y="2317682"/>
            <a:ext cx="476402" cy="381305"/>
          </a:xfrm>
          <a:prstGeom prst="rect">
            <a:avLst/>
          </a:prstGeom>
        </p:spPr>
      </p:pic>
      <p:sp>
        <p:nvSpPr>
          <p:cNvPr id="19" name="Shape 19">
            <a:extLst>
              <a:ext uri="{FF2B5EF4-FFF2-40B4-BE49-F238E27FC236}">
                <a16:creationId xmlns:a16="http://schemas.microsoft.com/office/drawing/2014/main" id="{7F8F0B25-64AE-6DEB-C1DC-3EFC108565F5}"/>
              </a:ext>
            </a:extLst>
          </p:cNvPr>
          <p:cNvSpPr/>
          <p:nvPr/>
        </p:nvSpPr>
        <p:spPr>
          <a:xfrm>
            <a:off x="3516259" y="2623092"/>
            <a:ext cx="267005" cy="267005"/>
          </a:xfrm>
          <a:prstGeom prst="ellipse">
            <a:avLst/>
          </a:prstGeom>
          <a:noFill/>
          <a:ln w="381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20" name="Image 4" descr="preencoded.png">
            <a:extLst>
              <a:ext uri="{FF2B5EF4-FFF2-40B4-BE49-F238E27FC236}">
                <a16:creationId xmlns:a16="http://schemas.microsoft.com/office/drawing/2014/main" id="{70AB93F5-9FAF-454F-8F58-982100B5409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rcRect l="-2838" r="-2838"/>
          <a:stretch/>
        </p:blipFill>
        <p:spPr>
          <a:xfrm>
            <a:off x="3588497" y="2689843"/>
            <a:ext cx="123444" cy="133502"/>
          </a:xfrm>
          <a:prstGeom prst="rect">
            <a:avLst/>
          </a:prstGeom>
        </p:spPr>
      </p:pic>
      <p:sp>
        <p:nvSpPr>
          <p:cNvPr id="21" name="Shape 20">
            <a:extLst>
              <a:ext uri="{FF2B5EF4-FFF2-40B4-BE49-F238E27FC236}">
                <a16:creationId xmlns:a16="http://schemas.microsoft.com/office/drawing/2014/main" id="{3BA3F15A-A1F2-B046-32E2-74BA53F4230D}"/>
              </a:ext>
            </a:extLst>
          </p:cNvPr>
          <p:cNvSpPr/>
          <p:nvPr/>
        </p:nvSpPr>
        <p:spPr>
          <a:xfrm>
            <a:off x="6627048" y="1915632"/>
            <a:ext cx="4352544" cy="3559760"/>
          </a:xfrm>
          <a:prstGeom prst="roundRect">
            <a:avLst>
              <a:gd name="adj" fmla="val 932"/>
            </a:avLst>
          </a:prstGeom>
          <a:solidFill>
            <a:schemeClr val="tx2">
              <a:lumMod val="75000"/>
              <a:lumOff val="25000"/>
            </a:schemeClr>
          </a:solidFill>
          <a:ln w="25400">
            <a:solidFill>
              <a:schemeClr val="bg1">
                <a:lumMod val="65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87D84E90-511D-8138-4AB4-76EAA201F750}"/>
              </a:ext>
            </a:extLst>
          </p:cNvPr>
          <p:cNvSpPr/>
          <p:nvPr/>
        </p:nvSpPr>
        <p:spPr>
          <a:xfrm>
            <a:off x="8186100" y="3466169"/>
            <a:ext cx="1238098" cy="295351"/>
          </a:xfrm>
          <a:prstGeom prst="roundRect">
            <a:avLst>
              <a:gd name="adj" fmla="val 309598"/>
            </a:avLst>
          </a:prstGeom>
          <a:solidFill>
            <a:srgbClr val="1E3A8A">
              <a:alpha val="5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70C6DEF9-FABC-3471-03D7-77F9538151A7}"/>
              </a:ext>
            </a:extLst>
          </p:cNvPr>
          <p:cNvSpPr/>
          <p:nvPr/>
        </p:nvSpPr>
        <p:spPr>
          <a:xfrm>
            <a:off x="6957146" y="4421717"/>
            <a:ext cx="36960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24" name="Image 5" descr="preencoded.png">
            <a:extLst>
              <a:ext uri="{FF2B5EF4-FFF2-40B4-BE49-F238E27FC236}">
                <a16:creationId xmlns:a16="http://schemas.microsoft.com/office/drawing/2014/main" id="{5469D059-39C9-AD71-AFC8-55DD625B71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0702" r="-20702"/>
          <a:stretch/>
        </p:blipFill>
        <p:spPr>
          <a:xfrm>
            <a:off x="6957146" y="4165685"/>
            <a:ext cx="200254" cy="161849"/>
          </a:xfrm>
          <a:prstGeom prst="rect">
            <a:avLst/>
          </a:prstGeom>
        </p:spPr>
      </p:pic>
      <p:sp>
        <p:nvSpPr>
          <p:cNvPr id="25" name="Shape 23">
            <a:extLst>
              <a:ext uri="{FF2B5EF4-FFF2-40B4-BE49-F238E27FC236}">
                <a16:creationId xmlns:a16="http://schemas.microsoft.com/office/drawing/2014/main" id="{3398EBD5-6CA8-DDC9-4058-2E96F2145E19}"/>
              </a:ext>
            </a:extLst>
          </p:cNvPr>
          <p:cNvSpPr/>
          <p:nvPr/>
        </p:nvSpPr>
        <p:spPr>
          <a:xfrm>
            <a:off x="6957146" y="4858800"/>
            <a:ext cx="36960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26" name="Image 6" descr="preencoded.png">
            <a:extLst>
              <a:ext uri="{FF2B5EF4-FFF2-40B4-BE49-F238E27FC236}">
                <a16:creationId xmlns:a16="http://schemas.microsoft.com/office/drawing/2014/main" id="{62F5D290-6230-6F87-1C48-55C12672C21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0702" r="-20702"/>
          <a:stretch/>
        </p:blipFill>
        <p:spPr>
          <a:xfrm>
            <a:off x="6957146" y="4602768"/>
            <a:ext cx="200254" cy="161849"/>
          </a:xfrm>
          <a:prstGeom prst="rect">
            <a:avLst/>
          </a:prstGeom>
        </p:spPr>
      </p:pic>
      <p:pic>
        <p:nvPicPr>
          <p:cNvPr id="27" name="Image 7" descr="preencoded.png">
            <a:extLst>
              <a:ext uri="{FF2B5EF4-FFF2-40B4-BE49-F238E27FC236}">
                <a16:creationId xmlns:a16="http://schemas.microsoft.com/office/drawing/2014/main" id="{CB32A3C3-595E-EED4-0B18-01640DC273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0702" r="-20702"/>
          <a:stretch/>
        </p:blipFill>
        <p:spPr>
          <a:xfrm>
            <a:off x="6957146" y="5039851"/>
            <a:ext cx="200254" cy="161849"/>
          </a:xfrm>
          <a:prstGeom prst="rect">
            <a:avLst/>
          </a:prstGeom>
        </p:spPr>
      </p:pic>
      <p:sp>
        <p:nvSpPr>
          <p:cNvPr id="28" name="Text 24">
            <a:extLst>
              <a:ext uri="{FF2B5EF4-FFF2-40B4-BE49-F238E27FC236}">
                <a16:creationId xmlns:a16="http://schemas.microsoft.com/office/drawing/2014/main" id="{1563985B-6ACB-1917-882B-109DFE64A3B0}"/>
              </a:ext>
            </a:extLst>
          </p:cNvPr>
          <p:cNvSpPr txBox="1"/>
          <p:nvPr/>
        </p:nvSpPr>
        <p:spPr>
          <a:xfrm>
            <a:off x="6417275" y="2943074"/>
            <a:ext cx="45623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＂</a:t>
            </a:r>
            <a:r>
              <a:rPr lang="ko-KR" altLang="en-US" sz="1800" b="1" dirty="0">
                <a:solidFill>
                  <a:srgbClr val="FFFFFF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기술을 알고 </a:t>
            </a:r>
            <a:r>
              <a:rPr lang="en-US" sz="1800" b="1" dirty="0">
                <a:solidFill>
                  <a:srgbClr val="FFFFFF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B</a:t>
            </a:r>
            <a:r>
              <a:rPr lang="en-US" altLang="ko-KR" b="1" dirty="0">
                <a:solidFill>
                  <a:srgbClr val="FFFFFF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iz. </a:t>
            </a:r>
            <a:r>
              <a:rPr lang="en-US" sz="1800" b="1" dirty="0" err="1">
                <a:solidFill>
                  <a:srgbClr val="FFFFFF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문제를</a:t>
            </a:r>
            <a:r>
              <a:rPr lang="en-US" sz="1800" b="1" dirty="0">
                <a:solidFill>
                  <a:srgbClr val="FFFFFF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 해결하는 지원자"</a:t>
            </a:r>
            <a:endParaRPr lang="en-US" sz="1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2564F903-83F5-0C84-5C49-C0B0FB3F89BC}"/>
              </a:ext>
            </a:extLst>
          </p:cNvPr>
          <p:cNvSpPr txBox="1"/>
          <p:nvPr/>
        </p:nvSpPr>
        <p:spPr>
          <a:xfrm>
            <a:off x="8312287" y="3514632"/>
            <a:ext cx="10908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BFE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Problem Solver</a:t>
            </a:r>
            <a:endParaRPr 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2FA95998-BE0F-EAF8-292D-BFE9D68AA73B}"/>
              </a:ext>
            </a:extLst>
          </p:cNvPr>
          <p:cNvSpPr txBox="1"/>
          <p:nvPr/>
        </p:nvSpPr>
        <p:spPr>
          <a:xfrm>
            <a:off x="7268042" y="4146482"/>
            <a:ext cx="17199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가설 기반으로 데이터를 접근</a:t>
            </a:r>
            <a:endParaRPr 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7E84EA1F-956D-FA1B-4677-9EBAC566B6D4}"/>
              </a:ext>
            </a:extLst>
          </p:cNvPr>
          <p:cNvSpPr txBox="1"/>
          <p:nvPr/>
        </p:nvSpPr>
        <p:spPr>
          <a:xfrm>
            <a:off x="7268042" y="4583565"/>
            <a:ext cx="21296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AI를 활용해 의사결정 시나리오 제안</a:t>
            </a:r>
            <a:endParaRPr 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32866FD4-ACB7-2CED-2F55-3EED99C8E16E}"/>
              </a:ext>
            </a:extLst>
          </p:cNvPr>
          <p:cNvSpPr txBox="1"/>
          <p:nvPr/>
        </p:nvSpPr>
        <p:spPr>
          <a:xfrm>
            <a:off x="7268042" y="5020649"/>
            <a:ext cx="18434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oto Sans KR" pitchFamily="34" charset="-120"/>
              </a:rPr>
              <a:t>경영진이 이해하는 언어로 설득</a:t>
            </a:r>
            <a:endParaRPr 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" name="Shape 30">
            <a:extLst>
              <a:ext uri="{FF2B5EF4-FFF2-40B4-BE49-F238E27FC236}">
                <a16:creationId xmlns:a16="http://schemas.microsoft.com/office/drawing/2014/main" id="{2043D16D-EEF2-FB60-B5A4-0D19DC969C43}"/>
              </a:ext>
            </a:extLst>
          </p:cNvPr>
          <p:cNvSpPr/>
          <p:nvPr/>
        </p:nvSpPr>
        <p:spPr>
          <a:xfrm>
            <a:off x="8414700" y="2086339"/>
            <a:ext cx="780898" cy="780898"/>
          </a:xfrm>
          <a:prstGeom prst="ellipse">
            <a:avLst/>
          </a:prstGeom>
          <a:solidFill>
            <a:srgbClr val="1E3A8A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35" name="Image 8" descr="preencoded.png">
            <a:extLst>
              <a:ext uri="{FF2B5EF4-FFF2-40B4-BE49-F238E27FC236}">
                <a16:creationId xmlns:a16="http://schemas.microsoft.com/office/drawing/2014/main" id="{8ED9C6C9-AB6A-C894-D890-8B10BB119A6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28" r="-228"/>
          <a:stretch/>
        </p:blipFill>
        <p:spPr>
          <a:xfrm>
            <a:off x="8628670" y="2275620"/>
            <a:ext cx="352044" cy="400507"/>
          </a:xfrm>
          <a:prstGeom prst="rect">
            <a:avLst/>
          </a:prstGeom>
        </p:spPr>
      </p:pic>
      <p:sp>
        <p:nvSpPr>
          <p:cNvPr id="36" name="Shape 31">
            <a:extLst>
              <a:ext uri="{FF2B5EF4-FFF2-40B4-BE49-F238E27FC236}">
                <a16:creationId xmlns:a16="http://schemas.microsoft.com/office/drawing/2014/main" id="{13D9B123-30EF-0927-4896-2E27D0ED3E19}"/>
              </a:ext>
            </a:extLst>
          </p:cNvPr>
          <p:cNvSpPr/>
          <p:nvPr/>
        </p:nvSpPr>
        <p:spPr>
          <a:xfrm>
            <a:off x="8900246" y="2571885"/>
            <a:ext cx="276149" cy="276149"/>
          </a:xfrm>
          <a:prstGeom prst="ellipse">
            <a:avLst/>
          </a:prstGeom>
          <a:solidFill>
            <a:srgbClr val="10B981"/>
          </a:solidFill>
          <a:ln w="381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37" name="Image 9" descr="preencoded.png">
            <a:extLst>
              <a:ext uri="{FF2B5EF4-FFF2-40B4-BE49-F238E27FC236}">
                <a16:creationId xmlns:a16="http://schemas.microsoft.com/office/drawing/2014/main" id="{F8DD1FCE-58A3-8D0B-5976-BA066509FA3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8973398" y="2635893"/>
            <a:ext cx="133502" cy="152705"/>
          </a:xfrm>
          <a:prstGeom prst="rect">
            <a:avLst/>
          </a:prstGeom>
        </p:spPr>
      </p:pic>
      <p:sp>
        <p:nvSpPr>
          <p:cNvPr id="38" name="Shape 32">
            <a:extLst>
              <a:ext uri="{FF2B5EF4-FFF2-40B4-BE49-F238E27FC236}">
                <a16:creationId xmlns:a16="http://schemas.microsoft.com/office/drawing/2014/main" id="{7F499616-B6F5-7A55-AD20-D92DDCC9A5D2}"/>
              </a:ext>
            </a:extLst>
          </p:cNvPr>
          <p:cNvSpPr/>
          <p:nvPr/>
        </p:nvSpPr>
        <p:spPr>
          <a:xfrm>
            <a:off x="5874497" y="3136985"/>
            <a:ext cx="457200" cy="457200"/>
          </a:xfrm>
          <a:prstGeom prst="roundRect">
            <a:avLst>
              <a:gd name="adj" fmla="val 200000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ko-KR" altLang="en-US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F39B9FD0-AD81-1887-7AFB-DDEA8C2DF418}"/>
              </a:ext>
            </a:extLst>
          </p:cNvPr>
          <p:cNvSpPr txBox="1"/>
          <p:nvPr/>
        </p:nvSpPr>
        <p:spPr>
          <a:xfrm>
            <a:off x="5916559" y="3718543"/>
            <a:ext cx="4672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8BDF8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ui-monospace" pitchFamily="34" charset="-120"/>
              </a:rPr>
              <a:t>SHIFT</a:t>
            </a:r>
            <a:endParaRPr lang="en-US" sz="9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40" name="Image 10" descr="preencoded.png">
            <a:extLst>
              <a:ext uri="{FF2B5EF4-FFF2-40B4-BE49-F238E27FC236}">
                <a16:creationId xmlns:a16="http://schemas.microsoft.com/office/drawing/2014/main" id="{F9E88781-A6F2-DB46-A09D-4174B852B8C7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2000"/>
          </a:blip>
          <a:srcRect l="-57" r="-57"/>
          <a:stretch/>
        </p:blipFill>
        <p:spPr>
          <a:xfrm>
            <a:off x="6012571" y="3251285"/>
            <a:ext cx="200254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898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916</Words>
  <Application>Microsoft Macintosh PowerPoint</Application>
  <PresentationFormat>와이드스크린</PresentationFormat>
  <Paragraphs>140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NanumGothic</vt:lpstr>
      <vt:lpstr>Malgun Gothic</vt:lpstr>
      <vt:lpstr>Malgun Gothic</vt:lpstr>
      <vt:lpstr>Noto Sans KR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진석 김</dc:creator>
  <cp:lastModifiedBy>진석 김</cp:lastModifiedBy>
  <cp:revision>1</cp:revision>
  <dcterms:created xsi:type="dcterms:W3CDTF">2026-03-03T09:05:41Z</dcterms:created>
  <dcterms:modified xsi:type="dcterms:W3CDTF">2026-03-03T12:54:39Z</dcterms:modified>
</cp:coreProperties>
</file>