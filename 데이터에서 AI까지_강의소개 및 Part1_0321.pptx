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98"/>
    <p:restoredTop sz="96932"/>
  </p:normalViewPr>
  <p:slideViewPr>
    <p:cSldViewPr snapToGrid="0" showGuides="1">
      <p:cViewPr varScale="1">
        <p:scale>
          <a:sx n="143" d="100"/>
          <a:sy n="143" d="100"/>
        </p:scale>
        <p:origin x="1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50B15-7FEF-E2B8-1133-237B86DE7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74A164-4D34-FC17-25EA-C959E5CFF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4B0CA-1287-92D0-B65B-B120E48C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0E5DE-DE2D-46F0-DEB6-8B991E8A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968D06-4181-41D1-1282-DCD4B179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094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C6197-FA91-9285-3F00-7C70BB63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D7D30-2D9E-D4C1-3E50-A8D8D68A5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DA733-BC91-C009-ED11-6C7CDBBF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2956CD-EECD-B570-567B-497086F9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159EC0-EEBE-1253-F635-B8579D5B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499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5F46F-B995-4343-480E-A10B3173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A26162-994F-16DF-BDC5-7DB310CA0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5ED6C-AD50-7947-4809-1DE017B1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16124-D46E-4539-265D-FA73A4C65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4135E-563F-B811-2D0B-4D71685E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49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37001-D0D8-D24E-9E14-603F21F1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EC6E9-889A-DEA8-A374-3DEDCF5EC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98AEF8-CA91-0986-8047-D79523C87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1653A8-38AF-56BF-9E6C-FF7CA58D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F2B6E-C451-32AA-0D7D-637510A9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47C0D7-A541-7956-DFF5-9198A475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969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C02D-B040-2A0B-4080-6C265E3E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31BB0-C65E-CD49-C55E-058B232B3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F7E755-80EF-449B-D8D9-A256A0853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4EF77D-D966-0DC5-3C13-CF6263FCB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060177-2187-DEFC-8ED5-7E0AC4D40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EE674B-587F-87D3-D8FA-56C38E21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1AD65F-38B9-5CA0-D7C1-9E809EBB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490518-4FFD-5B8F-F55D-6E215EA3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21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D6B04-49CD-5F87-FF1F-123A997E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C3A909-B74A-F364-800E-AD94E892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40862F-3DF0-C663-CA42-C504112B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96AE2B-C9B2-CE4E-3549-71D79D4B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9923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D2C402-1631-7049-779B-E7F14AAD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205CD2-4907-13B7-4900-A30619FA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84B8F-1F94-0F60-E5FC-54F0FB73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302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E9A3-012D-5C0A-22D9-BC451681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A6D92-7465-98D2-E5DF-42A3EE84A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764D65-BC4D-45A0-2309-475A47438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00866-D653-BEA4-030D-9E35CEBA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50D867-61D6-AD8A-D355-DA1DF680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D473D-0619-171F-DD8E-52E8B05D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828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C304E-0648-B0BB-B4A1-FC23EAEB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4837CC-2FE1-8C0B-6B7B-71C84D4E8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3520B9-B236-3ADA-61D3-628BAEE04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6831E4-E27F-68B3-0D8F-17DDF843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2F2A47-FF76-274B-6897-7CE21AD5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06A69-87C8-E768-1840-6AC3CD76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401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95BEA-9BE1-224D-6B28-CE4BE2BA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64EBBC-6C54-2E10-A3BA-3B56C32C3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0B215-3A21-396F-41F6-9AD9F430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073A-4325-AB71-23D6-73757924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2410FE-457E-00BD-5427-55281D50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163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55A60A-6B71-CD40-2E09-A487AEF96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1C2D9-15E7-6242-F968-FEA11AD37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3EECB-8984-82A2-055D-5E3448B5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17B1C1-AD8F-1FD7-CBE3-5D099B95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3DCC5F-1A7A-2311-B785-DE97B49F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17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D8D1D4-CB0D-FDE9-83A3-EE09E3C3D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56EA96-A58F-A5BE-0A8C-2E313299D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762B8F-14AC-8E72-66D9-5A7B54384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7B027-335E-7C4F-837A-195447C3F278}" type="datetimeFigureOut">
              <a:rPr kumimoji="1" lang="ko-KR" altLang="en-US" smtClean="0"/>
              <a:t>2026. 3. 21.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6E67E8-5185-2E94-B4AA-D03798E9B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599B7-24BF-A02D-1759-4D8B2D525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807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0">
            <a:extLst>
              <a:ext uri="{FF2B5EF4-FFF2-40B4-BE49-F238E27FC236}">
                <a16:creationId xmlns:a16="http://schemas.microsoft.com/office/drawing/2014/main" id="{2F1ACD5F-70AA-72DA-A1B0-F8DCD3D75A91}"/>
              </a:ext>
            </a:extLst>
          </p:cNvPr>
          <p:cNvSpPr txBox="1"/>
          <p:nvPr/>
        </p:nvSpPr>
        <p:spPr>
          <a:xfrm>
            <a:off x="609905" y="3867506"/>
            <a:ext cx="704085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실무형 가이드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 분석을 예측과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챗봇으로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확장하기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3C32FD01-2402-D97C-EB96-95F68CD89429}"/>
              </a:ext>
            </a:extLst>
          </p:cNvPr>
          <p:cNvSpPr txBox="1"/>
          <p:nvPr/>
        </p:nvSpPr>
        <p:spPr>
          <a:xfrm>
            <a:off x="609905" y="2022606"/>
            <a:ext cx="104397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데이터에서 </a:t>
            </a:r>
            <a:r>
              <a:rPr 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AI</a:t>
            </a:r>
            <a:r>
              <a:rPr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까지</a:t>
            </a:r>
            <a:r>
              <a:rPr lang="en-US" altLang="ko-KR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</a:t>
            </a:r>
            <a:r>
              <a:rPr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</a:t>
            </a:r>
            <a:r>
              <a:rPr lang="en-US" altLang="ko-KR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·</a:t>
            </a:r>
            <a:r>
              <a:rPr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예측</a:t>
            </a:r>
            <a:r>
              <a:rPr lang="en-US" altLang="ko-KR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·</a:t>
            </a:r>
            <a:r>
              <a:rPr 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RAG </a:t>
            </a:r>
            <a:r>
              <a:rPr lang="ko-KR" altLang="en-US" sz="3600" b="1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챗봇</a:t>
            </a:r>
            <a:r>
              <a:rPr lang="ko-KR" altLang="en-US" sz="36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만들기</a:t>
            </a:r>
            <a:endParaRPr lang="en-US" sz="36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D2254770-40AF-3402-AD10-1DC2C8AD3CDB}"/>
              </a:ext>
            </a:extLst>
          </p:cNvPr>
          <p:cNvSpPr/>
          <p:nvPr/>
        </p:nvSpPr>
        <p:spPr>
          <a:xfrm>
            <a:off x="609904" y="2972205"/>
            <a:ext cx="9761533" cy="5075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0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B90CFEB7-6909-D3AE-DBDD-83A2C52B3A83}"/>
              </a:ext>
            </a:extLst>
          </p:cNvPr>
          <p:cNvSpPr txBox="1"/>
          <p:nvPr/>
        </p:nvSpPr>
        <p:spPr>
          <a:xfrm>
            <a:off x="797553" y="1289159"/>
            <a:ext cx="772757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kern="0" spc="-96" dirty="0" err="1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AI가</a:t>
            </a:r>
            <a:r>
              <a:rPr lang="en-US" altLang="ko-KR" sz="2800" b="1" kern="0" spc="-96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altLang="ko-KR" sz="2800" b="1" kern="0" spc="-96" dirty="0" err="1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코드를</a:t>
            </a:r>
            <a:r>
              <a:rPr lang="en-US" altLang="ko-KR" sz="2800" b="1" kern="0" spc="-96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altLang="ko-KR" sz="2800" b="1" kern="0" spc="-96" dirty="0" err="1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만들어주는</a:t>
            </a:r>
            <a:r>
              <a:rPr lang="en-US" altLang="ko-KR" sz="2800" b="1" kern="0" spc="-96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altLang="ko-KR" sz="2800" b="1" kern="0" spc="-96" dirty="0" err="1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시대</a:t>
            </a:r>
            <a:r>
              <a:rPr lang="en-US" altLang="ko-KR" sz="2800" b="1" kern="0" spc="-96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,</a:t>
            </a:r>
            <a:r>
              <a:rPr lang="ko-KR" altLang="en-US" sz="2800" b="1" kern="0" spc="-96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endParaRPr lang="en-US" altLang="ko-KR" sz="2800" b="1" kern="0" spc="-96" dirty="0">
              <a:solidFill>
                <a:srgbClr val="0F172A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Noto Sans KR" pitchFamily="34" charset="-120"/>
            </a:endParaRPr>
          </a:p>
          <a:p>
            <a:r>
              <a:rPr lang="en-US" altLang="ko-KR" sz="2800" b="1" kern="0" spc="-96" dirty="0" err="1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더</a:t>
            </a:r>
            <a:r>
              <a:rPr lang="en-US" altLang="ko-KR" sz="2800" b="1" kern="0" spc="-96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altLang="ko-KR" sz="2800" b="1" kern="0" spc="-96" dirty="0" err="1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중요한</a:t>
            </a:r>
            <a:r>
              <a:rPr lang="en-US" altLang="ko-KR" sz="2800" b="1" kern="0" spc="-96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ko-KR" altLang="en-US" sz="2800" b="1" kern="0" spc="-96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건</a:t>
            </a:r>
            <a:endParaRPr lang="en-US" altLang="ko-KR" sz="2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3533AF55-57E1-DBDC-B4A2-018E8090B3DC}"/>
              </a:ext>
            </a:extLst>
          </p:cNvPr>
          <p:cNvSpPr txBox="1"/>
          <p:nvPr/>
        </p:nvSpPr>
        <p:spPr>
          <a:xfrm>
            <a:off x="797553" y="2455068"/>
            <a:ext cx="1010352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코드를 많이 아는 것보다 중요한 것은 </a:t>
            </a:r>
            <a:r>
              <a:rPr lang="en-US" sz="1600" b="1" dirty="0">
                <a:solidFill>
                  <a:srgbClr val="1E3A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문제를 정의</a:t>
            </a:r>
            <a:r>
              <a:rPr lang="en-US" sz="16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하고, </a:t>
            </a:r>
            <a:r>
              <a:rPr lang="en-US" sz="1600" b="1" dirty="0" err="1">
                <a:solidFill>
                  <a:srgbClr val="1E3A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적절한</a:t>
            </a:r>
            <a:r>
              <a:rPr lang="en-US" sz="1600" b="1" dirty="0">
                <a:solidFill>
                  <a:srgbClr val="1E3A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도구를 선택</a:t>
            </a:r>
            <a:r>
              <a:rPr lang="en-US" sz="16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하며, </a:t>
            </a:r>
            <a:r>
              <a:rPr lang="en-US" sz="1600" b="1" dirty="0">
                <a:solidFill>
                  <a:srgbClr val="1E3A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결과를 실무에 연결</a:t>
            </a:r>
            <a:r>
              <a:rPr lang="en-US" sz="16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하는 능력입니다. </a:t>
            </a:r>
          </a:p>
          <a:p>
            <a:pPr marL="0" indent="0" algn="l">
              <a:buNone/>
            </a:pPr>
            <a:endParaRPr lang="en-US" sz="1600" dirty="0">
              <a:solidFill>
                <a:srgbClr val="475569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6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</a:t>
            </a:r>
            <a:r>
              <a:rPr lang="en-US" sz="16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기반의 사고방식과 판단 기준을 익히는 과정입니다.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72BBFAF-31E2-F853-70F5-1C2879DF24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" b="-10"/>
          <a:stretch/>
        </p:blipFill>
        <p:spPr>
          <a:xfrm>
            <a:off x="797554" y="3762594"/>
            <a:ext cx="2495398" cy="2095805"/>
          </a:xfrm>
          <a:prstGeom prst="rect">
            <a:avLst/>
          </a:prstGeom>
        </p:spPr>
      </p:pic>
      <p:sp>
        <p:nvSpPr>
          <p:cNvPr id="9" name="Text 11">
            <a:extLst>
              <a:ext uri="{FF2B5EF4-FFF2-40B4-BE49-F238E27FC236}">
                <a16:creationId xmlns:a16="http://schemas.microsoft.com/office/drawing/2014/main" id="{595A3397-4ECC-8D29-8994-C390F8D7B32C}"/>
              </a:ext>
            </a:extLst>
          </p:cNvPr>
          <p:cNvSpPr txBox="1"/>
          <p:nvPr/>
        </p:nvSpPr>
        <p:spPr>
          <a:xfrm>
            <a:off x="914686" y="4266233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관점</a:t>
            </a:r>
            <a:endParaRPr lang="en-US" sz="15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69932849-F6ED-2760-1F5D-877AEBA0CCF9}"/>
              </a:ext>
            </a:extLst>
          </p:cNvPr>
          <p:cNvSpPr txBox="1"/>
          <p:nvPr/>
        </p:nvSpPr>
        <p:spPr>
          <a:xfrm>
            <a:off x="898137" y="4668946"/>
            <a:ext cx="229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숫자가 아닌 비즈니스 맥락에서 데이터를 해석하는 시각</a:t>
            </a:r>
            <a:endParaRPr lang="en-US" sz="12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0D52582C-1147-8DEA-24DC-93C71652D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" b="-10"/>
          <a:stretch/>
        </p:blipFill>
        <p:spPr>
          <a:xfrm>
            <a:off x="3522466" y="3762594"/>
            <a:ext cx="2495398" cy="2095805"/>
          </a:xfrm>
          <a:prstGeom prst="rect">
            <a:avLst/>
          </a:prstGeom>
        </p:spPr>
      </p:pic>
      <p:sp>
        <p:nvSpPr>
          <p:cNvPr id="15" name="Text 15">
            <a:extLst>
              <a:ext uri="{FF2B5EF4-FFF2-40B4-BE49-F238E27FC236}">
                <a16:creationId xmlns:a16="http://schemas.microsoft.com/office/drawing/2014/main" id="{21AC2FEB-A9DF-BFBF-46FD-439F5377A8FA}"/>
              </a:ext>
            </a:extLst>
          </p:cNvPr>
          <p:cNvSpPr txBox="1"/>
          <p:nvPr/>
        </p:nvSpPr>
        <p:spPr>
          <a:xfrm>
            <a:off x="3719977" y="4266233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구조화</a:t>
            </a:r>
            <a:endParaRPr lang="en-US" sz="15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7E8B24DA-C004-4AA0-7C91-1D33306E6E26}"/>
              </a:ext>
            </a:extLst>
          </p:cNvPr>
          <p:cNvSpPr txBox="1"/>
          <p:nvPr/>
        </p:nvSpPr>
        <p:spPr>
          <a:xfrm>
            <a:off x="3719977" y="4665826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추상적인 비즈니스 문제를 분석 가능한 형태(Form)로 바꾸는 힘</a:t>
            </a:r>
            <a:endParaRPr lang="en-US" sz="1200" dirty="0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B03A03D4-20AC-9266-239D-D5448FE2F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" b="-10"/>
          <a:stretch/>
        </p:blipFill>
        <p:spPr>
          <a:xfrm>
            <a:off x="6246464" y="3762594"/>
            <a:ext cx="2495398" cy="2095805"/>
          </a:xfrm>
          <a:prstGeom prst="rect">
            <a:avLst/>
          </a:prstGeom>
        </p:spPr>
      </p:pic>
      <p:sp>
        <p:nvSpPr>
          <p:cNvPr id="20" name="Text 19">
            <a:extLst>
              <a:ext uri="{FF2B5EF4-FFF2-40B4-BE49-F238E27FC236}">
                <a16:creationId xmlns:a16="http://schemas.microsoft.com/office/drawing/2014/main" id="{E82F31BE-D329-8BBB-7A93-9E72161DA586}"/>
              </a:ext>
            </a:extLst>
          </p:cNvPr>
          <p:cNvSpPr txBox="1"/>
          <p:nvPr/>
        </p:nvSpPr>
        <p:spPr>
          <a:xfrm>
            <a:off x="6443975" y="4266233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연결</a:t>
            </a:r>
            <a:endParaRPr lang="en-US" sz="15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C73BA1C-800E-6496-84E3-BF587ADF4F22}"/>
              </a:ext>
            </a:extLst>
          </p:cNvPr>
          <p:cNvSpPr txBox="1"/>
          <p:nvPr/>
        </p:nvSpPr>
        <p:spPr>
          <a:xfrm>
            <a:off x="6443975" y="4665826"/>
            <a:ext cx="21817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결과와 분석 인사이트를 실제 액션 플랜으로 전환하는 방법</a:t>
            </a:r>
            <a:endParaRPr lang="en-US" sz="1200" dirty="0"/>
          </a:p>
        </p:txBody>
      </p:sp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53FA416E-D20F-D135-530D-4E679CC665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" b="-10"/>
          <a:stretch/>
        </p:blipFill>
        <p:spPr>
          <a:xfrm>
            <a:off x="8970461" y="3762594"/>
            <a:ext cx="2495398" cy="2095805"/>
          </a:xfrm>
          <a:prstGeom prst="rect">
            <a:avLst/>
          </a:prstGeom>
        </p:spPr>
      </p:pic>
      <p:sp>
        <p:nvSpPr>
          <p:cNvPr id="26" name="Text 23">
            <a:extLst>
              <a:ext uri="{FF2B5EF4-FFF2-40B4-BE49-F238E27FC236}">
                <a16:creationId xmlns:a16="http://schemas.microsoft.com/office/drawing/2014/main" id="{2E224CF1-82F1-4A85-37B5-09683555FA7A}"/>
              </a:ext>
            </a:extLst>
          </p:cNvPr>
          <p:cNvSpPr txBox="1"/>
          <p:nvPr/>
        </p:nvSpPr>
        <p:spPr>
          <a:xfrm>
            <a:off x="9176937" y="4266233"/>
            <a:ext cx="21003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실무 적용</a:t>
            </a:r>
            <a:endParaRPr lang="en-US" sz="15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C0D8D23-15AB-C1B6-0720-A0CBA1002949}"/>
              </a:ext>
            </a:extLst>
          </p:cNvPr>
          <p:cNvSpPr txBox="1"/>
          <p:nvPr/>
        </p:nvSpPr>
        <p:spPr>
          <a:xfrm>
            <a:off x="9105524" y="4665826"/>
            <a:ext cx="22889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도구(RAG, LLM)를 업무 워크플로우에 최적화하여 </a:t>
            </a:r>
            <a:r>
              <a:rPr lang="en-US" sz="12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적용하는</a:t>
            </a: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감각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90279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3">
            <a:extLst>
              <a:ext uri="{FF2B5EF4-FFF2-40B4-BE49-F238E27FC236}">
                <a16:creationId xmlns:a16="http://schemas.microsoft.com/office/drawing/2014/main" id="{C78C7F4B-A49A-3BEF-5D36-B3809F68EC01}"/>
              </a:ext>
            </a:extLst>
          </p:cNvPr>
          <p:cNvSpPr/>
          <p:nvPr/>
        </p:nvSpPr>
        <p:spPr>
          <a:xfrm>
            <a:off x="8161637" y="2092470"/>
            <a:ext cx="3657601" cy="367863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F0B75614-6096-1A40-1021-30B33EADABA2}"/>
              </a:ext>
            </a:extLst>
          </p:cNvPr>
          <p:cNvSpPr/>
          <p:nvPr/>
        </p:nvSpPr>
        <p:spPr>
          <a:xfrm>
            <a:off x="4142841" y="2099265"/>
            <a:ext cx="3657600" cy="367863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603660C0-24DB-8F07-C50E-75B1EE78B5EC}"/>
              </a:ext>
            </a:extLst>
          </p:cNvPr>
          <p:cNvSpPr/>
          <p:nvPr/>
        </p:nvSpPr>
        <p:spPr>
          <a:xfrm>
            <a:off x="397476" y="2092471"/>
            <a:ext cx="3657600" cy="367863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3901E11-08EA-736D-02AB-635CDE7B306C}"/>
              </a:ext>
            </a:extLst>
          </p:cNvPr>
          <p:cNvSpPr txBox="1"/>
          <p:nvPr/>
        </p:nvSpPr>
        <p:spPr>
          <a:xfrm>
            <a:off x="372762" y="2208195"/>
            <a:ext cx="1557858" cy="54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Wingdings" pitchFamily="2" charset="2"/>
              <a:buChar char="§"/>
            </a:pPr>
            <a:r>
              <a:rPr lang="ko-KR" altLang="en-US" b="1" kern="0" spc="75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최종 결과물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D6898328-95E1-51E3-F484-2731E242C2A3}"/>
              </a:ext>
            </a:extLst>
          </p:cNvPr>
          <p:cNvSpPr txBox="1"/>
          <p:nvPr/>
        </p:nvSpPr>
        <p:spPr>
          <a:xfrm>
            <a:off x="372762" y="3052363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데이터로 현황을 진단하고 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“왜 이런 결과가 나왔는지”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근거를 명확히 제시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6ECAFF3-BC63-0762-AC90-3E9E74141EB0}"/>
              </a:ext>
            </a:extLst>
          </p:cNvPr>
          <p:cNvSpPr txBox="1"/>
          <p:nvPr/>
        </p:nvSpPr>
        <p:spPr>
          <a:xfrm>
            <a:off x="372762" y="3567170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예측 모델로 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What-if 시나리오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(프로모션/요일/가격 등)를 돌려 의사결정 지원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36296DED-E02C-0AF9-9062-A60D51061AB3}"/>
              </a:ext>
            </a:extLst>
          </p:cNvPr>
          <p:cNvSpPr txBox="1"/>
          <p:nvPr/>
        </p:nvSpPr>
        <p:spPr>
          <a:xfrm>
            <a:off x="372762" y="4081063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문서+표 데이터를 함께 읽는 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RAG 분석 챗봇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을 만들어 질문하면 답이 나오게 구현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0583298-5C8F-81DE-31E3-597BEAAD0B3F}"/>
              </a:ext>
            </a:extLst>
          </p:cNvPr>
          <p:cNvSpPr txBox="1"/>
          <p:nvPr/>
        </p:nvSpPr>
        <p:spPr>
          <a:xfrm>
            <a:off x="372762" y="4595870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요약 보고서 1페이지 + 데모 화면까지 만들어 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‘보여줄 수 있는 결과물’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완성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FA1E6BF9-2DB8-D0B4-3C81-8D22D352D5DE}"/>
              </a:ext>
            </a:extLst>
          </p:cNvPr>
          <p:cNvSpPr txBox="1"/>
          <p:nvPr/>
        </p:nvSpPr>
        <p:spPr>
          <a:xfrm>
            <a:off x="4201882" y="2204452"/>
            <a:ext cx="3200400" cy="54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ko-KR"/>
            </a:defPPr>
            <a:lvl1pPr marL="285750" indent="-285750">
              <a:buFont typeface="Wingdings" pitchFamily="2" charset="2"/>
              <a:buChar char="§"/>
              <a:defRPr b="1" kern="0" spc="75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defRPr>
            </a:lvl1pPr>
          </a:lstStyle>
          <a:p>
            <a:r>
              <a:rPr lang="ko-KR" altLang="en-US" dirty="0"/>
              <a:t> 기술적을 익히는 것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(</a:t>
            </a:r>
            <a:r>
              <a:rPr lang="en-US" dirty="0"/>
              <a:t>Tech Skill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74DD7380-928C-DD2B-8A7C-F2F622A11FEB}"/>
              </a:ext>
            </a:extLst>
          </p:cNvPr>
          <p:cNvSpPr txBox="1"/>
          <p:nvPr/>
        </p:nvSpPr>
        <p:spPr>
          <a:xfrm>
            <a:off x="4173920" y="3075876"/>
            <a:ext cx="3714286" cy="216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 준비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데이터 구조 파악, 시각화, 핵심 지표 설계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E460369A-0096-7475-5104-297D5AFCC9A8}"/>
              </a:ext>
            </a:extLst>
          </p:cNvPr>
          <p:cNvSpPr txBox="1"/>
          <p:nvPr/>
        </p:nvSpPr>
        <p:spPr>
          <a:xfrm>
            <a:off x="4173920" y="3390429"/>
            <a:ext cx="341666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예측/검증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누수 없는 검증(Time 기반), 피처 엔지니어링, 모델 튜닝 및 해석(SHAP)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578EDD78-78DA-E6D1-9653-31EEEEA0100B}"/>
              </a:ext>
            </a:extLst>
          </p:cNvPr>
          <p:cNvSpPr txBox="1"/>
          <p:nvPr/>
        </p:nvSpPr>
        <p:spPr>
          <a:xfrm>
            <a:off x="4173920" y="3838485"/>
            <a:ext cx="391772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RAG 구성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문서 청킹·저장·검색 + 표 데이터 검색(Text-to-SQL) 연결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EC8CD70D-0FDE-2BFC-96F8-56C7BBEA2F52}"/>
              </a:ext>
            </a:extLst>
          </p:cNvPr>
          <p:cNvSpPr txBox="1"/>
          <p:nvPr/>
        </p:nvSpPr>
        <p:spPr>
          <a:xfrm>
            <a:off x="4173920" y="4363460"/>
            <a:ext cx="401528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에이전트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질문에 따라 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문서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/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RDB를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고르는 라우팅, 모호하면 되묻는 로직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EF450A4B-18BD-8139-D31E-35300256CD8F}"/>
              </a:ext>
            </a:extLst>
          </p:cNvPr>
          <p:cNvSpPr txBox="1"/>
          <p:nvPr/>
        </p:nvSpPr>
        <p:spPr>
          <a:xfrm>
            <a:off x="4173920" y="4878266"/>
            <a:ext cx="341666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데모화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Streamlit으로 ‘질문→답변→근거’가 보이는 화면 구성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155CBBFA-32BF-CAF8-3865-F09D8832C13E}"/>
              </a:ext>
            </a:extLst>
          </p:cNvPr>
          <p:cNvSpPr txBox="1"/>
          <p:nvPr/>
        </p:nvSpPr>
        <p:spPr>
          <a:xfrm>
            <a:off x="8243961" y="2202198"/>
            <a:ext cx="3200400" cy="54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ko-KR"/>
            </a:defPPr>
            <a:lvl1pPr marL="285750" indent="-285750">
              <a:buFont typeface="Wingdings" pitchFamily="2" charset="2"/>
              <a:buChar char="§"/>
              <a:defRPr b="1" kern="0" spc="75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defRPr>
            </a:lvl1pPr>
          </a:lstStyle>
          <a:p>
            <a:r>
              <a:rPr lang="ko-KR" altLang="en-US" dirty="0"/>
              <a:t> 비즈니스 관점에서 익히는 것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(</a:t>
            </a:r>
            <a:r>
              <a:rPr lang="en" altLang="ko-KR" dirty="0"/>
              <a:t>Business Skill)</a:t>
            </a:r>
            <a:endParaRPr lang="en-US" dirty="0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4147F26D-C571-0B68-0A18-D1883686CDCE}"/>
              </a:ext>
            </a:extLst>
          </p:cNvPr>
          <p:cNvSpPr txBox="1"/>
          <p:nvPr/>
        </p:nvSpPr>
        <p:spPr>
          <a:xfrm>
            <a:off x="8381885" y="3073622"/>
            <a:ext cx="32928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“분석”을 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의사결정 문장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으로: </a:t>
            </a:r>
          </a:p>
          <a:p>
            <a:pPr algn="l"/>
            <a:r>
              <a:rPr lang="ko-KR" alt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     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진단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→ 원인 → 우선순위 → 실행안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B072C1ED-32C7-7C92-65BC-372C371FACCF}"/>
              </a:ext>
            </a:extLst>
          </p:cNvPr>
          <p:cNvSpPr txBox="1"/>
          <p:nvPr/>
        </p:nvSpPr>
        <p:spPr>
          <a:xfrm>
            <a:off x="8365072" y="3525374"/>
            <a:ext cx="358803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매출 해석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거래 수 vs 객단가, 세그먼트별 차이 파악 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및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구조화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03A1BB7C-7274-83E3-AB35-34F96D7D7172}"/>
              </a:ext>
            </a:extLst>
          </p:cNvPr>
          <p:cNvSpPr txBox="1"/>
          <p:nvPr/>
        </p:nvSpPr>
        <p:spPr>
          <a:xfrm>
            <a:off x="8364423" y="4014309"/>
            <a:ext cx="345481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“좋아 보이는 결과”가 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아니라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000" b="1" dirty="0" err="1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성과로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이어지는 질문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설계법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F4C0FC06-DB91-C19E-0CBB-81E42C01E5A7}"/>
              </a:ext>
            </a:extLst>
          </p:cNvPr>
          <p:cNvSpPr txBox="1"/>
          <p:nvPr/>
        </p:nvSpPr>
        <p:spPr>
          <a:xfrm>
            <a:off x="8372660" y="4550378"/>
            <a:ext cx="345481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프로모션/전략의 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ROI 관점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으로 시나리오를 비교하고 추천하는 법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04A80CDA-73E3-C08C-7D6B-EC0C3BB280FF}"/>
              </a:ext>
            </a:extLst>
          </p:cNvPr>
          <p:cNvSpPr txBox="1"/>
          <p:nvPr/>
        </p:nvSpPr>
        <p:spPr>
          <a:xfrm>
            <a:off x="8363824" y="5056763"/>
            <a:ext cx="360993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면접/보고용으로 </a:t>
            </a:r>
            <a:r>
              <a:rPr lang="en-US" sz="1000" b="1" dirty="0">
                <a:solidFill>
                  <a:srgbClr val="0F172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1페이지 요약(Executive Summary)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을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만</a:t>
            </a:r>
            <a:r>
              <a:rPr lang="ko-KR" alt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드</a:t>
            </a:r>
            <a:r>
              <a:rPr lang="en-US" sz="10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는</a:t>
            </a:r>
            <a:r>
              <a:rPr lang="en-US" sz="10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법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75B4A54B-B75A-7EAC-7D9B-D0FDAC226832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B3DF817E-0028-D67F-2AA7-A2E61126E45F}"/>
              </a:ext>
            </a:extLst>
          </p:cNvPr>
          <p:cNvSpPr txBox="1"/>
          <p:nvPr/>
        </p:nvSpPr>
        <p:spPr>
          <a:xfrm>
            <a:off x="457200" y="383724"/>
            <a:ext cx="48232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강의를 통해 얻을 수 있는 것</a:t>
            </a:r>
            <a:endParaRPr lang="en-US" sz="27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94648C-41D9-A4D5-C8D9-05558BFFE2AF}"/>
              </a:ext>
            </a:extLst>
          </p:cNvPr>
          <p:cNvSpPr txBox="1"/>
          <p:nvPr/>
        </p:nvSpPr>
        <p:spPr>
          <a:xfrm>
            <a:off x="397476" y="1188896"/>
            <a:ext cx="11696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 기반 문제 해결을 위해 </a:t>
            </a: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[</a:t>
            </a:r>
            <a:r>
              <a:rPr lang="ko-KR" altLang="en-US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원인 분석</a:t>
            </a: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/</a:t>
            </a:r>
            <a:r>
              <a:rPr lang="ko-KR" altLang="en-US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검증</a:t>
            </a: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],</a:t>
            </a:r>
            <a:r>
              <a:rPr lang="ko-KR" altLang="en-US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[What-If], [RAG </a:t>
            </a:r>
            <a:r>
              <a:rPr lang="ko-KR" altLang="en-US" kern="0" spc="-56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챗봇</a:t>
            </a: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]</a:t>
            </a:r>
            <a:r>
              <a:rPr lang="ko-KR" altLang="en-US" kern="0" spc="-56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으로</a:t>
            </a: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ko-KR" altLang="en-US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이어지는 결과물로 만들어보는 강의</a:t>
            </a:r>
            <a:endParaRPr lang="en-US" altLang="ko-KR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027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861F58D-F81F-CDCE-26FB-FF42758F7DA9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A5C958A-E441-7413-8F74-BFA88FE5B7E4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AI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시대에도 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DA/DS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필요한 이유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36E8E-78F1-315E-47C1-7F4B329B23C3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AI</a:t>
            </a:r>
            <a:r>
              <a:rPr lang="ko-KR" altLang="en-US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는 답변은 잘하지만</a:t>
            </a:r>
            <a:r>
              <a:rPr lang="en-US" altLang="ko-KR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,</a:t>
            </a:r>
            <a:r>
              <a:rPr lang="ko-KR" altLang="en-US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정답을 보장하지는 </a:t>
            </a:r>
            <a:r>
              <a:rPr lang="ko-KR" altLang="en-US" sz="1800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못합니다</a:t>
            </a:r>
            <a:r>
              <a:rPr lang="en-US" altLang="ko-KR" sz="1800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. </a:t>
            </a:r>
            <a:r>
              <a:rPr lang="ko-KR" altLang="en-US" sz="1800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정답을 만들고 검증하는 역할이 바로 </a:t>
            </a:r>
            <a:r>
              <a:rPr lang="en-US" altLang="ko-KR" sz="1800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DA/DS</a:t>
            </a:r>
            <a:r>
              <a:rPr lang="ko-KR" altLang="en-US" sz="1800" kern="0" spc="-56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입니다</a:t>
            </a:r>
            <a:endParaRPr lang="en-US" altLang="ko-KR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A0A2CA2-F54A-E4D6-FC7B-80B3ACBAD745}"/>
              </a:ext>
            </a:extLst>
          </p:cNvPr>
          <p:cNvSpPr/>
          <p:nvPr/>
        </p:nvSpPr>
        <p:spPr>
          <a:xfrm>
            <a:off x="397476" y="1687658"/>
            <a:ext cx="5600700" cy="1649903"/>
          </a:xfrm>
          <a:prstGeom prst="roundRect">
            <a:avLst>
              <a:gd name="adj" fmla="val 3413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FB59D54-F09A-49E8-CAA6-F26138761C69}"/>
              </a:ext>
            </a:extLst>
          </p:cNvPr>
          <p:cNvSpPr/>
          <p:nvPr/>
        </p:nvSpPr>
        <p:spPr>
          <a:xfrm>
            <a:off x="663566" y="2193054"/>
            <a:ext cx="51050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5A3953-305D-364A-A8E5-47038CD2B91E}"/>
              </a:ext>
            </a:extLst>
          </p:cNvPr>
          <p:cNvSpPr txBox="1"/>
          <p:nvPr/>
        </p:nvSpPr>
        <p:spPr>
          <a:xfrm>
            <a:off x="677657" y="1829243"/>
            <a:ext cx="15115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AI가 잘하는 것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2DF0B4-480E-4BDD-AF5D-4C550777472E}"/>
              </a:ext>
            </a:extLst>
          </p:cNvPr>
          <p:cNvSpPr txBox="1"/>
          <p:nvPr/>
        </p:nvSpPr>
        <p:spPr>
          <a:xfrm>
            <a:off x="1006466" y="2353988"/>
            <a:ext cx="32415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생성 및 요약</a:t>
            </a:r>
            <a:r>
              <a:rPr lang="en-US" sz="10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문서 요약, 글쓰기, 아이디어 확장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B0F3D90-FF37-B174-B98D-0B513A56856B}"/>
              </a:ext>
            </a:extLst>
          </p:cNvPr>
          <p:cNvSpPr txBox="1"/>
          <p:nvPr/>
        </p:nvSpPr>
        <p:spPr>
          <a:xfrm>
            <a:off x="1006466" y="2630137"/>
            <a:ext cx="3161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자동화 초안</a:t>
            </a:r>
            <a:r>
              <a:rPr lang="en-US" sz="10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코드 초안 작성, 자동화 흐름 설계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985C3AA-74F4-BC21-09B6-52463EBD2782}"/>
              </a:ext>
            </a:extLst>
          </p:cNvPr>
          <p:cNvSpPr txBox="1"/>
          <p:nvPr/>
        </p:nvSpPr>
        <p:spPr>
          <a:xfrm>
            <a:off x="1006466" y="2906286"/>
            <a:ext cx="33375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빠른 응답</a:t>
            </a:r>
            <a:r>
              <a:rPr lang="en-US" sz="10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질문에 대해 그럴듯한 답변을 즉시 제공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4C916FF-0535-CDD2-6A45-6DBC67DD00A0}"/>
              </a:ext>
            </a:extLst>
          </p:cNvPr>
          <p:cNvSpPr/>
          <p:nvPr/>
        </p:nvSpPr>
        <p:spPr>
          <a:xfrm>
            <a:off x="6226776" y="1687658"/>
            <a:ext cx="5600700" cy="1649903"/>
          </a:xfrm>
          <a:prstGeom prst="roundRect">
            <a:avLst>
              <a:gd name="adj" fmla="val 3413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E91BC44-1F97-8F83-83D6-CF0E441F057F}"/>
              </a:ext>
            </a:extLst>
          </p:cNvPr>
          <p:cNvSpPr/>
          <p:nvPr/>
        </p:nvSpPr>
        <p:spPr>
          <a:xfrm>
            <a:off x="6492866" y="2193054"/>
            <a:ext cx="51050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EEC6A59-5FB8-BDBA-CC73-8896AECA8F38}"/>
              </a:ext>
            </a:extLst>
          </p:cNvPr>
          <p:cNvSpPr txBox="1"/>
          <p:nvPr/>
        </p:nvSpPr>
        <p:spPr>
          <a:xfrm>
            <a:off x="6492866" y="1837352"/>
            <a:ext cx="2629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AI의 약점 → DA/DS가 필요</a:t>
            </a:r>
            <a:endParaRPr lang="en-US" sz="15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04985703-5968-3323-43C4-D8019490A653}"/>
              </a:ext>
            </a:extLst>
          </p:cNvPr>
          <p:cNvSpPr txBox="1"/>
          <p:nvPr/>
        </p:nvSpPr>
        <p:spPr>
          <a:xfrm>
            <a:off x="6854969" y="2353988"/>
            <a:ext cx="28739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 정합성</a:t>
            </a:r>
            <a:r>
              <a:rPr lang="en-US" sz="10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데이터 누락/중복/오류 검증</a:t>
            </a:r>
            <a:endParaRPr lang="en-US" sz="10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C24F562C-297B-BC84-FE03-8BC0A45F03FB}"/>
              </a:ext>
            </a:extLst>
          </p:cNvPr>
          <p:cNvSpPr txBox="1"/>
          <p:nvPr/>
        </p:nvSpPr>
        <p:spPr>
          <a:xfrm>
            <a:off x="6854969" y="2630137"/>
            <a:ext cx="42976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지표 정의 &amp; 인과성</a:t>
            </a:r>
            <a:r>
              <a:rPr lang="en-US" sz="10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매출의 의미 정의, 상관관계와 인과관계 구분</a:t>
            </a:r>
            <a:endParaRPr lang="en-US" sz="10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188AC1F-E4C8-FD39-20A2-747E8FDA8986}"/>
              </a:ext>
            </a:extLst>
          </p:cNvPr>
          <p:cNvSpPr txBox="1"/>
          <p:nvPr/>
        </p:nvSpPr>
        <p:spPr>
          <a:xfrm>
            <a:off x="6854969" y="2906286"/>
            <a:ext cx="36896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책임 있는 검증</a:t>
            </a:r>
            <a:r>
              <a:rPr lang="en-US" sz="10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: 누수 없는 평가, 비용·리스크·ROI 고려</a:t>
            </a:r>
            <a:endParaRPr lang="en-US" sz="10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06AE2311-6C5B-146B-8BD6-7A87AED80A33}"/>
              </a:ext>
            </a:extLst>
          </p:cNvPr>
          <p:cNvSpPr/>
          <p:nvPr/>
        </p:nvSpPr>
        <p:spPr>
          <a:xfrm>
            <a:off x="397476" y="3765500"/>
            <a:ext cx="7467905" cy="247619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01F4CBED-015C-BE48-5CA2-9382B7D51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" r="-33"/>
          <a:stretch/>
        </p:blipFill>
        <p:spPr>
          <a:xfrm>
            <a:off x="596815" y="4355288"/>
            <a:ext cx="171907" cy="152705"/>
          </a:xfrm>
          <a:prstGeom prst="rect">
            <a:avLst/>
          </a:prstGeom>
        </p:spPr>
      </p:pic>
      <p:sp>
        <p:nvSpPr>
          <p:cNvPr id="32" name="Text 22">
            <a:extLst>
              <a:ext uri="{FF2B5EF4-FFF2-40B4-BE49-F238E27FC236}">
                <a16:creationId xmlns:a16="http://schemas.microsoft.com/office/drawing/2014/main" id="{404D3563-F388-8A32-8A43-7F9C6C8EA353}"/>
              </a:ext>
            </a:extLst>
          </p:cNvPr>
          <p:cNvSpPr txBox="1"/>
          <p:nvPr/>
        </p:nvSpPr>
        <p:spPr>
          <a:xfrm>
            <a:off x="844617" y="4317798"/>
            <a:ext cx="273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DA/DS가 하는 “정답 만들기” 5단계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087C920A-B5AD-FCD7-DAEF-E43DB1D4A33F}"/>
              </a:ext>
            </a:extLst>
          </p:cNvPr>
          <p:cNvSpPr/>
          <p:nvPr/>
        </p:nvSpPr>
        <p:spPr>
          <a:xfrm>
            <a:off x="596815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460B43F3-0B3F-2DEA-DA59-C9C2697E3454}"/>
              </a:ext>
            </a:extLst>
          </p:cNvPr>
          <p:cNvSpPr/>
          <p:nvPr/>
        </p:nvSpPr>
        <p:spPr>
          <a:xfrm>
            <a:off x="1178373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C4367FA9-70CB-110D-DEFB-70A2ED108756}"/>
              </a:ext>
            </a:extLst>
          </p:cNvPr>
          <p:cNvSpPr/>
          <p:nvPr/>
        </p:nvSpPr>
        <p:spPr>
          <a:xfrm>
            <a:off x="1139969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1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CF7D2A04-69FB-B896-48FC-44AFD3899198}"/>
              </a:ext>
            </a:extLst>
          </p:cNvPr>
          <p:cNvSpPr txBox="1"/>
          <p:nvPr/>
        </p:nvSpPr>
        <p:spPr>
          <a:xfrm>
            <a:off x="971719" y="5088637"/>
            <a:ext cx="6080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문제 정의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731AAADA-6C4B-F32A-4662-81C9320F09BC}"/>
              </a:ext>
            </a:extLst>
          </p:cNvPr>
          <p:cNvSpPr txBox="1"/>
          <p:nvPr/>
        </p:nvSpPr>
        <p:spPr>
          <a:xfrm>
            <a:off x="1037556" y="5312665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개선 목표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성공 기준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7D0CAD35-C61F-6F7A-A2C1-07EB84D176F4}"/>
              </a:ext>
            </a:extLst>
          </p:cNvPr>
          <p:cNvSpPr/>
          <p:nvPr/>
        </p:nvSpPr>
        <p:spPr>
          <a:xfrm>
            <a:off x="2026022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E1A50D4A-85CE-37F1-0810-CD2730C7AF5B}"/>
              </a:ext>
            </a:extLst>
          </p:cNvPr>
          <p:cNvSpPr/>
          <p:nvPr/>
        </p:nvSpPr>
        <p:spPr>
          <a:xfrm>
            <a:off x="2606666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44EDC3FA-3262-2571-AD71-2AF8CF822080}"/>
              </a:ext>
            </a:extLst>
          </p:cNvPr>
          <p:cNvSpPr/>
          <p:nvPr/>
        </p:nvSpPr>
        <p:spPr>
          <a:xfrm>
            <a:off x="2569176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2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94FDFA7A-BB36-685C-D558-A39D661CAFBE}"/>
              </a:ext>
            </a:extLst>
          </p:cNvPr>
          <p:cNvSpPr txBox="1"/>
          <p:nvPr/>
        </p:nvSpPr>
        <p:spPr>
          <a:xfrm>
            <a:off x="2335089" y="5088637"/>
            <a:ext cx="739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 점검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0999BE51-543E-CD0E-DF88-7F47E7A4AA1C}"/>
              </a:ext>
            </a:extLst>
          </p:cNvPr>
          <p:cNvSpPr txBox="1"/>
          <p:nvPr/>
        </p:nvSpPr>
        <p:spPr>
          <a:xfrm>
            <a:off x="2418300" y="5312665"/>
            <a:ext cx="571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신뢰성 확인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정제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B3CFF447-8DB4-AB15-15BA-DF866A5A7478}"/>
              </a:ext>
            </a:extLst>
          </p:cNvPr>
          <p:cNvSpPr/>
          <p:nvPr/>
        </p:nvSpPr>
        <p:spPr>
          <a:xfrm>
            <a:off x="3454315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6DAEB117-AB02-724E-B695-C23E3B20F5E3}"/>
              </a:ext>
            </a:extLst>
          </p:cNvPr>
          <p:cNvSpPr/>
          <p:nvPr/>
        </p:nvSpPr>
        <p:spPr>
          <a:xfrm>
            <a:off x="4035873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A08068BF-AE6D-332A-C6AF-447DF0F26E39}"/>
              </a:ext>
            </a:extLst>
          </p:cNvPr>
          <p:cNvSpPr/>
          <p:nvPr/>
        </p:nvSpPr>
        <p:spPr>
          <a:xfrm>
            <a:off x="3997469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3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458E4CD6-35FA-0BA4-BEBB-60C920D37BA5}"/>
              </a:ext>
            </a:extLst>
          </p:cNvPr>
          <p:cNvSpPr txBox="1"/>
          <p:nvPr/>
        </p:nvSpPr>
        <p:spPr>
          <a:xfrm>
            <a:off x="3761553" y="5088637"/>
            <a:ext cx="7406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분석/모델링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5547B8BA-19D2-54D2-9C5D-67CB1E3BCAE9}"/>
              </a:ext>
            </a:extLst>
          </p:cNvPr>
          <p:cNvSpPr txBox="1"/>
          <p:nvPr/>
        </p:nvSpPr>
        <p:spPr>
          <a:xfrm>
            <a:off x="3895056" y="5312665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원인 규명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패턴 예측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F86E222C-6048-2958-2FCE-11E59AC4FDD9}"/>
              </a:ext>
            </a:extLst>
          </p:cNvPr>
          <p:cNvSpPr/>
          <p:nvPr/>
        </p:nvSpPr>
        <p:spPr>
          <a:xfrm>
            <a:off x="4883522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9" name="Shape 39">
            <a:extLst>
              <a:ext uri="{FF2B5EF4-FFF2-40B4-BE49-F238E27FC236}">
                <a16:creationId xmlns:a16="http://schemas.microsoft.com/office/drawing/2014/main" id="{01BF8F1A-1CDC-2943-1A50-B4352EED008F}"/>
              </a:ext>
            </a:extLst>
          </p:cNvPr>
          <p:cNvSpPr/>
          <p:nvPr/>
        </p:nvSpPr>
        <p:spPr>
          <a:xfrm>
            <a:off x="5464166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2DAE1B94-E74E-1A56-F9B7-3438F9A5AD00}"/>
              </a:ext>
            </a:extLst>
          </p:cNvPr>
          <p:cNvSpPr/>
          <p:nvPr/>
        </p:nvSpPr>
        <p:spPr>
          <a:xfrm>
            <a:off x="5426676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4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8137CC80-A65F-7E5D-444C-793DD9CDE395}"/>
              </a:ext>
            </a:extLst>
          </p:cNvPr>
          <p:cNvSpPr txBox="1"/>
          <p:nvPr/>
        </p:nvSpPr>
        <p:spPr>
          <a:xfrm>
            <a:off x="5407473" y="5088637"/>
            <a:ext cx="305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검증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38927EF8-05AC-C6B2-AADF-246E0E9CDD38}"/>
              </a:ext>
            </a:extLst>
          </p:cNvPr>
          <p:cNvSpPr txBox="1"/>
          <p:nvPr/>
        </p:nvSpPr>
        <p:spPr>
          <a:xfrm>
            <a:off x="5317862" y="5312665"/>
            <a:ext cx="486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성능/근거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재현성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9BFCE1E8-6C69-DF42-0B0C-5FFA74AF97B2}"/>
              </a:ext>
            </a:extLst>
          </p:cNvPr>
          <p:cNvSpPr/>
          <p:nvPr/>
        </p:nvSpPr>
        <p:spPr>
          <a:xfrm>
            <a:off x="6311815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4" name="Shape 44">
            <a:extLst>
              <a:ext uri="{FF2B5EF4-FFF2-40B4-BE49-F238E27FC236}">
                <a16:creationId xmlns:a16="http://schemas.microsoft.com/office/drawing/2014/main" id="{64289F6E-66C2-3831-6D83-0B44F802F4FA}"/>
              </a:ext>
            </a:extLst>
          </p:cNvPr>
          <p:cNvSpPr/>
          <p:nvPr/>
        </p:nvSpPr>
        <p:spPr>
          <a:xfrm>
            <a:off x="6893373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5" name="Text 45">
            <a:extLst>
              <a:ext uri="{FF2B5EF4-FFF2-40B4-BE49-F238E27FC236}">
                <a16:creationId xmlns:a16="http://schemas.microsoft.com/office/drawing/2014/main" id="{946B73FC-6357-01F1-E032-B1C948078308}"/>
              </a:ext>
            </a:extLst>
          </p:cNvPr>
          <p:cNvSpPr/>
          <p:nvPr/>
        </p:nvSpPr>
        <p:spPr>
          <a:xfrm>
            <a:off x="6854969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5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966E4B24-E5DC-6FD4-4AE7-7A36C3804472}"/>
              </a:ext>
            </a:extLst>
          </p:cNvPr>
          <p:cNvSpPr txBox="1"/>
          <p:nvPr/>
        </p:nvSpPr>
        <p:spPr>
          <a:xfrm>
            <a:off x="6779073" y="5088637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실행안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7" name="Text 47">
            <a:extLst>
              <a:ext uri="{FF2B5EF4-FFF2-40B4-BE49-F238E27FC236}">
                <a16:creationId xmlns:a16="http://schemas.microsoft.com/office/drawing/2014/main" id="{317FFE8E-D840-D804-6803-85BC4005CBA6}"/>
              </a:ext>
            </a:extLst>
          </p:cNvPr>
          <p:cNvSpPr txBox="1"/>
          <p:nvPr/>
        </p:nvSpPr>
        <p:spPr>
          <a:xfrm>
            <a:off x="6752556" y="5312665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우선순위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성과 측정</a:t>
            </a:r>
            <a:endParaRPr lang="en-US" sz="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8" name="Shape 48">
            <a:extLst>
              <a:ext uri="{FF2B5EF4-FFF2-40B4-BE49-F238E27FC236}">
                <a16:creationId xmlns:a16="http://schemas.microsoft.com/office/drawing/2014/main" id="{639A0D1F-FF13-4882-2D9C-F879BB2916D3}"/>
              </a:ext>
            </a:extLst>
          </p:cNvPr>
          <p:cNvSpPr/>
          <p:nvPr/>
        </p:nvSpPr>
        <p:spPr>
          <a:xfrm>
            <a:off x="8093066" y="3765500"/>
            <a:ext cx="3733495" cy="2476195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9" name="Shape 49">
            <a:extLst>
              <a:ext uri="{FF2B5EF4-FFF2-40B4-BE49-F238E27FC236}">
                <a16:creationId xmlns:a16="http://schemas.microsoft.com/office/drawing/2014/main" id="{9A191905-EEF2-C3A8-F07A-8E4CFEB36B17}"/>
              </a:ext>
            </a:extLst>
          </p:cNvPr>
          <p:cNvSpPr/>
          <p:nvPr/>
        </p:nvSpPr>
        <p:spPr>
          <a:xfrm>
            <a:off x="8284176" y="4261105"/>
            <a:ext cx="33531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9740050E-3470-7048-B3C4-C0AD17404A27}"/>
              </a:ext>
            </a:extLst>
          </p:cNvPr>
          <p:cNvSpPr txBox="1"/>
          <p:nvPr/>
        </p:nvSpPr>
        <p:spPr>
          <a:xfrm>
            <a:off x="8284176" y="3955695"/>
            <a:ext cx="342900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강의 핵심 포인트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1" name="Shape 51">
            <a:extLst>
              <a:ext uri="{FF2B5EF4-FFF2-40B4-BE49-F238E27FC236}">
                <a16:creationId xmlns:a16="http://schemas.microsoft.com/office/drawing/2014/main" id="{5122F54E-70AB-3D37-8AAB-792A6390246B}"/>
              </a:ext>
            </a:extLst>
          </p:cNvPr>
          <p:cNvSpPr/>
          <p:nvPr/>
        </p:nvSpPr>
        <p:spPr>
          <a:xfrm>
            <a:off x="8284176" y="4384549"/>
            <a:ext cx="3353105" cy="352044"/>
          </a:xfrm>
          <a:prstGeom prst="roundRect">
            <a:avLst>
              <a:gd name="adj" fmla="val 112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62" name="Image 10" descr="preencoded.png">
            <a:extLst>
              <a:ext uri="{FF2B5EF4-FFF2-40B4-BE49-F238E27FC236}">
                <a16:creationId xmlns:a16="http://schemas.microsoft.com/office/drawing/2014/main" id="{58AAB2D3-451F-DB50-D5B0-BDECB5989D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8398476" y="4496106"/>
            <a:ext cx="152705" cy="133502"/>
          </a:xfrm>
          <a:prstGeom prst="rect">
            <a:avLst/>
          </a:prstGeom>
        </p:spPr>
      </p:pic>
      <p:sp>
        <p:nvSpPr>
          <p:cNvPr id="63" name="Text 52">
            <a:extLst>
              <a:ext uri="{FF2B5EF4-FFF2-40B4-BE49-F238E27FC236}">
                <a16:creationId xmlns:a16="http://schemas.microsoft.com/office/drawing/2014/main" id="{8A056997-7536-FC0F-7A19-87EB942F5445}"/>
              </a:ext>
            </a:extLst>
          </p:cNvPr>
          <p:cNvSpPr txBox="1"/>
          <p:nvPr/>
        </p:nvSpPr>
        <p:spPr>
          <a:xfrm>
            <a:off x="8683769" y="4460444"/>
            <a:ext cx="18461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</a:t>
            </a:r>
            <a:r>
              <a:rPr lang="en-US" sz="10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으로 현재와 원인 설명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4" name="Shape 53">
            <a:extLst>
              <a:ext uri="{FF2B5EF4-FFF2-40B4-BE49-F238E27FC236}">
                <a16:creationId xmlns:a16="http://schemas.microsoft.com/office/drawing/2014/main" id="{8D58E774-9822-A4B4-F2A0-BAE29F22F993}"/>
              </a:ext>
            </a:extLst>
          </p:cNvPr>
          <p:cNvSpPr/>
          <p:nvPr/>
        </p:nvSpPr>
        <p:spPr>
          <a:xfrm>
            <a:off x="8284176" y="4832605"/>
            <a:ext cx="3353105" cy="352044"/>
          </a:xfrm>
          <a:prstGeom prst="roundRect">
            <a:avLst>
              <a:gd name="adj" fmla="val 112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65" name="Image 11" descr="preencoded.png">
            <a:extLst>
              <a:ext uri="{FF2B5EF4-FFF2-40B4-BE49-F238E27FC236}">
                <a16:creationId xmlns:a16="http://schemas.microsoft.com/office/drawing/2014/main" id="{23F99158-7E1F-C358-BB6B-4D26C3C221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07620" y="4944162"/>
            <a:ext cx="133502" cy="133502"/>
          </a:xfrm>
          <a:prstGeom prst="rect">
            <a:avLst/>
          </a:prstGeom>
        </p:spPr>
      </p:pic>
      <p:sp>
        <p:nvSpPr>
          <p:cNvPr id="66" name="Text 54">
            <a:extLst>
              <a:ext uri="{FF2B5EF4-FFF2-40B4-BE49-F238E27FC236}">
                <a16:creationId xmlns:a16="http://schemas.microsoft.com/office/drawing/2014/main" id="{B29869BB-AA38-B681-0559-FC87E67513F5}"/>
              </a:ext>
            </a:extLst>
          </p:cNvPr>
          <p:cNvSpPr txBox="1"/>
          <p:nvPr/>
        </p:nvSpPr>
        <p:spPr>
          <a:xfrm>
            <a:off x="8683769" y="4908500"/>
            <a:ext cx="1486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예측</a:t>
            </a:r>
            <a:r>
              <a:rPr lang="en-US" sz="10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으로 선택지 비교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Shape 55">
            <a:extLst>
              <a:ext uri="{FF2B5EF4-FFF2-40B4-BE49-F238E27FC236}">
                <a16:creationId xmlns:a16="http://schemas.microsoft.com/office/drawing/2014/main" id="{E5F1ADC9-679D-A973-00BB-94B9256F25A7}"/>
              </a:ext>
            </a:extLst>
          </p:cNvPr>
          <p:cNvSpPr/>
          <p:nvPr/>
        </p:nvSpPr>
        <p:spPr>
          <a:xfrm>
            <a:off x="8284176" y="5279746"/>
            <a:ext cx="3353105" cy="352044"/>
          </a:xfrm>
          <a:prstGeom prst="roundRect">
            <a:avLst>
              <a:gd name="adj" fmla="val 112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00733643-952F-9578-8205-549D4B6687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8388417" y="5392218"/>
            <a:ext cx="171907" cy="133502"/>
          </a:xfrm>
          <a:prstGeom prst="rect">
            <a:avLst/>
          </a:prstGeom>
        </p:spPr>
      </p:pic>
      <p:sp>
        <p:nvSpPr>
          <p:cNvPr id="69" name="Text 56">
            <a:extLst>
              <a:ext uri="{FF2B5EF4-FFF2-40B4-BE49-F238E27FC236}">
                <a16:creationId xmlns:a16="http://schemas.microsoft.com/office/drawing/2014/main" id="{DA1DA1EE-BFEF-8148-8E2B-9FB5F6D4EA9E}"/>
              </a:ext>
            </a:extLst>
          </p:cNvPr>
          <p:cNvSpPr txBox="1"/>
          <p:nvPr/>
        </p:nvSpPr>
        <p:spPr>
          <a:xfrm>
            <a:off x="8683769" y="5356556"/>
            <a:ext cx="16934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RAG</a:t>
            </a:r>
            <a:r>
              <a:rPr lang="en-US" sz="10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로 반복 분석 자동화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57BE28F6-A032-4E05-B070-8579C4423CFC}"/>
              </a:ext>
            </a:extLst>
          </p:cNvPr>
          <p:cNvSpPr txBox="1"/>
          <p:nvPr/>
        </p:nvSpPr>
        <p:spPr>
          <a:xfrm>
            <a:off x="8245771" y="5747005"/>
            <a:ext cx="3429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AI를 도구로 쓰되,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결과를 책임지는 방법</a:t>
            </a:r>
            <a:r>
              <a:rPr lang="en-US" sz="9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을 배웁니다.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67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0">
            <a:extLst>
              <a:ext uri="{FF2B5EF4-FFF2-40B4-BE49-F238E27FC236}">
                <a16:creationId xmlns:a16="http://schemas.microsoft.com/office/drawing/2014/main" id="{1490A74E-31F3-1FF3-30CB-242281968989}"/>
              </a:ext>
            </a:extLst>
          </p:cNvPr>
          <p:cNvSpPr/>
          <p:nvPr/>
        </p:nvSpPr>
        <p:spPr>
          <a:xfrm>
            <a:off x="547726" y="1762049"/>
            <a:ext cx="5283403" cy="4019702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631EA42-D68C-CB44-47E3-6098059342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/>
          <a:stretch/>
        </p:blipFill>
        <p:spPr>
          <a:xfrm>
            <a:off x="833018" y="2162556"/>
            <a:ext cx="237744" cy="190195"/>
          </a:xfrm>
          <a:prstGeom prst="rect">
            <a:avLst/>
          </a:prstGeom>
        </p:spPr>
      </p:pic>
      <p:sp>
        <p:nvSpPr>
          <p:cNvPr id="8" name="Text 12">
            <a:extLst>
              <a:ext uri="{FF2B5EF4-FFF2-40B4-BE49-F238E27FC236}">
                <a16:creationId xmlns:a16="http://schemas.microsoft.com/office/drawing/2014/main" id="{8F2F056D-CF22-2BDC-9206-4DA27C797E88}"/>
              </a:ext>
            </a:extLst>
          </p:cNvPr>
          <p:cNvSpPr txBox="1"/>
          <p:nvPr/>
        </p:nvSpPr>
        <p:spPr>
          <a:xfrm>
            <a:off x="1257300" y="2115007"/>
            <a:ext cx="2572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보지 않는 것 (Anti-Patterns)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5FDA919-8F70-71DE-246F-A65879B17C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761695" y="2790749"/>
            <a:ext cx="228600" cy="228600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22D1B003-9A32-F06B-D781-C0C4C17FBAC7}"/>
              </a:ext>
            </a:extLst>
          </p:cNvPr>
          <p:cNvSpPr txBox="1"/>
          <p:nvPr/>
        </p:nvSpPr>
        <p:spPr>
          <a:xfrm>
            <a:off x="1143000" y="2762402"/>
            <a:ext cx="1653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복잡한 모델 아키텍처</a:t>
            </a:r>
            <a:endParaRPr lang="en-US" sz="13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1BBB7297-706B-3082-1A58-97501C172E2A}"/>
              </a:ext>
            </a:extLst>
          </p:cNvPr>
          <p:cNvSpPr txBox="1"/>
          <p:nvPr/>
        </p:nvSpPr>
        <p:spPr>
          <a:xfrm>
            <a:off x="1143000" y="3066898"/>
            <a:ext cx="449580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"Transformer의 Layer가 몇 층인지 설명하는 것은 비즈니스 미팅에서 중요하지 않습니다."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DCBD50FE-3098-E612-DDC6-8687C56BB7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761695" y="3834079"/>
            <a:ext cx="228600" cy="228600"/>
          </a:xfrm>
          <a:prstGeom prst="rect">
            <a:avLst/>
          </a:prstGeom>
        </p:spPr>
      </p:pic>
      <p:sp>
        <p:nvSpPr>
          <p:cNvPr id="13" name="Text 15">
            <a:extLst>
              <a:ext uri="{FF2B5EF4-FFF2-40B4-BE49-F238E27FC236}">
                <a16:creationId xmlns:a16="http://schemas.microsoft.com/office/drawing/2014/main" id="{0E728689-46B9-E3DC-EEF0-131273CC2F07}"/>
              </a:ext>
            </a:extLst>
          </p:cNvPr>
          <p:cNvSpPr txBox="1"/>
          <p:nvPr/>
        </p:nvSpPr>
        <p:spPr>
          <a:xfrm>
            <a:off x="1143000" y="3804818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난해한 수식 증명</a:t>
            </a:r>
            <a:endParaRPr lang="en-US" sz="13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B538EF97-059F-CA6E-5E9F-20534A295F65}"/>
              </a:ext>
            </a:extLst>
          </p:cNvPr>
          <p:cNvSpPr txBox="1"/>
          <p:nvPr/>
        </p:nvSpPr>
        <p:spPr>
          <a:xfrm>
            <a:off x="1143000" y="4110228"/>
            <a:ext cx="4282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수학적 깊이는 필요하지만, 이를 그대로 읊는 것은 커뮤니케이션 실패입니다.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E1FA8B69-5245-ED24-E5D7-8AA27D5FA9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761695" y="4659782"/>
            <a:ext cx="228600" cy="228600"/>
          </a:xfrm>
          <a:prstGeom prst="rect">
            <a:avLst/>
          </a:prstGeom>
        </p:spPr>
      </p:pic>
      <p:sp>
        <p:nvSpPr>
          <p:cNvPr id="16" name="Text 17">
            <a:extLst>
              <a:ext uri="{FF2B5EF4-FFF2-40B4-BE49-F238E27FC236}">
                <a16:creationId xmlns:a16="http://schemas.microsoft.com/office/drawing/2014/main" id="{3E669510-ED6F-943B-3151-0E1798463C54}"/>
              </a:ext>
            </a:extLst>
          </p:cNvPr>
          <p:cNvSpPr txBox="1"/>
          <p:nvPr/>
        </p:nvSpPr>
        <p:spPr>
          <a:xfrm>
            <a:off x="1143000" y="4631436"/>
            <a:ext cx="2434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SOTA (State-of-the-art) 경쟁</a:t>
            </a:r>
            <a:endParaRPr lang="en-US" sz="13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54D60915-5E9A-0F39-9389-0AA3C46AEA88}"/>
              </a:ext>
            </a:extLst>
          </p:cNvPr>
          <p:cNvSpPr txBox="1"/>
          <p:nvPr/>
        </p:nvSpPr>
        <p:spPr>
          <a:xfrm>
            <a:off x="1143000" y="4935931"/>
            <a:ext cx="4120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0.1%의 정확도 향상보다 10%의 비용 절감 인사이트가 더 가치 있습니다.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65EF1BD9-1EB8-0FE8-60E4-9BB27FD6880E}"/>
              </a:ext>
            </a:extLst>
          </p:cNvPr>
          <p:cNvSpPr/>
          <p:nvPr/>
        </p:nvSpPr>
        <p:spPr>
          <a:xfrm>
            <a:off x="6361481" y="1762049"/>
            <a:ext cx="5373929" cy="4019702"/>
          </a:xfrm>
          <a:prstGeom prst="roundRect">
            <a:avLst>
              <a:gd name="adj" fmla="val 862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E1809EF8-E5D7-08D3-0DEC-45BCE8E620AD}"/>
              </a:ext>
            </a:extLst>
          </p:cNvPr>
          <p:cNvSpPr/>
          <p:nvPr/>
        </p:nvSpPr>
        <p:spPr>
          <a:xfrm>
            <a:off x="6791249" y="207660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563E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21A752AA-CB0F-74C3-729E-FE6D41CA9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872630" y="2171700"/>
            <a:ext cx="219456" cy="190195"/>
          </a:xfrm>
          <a:prstGeom prst="rect">
            <a:avLst/>
          </a:prstGeom>
        </p:spPr>
      </p:pic>
      <p:sp>
        <p:nvSpPr>
          <p:cNvPr id="22" name="Text 22">
            <a:extLst>
              <a:ext uri="{FF2B5EF4-FFF2-40B4-BE49-F238E27FC236}">
                <a16:creationId xmlns:a16="http://schemas.microsoft.com/office/drawing/2014/main" id="{8B65711E-B3F7-2242-D11A-B46A6B1BA093}"/>
              </a:ext>
            </a:extLst>
          </p:cNvPr>
          <p:cNvSpPr txBox="1"/>
          <p:nvPr/>
        </p:nvSpPr>
        <p:spPr>
          <a:xfrm>
            <a:off x="7286854" y="2095805"/>
            <a:ext cx="3877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반드시 보는 것 (Key Competencies)</a:t>
            </a:r>
            <a:endParaRPr lang="en-US" sz="18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9D3BAD39-30B9-61FB-FC1D-47F88D3D0D5C}"/>
              </a:ext>
            </a:extLst>
          </p:cNvPr>
          <p:cNvSpPr/>
          <p:nvPr/>
        </p:nvSpPr>
        <p:spPr>
          <a:xfrm>
            <a:off x="6791249" y="2800807"/>
            <a:ext cx="267005" cy="304495"/>
          </a:xfrm>
          <a:prstGeom prst="roundRect">
            <a:avLst>
              <a:gd name="adj" fmla="val 34246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60A5FA"/>
            </a:solidFill>
            <a:prstDash val="solid"/>
          </a:ln>
          <a:effectLst>
            <a:outerShdw blurRad="101600" dist="12700" dir="162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9078EAC5-A4F3-A322-C06E-9DB57CB430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6847942" y="2885846"/>
            <a:ext cx="152705" cy="133502"/>
          </a:xfrm>
          <a:prstGeom prst="rect">
            <a:avLst/>
          </a:prstGeom>
        </p:spPr>
      </p:pic>
      <p:sp>
        <p:nvSpPr>
          <p:cNvPr id="25" name="Text 24">
            <a:extLst>
              <a:ext uri="{FF2B5EF4-FFF2-40B4-BE49-F238E27FC236}">
                <a16:creationId xmlns:a16="http://schemas.microsoft.com/office/drawing/2014/main" id="{26467224-C5E6-3187-5AE9-7B5D44477E53}"/>
              </a:ext>
            </a:extLst>
          </p:cNvPr>
          <p:cNvSpPr txBox="1"/>
          <p:nvPr/>
        </p:nvSpPr>
        <p:spPr>
          <a:xfrm>
            <a:off x="7246620" y="2752344"/>
            <a:ext cx="2343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문제 구조화 (Structuring)</a:t>
            </a:r>
            <a:endParaRPr lang="en-US" sz="15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8C6901B6-239D-ADD5-72B4-6FADCEFD0696}"/>
              </a:ext>
            </a:extLst>
          </p:cNvPr>
          <p:cNvSpPr txBox="1"/>
          <p:nvPr/>
        </p:nvSpPr>
        <p:spPr>
          <a:xfrm>
            <a:off x="7246620" y="3114446"/>
            <a:ext cx="41532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복잡한 비즈니스 문제를 데이터로 풀 수 있는 작은 단위로 쪼개고 정의했는가?</a:t>
            </a:r>
            <a:endParaRPr lang="en-US" sz="12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3D5AA14-2BC4-ED3A-DA3D-658BE456D300}"/>
              </a:ext>
            </a:extLst>
          </p:cNvPr>
          <p:cNvSpPr txBox="1"/>
          <p:nvPr/>
        </p:nvSpPr>
        <p:spPr>
          <a:xfrm>
            <a:off x="6791249" y="3905402"/>
            <a:ext cx="4743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가설 → 검증 → 결론 (Logic Flow) 단순 탐색이 아닌, 가설을 세우고 이를 데이터로 입증하는 논리적 흐름이 있는가?</a:t>
            </a:r>
            <a:endParaRPr lang="en-US" sz="12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F356D0AF-4DFE-13AF-9AB7-24328E78DDCA}"/>
              </a:ext>
            </a:extLst>
          </p:cNvPr>
          <p:cNvSpPr txBox="1"/>
          <p:nvPr/>
        </p:nvSpPr>
        <p:spPr>
          <a:xfrm>
            <a:off x="6791249" y="4667098"/>
            <a:ext cx="4743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비기술자와의 커뮤니케이션 분석 결과를 마케팅 팀장이나 CEO가 이해할 수 있는 비즈니스 언어로 전달하는가?</a:t>
            </a:r>
            <a:endParaRPr lang="en-US" sz="12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0" name="Image 6" descr="preencoded.png">
            <a:extLst>
              <a:ext uri="{FF2B5EF4-FFF2-40B4-BE49-F238E27FC236}">
                <a16:creationId xmlns:a16="http://schemas.microsoft.com/office/drawing/2014/main" id="{BC096418-97C8-342C-CEC9-1A37AD381D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19495" y="3696005"/>
            <a:ext cx="152705" cy="152705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9887E70C-0D90-36C6-BB33-EA0599ED8F27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4D2AEB22-FCD3-F32A-C2BC-1A7B80AB55F5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Data/AI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지원자에게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기대하는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것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EFF697-1DAA-0F9B-1936-392A733581FF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indent="0">
              <a:buNone/>
              <a:defRPr kern="0" spc="-56">
                <a:latin typeface="+mn-ea"/>
                <a:cs typeface="Noto Sans KR" pitchFamily="34" charset="-120"/>
              </a:defRPr>
            </a:lvl1pPr>
          </a:lstStyle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화려한 기술보다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문제를 풀어내는 역량을 봅니다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4772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0">
            <a:extLst>
              <a:ext uri="{FF2B5EF4-FFF2-40B4-BE49-F238E27FC236}">
                <a16:creationId xmlns:a16="http://schemas.microsoft.com/office/drawing/2014/main" id="{B6FC7B2F-9BA8-5E8E-1834-0CFC3D53C133}"/>
              </a:ext>
            </a:extLst>
          </p:cNvPr>
          <p:cNvSpPr/>
          <p:nvPr/>
        </p:nvSpPr>
        <p:spPr>
          <a:xfrm>
            <a:off x="547726" y="1762049"/>
            <a:ext cx="5283403" cy="4019702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7B54F5D1-40A3-6C96-6D13-3C326E7DC47C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87637B86-1737-3D5C-D471-EB353DBFB4EC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 분석의 핵심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질문과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흐름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8E512-FEB7-EA80-E5A4-5E8B13EB50A3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indent="0">
              <a:buNone/>
              <a:defRPr kern="0" spc="-56">
                <a:latin typeface="+mn-ea"/>
                <a:cs typeface="Noto Sans KR" pitchFamily="34" charset="-120"/>
              </a:defRPr>
            </a:lvl1pPr>
          </a:lstStyle>
          <a:p>
            <a:r>
              <a:rPr lang="en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EDA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 ‘그럴듯한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시각화’가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아니라 ‘결정할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질문’의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설계입니다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5A9BA851-8924-0EA3-2D0E-2AAB11C972FF}"/>
              </a:ext>
            </a:extLst>
          </p:cNvPr>
          <p:cNvSpPr/>
          <p:nvPr/>
        </p:nvSpPr>
        <p:spPr>
          <a:xfrm>
            <a:off x="6215177" y="1757569"/>
            <a:ext cx="5519318" cy="4035062"/>
          </a:xfrm>
          <a:prstGeom prst="roundRect">
            <a:avLst>
              <a:gd name="adj" fmla="val 772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86A2B4FD-7488-1022-F926-7BECB1067B20}"/>
              </a:ext>
            </a:extLst>
          </p:cNvPr>
          <p:cNvSpPr/>
          <p:nvPr/>
        </p:nvSpPr>
        <p:spPr>
          <a:xfrm>
            <a:off x="6324905" y="2626522"/>
            <a:ext cx="509595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86F88497-AB73-0742-FC02-7AC33E831BA7}"/>
              </a:ext>
            </a:extLst>
          </p:cNvPr>
          <p:cNvSpPr/>
          <p:nvPr/>
        </p:nvSpPr>
        <p:spPr>
          <a:xfrm>
            <a:off x="6324905" y="207422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BE45D61-0FA1-8A4F-94E5-A95FDC2BE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20002" y="2169322"/>
            <a:ext cx="190195" cy="190195"/>
          </a:xfrm>
          <a:prstGeom prst="rect">
            <a:avLst/>
          </a:prstGeom>
        </p:spPr>
      </p:pic>
      <p:sp>
        <p:nvSpPr>
          <p:cNvPr id="9" name="Shape 15">
            <a:extLst>
              <a:ext uri="{FF2B5EF4-FFF2-40B4-BE49-F238E27FC236}">
                <a16:creationId xmlns:a16="http://schemas.microsoft.com/office/drawing/2014/main" id="{500A4A3D-DE7C-3AB5-BDB2-8F86CFA7A597}"/>
              </a:ext>
            </a:extLst>
          </p:cNvPr>
          <p:cNvSpPr/>
          <p:nvPr/>
        </p:nvSpPr>
        <p:spPr>
          <a:xfrm>
            <a:off x="6476695" y="3107039"/>
            <a:ext cx="228600" cy="228600"/>
          </a:xfrm>
          <a:prstGeom prst="roundRect">
            <a:avLst>
              <a:gd name="adj" fmla="val 66667"/>
            </a:avLst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C5ECFB3D-C12F-4D5F-9C94-C5565C3BEEBA}"/>
              </a:ext>
            </a:extLst>
          </p:cNvPr>
          <p:cNvSpPr/>
          <p:nvPr/>
        </p:nvSpPr>
        <p:spPr>
          <a:xfrm>
            <a:off x="6324905" y="3944629"/>
            <a:ext cx="5095951" cy="819302"/>
          </a:xfrm>
          <a:prstGeom prst="roundRect">
            <a:avLst>
              <a:gd name="adj" fmla="val 1038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9166B29E-297F-0EC0-E34B-16EA79B309BE}"/>
              </a:ext>
            </a:extLst>
          </p:cNvPr>
          <p:cNvSpPr/>
          <p:nvPr/>
        </p:nvSpPr>
        <p:spPr>
          <a:xfrm>
            <a:off x="6486754" y="4144883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5EAE6F10-7285-0A14-8FE5-8580D8245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6548018" y="4202490"/>
            <a:ext cx="105156" cy="114300"/>
          </a:xfrm>
          <a:prstGeom prst="rect">
            <a:avLst/>
          </a:prstGeom>
        </p:spPr>
      </p:pic>
      <p:sp>
        <p:nvSpPr>
          <p:cNvPr id="13" name="Shape 18">
            <a:extLst>
              <a:ext uri="{FF2B5EF4-FFF2-40B4-BE49-F238E27FC236}">
                <a16:creationId xmlns:a16="http://schemas.microsoft.com/office/drawing/2014/main" id="{8D5865A1-4D98-918D-5172-0DBF8B038F44}"/>
              </a:ext>
            </a:extLst>
          </p:cNvPr>
          <p:cNvSpPr/>
          <p:nvPr/>
        </p:nvSpPr>
        <p:spPr>
          <a:xfrm>
            <a:off x="8450885" y="4144883"/>
            <a:ext cx="933602" cy="190195"/>
          </a:xfrm>
          <a:prstGeom prst="roundRect">
            <a:avLst>
              <a:gd name="adj" fmla="val 961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A6CC839C-1EF9-B160-B43B-53E2D3F16F7E}"/>
              </a:ext>
            </a:extLst>
          </p:cNvPr>
          <p:cNvSpPr/>
          <p:nvPr/>
        </p:nvSpPr>
        <p:spPr>
          <a:xfrm>
            <a:off x="6324905" y="5164439"/>
            <a:ext cx="509595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4F15F6DF-DFBE-7A6E-9835-17EFBC2C1237}"/>
              </a:ext>
            </a:extLst>
          </p:cNvPr>
          <p:cNvSpPr/>
          <p:nvPr/>
        </p:nvSpPr>
        <p:spPr>
          <a:xfrm>
            <a:off x="646674" y="2106685"/>
            <a:ext cx="1676095" cy="323698"/>
          </a:xfrm>
          <a:prstGeom prst="roundRect">
            <a:avLst>
              <a:gd name="adj" fmla="val 282486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B8A12C91-4101-6E92-2CF9-7CBE8EAECA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8523" y="2209098"/>
            <a:ext cx="133502" cy="133502"/>
          </a:xfrm>
          <a:prstGeom prst="rect">
            <a:avLst/>
          </a:prstGeom>
        </p:spPr>
      </p:pic>
      <p:sp>
        <p:nvSpPr>
          <p:cNvPr id="17" name="Text 21">
            <a:extLst>
              <a:ext uri="{FF2B5EF4-FFF2-40B4-BE49-F238E27FC236}">
                <a16:creationId xmlns:a16="http://schemas.microsoft.com/office/drawing/2014/main" id="{13FA4D09-38AD-9E04-585D-3CFDC9A953EC}"/>
              </a:ext>
            </a:extLst>
          </p:cNvPr>
          <p:cNvSpPr txBox="1"/>
          <p:nvPr/>
        </p:nvSpPr>
        <p:spPr>
          <a:xfrm>
            <a:off x="1017920" y="2173436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Common Mistake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59D0C7A2-4423-DDFF-CB77-BA6CEEB616A4}"/>
              </a:ext>
            </a:extLst>
          </p:cNvPr>
          <p:cNvSpPr txBox="1"/>
          <p:nvPr/>
        </p:nvSpPr>
        <p:spPr>
          <a:xfrm>
            <a:off x="646674" y="2621492"/>
            <a:ext cx="509595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"EDA(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탐색적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)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는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그저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그래프를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그리는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것이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아닙니다</a:t>
            </a:r>
            <a:r>
              <a:rPr lang="en-US" sz="2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."</a:t>
            </a:r>
            <a:endParaRPr lang="en-US" sz="2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30CBA30D-CFA8-6855-5226-D7CC36BC4111}"/>
              </a:ext>
            </a:extLst>
          </p:cNvPr>
          <p:cNvSpPr txBox="1"/>
          <p:nvPr/>
        </p:nvSpPr>
        <p:spPr>
          <a:xfrm>
            <a:off x="6790791" y="2119259"/>
            <a:ext cx="2429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실습 산출물 (Deliverables)</a:t>
            </a:r>
            <a:endParaRPr lang="en-US" sz="15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B034F306-8D82-784B-1203-F416F7CE7700}"/>
              </a:ext>
            </a:extLst>
          </p:cNvPr>
          <p:cNvSpPr txBox="1"/>
          <p:nvPr/>
        </p:nvSpPr>
        <p:spPr>
          <a:xfrm>
            <a:off x="6858000" y="3078692"/>
            <a:ext cx="1690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답할 수 있는 질문 3개</a:t>
            </a:r>
            <a:endParaRPr lang="en-US" sz="13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E25FC852-40AE-1917-173C-2C866187E8BA}"/>
              </a:ext>
            </a:extLst>
          </p:cNvPr>
          <p:cNvSpPr txBox="1"/>
          <p:nvPr/>
        </p:nvSpPr>
        <p:spPr>
          <a:xfrm>
            <a:off x="8565185" y="3116183"/>
            <a:ext cx="695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Exploration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55C20E94-70E9-C664-07A1-69477ED5A9AE}"/>
              </a:ext>
            </a:extLst>
          </p:cNvPr>
          <p:cNvSpPr txBox="1"/>
          <p:nvPr/>
        </p:nvSpPr>
        <p:spPr>
          <a:xfrm>
            <a:off x="6858000" y="3373129"/>
            <a:ext cx="4282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데이터를 통해 확인할 수 있는 현상이나 패턴에 대한 구체적인 질문 리스트업</a:t>
            </a:r>
            <a:endParaRPr lang="en-US" sz="10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4AECBC27-37E2-02D9-6187-D63A4376ABFD}"/>
              </a:ext>
            </a:extLst>
          </p:cNvPr>
          <p:cNvSpPr txBox="1"/>
          <p:nvPr/>
        </p:nvSpPr>
        <p:spPr>
          <a:xfrm>
            <a:off x="6867144" y="4116536"/>
            <a:ext cx="1643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가장 중요한 질문 1개</a:t>
            </a:r>
            <a:endParaRPr lang="en-US" sz="13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34B652D3-856F-458E-3136-35E242DF4721}"/>
              </a:ext>
            </a:extLst>
          </p:cNvPr>
          <p:cNvSpPr txBox="1"/>
          <p:nvPr/>
        </p:nvSpPr>
        <p:spPr>
          <a:xfrm>
            <a:off x="8526780" y="4154941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Core Problem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9459FACB-F08A-634B-AC72-21841874163B}"/>
              </a:ext>
            </a:extLst>
          </p:cNvPr>
          <p:cNvSpPr txBox="1"/>
          <p:nvPr/>
        </p:nvSpPr>
        <p:spPr>
          <a:xfrm>
            <a:off x="6867144" y="4411887"/>
            <a:ext cx="4282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비즈니스 임팩트가 가장 크고, 프로젝트의 방향성을 결정짓는 핵심 질문 정의</a:t>
            </a:r>
            <a:endParaRPr lang="en-US" sz="10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8" name="Text 31">
            <a:extLst>
              <a:ext uri="{FF2B5EF4-FFF2-40B4-BE49-F238E27FC236}">
                <a16:creationId xmlns:a16="http://schemas.microsoft.com/office/drawing/2014/main" id="{E817C4C6-021A-D68D-CC81-7342D187EA8E}"/>
              </a:ext>
            </a:extLst>
          </p:cNvPr>
          <p:cNvSpPr txBox="1"/>
          <p:nvPr/>
        </p:nvSpPr>
        <p:spPr>
          <a:xfrm>
            <a:off x="7250277" y="5320343"/>
            <a:ext cx="3419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'무엇을 분석했나'보다 '왜 그 </a:t>
            </a:r>
            <a:r>
              <a:rPr lang="en-US" sz="900" i="1" dirty="0" err="1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질문을</a:t>
            </a:r>
            <a:r>
              <a:rPr lang="en-US" sz="900" i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ko-KR" altLang="en-US" sz="900" i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하는가</a:t>
            </a:r>
            <a:r>
              <a:rPr lang="en-US" sz="900" i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＇</a:t>
            </a:r>
            <a:r>
              <a:rPr lang="ko-KR" altLang="en-US" sz="900" i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가  중요합니다</a:t>
            </a:r>
            <a:r>
              <a:rPr lang="en-US" altLang="ko-KR" sz="900" i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.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Shape 33">
            <a:extLst>
              <a:ext uri="{FF2B5EF4-FFF2-40B4-BE49-F238E27FC236}">
                <a16:creationId xmlns:a16="http://schemas.microsoft.com/office/drawing/2014/main" id="{BCD54447-A9C3-D7F6-9036-3F063D0BF446}"/>
              </a:ext>
            </a:extLst>
          </p:cNvPr>
          <p:cNvSpPr/>
          <p:nvPr/>
        </p:nvSpPr>
        <p:spPr>
          <a:xfrm>
            <a:off x="646674" y="3983034"/>
            <a:ext cx="5095951" cy="1248156"/>
          </a:xfrm>
          <a:prstGeom prst="roundRect">
            <a:avLst>
              <a:gd name="adj" fmla="val 6711"/>
            </a:avLst>
          </a:prstGeom>
          <a:solidFill>
            <a:srgbClr val="1E293B">
              <a:alpha val="40000"/>
            </a:srgbClr>
          </a:solidFill>
          <a:ln w="12700">
            <a:solidFill>
              <a:schemeClr val="bg1">
                <a:alpha val="10000"/>
              </a:scheme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488CFE3C-3DDA-ADA7-5758-0EDA4EC6C8AC}"/>
              </a:ext>
            </a:extLst>
          </p:cNvPr>
          <p:cNvSpPr txBox="1"/>
          <p:nvPr/>
        </p:nvSpPr>
        <p:spPr>
          <a:xfrm>
            <a:off x="961228" y="4297587"/>
            <a:ext cx="2062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THE ULTIMATE QUESTION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76D96C33-8D07-8A90-97EC-4506C3E6D8A3}"/>
              </a:ext>
            </a:extLst>
          </p:cNvPr>
          <p:cNvSpPr txBox="1"/>
          <p:nvPr/>
        </p:nvSpPr>
        <p:spPr>
          <a:xfrm>
            <a:off x="961228" y="4592939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"이 데이터로 무엇을 결정할 것인가?"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58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1D739111-AE27-88AD-FCC5-6A06874BF592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4BF214A-7E61-E214-02C5-27986C1871D0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예측 모델의 핵심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예측은 결정을 위한 도구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Shape 21">
            <a:extLst>
              <a:ext uri="{FF2B5EF4-FFF2-40B4-BE49-F238E27FC236}">
                <a16:creationId xmlns:a16="http://schemas.microsoft.com/office/drawing/2014/main" id="{3C062DED-3B23-48F4-A4A2-45B9D44A0307}"/>
              </a:ext>
            </a:extLst>
          </p:cNvPr>
          <p:cNvSpPr/>
          <p:nvPr/>
        </p:nvSpPr>
        <p:spPr>
          <a:xfrm>
            <a:off x="6211148" y="1762049"/>
            <a:ext cx="5810098" cy="4019702"/>
          </a:xfrm>
          <a:prstGeom prst="roundRect">
            <a:avLst>
              <a:gd name="adj" fmla="val 2051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24B38BA8-4BBF-8E90-0696-0D04B3F588F6}"/>
              </a:ext>
            </a:extLst>
          </p:cNvPr>
          <p:cNvSpPr txBox="1"/>
          <p:nvPr/>
        </p:nvSpPr>
        <p:spPr>
          <a:xfrm>
            <a:off x="6448892" y="3112039"/>
            <a:ext cx="2177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Scenario A: 가격 정책 변경</a:t>
            </a:r>
            <a:endParaRPr lang="en-US" sz="13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B4A021A0-3195-EF41-19FA-7DCBCFABDABD}"/>
              </a:ext>
            </a:extLst>
          </p:cNvPr>
          <p:cNvSpPr txBox="1"/>
          <p:nvPr/>
        </p:nvSpPr>
        <p:spPr>
          <a:xfrm>
            <a:off x="6448892" y="340739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"할인율을 15%로 올리면 예상 매출은?"</a:t>
            </a:r>
            <a:endParaRPr lang="en-US" sz="10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94BECCC1-CBA1-AF45-DF15-04766FC77DD3}"/>
              </a:ext>
            </a:extLst>
          </p:cNvPr>
          <p:cNvSpPr/>
          <p:nvPr/>
        </p:nvSpPr>
        <p:spPr>
          <a:xfrm>
            <a:off x="10923966" y="3101981"/>
            <a:ext cx="857707" cy="228600"/>
          </a:xfrm>
          <a:prstGeom prst="roundRect">
            <a:avLst>
              <a:gd name="adj" fmla="val 66667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043D2ABA-1EA0-F8E3-5FA9-81FF459D18A5}"/>
              </a:ext>
            </a:extLst>
          </p:cNvPr>
          <p:cNvSpPr txBox="1"/>
          <p:nvPr/>
        </p:nvSpPr>
        <p:spPr>
          <a:xfrm>
            <a:off x="10999861" y="3130327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SIMULATION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FF3B2080-6952-72AF-02B7-52ACDC4C120E}"/>
              </a:ext>
            </a:extLst>
          </p:cNvPr>
          <p:cNvSpPr/>
          <p:nvPr/>
        </p:nvSpPr>
        <p:spPr>
          <a:xfrm>
            <a:off x="6447978" y="4013105"/>
            <a:ext cx="5333695" cy="1019556"/>
          </a:xfrm>
          <a:prstGeom prst="roundRect">
            <a:avLst>
              <a:gd name="adj" fmla="val 670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1A5FDA61-35D2-8546-1442-8F7DE1B884E3}"/>
              </a:ext>
            </a:extLst>
          </p:cNvPr>
          <p:cNvSpPr txBox="1"/>
          <p:nvPr/>
        </p:nvSpPr>
        <p:spPr>
          <a:xfrm>
            <a:off x="6609827" y="4164896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Discount Rate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6395F112-FA27-638C-6F79-EA679AB7B1DF}"/>
              </a:ext>
            </a:extLst>
          </p:cNvPr>
          <p:cNvSpPr txBox="1"/>
          <p:nvPr/>
        </p:nvSpPr>
        <p:spPr>
          <a:xfrm>
            <a:off x="11372022" y="4164896"/>
            <a:ext cx="333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15%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Shape 29">
            <a:extLst>
              <a:ext uri="{FF2B5EF4-FFF2-40B4-BE49-F238E27FC236}">
                <a16:creationId xmlns:a16="http://schemas.microsoft.com/office/drawing/2014/main" id="{55A14851-60B4-1305-6FEF-6331380197CF}"/>
              </a:ext>
            </a:extLst>
          </p:cNvPr>
          <p:cNvSpPr/>
          <p:nvPr/>
        </p:nvSpPr>
        <p:spPr>
          <a:xfrm>
            <a:off x="6609827" y="4403554"/>
            <a:ext cx="5009998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074FC080-2243-E683-4717-ECDE2933847E}"/>
              </a:ext>
            </a:extLst>
          </p:cNvPr>
          <p:cNvSpPr/>
          <p:nvPr/>
        </p:nvSpPr>
        <p:spPr>
          <a:xfrm>
            <a:off x="6609827" y="4403554"/>
            <a:ext cx="3010205" cy="38405"/>
          </a:xfrm>
          <a:prstGeom prst="roundRect">
            <a:avLst>
              <a:gd name="adj" fmla="val 119047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A979D317-83D9-2403-2FC0-27DEF6EFF5ED}"/>
              </a:ext>
            </a:extLst>
          </p:cNvPr>
          <p:cNvSpPr/>
          <p:nvPr/>
        </p:nvSpPr>
        <p:spPr>
          <a:xfrm>
            <a:off x="9537736" y="4345947"/>
            <a:ext cx="152705" cy="1527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84519FC7-A478-C141-68DD-4D99A5BF02BB}"/>
              </a:ext>
            </a:extLst>
          </p:cNvPr>
          <p:cNvSpPr/>
          <p:nvPr/>
        </p:nvSpPr>
        <p:spPr>
          <a:xfrm>
            <a:off x="6609827" y="4593749"/>
            <a:ext cx="50099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08B6FB3C-53B0-492C-3EA3-B9897226EC89}"/>
              </a:ext>
            </a:extLst>
          </p:cNvPr>
          <p:cNvSpPr txBox="1"/>
          <p:nvPr/>
        </p:nvSpPr>
        <p:spPr>
          <a:xfrm>
            <a:off x="6609827" y="4688847"/>
            <a:ext cx="1495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Predicted Revenue Impact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CDD7AC6F-B492-1B74-A6EB-7D0FE7FA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3" r="-133"/>
          <a:stretch/>
        </p:blipFill>
        <p:spPr>
          <a:xfrm>
            <a:off x="11006262" y="4731824"/>
            <a:ext cx="85954" cy="114300"/>
          </a:xfrm>
          <a:prstGeom prst="rect">
            <a:avLst/>
          </a:prstGeom>
        </p:spPr>
      </p:pic>
      <p:sp>
        <p:nvSpPr>
          <p:cNvPr id="31" name="Text 34">
            <a:extLst>
              <a:ext uri="{FF2B5EF4-FFF2-40B4-BE49-F238E27FC236}">
                <a16:creationId xmlns:a16="http://schemas.microsoft.com/office/drawing/2014/main" id="{4FCB1485-06B3-6B9F-B927-E1D068710DEA}"/>
              </a:ext>
            </a:extLst>
          </p:cNvPr>
          <p:cNvSpPr txBox="1"/>
          <p:nvPr/>
        </p:nvSpPr>
        <p:spPr>
          <a:xfrm>
            <a:off x="11130621" y="4679703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+12.5%</a:t>
            </a:r>
            <a:endParaRPr lang="en-US" sz="10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DD2F2160-54F8-7E3E-B069-B7A2A5C3B8D7}"/>
              </a:ext>
            </a:extLst>
          </p:cNvPr>
          <p:cNvSpPr/>
          <p:nvPr/>
        </p:nvSpPr>
        <p:spPr>
          <a:xfrm>
            <a:off x="547726" y="1762049"/>
            <a:ext cx="5283403" cy="4019702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DB77E6AB-16E4-2690-428A-61F833746EAA}"/>
              </a:ext>
            </a:extLst>
          </p:cNvPr>
          <p:cNvSpPr txBox="1"/>
          <p:nvPr/>
        </p:nvSpPr>
        <p:spPr>
          <a:xfrm>
            <a:off x="1106292" y="2148289"/>
            <a:ext cx="380345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Wingdings" pitchFamily="2" charset="2"/>
              <a:buChar char="v"/>
            </a:pPr>
            <a:r>
              <a:rPr lang="en-US" sz="1500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세그멘테이션</a:t>
            </a:r>
            <a:r>
              <a:rPr lang="en-US" sz="15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</a:t>
            </a:r>
            <a:r>
              <a:rPr lang="ko-KR" altLang="en-US" sz="15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sz="15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&amp; 모델 분리 전략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CEF5D800-F258-0245-7BBC-44EED4ABC36F}"/>
              </a:ext>
            </a:extLst>
          </p:cNvPr>
          <p:cNvSpPr txBox="1"/>
          <p:nvPr/>
        </p:nvSpPr>
        <p:spPr>
          <a:xfrm>
            <a:off x="1164378" y="298943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전략 최적화 분석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D7CD685D-5432-1362-74EC-660788661C4B}"/>
              </a:ext>
            </a:extLst>
          </p:cNvPr>
          <p:cNvSpPr txBox="1"/>
          <p:nvPr/>
        </p:nvSpPr>
        <p:spPr>
          <a:xfrm>
            <a:off x="1283220" y="3137026"/>
            <a:ext cx="366953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전체 데이터를 하나로 보지 않고, 고객 특성별로 나누어 숨겨진 패턴을 발견하고 맞춤형 전략을 수립합니다.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DEC00C2A-7815-BA95-2399-5A09DE07D61C}"/>
              </a:ext>
            </a:extLst>
          </p:cNvPr>
          <p:cNvSpPr txBox="1"/>
          <p:nvPr/>
        </p:nvSpPr>
        <p:spPr>
          <a:xfrm>
            <a:off x="1192724" y="4151636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세그먼트별 모델 분리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728E3905-845A-0447-8BD5-0E4AFBC39459}"/>
              </a:ext>
            </a:extLst>
          </p:cNvPr>
          <p:cNvSpPr txBox="1"/>
          <p:nvPr/>
        </p:nvSpPr>
        <p:spPr>
          <a:xfrm>
            <a:off x="1326226" y="4269594"/>
            <a:ext cx="358352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CatBoost</a:t>
            </a:r>
            <a:r>
              <a: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등을 활용하여 클러스터·매장타입·도시별로 모델을 각각 분리해 예측 정확도를 극대화합니다. 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93CD032D-0638-9CFE-EFD7-7924FC8705EA}"/>
              </a:ext>
            </a:extLst>
          </p:cNvPr>
          <p:cNvSpPr txBox="1"/>
          <p:nvPr/>
        </p:nvSpPr>
        <p:spPr>
          <a:xfrm>
            <a:off x="6408658" y="2216002"/>
            <a:ext cx="23911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marL="285750" indent="-285750">
              <a:buFont typeface="Wingdings" pitchFamily="2" charset="2"/>
              <a:buChar char="v"/>
              <a:defRPr sz="1500"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What-if </a:t>
            </a:r>
            <a:r>
              <a:rPr lang="en-US" dirty="0" err="1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시나리오</a:t>
            </a:r>
            <a:r>
              <a:rPr lang="en-US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endParaRPr lang="en-US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950F2D-CCD0-E48A-2DEA-4B4C7724B74F}"/>
              </a:ext>
            </a:extLst>
          </p:cNvPr>
          <p:cNvSpPr txBox="1"/>
          <p:nvPr/>
        </p:nvSpPr>
        <p:spPr>
          <a:xfrm>
            <a:off x="6408658" y="2694542"/>
            <a:ext cx="6000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5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예시</a:t>
            </a:r>
            <a:endParaRPr lang="ko-KR" altLang="en-US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D49428-56AD-7A45-0C98-E525B68C1EB3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indent="0">
              <a:buNone/>
              <a:defRPr kern="0" spc="-56">
                <a:latin typeface="+mn-ea"/>
                <a:cs typeface="Noto Sans KR" pitchFamily="34" charset="-120"/>
              </a:defRPr>
            </a:lvl1pPr>
          </a:lstStyle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정확도보다 중요한 건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선택지를 비교하고 결정을 돕는 것입니다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6908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274E09A0-02A7-7F19-13EE-93DBAD6B23C3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C94281A-FB1C-51D4-64EC-2680697B99B9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RAG Agent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핵심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결과를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서비스로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71FAF771-215A-4975-FAF0-F16060DA84AC}"/>
              </a:ext>
            </a:extLst>
          </p:cNvPr>
          <p:cNvSpPr/>
          <p:nvPr/>
        </p:nvSpPr>
        <p:spPr>
          <a:xfrm>
            <a:off x="1218895" y="4886554"/>
            <a:ext cx="3105302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F2C41DD9-6C72-8BEB-1BBE-CF84DC19DAAF}"/>
              </a:ext>
            </a:extLst>
          </p:cNvPr>
          <p:cNvSpPr/>
          <p:nvPr/>
        </p:nvSpPr>
        <p:spPr>
          <a:xfrm>
            <a:off x="1380744" y="50484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1540AC8-BB36-CF02-EB0A-CC0D6DC49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95044" y="5162702"/>
            <a:ext cx="152705" cy="152705"/>
          </a:xfrm>
          <a:prstGeom prst="rect">
            <a:avLst/>
          </a:prstGeom>
        </p:spPr>
      </p:pic>
      <p:sp>
        <p:nvSpPr>
          <p:cNvPr id="7" name="Shape 10">
            <a:extLst>
              <a:ext uri="{FF2B5EF4-FFF2-40B4-BE49-F238E27FC236}">
                <a16:creationId xmlns:a16="http://schemas.microsoft.com/office/drawing/2014/main" id="{F9252330-2B86-4D26-E78D-1A0FDD710C6E}"/>
              </a:ext>
            </a:extLst>
          </p:cNvPr>
          <p:cNvSpPr/>
          <p:nvPr/>
        </p:nvSpPr>
        <p:spPr>
          <a:xfrm>
            <a:off x="4546397" y="4886554"/>
            <a:ext cx="3105302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9225FE99-6983-5A4F-0696-93509B6C7E12}"/>
              </a:ext>
            </a:extLst>
          </p:cNvPr>
          <p:cNvSpPr/>
          <p:nvPr/>
        </p:nvSpPr>
        <p:spPr>
          <a:xfrm>
            <a:off x="4708246" y="50484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CB6AE102-1AFC-49DA-3DE6-F23C3480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4803343" y="5162702"/>
            <a:ext cx="190195" cy="152705"/>
          </a:xfrm>
          <a:prstGeom prst="rect">
            <a:avLst/>
          </a:prstGeom>
        </p:spPr>
      </p:pic>
      <p:sp>
        <p:nvSpPr>
          <p:cNvPr id="10" name="Shape 12">
            <a:extLst>
              <a:ext uri="{FF2B5EF4-FFF2-40B4-BE49-F238E27FC236}">
                <a16:creationId xmlns:a16="http://schemas.microsoft.com/office/drawing/2014/main" id="{5A4150E6-00BC-6DF4-6966-8A07503B9DCF}"/>
              </a:ext>
            </a:extLst>
          </p:cNvPr>
          <p:cNvSpPr/>
          <p:nvPr/>
        </p:nvSpPr>
        <p:spPr>
          <a:xfrm>
            <a:off x="7873898" y="4886554"/>
            <a:ext cx="3105302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6EF948F7-076F-3A08-FC75-5023E7DC55A3}"/>
              </a:ext>
            </a:extLst>
          </p:cNvPr>
          <p:cNvSpPr/>
          <p:nvPr/>
        </p:nvSpPr>
        <p:spPr>
          <a:xfrm>
            <a:off x="8035747" y="50484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D7ADFC04-818F-F71D-B1B3-23423925F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0047" y="5162702"/>
            <a:ext cx="152705" cy="152705"/>
          </a:xfrm>
          <a:prstGeom prst="rect">
            <a:avLst/>
          </a:prstGeom>
        </p:spPr>
      </p:pic>
      <p:sp>
        <p:nvSpPr>
          <p:cNvPr id="13" name="Text 14">
            <a:extLst>
              <a:ext uri="{FF2B5EF4-FFF2-40B4-BE49-F238E27FC236}">
                <a16:creationId xmlns:a16="http://schemas.microsoft.com/office/drawing/2014/main" id="{35E35388-7193-0138-DA44-AF2ACFE42817}"/>
              </a:ext>
            </a:extLst>
          </p:cNvPr>
          <p:cNvSpPr txBox="1"/>
          <p:nvPr/>
        </p:nvSpPr>
        <p:spPr>
          <a:xfrm>
            <a:off x="661111" y="4238244"/>
            <a:ext cx="2748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일회성 보고서가 아닌지속 가능한 데이터로 저장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7A6ED737-D351-7A4A-D657-1291D6464E6E}"/>
              </a:ext>
            </a:extLst>
          </p:cNvPr>
          <p:cNvSpPr txBox="1"/>
          <p:nvPr/>
        </p:nvSpPr>
        <p:spPr>
          <a:xfrm>
            <a:off x="4372661" y="4238244"/>
            <a:ext cx="2634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 맥락을 이해하고필요한 정보만 검색/생성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0BFF7134-8EA1-E306-3FE6-5F3B9FE87DFA}"/>
              </a:ext>
            </a:extLst>
          </p:cNvPr>
          <p:cNvSpPr txBox="1"/>
          <p:nvPr/>
        </p:nvSpPr>
        <p:spPr>
          <a:xfrm>
            <a:off x="8513064" y="4238244"/>
            <a:ext cx="2586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누구나 쉬운 자연어로인사이트 접근성 극대화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8360241-32D2-9027-745F-5E96FA14B765}"/>
              </a:ext>
            </a:extLst>
          </p:cNvPr>
          <p:cNvSpPr txBox="1"/>
          <p:nvPr/>
        </p:nvSpPr>
        <p:spPr>
          <a:xfrm>
            <a:off x="1914754" y="506760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 결과 재사용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B202C453-F659-71EC-04E4-54DE68F617AF}"/>
              </a:ext>
            </a:extLst>
          </p:cNvPr>
          <p:cNvSpPr txBox="1"/>
          <p:nvPr/>
        </p:nvSpPr>
        <p:spPr>
          <a:xfrm>
            <a:off x="1914754" y="5248656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Repeated Value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74A90725-34BE-3850-5489-5117580AE8D3}"/>
              </a:ext>
            </a:extLst>
          </p:cNvPr>
          <p:cNvSpPr txBox="1"/>
          <p:nvPr/>
        </p:nvSpPr>
        <p:spPr>
          <a:xfrm>
            <a:off x="5242255" y="506760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자연어 질의 대응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286D3F02-ACCE-DBD8-4313-0FC57F7EB694}"/>
              </a:ext>
            </a:extLst>
          </p:cNvPr>
          <p:cNvSpPr txBox="1"/>
          <p:nvPr/>
        </p:nvSpPr>
        <p:spPr>
          <a:xfrm>
            <a:off x="5242255" y="5248656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Democratization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0DC14211-949F-BE5A-5796-9AE4AAFBF5CE}"/>
              </a:ext>
            </a:extLst>
          </p:cNvPr>
          <p:cNvSpPr txBox="1"/>
          <p:nvPr/>
        </p:nvSpPr>
        <p:spPr>
          <a:xfrm>
            <a:off x="8568842" y="506760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확장 가능한 구조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DB73E380-5769-D690-BEA7-9847CE44420C}"/>
              </a:ext>
            </a:extLst>
          </p:cNvPr>
          <p:cNvSpPr txBox="1"/>
          <p:nvPr/>
        </p:nvSpPr>
        <p:spPr>
          <a:xfrm>
            <a:off x="8568842" y="52486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Scalable Architecture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5125ED5A-64CB-AB32-F9F1-12BF92338631}"/>
              </a:ext>
            </a:extLst>
          </p:cNvPr>
          <p:cNvSpPr/>
          <p:nvPr/>
        </p:nvSpPr>
        <p:spPr>
          <a:xfrm>
            <a:off x="609905" y="2257654"/>
            <a:ext cx="2743200" cy="1828800"/>
          </a:xfrm>
          <a:prstGeom prst="roundRect">
            <a:avLst>
              <a:gd name="adj" fmla="val 312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261A84C8-4767-92E4-98C7-B62CE51DC10B}"/>
              </a:ext>
            </a:extLst>
          </p:cNvPr>
          <p:cNvSpPr/>
          <p:nvPr/>
        </p:nvSpPr>
        <p:spPr>
          <a:xfrm>
            <a:off x="609905" y="2314346"/>
            <a:ext cx="2723998" cy="1809598"/>
          </a:xfrm>
          <a:prstGeom prst="roundRect">
            <a:avLst>
              <a:gd name="adj" fmla="val 319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7FF3E6CF-063A-3A61-08F8-7735170BD7BE}"/>
              </a:ext>
            </a:extLst>
          </p:cNvPr>
          <p:cNvSpPr/>
          <p:nvPr/>
        </p:nvSpPr>
        <p:spPr>
          <a:xfrm>
            <a:off x="609905" y="2371954"/>
            <a:ext cx="2723998" cy="1809598"/>
          </a:xfrm>
          <a:prstGeom prst="roundRect">
            <a:avLst>
              <a:gd name="adj" fmla="val 3191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DD8D54A4-CB63-78B6-3C69-A7FD1AF58DF7}"/>
              </a:ext>
            </a:extLst>
          </p:cNvPr>
          <p:cNvSpPr/>
          <p:nvPr/>
        </p:nvSpPr>
        <p:spPr>
          <a:xfrm>
            <a:off x="1676095" y="2542946"/>
            <a:ext cx="609905" cy="609905"/>
          </a:xfrm>
          <a:prstGeom prst="roundRect">
            <a:avLst>
              <a:gd name="adj" fmla="val 14992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5CF24C69-6366-9828-7BE2-B68666678C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66" r="-266"/>
          <a:stretch/>
        </p:blipFill>
        <p:spPr>
          <a:xfrm>
            <a:off x="1819656" y="2704795"/>
            <a:ext cx="323698" cy="286207"/>
          </a:xfrm>
          <a:prstGeom prst="rect">
            <a:avLst/>
          </a:prstGeom>
        </p:spPr>
      </p:pic>
      <p:sp>
        <p:nvSpPr>
          <p:cNvPr id="27" name="Text 29">
            <a:extLst>
              <a:ext uri="{FF2B5EF4-FFF2-40B4-BE49-F238E27FC236}">
                <a16:creationId xmlns:a16="http://schemas.microsoft.com/office/drawing/2014/main" id="{7C7397EB-9F2B-C40F-5237-55A46BF4EC6D}"/>
              </a:ext>
            </a:extLst>
          </p:cNvPr>
          <p:cNvSpPr txBox="1"/>
          <p:nvPr/>
        </p:nvSpPr>
        <p:spPr>
          <a:xfrm>
            <a:off x="1286561" y="3314700"/>
            <a:ext cx="1519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 결과 (Assets)</a:t>
            </a:r>
            <a:endParaRPr lang="en-US" sz="13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43AB9E12-B039-DB1F-274A-F8D78225721D}"/>
              </a:ext>
            </a:extLst>
          </p:cNvPr>
          <p:cNvSpPr txBox="1"/>
          <p:nvPr/>
        </p:nvSpPr>
        <p:spPr>
          <a:xfrm>
            <a:off x="1413662" y="3638398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Charts, Reports, Logs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5767E272-1700-1841-F18F-F80E695E539C}"/>
              </a:ext>
            </a:extLst>
          </p:cNvPr>
          <p:cNvSpPr/>
          <p:nvPr/>
        </p:nvSpPr>
        <p:spPr>
          <a:xfrm>
            <a:off x="4267505" y="2257654"/>
            <a:ext cx="2743200" cy="1828800"/>
          </a:xfrm>
          <a:prstGeom prst="roundRect">
            <a:avLst>
              <a:gd name="adj" fmla="val 3125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9938CE9A-BE62-64C3-12BC-60BD72EE7D4C}"/>
              </a:ext>
            </a:extLst>
          </p:cNvPr>
          <p:cNvSpPr/>
          <p:nvPr/>
        </p:nvSpPr>
        <p:spPr>
          <a:xfrm>
            <a:off x="5219395" y="2476195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12AF6C61-6851-BE2F-22EB-6621AB7553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343754" y="2590495"/>
            <a:ext cx="133502" cy="152705"/>
          </a:xfrm>
          <a:prstGeom prst="rect">
            <a:avLst/>
          </a:prstGeom>
        </p:spPr>
      </p:pic>
      <p:sp>
        <p:nvSpPr>
          <p:cNvPr id="36" name="Shape 36">
            <a:extLst>
              <a:ext uri="{FF2B5EF4-FFF2-40B4-BE49-F238E27FC236}">
                <a16:creationId xmlns:a16="http://schemas.microsoft.com/office/drawing/2014/main" id="{084040A2-A9A8-1C54-298D-9D53B2A6F3B5}"/>
              </a:ext>
            </a:extLst>
          </p:cNvPr>
          <p:cNvSpPr/>
          <p:nvPr/>
        </p:nvSpPr>
        <p:spPr>
          <a:xfrm>
            <a:off x="5676595" y="2476195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7" name="Image 7" descr="preencoded.png">
            <a:extLst>
              <a:ext uri="{FF2B5EF4-FFF2-40B4-BE49-F238E27FC236}">
                <a16:creationId xmlns:a16="http://schemas.microsoft.com/office/drawing/2014/main" id="{4A2DE9C7-0C32-6271-7E84-97D7763D10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90895" y="2590495"/>
            <a:ext cx="152705" cy="152705"/>
          </a:xfrm>
          <a:prstGeom prst="rect">
            <a:avLst/>
          </a:prstGeom>
        </p:spPr>
      </p:pic>
      <p:sp>
        <p:nvSpPr>
          <p:cNvPr id="38" name="Text 37">
            <a:extLst>
              <a:ext uri="{FF2B5EF4-FFF2-40B4-BE49-F238E27FC236}">
                <a16:creationId xmlns:a16="http://schemas.microsoft.com/office/drawing/2014/main" id="{9703E8D3-EF0E-0013-D4F0-A169791B63EB}"/>
              </a:ext>
            </a:extLst>
          </p:cNvPr>
          <p:cNvSpPr txBox="1"/>
          <p:nvPr/>
        </p:nvSpPr>
        <p:spPr>
          <a:xfrm>
            <a:off x="5152644" y="3019349"/>
            <a:ext cx="1110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RAG Engine</a:t>
            </a:r>
            <a:endParaRPr lang="en-US" sz="13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87267A44-C5FC-AA02-2E2F-23012BB78E70}"/>
              </a:ext>
            </a:extLst>
          </p:cNvPr>
          <p:cNvSpPr txBox="1"/>
          <p:nvPr/>
        </p:nvSpPr>
        <p:spPr>
          <a:xfrm>
            <a:off x="5204765" y="3343046"/>
            <a:ext cx="962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Vector DB + LLM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4AE495D6-1C10-0C69-1B85-0795A374A1F7}"/>
              </a:ext>
            </a:extLst>
          </p:cNvPr>
          <p:cNvSpPr/>
          <p:nvPr/>
        </p:nvSpPr>
        <p:spPr>
          <a:xfrm>
            <a:off x="4978908" y="3619195"/>
            <a:ext cx="1324051" cy="247802"/>
          </a:xfrm>
          <a:prstGeom prst="roundRect">
            <a:avLst>
              <a:gd name="adj" fmla="val 36900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B3F488BF-3F07-71C8-718C-44FF7FBDE8D7}"/>
              </a:ext>
            </a:extLst>
          </p:cNvPr>
          <p:cNvSpPr txBox="1"/>
          <p:nvPr/>
        </p:nvSpPr>
        <p:spPr>
          <a:xfrm>
            <a:off x="5102352" y="3657600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Context Awareness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90DA00A-7FFA-F49E-64A7-CF0287F2F7A7}"/>
              </a:ext>
            </a:extLst>
          </p:cNvPr>
          <p:cNvSpPr/>
          <p:nvPr/>
        </p:nvSpPr>
        <p:spPr>
          <a:xfrm>
            <a:off x="7925105" y="2257654"/>
            <a:ext cx="3657600" cy="1828800"/>
          </a:xfrm>
          <a:prstGeom prst="roundRect">
            <a:avLst>
              <a:gd name="adj" fmla="val 3125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99FF251-35CF-40AD-3D98-00D1A30D3C23}"/>
              </a:ext>
            </a:extLst>
          </p:cNvPr>
          <p:cNvSpPr/>
          <p:nvPr/>
        </p:nvSpPr>
        <p:spPr>
          <a:xfrm>
            <a:off x="9028786" y="2419502"/>
            <a:ext cx="2400300" cy="304495"/>
          </a:xfrm>
          <a:prstGeom prst="roundRect">
            <a:avLst>
              <a:gd name="adj" fmla="val 7507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47E7958-BBCE-A20B-E042-17D41795583B}"/>
              </a:ext>
            </a:extLst>
          </p:cNvPr>
          <p:cNvSpPr txBox="1"/>
          <p:nvPr/>
        </p:nvSpPr>
        <p:spPr>
          <a:xfrm>
            <a:off x="9143086" y="2486254"/>
            <a:ext cx="2257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Q. 이번 분기 마케팅 ROI가 가장 높은 채널은?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36B99A5-80A6-4223-C85A-D4585BD101BB}"/>
              </a:ext>
            </a:extLst>
          </p:cNvPr>
          <p:cNvSpPr/>
          <p:nvPr/>
        </p:nvSpPr>
        <p:spPr>
          <a:xfrm>
            <a:off x="8058547" y="3022067"/>
            <a:ext cx="3333902" cy="476402"/>
          </a:xfrm>
          <a:prstGeom prst="roundRect">
            <a:avLst>
              <a:gd name="adj" fmla="val 3071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780F58A1-095E-D95C-0E5D-453C84CE02ED}"/>
              </a:ext>
            </a:extLst>
          </p:cNvPr>
          <p:cNvSpPr txBox="1"/>
          <p:nvPr/>
        </p:nvSpPr>
        <p:spPr>
          <a:xfrm>
            <a:off x="8145475" y="280625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Answer: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8B4F45E0-E521-2A1C-3C1F-4BFF14CFE7D2}"/>
              </a:ext>
            </a:extLst>
          </p:cNvPr>
          <p:cNvSpPr txBox="1"/>
          <p:nvPr/>
        </p:nvSpPr>
        <p:spPr>
          <a:xfrm>
            <a:off x="8181991" y="3098876"/>
            <a:ext cx="31720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Instagram 채널이 350%로 가장 높습니다. 특히 20대 타겟 캠페인이 주요했습니다.</a:t>
            </a:r>
            <a:endParaRPr lang="en-US" sz="9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8BE57094-DF6D-DAF4-21A7-241D7BE1F2EA}"/>
              </a:ext>
            </a:extLst>
          </p:cNvPr>
          <p:cNvSpPr/>
          <p:nvPr/>
        </p:nvSpPr>
        <p:spPr>
          <a:xfrm>
            <a:off x="8086954" y="3610051"/>
            <a:ext cx="3333902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AEF2E5C6-A9D4-91A0-FD77-2ECED03BC73C}"/>
              </a:ext>
            </a:extLst>
          </p:cNvPr>
          <p:cNvSpPr/>
          <p:nvPr/>
        </p:nvSpPr>
        <p:spPr>
          <a:xfrm>
            <a:off x="8086954" y="3696005"/>
            <a:ext cx="3143707" cy="228600"/>
          </a:xfrm>
          <a:prstGeom prst="roundRect">
            <a:avLst>
              <a:gd name="adj" fmla="val 6666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5DD81EE9-D54E-8CFF-37C9-EA5A7381739A}"/>
              </a:ext>
            </a:extLst>
          </p:cNvPr>
          <p:cNvSpPr txBox="1"/>
          <p:nvPr/>
        </p:nvSpPr>
        <p:spPr>
          <a:xfrm>
            <a:off x="8172907" y="3696005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Ask a question...</a:t>
            </a:r>
            <a:endParaRPr lang="en-US" sz="1200" dirty="0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5" name="삼각형 54">
            <a:extLst>
              <a:ext uri="{FF2B5EF4-FFF2-40B4-BE49-F238E27FC236}">
                <a16:creationId xmlns:a16="http://schemas.microsoft.com/office/drawing/2014/main" id="{12339769-12C3-45DD-2E23-D5AEF921B61F}"/>
              </a:ext>
            </a:extLst>
          </p:cNvPr>
          <p:cNvSpPr/>
          <p:nvPr/>
        </p:nvSpPr>
        <p:spPr>
          <a:xfrm rot="5400000">
            <a:off x="3577202" y="3023607"/>
            <a:ext cx="590563" cy="231302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6" name="삼각형 55">
            <a:extLst>
              <a:ext uri="{FF2B5EF4-FFF2-40B4-BE49-F238E27FC236}">
                <a16:creationId xmlns:a16="http://schemas.microsoft.com/office/drawing/2014/main" id="{1DBF5F45-5468-5E02-6957-EF2067434963}"/>
              </a:ext>
            </a:extLst>
          </p:cNvPr>
          <p:cNvSpPr/>
          <p:nvPr/>
        </p:nvSpPr>
        <p:spPr>
          <a:xfrm rot="5400000">
            <a:off x="7211427" y="3018068"/>
            <a:ext cx="590563" cy="231302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F07255E0-D140-1C99-CE05-AA12B611EB28}"/>
              </a:ext>
            </a:extLst>
          </p:cNvPr>
          <p:cNvSpPr txBox="1"/>
          <p:nvPr/>
        </p:nvSpPr>
        <p:spPr>
          <a:xfrm>
            <a:off x="3266155" y="3051137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ui-monospace" pitchFamily="34" charset="-120"/>
              </a:rPr>
              <a:t>Vectorizing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D0BEFE3-A89B-EC9D-1D2B-66A0F221C268}"/>
              </a:ext>
            </a:extLst>
          </p:cNvPr>
          <p:cNvSpPr txBox="1"/>
          <p:nvPr/>
        </p:nvSpPr>
        <p:spPr>
          <a:xfrm>
            <a:off x="6981384" y="3047765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ui-monospace" pitchFamily="34" charset="-120"/>
              </a:rPr>
              <a:t>Generation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007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807BCC3E-4B6A-B5BF-2545-59BEB8F3803A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E73774AE-B466-1AB0-6AE2-2637A4C70883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강의를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듣고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나면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98B51DD5-6237-49A8-D9A4-13F68B91B534}"/>
              </a:ext>
            </a:extLst>
          </p:cNvPr>
          <p:cNvSpPr txBox="1"/>
          <p:nvPr/>
        </p:nvSpPr>
        <p:spPr>
          <a:xfrm>
            <a:off x="2835946" y="1629424"/>
            <a:ext cx="1233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BEFORE CLASS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E11813F-3087-B8BA-4773-49BBD23D8265}"/>
              </a:ext>
            </a:extLst>
          </p:cNvPr>
          <p:cNvSpPr txBox="1"/>
          <p:nvPr/>
        </p:nvSpPr>
        <p:spPr>
          <a:xfrm>
            <a:off x="8294914" y="1610222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AFTER CLASS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2F00AB00-33F2-E09D-BFF0-B026B56B042C}"/>
              </a:ext>
            </a:extLst>
          </p:cNvPr>
          <p:cNvSpPr/>
          <p:nvPr/>
        </p:nvSpPr>
        <p:spPr>
          <a:xfrm>
            <a:off x="1268664" y="1972324"/>
            <a:ext cx="4267505" cy="3454541"/>
          </a:xfrm>
          <a:prstGeom prst="roundRect">
            <a:avLst>
              <a:gd name="adj" fmla="val 990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5C3E75DE-A4F8-610F-C55E-A1DFADFE4610}"/>
              </a:ext>
            </a:extLst>
          </p:cNvPr>
          <p:cNvSpPr/>
          <p:nvPr/>
        </p:nvSpPr>
        <p:spPr>
          <a:xfrm>
            <a:off x="2942930" y="3460682"/>
            <a:ext cx="923544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B26C64E3-9FAE-EB5B-A7CB-35600BD832BB}"/>
              </a:ext>
            </a:extLst>
          </p:cNvPr>
          <p:cNvSpPr/>
          <p:nvPr/>
        </p:nvSpPr>
        <p:spPr>
          <a:xfrm>
            <a:off x="1583218" y="4394285"/>
            <a:ext cx="36383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D8495506-127C-687C-28CE-DA4C0574B6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-33034" r="-33034"/>
          <a:stretch/>
        </p:blipFill>
        <p:spPr>
          <a:xfrm>
            <a:off x="1583218" y="4146482"/>
            <a:ext cx="190195" cy="152705"/>
          </a:xfrm>
          <a:prstGeom prst="rect">
            <a:avLst/>
          </a:prstGeom>
        </p:spPr>
      </p:pic>
      <p:sp>
        <p:nvSpPr>
          <p:cNvPr id="10" name="Shape 13">
            <a:extLst>
              <a:ext uri="{FF2B5EF4-FFF2-40B4-BE49-F238E27FC236}">
                <a16:creationId xmlns:a16="http://schemas.microsoft.com/office/drawing/2014/main" id="{7A69146C-8939-9A49-2580-62AF5843EB33}"/>
              </a:ext>
            </a:extLst>
          </p:cNvPr>
          <p:cNvSpPr/>
          <p:nvPr/>
        </p:nvSpPr>
        <p:spPr>
          <a:xfrm>
            <a:off x="1583218" y="4823138"/>
            <a:ext cx="36383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DAF5D82-7825-3FFC-25DA-1F253D0A13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-33034" r="-33034"/>
          <a:stretch/>
        </p:blipFill>
        <p:spPr>
          <a:xfrm>
            <a:off x="1583218" y="4575336"/>
            <a:ext cx="190195" cy="152705"/>
          </a:xfrm>
          <a:prstGeom prst="rect">
            <a:avLst/>
          </a:prstGeom>
        </p:spPr>
      </p:pic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C46FF89E-06E7-C238-04A7-D8CBEB537E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-33034" r="-33034"/>
          <a:stretch/>
        </p:blipFill>
        <p:spPr>
          <a:xfrm>
            <a:off x="1583218" y="5004189"/>
            <a:ext cx="190195" cy="152705"/>
          </a:xfrm>
          <a:prstGeom prst="rect">
            <a:avLst/>
          </a:prstGeom>
        </p:spPr>
      </p:pic>
      <p:sp>
        <p:nvSpPr>
          <p:cNvPr id="13" name="Text 14">
            <a:extLst>
              <a:ext uri="{FF2B5EF4-FFF2-40B4-BE49-F238E27FC236}">
                <a16:creationId xmlns:a16="http://schemas.microsoft.com/office/drawing/2014/main" id="{96255BDD-A037-7C1B-F6A8-535221493484}"/>
              </a:ext>
            </a:extLst>
          </p:cNvPr>
          <p:cNvSpPr txBox="1"/>
          <p:nvPr/>
        </p:nvSpPr>
        <p:spPr>
          <a:xfrm>
            <a:off x="2221469" y="3108638"/>
            <a:ext cx="25054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"모델을 돌릴 줄 아는 지원자"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3082E21-E1BC-E1EB-160E-A5541213AB40}"/>
              </a:ext>
            </a:extLst>
          </p:cNvPr>
          <p:cNvSpPr txBox="1"/>
          <p:nvPr/>
        </p:nvSpPr>
        <p:spPr>
          <a:xfrm>
            <a:off x="3066374" y="3508231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Technician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B9E58ADF-EDAB-8CAC-28A3-BCA3E4EB395F}"/>
              </a:ext>
            </a:extLst>
          </p:cNvPr>
          <p:cNvSpPr txBox="1"/>
          <p:nvPr/>
        </p:nvSpPr>
        <p:spPr>
          <a:xfrm>
            <a:off x="1887713" y="4128194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복잡한 수식과 알고리즘만 강조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F4FD777E-A04E-01AD-35B5-69B703034F28}"/>
              </a:ext>
            </a:extLst>
          </p:cNvPr>
          <p:cNvSpPr txBox="1"/>
          <p:nvPr/>
        </p:nvSpPr>
        <p:spPr>
          <a:xfrm>
            <a:off x="1887713" y="4556133"/>
            <a:ext cx="2376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"정확도 99% 달성했습니다" (So what?)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2F7CEBF6-4A2A-ABE2-0425-F25239835C38}"/>
              </a:ext>
            </a:extLst>
          </p:cNvPr>
          <p:cNvSpPr txBox="1"/>
          <p:nvPr/>
        </p:nvSpPr>
        <p:spPr>
          <a:xfrm>
            <a:off x="1887713" y="4984987"/>
            <a:ext cx="1853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비즈니스 맥락 없는 데이터 분석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A61B0AA3-AE14-1027-C930-2D218AC26E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t="-24" b="-24"/>
          <a:stretch/>
        </p:blipFill>
        <p:spPr>
          <a:xfrm>
            <a:off x="3164215" y="2317682"/>
            <a:ext cx="476402" cy="381305"/>
          </a:xfrm>
          <a:prstGeom prst="rect">
            <a:avLst/>
          </a:prstGeom>
        </p:spPr>
      </p:pic>
      <p:sp>
        <p:nvSpPr>
          <p:cNvPr id="19" name="Shape 19">
            <a:extLst>
              <a:ext uri="{FF2B5EF4-FFF2-40B4-BE49-F238E27FC236}">
                <a16:creationId xmlns:a16="http://schemas.microsoft.com/office/drawing/2014/main" id="{7F8F0B25-64AE-6DEB-C1DC-3EFC108565F5}"/>
              </a:ext>
            </a:extLst>
          </p:cNvPr>
          <p:cNvSpPr/>
          <p:nvPr/>
        </p:nvSpPr>
        <p:spPr>
          <a:xfrm>
            <a:off x="3516259" y="2623092"/>
            <a:ext cx="267005" cy="267005"/>
          </a:xfrm>
          <a:prstGeom prst="ellipse">
            <a:avLst/>
          </a:prstGeom>
          <a:noFill/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70AB93F5-9FAF-454F-8F58-982100B5409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-2838" r="-2838"/>
          <a:stretch/>
        </p:blipFill>
        <p:spPr>
          <a:xfrm>
            <a:off x="3588497" y="2689843"/>
            <a:ext cx="123444" cy="133502"/>
          </a:xfrm>
          <a:prstGeom prst="rect">
            <a:avLst/>
          </a:prstGeom>
        </p:spPr>
      </p:pic>
      <p:sp>
        <p:nvSpPr>
          <p:cNvPr id="21" name="Shape 20">
            <a:extLst>
              <a:ext uri="{FF2B5EF4-FFF2-40B4-BE49-F238E27FC236}">
                <a16:creationId xmlns:a16="http://schemas.microsoft.com/office/drawing/2014/main" id="{3BA3F15A-A1F2-B046-32E2-74BA53F4230D}"/>
              </a:ext>
            </a:extLst>
          </p:cNvPr>
          <p:cNvSpPr/>
          <p:nvPr/>
        </p:nvSpPr>
        <p:spPr>
          <a:xfrm>
            <a:off x="6627048" y="1915632"/>
            <a:ext cx="4352544" cy="3559760"/>
          </a:xfrm>
          <a:prstGeom prst="roundRect">
            <a:avLst>
              <a:gd name="adj" fmla="val 932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87D84E90-511D-8138-4AB4-76EAA201F750}"/>
              </a:ext>
            </a:extLst>
          </p:cNvPr>
          <p:cNvSpPr/>
          <p:nvPr/>
        </p:nvSpPr>
        <p:spPr>
          <a:xfrm>
            <a:off x="8186100" y="3466169"/>
            <a:ext cx="1238098" cy="295351"/>
          </a:xfrm>
          <a:prstGeom prst="roundRect">
            <a:avLst>
              <a:gd name="adj" fmla="val 309598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70C6DEF9-FABC-3471-03D7-77F9538151A7}"/>
              </a:ext>
            </a:extLst>
          </p:cNvPr>
          <p:cNvSpPr/>
          <p:nvPr/>
        </p:nvSpPr>
        <p:spPr>
          <a:xfrm>
            <a:off x="6957146" y="4421717"/>
            <a:ext cx="36960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469D059-39C9-AD71-AFC8-55DD625B71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702" r="-20702"/>
          <a:stretch/>
        </p:blipFill>
        <p:spPr>
          <a:xfrm>
            <a:off x="6957146" y="4165685"/>
            <a:ext cx="200254" cy="161849"/>
          </a:xfrm>
          <a:prstGeom prst="rect">
            <a:avLst/>
          </a:prstGeom>
        </p:spPr>
      </p:pic>
      <p:sp>
        <p:nvSpPr>
          <p:cNvPr id="25" name="Shape 23">
            <a:extLst>
              <a:ext uri="{FF2B5EF4-FFF2-40B4-BE49-F238E27FC236}">
                <a16:creationId xmlns:a16="http://schemas.microsoft.com/office/drawing/2014/main" id="{3398EBD5-6CA8-DDC9-4058-2E96F2145E19}"/>
              </a:ext>
            </a:extLst>
          </p:cNvPr>
          <p:cNvSpPr/>
          <p:nvPr/>
        </p:nvSpPr>
        <p:spPr>
          <a:xfrm>
            <a:off x="6957146" y="4858800"/>
            <a:ext cx="36960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6" name="Image 6" descr="preencoded.png">
            <a:extLst>
              <a:ext uri="{FF2B5EF4-FFF2-40B4-BE49-F238E27FC236}">
                <a16:creationId xmlns:a16="http://schemas.microsoft.com/office/drawing/2014/main" id="{62F5D290-6230-6F87-1C48-55C12672C2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702" r="-20702"/>
          <a:stretch/>
        </p:blipFill>
        <p:spPr>
          <a:xfrm>
            <a:off x="6957146" y="4602768"/>
            <a:ext cx="200254" cy="161849"/>
          </a:xfrm>
          <a:prstGeom prst="rect">
            <a:avLst/>
          </a:prstGeom>
        </p:spPr>
      </p:pic>
      <p:pic>
        <p:nvPicPr>
          <p:cNvPr id="27" name="Image 7" descr="preencoded.png">
            <a:extLst>
              <a:ext uri="{FF2B5EF4-FFF2-40B4-BE49-F238E27FC236}">
                <a16:creationId xmlns:a16="http://schemas.microsoft.com/office/drawing/2014/main" id="{CB32A3C3-595E-EED4-0B18-01640DC273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702" r="-20702"/>
          <a:stretch/>
        </p:blipFill>
        <p:spPr>
          <a:xfrm>
            <a:off x="6957146" y="5039851"/>
            <a:ext cx="200254" cy="161849"/>
          </a:xfrm>
          <a:prstGeom prst="rect">
            <a:avLst/>
          </a:prstGeom>
        </p:spPr>
      </p:pic>
      <p:sp>
        <p:nvSpPr>
          <p:cNvPr id="28" name="Text 24">
            <a:extLst>
              <a:ext uri="{FF2B5EF4-FFF2-40B4-BE49-F238E27FC236}">
                <a16:creationId xmlns:a16="http://schemas.microsoft.com/office/drawing/2014/main" id="{1563985B-6ACB-1917-882B-109DFE64A3B0}"/>
              </a:ext>
            </a:extLst>
          </p:cNvPr>
          <p:cNvSpPr txBox="1"/>
          <p:nvPr/>
        </p:nvSpPr>
        <p:spPr>
          <a:xfrm>
            <a:off x="6417275" y="2943074"/>
            <a:ext cx="45623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＂</a:t>
            </a:r>
            <a:r>
              <a:rPr lang="ko-KR" altLang="en-US" sz="18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기술을 알고 </a:t>
            </a:r>
            <a:r>
              <a:rPr lang="en-US" sz="18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B</a:t>
            </a:r>
            <a:r>
              <a:rPr lang="en-US" altLang="ko-KR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iz. </a:t>
            </a:r>
            <a:r>
              <a:rPr lang="en-US" sz="1800" b="1" dirty="0" err="1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문제를</a:t>
            </a:r>
            <a:r>
              <a:rPr lang="en-US" sz="18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해결하는 지원자"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564F903-83F5-0C84-5C49-C0B0FB3F89BC}"/>
              </a:ext>
            </a:extLst>
          </p:cNvPr>
          <p:cNvSpPr txBox="1"/>
          <p:nvPr/>
        </p:nvSpPr>
        <p:spPr>
          <a:xfrm>
            <a:off x="8312287" y="3514632"/>
            <a:ext cx="1090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Problem Solver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2FA95998-BE0F-EAF8-292D-BFE9D68AA73B}"/>
              </a:ext>
            </a:extLst>
          </p:cNvPr>
          <p:cNvSpPr txBox="1"/>
          <p:nvPr/>
        </p:nvSpPr>
        <p:spPr>
          <a:xfrm>
            <a:off x="7268042" y="4146482"/>
            <a:ext cx="1719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가설 기반으로 데이터를 접근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E84EA1F-956D-FA1B-4677-9EBAC566B6D4}"/>
              </a:ext>
            </a:extLst>
          </p:cNvPr>
          <p:cNvSpPr txBox="1"/>
          <p:nvPr/>
        </p:nvSpPr>
        <p:spPr>
          <a:xfrm>
            <a:off x="7268042" y="4583565"/>
            <a:ext cx="2129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AI를 활용해 의사결정 시나리오 제안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32866FD4-ACB7-2CED-2F55-3EED99C8E16E}"/>
              </a:ext>
            </a:extLst>
          </p:cNvPr>
          <p:cNvSpPr txBox="1"/>
          <p:nvPr/>
        </p:nvSpPr>
        <p:spPr>
          <a:xfrm>
            <a:off x="7268042" y="5020649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경영진이 이해하는 언어로 설득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2043D16D-EEF2-FB60-B5A4-0D19DC969C43}"/>
              </a:ext>
            </a:extLst>
          </p:cNvPr>
          <p:cNvSpPr/>
          <p:nvPr/>
        </p:nvSpPr>
        <p:spPr>
          <a:xfrm>
            <a:off x="8414700" y="2086339"/>
            <a:ext cx="780898" cy="780898"/>
          </a:xfrm>
          <a:prstGeom prst="ellipse">
            <a:avLst/>
          </a:prstGeom>
          <a:solidFill>
            <a:srgbClr val="1E3A8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8ED9C6C9-AB6A-C894-D890-8B10BB119A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28" r="-228"/>
          <a:stretch/>
        </p:blipFill>
        <p:spPr>
          <a:xfrm>
            <a:off x="8628670" y="2275620"/>
            <a:ext cx="352044" cy="400507"/>
          </a:xfrm>
          <a:prstGeom prst="rect">
            <a:avLst/>
          </a:prstGeom>
        </p:spPr>
      </p:pic>
      <p:sp>
        <p:nvSpPr>
          <p:cNvPr id="36" name="Shape 31">
            <a:extLst>
              <a:ext uri="{FF2B5EF4-FFF2-40B4-BE49-F238E27FC236}">
                <a16:creationId xmlns:a16="http://schemas.microsoft.com/office/drawing/2014/main" id="{13D9B123-30EF-0927-4896-2E27D0ED3E19}"/>
              </a:ext>
            </a:extLst>
          </p:cNvPr>
          <p:cNvSpPr/>
          <p:nvPr/>
        </p:nvSpPr>
        <p:spPr>
          <a:xfrm>
            <a:off x="8900246" y="2571885"/>
            <a:ext cx="276149" cy="276149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7" name="Image 9" descr="preencoded.png">
            <a:extLst>
              <a:ext uri="{FF2B5EF4-FFF2-40B4-BE49-F238E27FC236}">
                <a16:creationId xmlns:a16="http://schemas.microsoft.com/office/drawing/2014/main" id="{F8DD1FCE-58A3-8D0B-5976-BA066509FA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8973398" y="2635893"/>
            <a:ext cx="133502" cy="152705"/>
          </a:xfrm>
          <a:prstGeom prst="rect">
            <a:avLst/>
          </a:prstGeom>
        </p:spPr>
      </p:pic>
      <p:sp>
        <p:nvSpPr>
          <p:cNvPr id="38" name="Shape 32">
            <a:extLst>
              <a:ext uri="{FF2B5EF4-FFF2-40B4-BE49-F238E27FC236}">
                <a16:creationId xmlns:a16="http://schemas.microsoft.com/office/drawing/2014/main" id="{7F499616-B6F5-7A55-AD20-D92DDCC9A5D2}"/>
              </a:ext>
            </a:extLst>
          </p:cNvPr>
          <p:cNvSpPr/>
          <p:nvPr/>
        </p:nvSpPr>
        <p:spPr>
          <a:xfrm>
            <a:off x="5874497" y="3136985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F39B9FD0-AD81-1887-7AFB-DDEA8C2DF418}"/>
              </a:ext>
            </a:extLst>
          </p:cNvPr>
          <p:cNvSpPr txBox="1"/>
          <p:nvPr/>
        </p:nvSpPr>
        <p:spPr>
          <a:xfrm>
            <a:off x="5916559" y="3718543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ui-monospace" pitchFamily="34" charset="-120"/>
              </a:rPr>
              <a:t>SHIFT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0" name="Image 10" descr="preencoded.png">
            <a:extLst>
              <a:ext uri="{FF2B5EF4-FFF2-40B4-BE49-F238E27FC236}">
                <a16:creationId xmlns:a16="http://schemas.microsoft.com/office/drawing/2014/main" id="{F9E88781-A6F2-DB46-A09D-4174B852B8C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2000"/>
          </a:blip>
          <a:srcRect l="-57" r="-57"/>
          <a:stretch/>
        </p:blipFill>
        <p:spPr>
          <a:xfrm>
            <a:off x="6012571" y="3251285"/>
            <a:ext cx="20025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98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94B840FA-6067-5A09-3FE0-0726A88B4FFB}"/>
              </a:ext>
            </a:extLst>
          </p:cNvPr>
          <p:cNvSpPr txBox="1"/>
          <p:nvPr/>
        </p:nvSpPr>
        <p:spPr>
          <a:xfrm>
            <a:off x="1628546" y="889711"/>
            <a:ext cx="893460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-108" dirty="0">
                <a:solidFill>
                  <a:srgbClr val="1E3A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Part 1. 데이터 </a:t>
            </a:r>
            <a:r>
              <a:rPr lang="en-US" sz="4400" b="1" kern="0" spc="-108" dirty="0" err="1">
                <a:solidFill>
                  <a:srgbClr val="1E3A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이해</a:t>
            </a:r>
            <a:r>
              <a:rPr lang="en-US" sz="4400" b="1" kern="0" spc="-108" dirty="0">
                <a:solidFill>
                  <a:srgbClr val="1E3A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+ 그로스 분석</a:t>
            </a:r>
            <a:endParaRPr lang="en-US" sz="4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646630E-FA56-2835-28D8-6F129C983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7" name="Text 9">
            <a:extLst>
              <a:ext uri="{FF2B5EF4-FFF2-40B4-BE49-F238E27FC236}">
                <a16:creationId xmlns:a16="http://schemas.microsoft.com/office/drawing/2014/main" id="{4083F48F-B384-D53F-2883-8761F4E5AF88}"/>
              </a:ext>
            </a:extLst>
          </p:cNvPr>
          <p:cNvSpPr txBox="1"/>
          <p:nvPr/>
        </p:nvSpPr>
        <p:spPr>
          <a:xfrm>
            <a:off x="1378503" y="2733573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Wingdings" pitchFamily="2" charset="2"/>
              <a:buChar char="§"/>
            </a:pPr>
            <a:r>
              <a:rPr lang="en-US" sz="18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그로스 분석 프레임워크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634A74BB-D761-A2D5-21D3-99CABDF24AFE}"/>
              </a:ext>
            </a:extLst>
          </p:cNvPr>
          <p:cNvSpPr txBox="1"/>
          <p:nvPr/>
        </p:nvSpPr>
        <p:spPr>
          <a:xfrm>
            <a:off x="1378503" y="3152368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비즈니스 문제를 체계적으로 진단하는 4단계 방법론 (트렌드 → 영향 요인 → 세그먼트 → 액션)</a:t>
            </a:r>
            <a:endParaRPr lang="en-US" sz="13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D65D36DD-8C64-AE4A-0FDD-11FD92653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3" name="Text 13">
            <a:extLst>
              <a:ext uri="{FF2B5EF4-FFF2-40B4-BE49-F238E27FC236}">
                <a16:creationId xmlns:a16="http://schemas.microsoft.com/office/drawing/2014/main" id="{6F07AF2A-94F4-4F1E-3916-813EF1DB7EA1}"/>
              </a:ext>
            </a:extLst>
          </p:cNvPr>
          <p:cNvSpPr txBox="1"/>
          <p:nvPr/>
        </p:nvSpPr>
        <p:spPr>
          <a:xfrm>
            <a:off x="6915785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marL="285750" indent="-285750">
              <a:buFont typeface="Wingdings" pitchFamily="2" charset="2"/>
              <a:buChar char="§"/>
              <a:defRPr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 </a:t>
            </a:r>
            <a:r>
              <a:rPr lang="en-US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구조와 전처리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73500F8-BDCD-07F7-1B66-F6034597E8BF}"/>
              </a:ext>
            </a:extLst>
          </p:cNvPr>
          <p:cNvSpPr txBox="1"/>
          <p:nvPr/>
        </p:nvSpPr>
        <p:spPr>
          <a:xfrm>
            <a:off x="6915785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5개 핵심 테이블의 관계 파악 및 시계열 데이터 </a:t>
            </a:r>
            <a:r>
              <a:rPr lang="en-US" sz="1300" dirty="0" err="1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조인</a:t>
            </a:r>
            <a:r>
              <a:rPr lang="en-US" sz="13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endParaRPr lang="en-US" sz="13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A655BF91-8778-9825-94E8-E97C36AFF3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19" name="Text 17">
            <a:extLst>
              <a:ext uri="{FF2B5EF4-FFF2-40B4-BE49-F238E27FC236}">
                <a16:creationId xmlns:a16="http://schemas.microsoft.com/office/drawing/2014/main" id="{78AD8FD6-DD42-880C-5704-76C76897B65D}"/>
              </a:ext>
            </a:extLst>
          </p:cNvPr>
          <p:cNvSpPr txBox="1"/>
          <p:nvPr/>
        </p:nvSpPr>
        <p:spPr>
          <a:xfrm>
            <a:off x="1378503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marL="285750" indent="-285750">
              <a:buFont typeface="Wingdings" pitchFamily="2" charset="2"/>
              <a:buChar char="§"/>
              <a:defRPr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심층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</a:t>
            </a:r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2FF6D40-5E25-1994-B61C-9DAFF2251F52}"/>
              </a:ext>
            </a:extLst>
          </p:cNvPr>
          <p:cNvSpPr txBox="1"/>
          <p:nvPr/>
        </p:nvSpPr>
        <p:spPr>
          <a:xfrm>
            <a:off x="1378503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YoY 트렌드, 프로모션 리프트, 계절성 히트맵, 성장 기여도 등 핵심 지표 분석</a:t>
            </a:r>
            <a:endParaRPr lang="en-US" sz="13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1" name="Image 6" descr="preencoded.png">
            <a:extLst>
              <a:ext uri="{FF2B5EF4-FFF2-40B4-BE49-F238E27FC236}">
                <a16:creationId xmlns:a16="http://schemas.microsoft.com/office/drawing/2014/main" id="{DA5D60B8-9BB6-0CA1-A07C-32119A304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  <a:noFill/>
          <a:ln/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13342A9E-980D-4921-A17B-7CD6450D01A2}"/>
              </a:ext>
            </a:extLst>
          </p:cNvPr>
          <p:cNvSpPr txBox="1"/>
          <p:nvPr/>
        </p:nvSpPr>
        <p:spPr>
          <a:xfrm>
            <a:off x="6915785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marL="285750" indent="-285750">
              <a:buFont typeface="Wingdings" pitchFamily="2" charset="2"/>
              <a:buChar char="§"/>
              <a:defRPr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결과 요약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및</a:t>
            </a:r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활용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4B9FDB8E-1A37-10B0-2B7A-D832B17F11F8}"/>
              </a:ext>
            </a:extLst>
          </p:cNvPr>
          <p:cNvSpPr txBox="1"/>
          <p:nvPr/>
        </p:nvSpPr>
        <p:spPr>
          <a:xfrm>
            <a:off x="6915785" y="5038344"/>
            <a:ext cx="38977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인사이트를 요약하여 액션 플랜 수립 및 AI 챗봇(Part 3) 연동을 위한 데이터 준비</a:t>
            </a:r>
            <a:endParaRPr lang="en-US" sz="13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412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B87AC3FF-1F45-3157-0D3D-B1DA0F1CE14E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F893C77-D7DD-D3A9-A227-FF4C0A3DBB3C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그로스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프레임워크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927EB46-F2B4-B1C2-3DBE-4A688A71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23" r="-1923"/>
          <a:stretch/>
        </p:blipFill>
        <p:spPr>
          <a:xfrm>
            <a:off x="3169329" y="3536182"/>
            <a:ext cx="123444" cy="190195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E91655C0-404A-537D-093B-C9609FF6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23" r="-1923"/>
          <a:stretch/>
        </p:blipFill>
        <p:spPr>
          <a:xfrm>
            <a:off x="6078950" y="3536182"/>
            <a:ext cx="123444" cy="190195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A88A8B29-ECD0-AD37-AF57-A50B9BF7ED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23" r="-1923"/>
          <a:stretch/>
        </p:blipFill>
        <p:spPr>
          <a:xfrm>
            <a:off x="8988570" y="3536182"/>
            <a:ext cx="123444" cy="190195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EE1D8168-6FDF-190C-9E05-6A82203C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616324" y="2169154"/>
            <a:ext cx="2318918" cy="2924251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031EBCF8-5B02-90CD-CDD3-DAB05970EC1B}"/>
              </a:ext>
            </a:extLst>
          </p:cNvPr>
          <p:cNvSpPr/>
          <p:nvPr/>
        </p:nvSpPr>
        <p:spPr>
          <a:xfrm>
            <a:off x="816578" y="2407813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FAFE79C-0723-FA03-C5E8-2F4F2671F2A2}"/>
              </a:ext>
            </a:extLst>
          </p:cNvPr>
          <p:cNvSpPr/>
          <p:nvPr/>
        </p:nvSpPr>
        <p:spPr>
          <a:xfrm>
            <a:off x="778173" y="2407813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1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E85C486-9824-5193-7902-3673DEC5FF05}"/>
              </a:ext>
            </a:extLst>
          </p:cNvPr>
          <p:cNvSpPr txBox="1"/>
          <p:nvPr/>
        </p:nvSpPr>
        <p:spPr>
          <a:xfrm>
            <a:off x="1216169" y="2431587"/>
            <a:ext cx="13118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트렌드</a:t>
            </a:r>
            <a:r>
              <a:rPr lang="en-US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파악</a:t>
            </a:r>
            <a:endParaRPr lang="en-US" b="1" dirty="0">
              <a:solidFill>
                <a:srgbClr val="1E293B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38C5584-B6E0-C500-A818-0B1EA9BB1406}"/>
              </a:ext>
            </a:extLst>
          </p:cNvPr>
          <p:cNvSpPr/>
          <p:nvPr/>
        </p:nvSpPr>
        <p:spPr>
          <a:xfrm>
            <a:off x="816578" y="2998516"/>
            <a:ext cx="1923898" cy="457200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4BC29EF-298F-91DF-98B1-8CEE6800E43D}"/>
              </a:ext>
            </a:extLst>
          </p:cNvPr>
          <p:cNvSpPr txBox="1"/>
          <p:nvPr/>
        </p:nvSpPr>
        <p:spPr>
          <a:xfrm>
            <a:off x="776802" y="3169508"/>
            <a:ext cx="18498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"언제부터, 얼마나 떨어졌나?"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A5886F8-51F4-63E1-405A-FF5426B45B07}"/>
              </a:ext>
            </a:extLst>
          </p:cNvPr>
          <p:cNvGrpSpPr/>
          <p:nvPr/>
        </p:nvGrpSpPr>
        <p:grpSpPr>
          <a:xfrm>
            <a:off x="816578" y="3840677"/>
            <a:ext cx="2078431" cy="762610"/>
            <a:chOff x="771754" y="4462272"/>
            <a:chExt cx="2078431" cy="762610"/>
          </a:xfrm>
        </p:grpSpPr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9343DFE8-4893-EFD7-5742-A368884E26CA}"/>
                </a:ext>
              </a:extLst>
            </p:cNvPr>
            <p:cNvSpPr txBox="1"/>
            <p:nvPr/>
          </p:nvSpPr>
          <p:spPr>
            <a:xfrm>
              <a:off x="771754" y="4462272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일별/월별 매출 추이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9F5716B8-38B2-EA7E-34EE-CE18B69B63A9}"/>
                </a:ext>
              </a:extLst>
            </p:cNvPr>
            <p:cNvSpPr txBox="1"/>
            <p:nvPr/>
          </p:nvSpPr>
          <p:spPr>
            <a:xfrm>
              <a:off x="771754" y="4733849"/>
              <a:ext cx="200162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YoY / MoM 성장률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F47096E0-505A-18B4-3EDF-38A79B838A05}"/>
                </a:ext>
              </a:extLst>
            </p:cNvPr>
            <p:cNvSpPr txBox="1"/>
            <p:nvPr/>
          </p:nvSpPr>
          <p:spPr>
            <a:xfrm>
              <a:off x="771754" y="5005426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이동평균 추세선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pic>
        <p:nvPicPr>
          <p:cNvPr id="20" name="Image 5" descr="preencoded.png">
            <a:extLst>
              <a:ext uri="{FF2B5EF4-FFF2-40B4-BE49-F238E27FC236}">
                <a16:creationId xmlns:a16="http://schemas.microsoft.com/office/drawing/2014/main" id="{6A743C55-5518-C7C8-6C2A-92F19266EE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3525945" y="2169154"/>
            <a:ext cx="2318918" cy="2924251"/>
          </a:xfrm>
          <a:prstGeom prst="rect">
            <a:avLst/>
          </a:prstGeom>
        </p:spPr>
      </p:pic>
      <p:sp>
        <p:nvSpPr>
          <p:cNvPr id="22" name="Shape 17">
            <a:extLst>
              <a:ext uri="{FF2B5EF4-FFF2-40B4-BE49-F238E27FC236}">
                <a16:creationId xmlns:a16="http://schemas.microsoft.com/office/drawing/2014/main" id="{9A0E2E3F-935C-D23D-549F-C9B855802452}"/>
              </a:ext>
            </a:extLst>
          </p:cNvPr>
          <p:cNvSpPr/>
          <p:nvPr/>
        </p:nvSpPr>
        <p:spPr>
          <a:xfrm>
            <a:off x="3726198" y="2407813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97FD5050-6FD2-E847-E43C-09B27729B559}"/>
              </a:ext>
            </a:extLst>
          </p:cNvPr>
          <p:cNvSpPr/>
          <p:nvPr/>
        </p:nvSpPr>
        <p:spPr>
          <a:xfrm>
            <a:off x="3687794" y="2407813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2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813CB0B-6A65-613C-9557-888C487D4FC9}"/>
              </a:ext>
            </a:extLst>
          </p:cNvPr>
          <p:cNvSpPr txBox="1"/>
          <p:nvPr/>
        </p:nvSpPr>
        <p:spPr>
          <a:xfrm>
            <a:off x="4126705" y="2431587"/>
            <a:ext cx="195132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영향 </a:t>
            </a:r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요인</a:t>
            </a:r>
            <a:r>
              <a:rPr lang="en-US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분해</a:t>
            </a:r>
            <a:endParaRPr lang="en-US" b="1" dirty="0">
              <a:solidFill>
                <a:srgbClr val="1E293B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E656F9FF-B974-2136-05C3-AC72C6A014A2}"/>
              </a:ext>
            </a:extLst>
          </p:cNvPr>
          <p:cNvSpPr/>
          <p:nvPr/>
        </p:nvSpPr>
        <p:spPr>
          <a:xfrm>
            <a:off x="3726198" y="2998515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9E757FC-2EFF-1BCC-06E8-56369FB2682D}"/>
              </a:ext>
            </a:extLst>
          </p:cNvPr>
          <p:cNvSpPr txBox="1"/>
          <p:nvPr/>
        </p:nvSpPr>
        <p:spPr>
          <a:xfrm>
            <a:off x="3919316" y="3261162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"왜 떨어졌나?"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848A62E-4237-8BF5-CB7E-FEDC81F5A3EA}"/>
              </a:ext>
            </a:extLst>
          </p:cNvPr>
          <p:cNvGrpSpPr/>
          <p:nvPr/>
        </p:nvGrpSpPr>
        <p:grpSpPr>
          <a:xfrm>
            <a:off x="3726198" y="3840677"/>
            <a:ext cx="2078431" cy="762610"/>
            <a:chOff x="3681374" y="4262018"/>
            <a:chExt cx="2078431" cy="762610"/>
          </a:xfrm>
        </p:grpSpPr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5C26540F-8CC1-2B60-641F-10F6F46CC517}"/>
                </a:ext>
              </a:extLst>
            </p:cNvPr>
            <p:cNvSpPr txBox="1"/>
            <p:nvPr/>
          </p:nvSpPr>
          <p:spPr>
            <a:xfrm>
              <a:off x="3681374" y="4262018"/>
              <a:ext cx="200162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프로모션 효과 (Lift)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30" name="Text 25">
              <a:extLst>
                <a:ext uri="{FF2B5EF4-FFF2-40B4-BE49-F238E27FC236}">
                  <a16:creationId xmlns:a16="http://schemas.microsoft.com/office/drawing/2014/main" id="{46B4EC68-898C-DDA5-4B51-9872A2749BAA}"/>
                </a:ext>
              </a:extLst>
            </p:cNvPr>
            <p:cNvSpPr txBox="1"/>
            <p:nvPr/>
          </p:nvSpPr>
          <p:spPr>
            <a:xfrm>
              <a:off x="3681374" y="4533595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휴일/계절성/유가 분석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C180D01E-20DC-407A-351D-6191BC210554}"/>
                </a:ext>
              </a:extLst>
            </p:cNvPr>
            <p:cNvSpPr txBox="1"/>
            <p:nvPr/>
          </p:nvSpPr>
          <p:spPr>
            <a:xfrm>
              <a:off x="3681374" y="4805172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성장 기여도 분해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pic>
        <p:nvPicPr>
          <p:cNvPr id="32" name="Image 6" descr="preencoded.png">
            <a:extLst>
              <a:ext uri="{FF2B5EF4-FFF2-40B4-BE49-F238E27FC236}">
                <a16:creationId xmlns:a16="http://schemas.microsoft.com/office/drawing/2014/main" id="{BEB8DB0B-997F-DE6F-AACA-64A4B9BA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6436480" y="2169154"/>
            <a:ext cx="2318918" cy="2924251"/>
          </a:xfrm>
          <a:prstGeom prst="rect">
            <a:avLst/>
          </a:prstGeom>
        </p:spPr>
      </p:pic>
      <p:sp>
        <p:nvSpPr>
          <p:cNvPr id="34" name="Shape 28">
            <a:extLst>
              <a:ext uri="{FF2B5EF4-FFF2-40B4-BE49-F238E27FC236}">
                <a16:creationId xmlns:a16="http://schemas.microsoft.com/office/drawing/2014/main" id="{0A5BBEB6-37A5-FB23-21B9-734560731E2A}"/>
              </a:ext>
            </a:extLst>
          </p:cNvPr>
          <p:cNvSpPr/>
          <p:nvPr/>
        </p:nvSpPr>
        <p:spPr>
          <a:xfrm>
            <a:off x="6635819" y="2407813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C03F0ACE-5349-4BEE-F003-0A316B58A7D0}"/>
              </a:ext>
            </a:extLst>
          </p:cNvPr>
          <p:cNvSpPr/>
          <p:nvPr/>
        </p:nvSpPr>
        <p:spPr>
          <a:xfrm>
            <a:off x="6598329" y="2407813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3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3F04C86-21CA-3B5F-7D3B-473D98A55E10}"/>
              </a:ext>
            </a:extLst>
          </p:cNvPr>
          <p:cNvSpPr txBox="1"/>
          <p:nvPr/>
        </p:nvSpPr>
        <p:spPr>
          <a:xfrm>
            <a:off x="7036326" y="2431587"/>
            <a:ext cx="17757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세그먼트</a:t>
            </a:r>
            <a:r>
              <a:rPr lang="en-US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심화</a:t>
            </a:r>
            <a:endParaRPr lang="en-US" b="1" dirty="0">
              <a:solidFill>
                <a:srgbClr val="1E293B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5E1E4654-D281-07F8-E28E-562C96F2ED40}"/>
              </a:ext>
            </a:extLst>
          </p:cNvPr>
          <p:cNvSpPr/>
          <p:nvPr/>
        </p:nvSpPr>
        <p:spPr>
          <a:xfrm>
            <a:off x="6635819" y="2998515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1770DB7C-7CC1-6C80-48F9-D19F3E04163F}"/>
              </a:ext>
            </a:extLst>
          </p:cNvPr>
          <p:cNvSpPr txBox="1"/>
          <p:nvPr/>
        </p:nvSpPr>
        <p:spPr>
          <a:xfrm>
            <a:off x="6788066" y="3227115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"어디서 떨어졌나?"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B043D04-C505-4254-65C4-47589631063E}"/>
              </a:ext>
            </a:extLst>
          </p:cNvPr>
          <p:cNvGrpSpPr/>
          <p:nvPr/>
        </p:nvGrpSpPr>
        <p:grpSpPr>
          <a:xfrm>
            <a:off x="6635819" y="3840677"/>
            <a:ext cx="2078431" cy="762610"/>
            <a:chOff x="6590995" y="4262018"/>
            <a:chExt cx="2078431" cy="762610"/>
          </a:xfrm>
        </p:grpSpPr>
        <p:sp>
          <p:nvSpPr>
            <p:cNvPr id="41" name="Text 35">
              <a:extLst>
                <a:ext uri="{FF2B5EF4-FFF2-40B4-BE49-F238E27FC236}">
                  <a16:creationId xmlns:a16="http://schemas.microsoft.com/office/drawing/2014/main" id="{E6626960-8B7A-A024-FF23-9D8423DD03B9}"/>
                </a:ext>
              </a:extLst>
            </p:cNvPr>
            <p:cNvSpPr txBox="1"/>
            <p:nvPr/>
          </p:nvSpPr>
          <p:spPr>
            <a:xfrm>
              <a:off x="6590995" y="4262018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매장 클러스터/타입 분석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42" name="Text 36">
              <a:extLst>
                <a:ext uri="{FF2B5EF4-FFF2-40B4-BE49-F238E27FC236}">
                  <a16:creationId xmlns:a16="http://schemas.microsoft.com/office/drawing/2014/main" id="{D3E02744-5FA9-94CD-3ACA-778D2C5A3B39}"/>
                </a:ext>
              </a:extLst>
            </p:cNvPr>
            <p:cNvSpPr txBox="1"/>
            <p:nvPr/>
          </p:nvSpPr>
          <p:spPr>
            <a:xfrm>
              <a:off x="6590995" y="4533595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거래건수 vs 객단가 분해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C5432C69-C16B-3DC8-7100-24E8DCA949A0}"/>
                </a:ext>
              </a:extLst>
            </p:cNvPr>
            <p:cNvSpPr txBox="1"/>
            <p:nvPr/>
          </p:nvSpPr>
          <p:spPr>
            <a:xfrm>
              <a:off x="6590995" y="4805172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4분면 포지셔닝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pic>
        <p:nvPicPr>
          <p:cNvPr id="44" name="Image 7" descr="preencoded.png">
            <a:extLst>
              <a:ext uri="{FF2B5EF4-FFF2-40B4-BE49-F238E27FC236}">
                <a16:creationId xmlns:a16="http://schemas.microsoft.com/office/drawing/2014/main" id="{F6B9ECB2-D762-3B9F-1EF8-8ACCF6C73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9346101" y="2169154"/>
            <a:ext cx="2318918" cy="2924251"/>
          </a:xfrm>
          <a:prstGeom prst="rect">
            <a:avLst/>
          </a:prstGeom>
        </p:spPr>
      </p:pic>
      <p:sp>
        <p:nvSpPr>
          <p:cNvPr id="46" name="Shape 39">
            <a:extLst>
              <a:ext uri="{FF2B5EF4-FFF2-40B4-BE49-F238E27FC236}">
                <a16:creationId xmlns:a16="http://schemas.microsoft.com/office/drawing/2014/main" id="{A306BC90-3C28-2217-B284-52A2983206CE}"/>
              </a:ext>
            </a:extLst>
          </p:cNvPr>
          <p:cNvSpPr/>
          <p:nvPr/>
        </p:nvSpPr>
        <p:spPr>
          <a:xfrm>
            <a:off x="9546354" y="2407813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7" name="Text 40">
            <a:extLst>
              <a:ext uri="{FF2B5EF4-FFF2-40B4-BE49-F238E27FC236}">
                <a16:creationId xmlns:a16="http://schemas.microsoft.com/office/drawing/2014/main" id="{4C29CC76-BAF0-DFD3-0CE0-CBA0A38A5092}"/>
              </a:ext>
            </a:extLst>
          </p:cNvPr>
          <p:cNvSpPr/>
          <p:nvPr/>
        </p:nvSpPr>
        <p:spPr>
          <a:xfrm>
            <a:off x="9507950" y="2407813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2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4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71ADD508-DD56-7E64-B150-CFE66782B081}"/>
              </a:ext>
            </a:extLst>
          </p:cNvPr>
          <p:cNvSpPr txBox="1"/>
          <p:nvPr/>
        </p:nvSpPr>
        <p:spPr>
          <a:xfrm>
            <a:off x="9945947" y="2431587"/>
            <a:ext cx="16788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액션</a:t>
            </a:r>
            <a:r>
              <a:rPr lang="en-US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플랜</a:t>
            </a:r>
            <a:endParaRPr lang="en-US" b="1" dirty="0">
              <a:solidFill>
                <a:srgbClr val="1E293B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DDD13DD3-C695-2378-324E-DB643046E92B}"/>
              </a:ext>
            </a:extLst>
          </p:cNvPr>
          <p:cNvSpPr/>
          <p:nvPr/>
        </p:nvSpPr>
        <p:spPr>
          <a:xfrm>
            <a:off x="9546354" y="2998515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1" name="Text 44">
            <a:extLst>
              <a:ext uri="{FF2B5EF4-FFF2-40B4-BE49-F238E27FC236}">
                <a16:creationId xmlns:a16="http://schemas.microsoft.com/office/drawing/2014/main" id="{73A5D60D-520E-ABE0-0612-5A8F8809E192}"/>
              </a:ext>
            </a:extLst>
          </p:cNvPr>
          <p:cNvSpPr txBox="1"/>
          <p:nvPr/>
        </p:nvSpPr>
        <p:spPr>
          <a:xfrm>
            <a:off x="9613410" y="3285870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"어떻게 회복할 것인가?"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D2668C6-178B-4658-F1C1-1B2EF6CC8F33}"/>
              </a:ext>
            </a:extLst>
          </p:cNvPr>
          <p:cNvGrpSpPr/>
          <p:nvPr/>
        </p:nvGrpSpPr>
        <p:grpSpPr>
          <a:xfrm>
            <a:off x="9546354" y="3840677"/>
            <a:ext cx="2078431" cy="762610"/>
            <a:chOff x="9501530" y="4262018"/>
            <a:chExt cx="2078431" cy="762610"/>
          </a:xfrm>
        </p:grpSpPr>
        <p:sp>
          <p:nvSpPr>
            <p:cNvPr id="53" name="Text 46">
              <a:extLst>
                <a:ext uri="{FF2B5EF4-FFF2-40B4-BE49-F238E27FC236}">
                  <a16:creationId xmlns:a16="http://schemas.microsoft.com/office/drawing/2014/main" id="{3293AC58-90AD-FE74-F5AF-442BA8ACA5B9}"/>
                </a:ext>
              </a:extLst>
            </p:cNvPr>
            <p:cNvSpPr txBox="1"/>
            <p:nvPr/>
          </p:nvSpPr>
          <p:spPr>
            <a:xfrm>
              <a:off x="9501530" y="4262018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데이터 기반 전략 권고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54" name="Text 47">
              <a:extLst>
                <a:ext uri="{FF2B5EF4-FFF2-40B4-BE49-F238E27FC236}">
                  <a16:creationId xmlns:a16="http://schemas.microsoft.com/office/drawing/2014/main" id="{BB206B8B-7AA1-8C39-F1CD-7F320BEC62E1}"/>
                </a:ext>
              </a:extLst>
            </p:cNvPr>
            <p:cNvSpPr txBox="1"/>
            <p:nvPr/>
          </p:nvSpPr>
          <p:spPr>
            <a:xfrm>
              <a:off x="9501530" y="4533595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타겟 세그먼트 선정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sp>
          <p:nvSpPr>
            <p:cNvPr id="55" name="Text 48">
              <a:extLst>
                <a:ext uri="{FF2B5EF4-FFF2-40B4-BE49-F238E27FC236}">
                  <a16:creationId xmlns:a16="http://schemas.microsoft.com/office/drawing/2014/main" id="{31011D31-C46D-9DE3-F7A9-9DF7A0008EE4}"/>
                </a:ext>
              </a:extLst>
            </p:cNvPr>
            <p:cNvSpPr txBox="1"/>
            <p:nvPr/>
          </p:nvSpPr>
          <p:spPr>
            <a:xfrm>
              <a:off x="9501530" y="4805172"/>
              <a:ext cx="207843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475569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Noto Sans KR" pitchFamily="34" charset="-120"/>
                </a:rPr>
                <a:t>예상 효과 시뮬레이션</a:t>
              </a:r>
              <a:endParaRPr lang="en-US" sz="1100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338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49D607D2-90C1-F76A-F870-B24737ACB4A5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837C341-7751-E208-4FEE-CB46FD0F067F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프레임워크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핵심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포인트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C669ABB-B61E-C484-D3DE-AF1D72F90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" r="-2"/>
          <a:stretch/>
        </p:blipFill>
        <p:spPr>
          <a:xfrm>
            <a:off x="938389" y="1404249"/>
            <a:ext cx="5000854" cy="4914900"/>
          </a:xfrm>
          <a:prstGeom prst="rect">
            <a:avLst/>
          </a:prstGeom>
        </p:spPr>
      </p:pic>
      <p:sp>
        <p:nvSpPr>
          <p:cNvPr id="8" name="Text 9">
            <a:extLst>
              <a:ext uri="{FF2B5EF4-FFF2-40B4-BE49-F238E27FC236}">
                <a16:creationId xmlns:a16="http://schemas.microsoft.com/office/drawing/2014/main" id="{E569DC96-1690-0CD8-9EE3-542B33E24544}"/>
              </a:ext>
            </a:extLst>
          </p:cNvPr>
          <p:cNvSpPr txBox="1"/>
          <p:nvPr/>
        </p:nvSpPr>
        <p:spPr>
          <a:xfrm>
            <a:off x="1144128" y="1632366"/>
            <a:ext cx="4589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marL="285750" indent="-285750">
              <a:buFont typeface="Wingdings" pitchFamily="2" charset="2"/>
              <a:buChar char="§"/>
              <a:defRPr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분해(Decomposition)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</a:t>
            </a:r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핵심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8EB6E83-6ECE-9D31-8C5D-DBB99094ACFF}"/>
              </a:ext>
            </a:extLst>
          </p:cNvPr>
          <p:cNvSpPr txBox="1"/>
          <p:nvPr/>
        </p:nvSpPr>
        <p:spPr>
          <a:xfrm>
            <a:off x="938389" y="3429000"/>
            <a:ext cx="5000854" cy="2499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데이터를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500" b="1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시계열, 상품 카테고리, 지역, 고객 세그먼트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등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다양한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차원으로 쪼개어(Drill-down) 구체적인 변화의 근원을 찾아야 합니다. 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2A3106D3-6C01-0492-0260-C871BF4AC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" r="-2"/>
          <a:stretch/>
        </p:blipFill>
        <p:spPr>
          <a:xfrm>
            <a:off x="6414731" y="1404249"/>
            <a:ext cx="5000854" cy="4914900"/>
          </a:xfrm>
          <a:prstGeom prst="rect">
            <a:avLst/>
          </a:prstGeom>
        </p:spPr>
      </p:pic>
      <p:sp>
        <p:nvSpPr>
          <p:cNvPr id="14" name="Text 13">
            <a:extLst>
              <a:ext uri="{FF2B5EF4-FFF2-40B4-BE49-F238E27FC236}">
                <a16:creationId xmlns:a16="http://schemas.microsoft.com/office/drawing/2014/main" id="{F9A5E879-0095-33A5-37EF-FF0BAA1BF841}"/>
              </a:ext>
            </a:extLst>
          </p:cNvPr>
          <p:cNvSpPr txBox="1"/>
          <p:nvPr/>
        </p:nvSpPr>
        <p:spPr>
          <a:xfrm>
            <a:off x="6637721" y="1633156"/>
            <a:ext cx="4410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marL="285750" indent="-285750">
              <a:buFont typeface="Wingdings" pitchFamily="2" charset="2"/>
              <a:buChar char="§"/>
              <a:defRPr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현상 vs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원인</a:t>
            </a:r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구분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CCDDE1D-24BB-4936-A640-86A76526CB49}"/>
              </a:ext>
            </a:extLst>
          </p:cNvPr>
          <p:cNvSpPr txBox="1"/>
          <p:nvPr/>
        </p:nvSpPr>
        <p:spPr>
          <a:xfrm>
            <a:off x="6414732" y="3489996"/>
            <a:ext cx="5000854" cy="225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188913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진짜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lang="en-US" sz="1500" b="1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원인(Root Cause)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은 무엇입니까? </a:t>
            </a:r>
          </a:p>
          <a:p>
            <a:pPr marL="285750" indent="-188913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거래건수의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감소입니까, 객단가의 하락입니까, </a:t>
            </a:r>
          </a:p>
          <a:p>
            <a:pPr marL="285750" indent="-188913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아니면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특정 고수익 상품군의 이탈입니까? </a:t>
            </a:r>
          </a:p>
          <a:p>
            <a:pPr marL="285750" indent="-188913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원인을</a:t>
            </a:r>
            <a:r>
              <a:rPr lang="en-US" sz="15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좁혀야 해결책이 나옵니다. 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4A0A69-0A62-1664-8A7E-444977449D87}"/>
              </a:ext>
            </a:extLst>
          </p:cNvPr>
          <p:cNvSpPr txBox="1"/>
          <p:nvPr/>
        </p:nvSpPr>
        <p:spPr>
          <a:xfrm>
            <a:off x="938388" y="2594915"/>
            <a:ext cx="5000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전체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숫자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(Total Number)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만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보면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원인을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놓치기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쉽습니다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평균은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데이터의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변동성을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감춥니다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14862B-2FDF-E750-3163-9BAFD55E42F1}"/>
              </a:ext>
            </a:extLst>
          </p:cNvPr>
          <p:cNvSpPr txBox="1"/>
          <p:nvPr/>
        </p:nvSpPr>
        <p:spPr>
          <a:xfrm>
            <a:off x="6414731" y="2556816"/>
            <a:ext cx="50008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"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매출이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떨어졌다"는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것은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눈에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보이는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현상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47737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4917FA0-2DEF-93B6-0596-B7F1E9AF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" r="-7"/>
          <a:stretch/>
        </p:blipFill>
        <p:spPr>
          <a:xfrm>
            <a:off x="1333347" y="1238098"/>
            <a:ext cx="9525305" cy="1352397"/>
          </a:xfrm>
          <a:prstGeom prst="rect">
            <a:avLst/>
          </a:prstGeom>
        </p:spPr>
      </p:pic>
      <p:sp>
        <p:nvSpPr>
          <p:cNvPr id="5" name="Text 7">
            <a:extLst>
              <a:ext uri="{FF2B5EF4-FFF2-40B4-BE49-F238E27FC236}">
                <a16:creationId xmlns:a16="http://schemas.microsoft.com/office/drawing/2014/main" id="{CD61C1AD-BCC5-AA30-E569-A65739010EB9}"/>
              </a:ext>
            </a:extLst>
          </p:cNvPr>
          <p:cNvSpPr txBox="1"/>
          <p:nvPr/>
        </p:nvSpPr>
        <p:spPr>
          <a:xfrm>
            <a:off x="1876349" y="1658399"/>
            <a:ext cx="2026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itchFamily="34" charset="-120"/>
              </a:rPr>
              <a:t>Lift(%) =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1E8B572E-27F1-7950-A4AD-C9DB20670A39}"/>
              </a:ext>
            </a:extLst>
          </p:cNvPr>
          <p:cNvSpPr/>
          <p:nvPr/>
        </p:nvSpPr>
        <p:spPr>
          <a:xfrm>
            <a:off x="3875227" y="1901629"/>
            <a:ext cx="50099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9E88B3C9-C326-548E-6E29-2E59D07B1C72}"/>
              </a:ext>
            </a:extLst>
          </p:cNvPr>
          <p:cNvSpPr txBox="1"/>
          <p:nvPr/>
        </p:nvSpPr>
        <p:spPr>
          <a:xfrm>
            <a:off x="3500323" y="1406024"/>
            <a:ext cx="289407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itchFamily="34" charset="-120"/>
              </a:rPr>
              <a:t>프로모션 매출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3A683177-CCCC-FA56-6879-3B359B1878A2}"/>
              </a:ext>
            </a:extLst>
          </p:cNvPr>
          <p:cNvSpPr txBox="1"/>
          <p:nvPr/>
        </p:nvSpPr>
        <p:spPr>
          <a:xfrm>
            <a:off x="6113678" y="1406024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itchFamily="34" charset="-120"/>
              </a:rPr>
              <a:t>-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4938492B-EF92-C99B-E14B-F9FA2B870064}"/>
              </a:ext>
            </a:extLst>
          </p:cNvPr>
          <p:cNvSpPr txBox="1"/>
          <p:nvPr/>
        </p:nvSpPr>
        <p:spPr>
          <a:xfrm>
            <a:off x="5973775" y="1406024"/>
            <a:ext cx="33384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itchFamily="34" charset="-120"/>
              </a:rPr>
              <a:t>비프로모션 매출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A81001FF-DE73-7CCD-AE15-FF0E3EE10525}"/>
              </a:ext>
            </a:extLst>
          </p:cNvPr>
          <p:cNvSpPr txBox="1"/>
          <p:nvPr/>
        </p:nvSpPr>
        <p:spPr>
          <a:xfrm>
            <a:off x="4710989" y="1977524"/>
            <a:ext cx="333847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itchFamily="34" charset="-120"/>
              </a:rPr>
              <a:t>비프로모션 매출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B4C7891E-61D5-8C9C-3F1C-EF7FC48803A6}"/>
              </a:ext>
            </a:extLst>
          </p:cNvPr>
          <p:cNvSpPr txBox="1"/>
          <p:nvPr/>
        </p:nvSpPr>
        <p:spPr>
          <a:xfrm>
            <a:off x="9007754" y="1658399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Times New Roman" pitchFamily="34" charset="-120"/>
              </a:rPr>
              <a:t>× 100</a:t>
            </a:r>
            <a:endParaRPr 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92E17608-B9D0-570D-968D-237A7E79ECC2}"/>
              </a:ext>
            </a:extLst>
          </p:cNvPr>
          <p:cNvSpPr/>
          <p:nvPr/>
        </p:nvSpPr>
        <p:spPr>
          <a:xfrm>
            <a:off x="1078534" y="2842870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BBAF12AD-2D7A-2026-DD5F-AD9BBF81D833}"/>
              </a:ext>
            </a:extLst>
          </p:cNvPr>
          <p:cNvSpPr txBox="1"/>
          <p:nvPr/>
        </p:nvSpPr>
        <p:spPr>
          <a:xfrm>
            <a:off x="1468069" y="2999834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리프트 지수의 해석 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EC919EC9-35C8-814A-3D6F-8F19BB3E8631}"/>
              </a:ext>
            </a:extLst>
          </p:cNvPr>
          <p:cNvSpPr txBox="1"/>
          <p:nvPr/>
        </p:nvSpPr>
        <p:spPr>
          <a:xfrm>
            <a:off x="1525308" y="362011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+50%의 의미: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프로모션을 진행했을 때 평소보다 매출이 1.5배 높았다는 뜻입니다.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E59A1F1-8A9B-ED6A-BB48-47B3F516A9FD}"/>
              </a:ext>
            </a:extLst>
          </p:cNvPr>
          <p:cNvSpPr txBox="1"/>
          <p:nvPr/>
        </p:nvSpPr>
        <p:spPr>
          <a:xfrm>
            <a:off x="1525308" y="4247979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민감도 파악: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카테고리별로 리프트를 비교하면, 할인에 민감한 상품군(탄력적)을 식별할 수 있습니다.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0A4BBD69-54D3-E26C-A0CF-7E4E6782D041}"/>
              </a:ext>
            </a:extLst>
          </p:cNvPr>
          <p:cNvSpPr/>
          <p:nvPr/>
        </p:nvSpPr>
        <p:spPr>
          <a:xfrm>
            <a:off x="1348739" y="5038801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1FD350A4-6714-EE3B-18CE-85AA91EEE184}"/>
              </a:ext>
            </a:extLst>
          </p:cNvPr>
          <p:cNvSpPr/>
          <p:nvPr/>
        </p:nvSpPr>
        <p:spPr>
          <a:xfrm>
            <a:off x="1501444" y="5438393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22D77929-C609-63D3-BD41-1738BCD7A604}"/>
              </a:ext>
            </a:extLst>
          </p:cNvPr>
          <p:cNvSpPr txBox="1"/>
          <p:nvPr/>
        </p:nvSpPr>
        <p:spPr>
          <a:xfrm>
            <a:off x="1501444" y="5190591"/>
            <a:ext cx="571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카테고리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5D2C6813-5489-795D-EE16-D0833CFCF8C2}"/>
              </a:ext>
            </a:extLst>
          </p:cNvPr>
          <p:cNvSpPr txBox="1"/>
          <p:nvPr/>
        </p:nvSpPr>
        <p:spPr>
          <a:xfrm>
            <a:off x="3498493" y="5190591"/>
            <a:ext cx="5440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Lift(%)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40C64831-D0FB-8926-83D9-DEDCE68A8DB0}"/>
              </a:ext>
            </a:extLst>
          </p:cNvPr>
          <p:cNvSpPr txBox="1"/>
          <p:nvPr/>
        </p:nvSpPr>
        <p:spPr>
          <a:xfrm>
            <a:off x="5456224" y="5190591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해석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59CD938D-D6EA-4F92-0BF4-C41FC6CC408B}"/>
              </a:ext>
            </a:extLst>
          </p:cNvPr>
          <p:cNvSpPr/>
          <p:nvPr/>
        </p:nvSpPr>
        <p:spPr>
          <a:xfrm>
            <a:off x="1501444" y="5743803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478969DF-7140-5E6F-CF9D-ED8AF3ADE57C}"/>
              </a:ext>
            </a:extLst>
          </p:cNvPr>
          <p:cNvSpPr txBox="1"/>
          <p:nvPr/>
        </p:nvSpPr>
        <p:spPr>
          <a:xfrm>
            <a:off x="1501444" y="5496001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식료품(Grocery)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BAB098F1-AA46-914B-2592-4477D7E9C98B}"/>
              </a:ext>
            </a:extLst>
          </p:cNvPr>
          <p:cNvSpPr txBox="1"/>
          <p:nvPr/>
        </p:nvSpPr>
        <p:spPr>
          <a:xfrm>
            <a:off x="3480681" y="551474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+15%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992C0D9D-A480-7159-E712-D44A878C14AC}"/>
              </a:ext>
            </a:extLst>
          </p:cNvPr>
          <p:cNvSpPr txBox="1"/>
          <p:nvPr/>
        </p:nvSpPr>
        <p:spPr>
          <a:xfrm>
            <a:off x="4715560" y="5496001"/>
            <a:ext cx="12161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비탄력적 (필수재)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52BDCC2B-CAB9-40BE-AED7-5FC77BB02EB7}"/>
              </a:ext>
            </a:extLst>
          </p:cNvPr>
          <p:cNvSpPr txBox="1"/>
          <p:nvPr/>
        </p:nvSpPr>
        <p:spPr>
          <a:xfrm>
            <a:off x="1501444" y="5800496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전자제품(Electronics)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5FFC6280-93C9-3128-9EAB-1A39BCBD0572}"/>
              </a:ext>
            </a:extLst>
          </p:cNvPr>
          <p:cNvSpPr txBox="1"/>
          <p:nvPr/>
        </p:nvSpPr>
        <p:spPr>
          <a:xfrm>
            <a:off x="3442734" y="5791218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+120%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0B954893-19B1-4425-AEF8-45AD8F824B73}"/>
              </a:ext>
            </a:extLst>
          </p:cNvPr>
          <p:cNvSpPr txBox="1"/>
          <p:nvPr/>
        </p:nvSpPr>
        <p:spPr>
          <a:xfrm>
            <a:off x="4235500" y="5800496"/>
            <a:ext cx="18781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매우 탄력적 (할인 효과 큼)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508F9E13-D28E-627A-2158-743296954CA1}"/>
              </a:ext>
            </a:extLst>
          </p:cNvPr>
          <p:cNvSpPr/>
          <p:nvPr/>
        </p:nvSpPr>
        <p:spPr>
          <a:xfrm>
            <a:off x="6459778" y="2842870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5DD799FB-3E26-2455-E993-026DE0ABD228}"/>
              </a:ext>
            </a:extLst>
          </p:cNvPr>
          <p:cNvSpPr txBox="1"/>
          <p:nvPr/>
        </p:nvSpPr>
        <p:spPr>
          <a:xfrm>
            <a:off x="6746603" y="2999834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1500" b="1"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상관관계 vs 인과관계의 </a:t>
            </a:r>
            <a:r>
              <a:rPr 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함정</a:t>
            </a:r>
            <a:r>
              <a:rPr 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7B5B92FC-05B5-C1FB-AE80-AF79A5947F12}"/>
              </a:ext>
            </a:extLst>
          </p:cNvPr>
          <p:cNvSpPr txBox="1"/>
          <p:nvPr/>
        </p:nvSpPr>
        <p:spPr>
          <a:xfrm>
            <a:off x="6746603" y="3598138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타깃팅 바이어스(Bias):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"원래 잘 팔리는 인기 상품"에 프로모션을 거는 경향이 있어 효과가 과장될 수 있습니다.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13ECD0E-8BA0-9F44-524C-035C6EC80EE2}"/>
              </a:ext>
            </a:extLst>
          </p:cNvPr>
          <p:cNvSpPr txBox="1"/>
          <p:nvPr/>
        </p:nvSpPr>
        <p:spPr>
          <a:xfrm>
            <a:off x="6780685" y="4613741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교란 변수: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크리스마스 같은 성수기에 프로모션을 하면, 매출 증가는 '시즌 효과'인지 '할인 효과'인지 구분하기 어렵습니다.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6108488C-B656-E6E6-01FE-506CAC7AE1A8}"/>
              </a:ext>
            </a:extLst>
          </p:cNvPr>
          <p:cNvSpPr txBox="1"/>
          <p:nvPr/>
        </p:nvSpPr>
        <p:spPr>
          <a:xfrm>
            <a:off x="6746603" y="5629344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해결책: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정확한 인과관계 파악을 위해서는 프로모션을 하지 않은 유사 매장/기간과 비교(A/B 테스트)해야 합니다.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4" name="Shape 1">
            <a:extLst>
              <a:ext uri="{FF2B5EF4-FFF2-40B4-BE49-F238E27FC236}">
                <a16:creationId xmlns:a16="http://schemas.microsoft.com/office/drawing/2014/main" id="{7EC50CBC-DEB5-D68A-3A9E-A61BAF2DD697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B2C1CDAA-40D3-2057-7215-01DD1FFC263B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프로모션 리프트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(Lift)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1221197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CE46A34C-6435-37D2-5211-419E9F2C6C14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A8222A9-E9B4-3AFE-B64F-22161CB548F3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교란 변수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휴일 </a:t>
            </a:r>
            <a:r>
              <a:rPr lang="en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vs 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프로모션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4B37CE5B-489B-F69B-8A47-682C1BEA0C49}"/>
              </a:ext>
            </a:extLst>
          </p:cNvPr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9C0FC020-04DC-6267-1246-85DC1D1BF66B}"/>
              </a:ext>
            </a:extLst>
          </p:cNvPr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4B62BC3C-B92A-912C-BB94-339161672107}"/>
              </a:ext>
            </a:extLst>
          </p:cNvPr>
          <p:cNvSpPr txBox="1"/>
          <p:nvPr/>
        </p:nvSpPr>
        <p:spPr>
          <a:xfrm>
            <a:off x="976122" y="1971446"/>
            <a:ext cx="32324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관찰된 현상 (Phenomenon)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09CCB417-E29D-520A-8524-43D006FE6E4E}"/>
              </a:ext>
            </a:extLst>
          </p:cNvPr>
          <p:cNvSpPr/>
          <p:nvPr/>
        </p:nvSpPr>
        <p:spPr>
          <a:xfrm>
            <a:off x="976122" y="2352751"/>
            <a:ext cx="923544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D7E079D9-0FE2-29CD-F4C1-3BA32AC67C49}"/>
              </a:ext>
            </a:extLst>
          </p:cNvPr>
          <p:cNvSpPr txBox="1"/>
          <p:nvPr/>
        </p:nvSpPr>
        <p:spPr>
          <a:xfrm>
            <a:off x="976122" y="2352751"/>
            <a:ext cx="9811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가설: 휴일 효과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5FDC47F6-B52F-AB4E-A1BF-47E04A92F62F}"/>
              </a:ext>
            </a:extLst>
          </p:cNvPr>
          <p:cNvSpPr txBox="1"/>
          <p:nvPr/>
        </p:nvSpPr>
        <p:spPr>
          <a:xfrm>
            <a:off x="981151" y="2952598"/>
            <a:ext cx="4193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휴일(Holiday) 기간에 매출이 평소보다 높게 나타남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07C7D0EA-D089-1F37-1ABE-C648C3BB781E}"/>
              </a:ext>
            </a:extLst>
          </p:cNvPr>
          <p:cNvSpPr txBox="1"/>
          <p:nvPr/>
        </p:nvSpPr>
        <p:spPr>
          <a:xfrm>
            <a:off x="981151" y="3338474"/>
            <a:ext cx="36694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"쉬는 날이라 고객이 많다"고 직관적으로 해석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C8807443-B86C-46C6-0FDE-AF8B0FEC8956}"/>
              </a:ext>
            </a:extLst>
          </p:cNvPr>
          <p:cNvSpPr txBox="1"/>
          <p:nvPr/>
        </p:nvSpPr>
        <p:spPr>
          <a:xfrm>
            <a:off x="981151" y="3724351"/>
            <a:ext cx="38825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하지만 휴일에는 </a:t>
            </a: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대규모 프로모션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도 함께 진행됨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5F1F9853-BE2D-47DA-8DC0-096C9355619D}"/>
              </a:ext>
            </a:extLst>
          </p:cNvPr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89F7A796-6777-B852-F7BE-982E29D14CD1}"/>
              </a:ext>
            </a:extLst>
          </p:cNvPr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일반적 해석 오류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0" name="Image 5" descr="preencoded.png">
            <a:extLst>
              <a:ext uri="{FF2B5EF4-FFF2-40B4-BE49-F238E27FC236}">
                <a16:creationId xmlns:a16="http://schemas.microsoft.com/office/drawing/2014/main" id="{C8229011-D737-5311-02BE-6E56EF7D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9" r="-99"/>
          <a:stretch/>
        </p:blipFill>
        <p:spPr>
          <a:xfrm>
            <a:off x="2297887" y="4848149"/>
            <a:ext cx="666598" cy="333756"/>
          </a:xfrm>
          <a:prstGeom prst="rect">
            <a:avLst/>
          </a:prstGeom>
        </p:spPr>
      </p:pic>
      <p:sp>
        <p:nvSpPr>
          <p:cNvPr id="21" name="Text 22">
            <a:extLst>
              <a:ext uri="{FF2B5EF4-FFF2-40B4-BE49-F238E27FC236}">
                <a16:creationId xmlns:a16="http://schemas.microsoft.com/office/drawing/2014/main" id="{A7391B49-216E-D525-9B79-C62CDB2A2477}"/>
              </a:ext>
            </a:extLst>
          </p:cNvPr>
          <p:cNvSpPr txBox="1"/>
          <p:nvPr/>
        </p:nvSpPr>
        <p:spPr>
          <a:xfrm>
            <a:off x="2593238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휴일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2" name="Image 6" descr="preencoded.png">
            <a:extLst>
              <a:ext uri="{FF2B5EF4-FFF2-40B4-BE49-F238E27FC236}">
                <a16:creationId xmlns:a16="http://schemas.microsoft.com/office/drawing/2014/main" id="{64E256BA-D65C-00CF-679F-34ED00C01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2421331" y="4947818"/>
            <a:ext cx="114300" cy="133502"/>
          </a:xfrm>
          <a:prstGeom prst="rect">
            <a:avLst/>
          </a:prstGeom>
        </p:spPr>
      </p:pic>
      <p:pic>
        <p:nvPicPr>
          <p:cNvPr id="23" name="Image 7" descr="preencoded.png">
            <a:extLst>
              <a:ext uri="{FF2B5EF4-FFF2-40B4-BE49-F238E27FC236}">
                <a16:creationId xmlns:a16="http://schemas.microsoft.com/office/drawing/2014/main" id="{C2249369-60A9-6946-22EB-5F7693F8B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3057754" y="4947818"/>
            <a:ext cx="114300" cy="133502"/>
          </a:xfrm>
          <a:prstGeom prst="rect">
            <a:avLst/>
          </a:prstGeom>
        </p:spPr>
      </p:pic>
      <p:sp>
        <p:nvSpPr>
          <p:cNvPr id="24" name="Text 23">
            <a:extLst>
              <a:ext uri="{FF2B5EF4-FFF2-40B4-BE49-F238E27FC236}">
                <a16:creationId xmlns:a16="http://schemas.microsoft.com/office/drawing/2014/main" id="{77DB739E-B5BF-C7E3-A11D-51E4945E21E7}"/>
              </a:ext>
            </a:extLst>
          </p:cNvPr>
          <p:cNvSpPr txBox="1"/>
          <p:nvPr/>
        </p:nvSpPr>
        <p:spPr>
          <a:xfrm>
            <a:off x="3267151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매출 상승 (오해)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D5954574-8384-4E68-5F46-CA29CFE5B884}"/>
              </a:ext>
            </a:extLst>
          </p:cNvPr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276302D-7439-E64F-CF81-59D22A9B5259}"/>
              </a:ext>
            </a:extLst>
          </p:cNvPr>
          <p:cNvSpPr txBox="1"/>
          <p:nvPr/>
        </p:nvSpPr>
        <p:spPr>
          <a:xfrm>
            <a:off x="6687007" y="1971446"/>
            <a:ext cx="31519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데이터 검증 (Verification)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8CE48B5-F60A-4252-F156-DF0DD13155FC}"/>
              </a:ext>
            </a:extLst>
          </p:cNvPr>
          <p:cNvSpPr/>
          <p:nvPr/>
        </p:nvSpPr>
        <p:spPr>
          <a:xfrm>
            <a:off x="6687007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FEC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9D93E66-4021-A23A-7CEB-834105EFE484}"/>
              </a:ext>
            </a:extLst>
          </p:cNvPr>
          <p:cNvSpPr txBox="1"/>
          <p:nvPr/>
        </p:nvSpPr>
        <p:spPr>
          <a:xfrm>
            <a:off x="6687007" y="2352751"/>
            <a:ext cx="141400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123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진실: 프로모션 효과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CE02CBB4-3320-7FD6-0D7B-DC27931377F4}"/>
              </a:ext>
            </a:extLst>
          </p:cNvPr>
          <p:cNvSpPr txBox="1"/>
          <p:nvPr/>
        </p:nvSpPr>
        <p:spPr>
          <a:xfrm>
            <a:off x="6687007" y="2952598"/>
            <a:ext cx="4642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통제 변수: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프로모션 없는 휴일(OnPromotion=0)만 필터링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591C52FE-0098-41F2-469D-50EFAE3CA05F}"/>
              </a:ext>
            </a:extLst>
          </p:cNvPr>
          <p:cNvSpPr txBox="1"/>
          <p:nvPr/>
        </p:nvSpPr>
        <p:spPr>
          <a:xfrm>
            <a:off x="6687007" y="3338474"/>
            <a:ext cx="49130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분석 결과, 프로모션 없는 휴일 매출은 평일 대비 </a:t>
            </a: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-6.2% 감소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CAFD117B-7F14-00A6-1280-35EF262E9F84}"/>
              </a:ext>
            </a:extLst>
          </p:cNvPr>
          <p:cNvSpPr txBox="1"/>
          <p:nvPr/>
        </p:nvSpPr>
        <p:spPr>
          <a:xfrm>
            <a:off x="6687007" y="3724351"/>
            <a:ext cx="39803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매출 상승의 진짜 원인은 휴일이 아닌 </a:t>
            </a:r>
            <a:r>
              <a:rPr lang="en-US" sz="12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프로모션</a:t>
            </a:r>
            <a:r>
              <a:rPr lang="en-US" sz="1200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임</a:t>
            </a:r>
            <a:endParaRPr lang="en-US" sz="12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937394A7-28D4-3F7B-8E73-3F4D93B07F11}"/>
              </a:ext>
            </a:extLst>
          </p:cNvPr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A422E803-9AE4-E605-1848-96A171F3A9FF}"/>
              </a:ext>
            </a:extLst>
          </p:cNvPr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교란 요인 통제 후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1" name="Image 12" descr="preencoded.png">
            <a:extLst>
              <a:ext uri="{FF2B5EF4-FFF2-40B4-BE49-F238E27FC236}">
                <a16:creationId xmlns:a16="http://schemas.microsoft.com/office/drawing/2014/main" id="{3EACC380-C0FD-799C-CB00-7F6BF20E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9" r="-99"/>
          <a:stretch/>
        </p:blipFill>
        <p:spPr>
          <a:xfrm>
            <a:off x="7543800" y="4848149"/>
            <a:ext cx="666598" cy="333756"/>
          </a:xfrm>
          <a:prstGeom prst="rect">
            <a:avLst/>
          </a:prstGeom>
        </p:spPr>
      </p:pic>
      <p:sp>
        <p:nvSpPr>
          <p:cNvPr id="42" name="Text 36">
            <a:extLst>
              <a:ext uri="{FF2B5EF4-FFF2-40B4-BE49-F238E27FC236}">
                <a16:creationId xmlns:a16="http://schemas.microsoft.com/office/drawing/2014/main" id="{90E3DDC9-F416-1D51-ADBD-EFE401A107CE}"/>
              </a:ext>
            </a:extLst>
          </p:cNvPr>
          <p:cNvSpPr txBox="1"/>
          <p:nvPr/>
        </p:nvSpPr>
        <p:spPr>
          <a:xfrm>
            <a:off x="7839151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휴일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3" name="Image 13" descr="preencoded.png">
            <a:extLst>
              <a:ext uri="{FF2B5EF4-FFF2-40B4-BE49-F238E27FC236}">
                <a16:creationId xmlns:a16="http://schemas.microsoft.com/office/drawing/2014/main" id="{49AED89F-F0C0-CB38-A50F-4FB984830B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667244" y="4947818"/>
            <a:ext cx="114300" cy="133502"/>
          </a:xfrm>
          <a:prstGeom prst="rect">
            <a:avLst/>
          </a:prstGeom>
        </p:spPr>
      </p:pic>
      <p:sp>
        <p:nvSpPr>
          <p:cNvPr id="44" name="Text 37">
            <a:extLst>
              <a:ext uri="{FF2B5EF4-FFF2-40B4-BE49-F238E27FC236}">
                <a16:creationId xmlns:a16="http://schemas.microsoft.com/office/drawing/2014/main" id="{2733D52A-4011-5FCB-CD32-AA5DD766DE9A}"/>
              </a:ext>
            </a:extLst>
          </p:cNvPr>
          <p:cNvSpPr txBox="1"/>
          <p:nvPr/>
        </p:nvSpPr>
        <p:spPr>
          <a:xfrm>
            <a:off x="8303666" y="4848149"/>
            <a:ext cx="905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without Promo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5" name="Image 14" descr="preencoded.png">
            <a:extLst>
              <a:ext uri="{FF2B5EF4-FFF2-40B4-BE49-F238E27FC236}">
                <a16:creationId xmlns:a16="http://schemas.microsoft.com/office/drawing/2014/main" id="{07916D72-3A74-922A-7567-9EEAC52AD5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241841" y="4947818"/>
            <a:ext cx="114300" cy="133502"/>
          </a:xfrm>
          <a:prstGeom prst="rect">
            <a:avLst/>
          </a:prstGeom>
        </p:spPr>
      </p:pic>
      <p:sp>
        <p:nvSpPr>
          <p:cNvPr id="46" name="Text 38">
            <a:extLst>
              <a:ext uri="{FF2B5EF4-FFF2-40B4-BE49-F238E27FC236}">
                <a16:creationId xmlns:a16="http://schemas.microsoft.com/office/drawing/2014/main" id="{5421F101-5AF0-F167-808B-F1F7E773504C}"/>
              </a:ext>
            </a:extLst>
          </p:cNvPr>
          <p:cNvSpPr txBox="1"/>
          <p:nvPr/>
        </p:nvSpPr>
        <p:spPr>
          <a:xfrm>
            <a:off x="9451238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매출 감소 (진실)</a:t>
            </a:r>
            <a:endParaRPr lang="en-US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725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9E787CC-AB2F-781D-DE8B-89FB4AF9537F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7B0E2D4-6ED8-B0CF-1190-4C0BAA582F40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성장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기여도</a:t>
            </a:r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분해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CEAD0353-1345-90CA-643A-A3E2056B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" b="-4"/>
          <a:stretch/>
        </p:blipFill>
        <p:spPr>
          <a:xfrm>
            <a:off x="571500" y="2943454"/>
            <a:ext cx="11048695" cy="3767328"/>
          </a:xfrm>
          <a:prstGeom prst="rect">
            <a:avLst/>
          </a:prstGeom>
        </p:spPr>
      </p:pic>
      <p:sp>
        <p:nvSpPr>
          <p:cNvPr id="13" name="Shape 14">
            <a:extLst>
              <a:ext uri="{FF2B5EF4-FFF2-40B4-BE49-F238E27FC236}">
                <a16:creationId xmlns:a16="http://schemas.microsoft.com/office/drawing/2014/main" id="{23D5A9A6-3DD2-DBFC-7C4A-466790B91D0C}"/>
              </a:ext>
            </a:extLst>
          </p:cNvPr>
          <p:cNvSpPr/>
          <p:nvPr/>
        </p:nvSpPr>
        <p:spPr>
          <a:xfrm>
            <a:off x="580644" y="2952598"/>
            <a:ext cx="2762402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962772B0-D98E-16DC-3DA9-3337477D6C72}"/>
              </a:ext>
            </a:extLst>
          </p:cNvPr>
          <p:cNvSpPr/>
          <p:nvPr/>
        </p:nvSpPr>
        <p:spPr>
          <a:xfrm>
            <a:off x="580644" y="3466490"/>
            <a:ext cx="2762402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71C5DE4A-4BB5-DD2B-42CA-A252E2B6853C}"/>
              </a:ext>
            </a:extLst>
          </p:cNvPr>
          <p:cNvSpPr txBox="1"/>
          <p:nvPr/>
        </p:nvSpPr>
        <p:spPr>
          <a:xfrm>
            <a:off x="774497" y="3050439"/>
            <a:ext cx="283921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카테고리 (Category)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2E0D915B-4919-B08E-4EAA-A2DD77C2388D}"/>
              </a:ext>
            </a:extLst>
          </p:cNvPr>
          <p:cNvSpPr/>
          <p:nvPr/>
        </p:nvSpPr>
        <p:spPr>
          <a:xfrm>
            <a:off x="3338474" y="2952598"/>
            <a:ext cx="1657807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0849E5D3-51BB-DF29-FFAE-B691DD04A03F}"/>
              </a:ext>
            </a:extLst>
          </p:cNvPr>
          <p:cNvSpPr/>
          <p:nvPr/>
        </p:nvSpPr>
        <p:spPr>
          <a:xfrm>
            <a:off x="3338474" y="3466490"/>
            <a:ext cx="1657807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B48487D-6331-EC25-375C-4BD1365C6426}"/>
              </a:ext>
            </a:extLst>
          </p:cNvPr>
          <p:cNvSpPr txBox="1"/>
          <p:nvPr/>
        </p:nvSpPr>
        <p:spPr>
          <a:xfrm>
            <a:off x="4069975" y="3018202"/>
            <a:ext cx="1124731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매출 변화량 ($)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DF109E60-E635-9091-9DAC-5F9432D78BDF}"/>
              </a:ext>
            </a:extLst>
          </p:cNvPr>
          <p:cNvSpPr/>
          <p:nvPr/>
        </p:nvSpPr>
        <p:spPr>
          <a:xfrm>
            <a:off x="4992624" y="3466490"/>
            <a:ext cx="1324051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0CE81EFD-CA7E-E00F-1AE4-104F359B8701}"/>
              </a:ext>
            </a:extLst>
          </p:cNvPr>
          <p:cNvSpPr txBox="1"/>
          <p:nvPr/>
        </p:nvSpPr>
        <p:spPr>
          <a:xfrm>
            <a:off x="5263287" y="3043571"/>
            <a:ext cx="955476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성장률 (%)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896EBA4D-A903-594C-8562-E2CF0527325A}"/>
              </a:ext>
            </a:extLst>
          </p:cNvPr>
          <p:cNvSpPr/>
          <p:nvPr/>
        </p:nvSpPr>
        <p:spPr>
          <a:xfrm>
            <a:off x="6316675" y="2952598"/>
            <a:ext cx="5296205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7A180630-CC0E-9FA5-48B6-78310C710B56}"/>
              </a:ext>
            </a:extLst>
          </p:cNvPr>
          <p:cNvSpPr/>
          <p:nvPr/>
        </p:nvSpPr>
        <p:spPr>
          <a:xfrm>
            <a:off x="6316675" y="3466490"/>
            <a:ext cx="52962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7D460131-04D0-DECB-6997-6D49082E11F4}"/>
              </a:ext>
            </a:extLst>
          </p:cNvPr>
          <p:cNvSpPr txBox="1"/>
          <p:nvPr/>
        </p:nvSpPr>
        <p:spPr>
          <a:xfrm>
            <a:off x="6485769" y="3104387"/>
            <a:ext cx="53721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전체 성장에 대한 기여도 (Contribution)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0D5F99FB-EC0C-C5F1-ADB8-1BFF3F2CB796}"/>
              </a:ext>
            </a:extLst>
          </p:cNvPr>
          <p:cNvSpPr/>
          <p:nvPr/>
        </p:nvSpPr>
        <p:spPr>
          <a:xfrm>
            <a:off x="580644" y="4024274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B667609F-FE02-8A0A-24CD-FDB8CAE7C631}"/>
              </a:ext>
            </a:extLst>
          </p:cNvPr>
          <p:cNvSpPr txBox="1"/>
          <p:nvPr/>
        </p:nvSpPr>
        <p:spPr>
          <a:xfrm>
            <a:off x="1190549" y="3481121"/>
            <a:ext cx="22293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GROCERY I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03D5935D-F029-0B30-0859-479DDF6C04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866851" y="3690518"/>
            <a:ext cx="152705" cy="133502"/>
          </a:xfrm>
          <a:prstGeom prst="rect">
            <a:avLst/>
          </a:prstGeom>
        </p:spPr>
      </p:pic>
      <p:sp>
        <p:nvSpPr>
          <p:cNvPr id="28" name="Shape 28">
            <a:extLst>
              <a:ext uri="{FF2B5EF4-FFF2-40B4-BE49-F238E27FC236}">
                <a16:creationId xmlns:a16="http://schemas.microsoft.com/office/drawing/2014/main" id="{169A02A5-5B77-0761-3BC7-3B22FB39CB16}"/>
              </a:ext>
            </a:extLst>
          </p:cNvPr>
          <p:cNvSpPr/>
          <p:nvPr/>
        </p:nvSpPr>
        <p:spPr>
          <a:xfrm>
            <a:off x="3338474" y="4024274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1803AE0C-F18F-F11D-7A51-201D4DB77522}"/>
              </a:ext>
            </a:extLst>
          </p:cNvPr>
          <p:cNvSpPr txBox="1"/>
          <p:nvPr/>
        </p:nvSpPr>
        <p:spPr>
          <a:xfrm>
            <a:off x="3272638" y="3481121"/>
            <a:ext cx="1723644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+500K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A7B15D06-A75A-63BE-0521-CF511D8ED1BC}"/>
              </a:ext>
            </a:extLst>
          </p:cNvPr>
          <p:cNvSpPr/>
          <p:nvPr/>
        </p:nvSpPr>
        <p:spPr>
          <a:xfrm>
            <a:off x="4992624" y="4024274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4D9D7F35-D263-53BA-64B0-8D96180CDBFC}"/>
              </a:ext>
            </a:extLst>
          </p:cNvPr>
          <p:cNvSpPr txBox="1"/>
          <p:nvPr/>
        </p:nvSpPr>
        <p:spPr>
          <a:xfrm>
            <a:off x="4964278" y="3481121"/>
            <a:ext cx="1381658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+8.5%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CCD0DED6-15C3-7B42-ED4E-92F8C311A75A}"/>
              </a:ext>
            </a:extLst>
          </p:cNvPr>
          <p:cNvSpPr/>
          <p:nvPr/>
        </p:nvSpPr>
        <p:spPr>
          <a:xfrm>
            <a:off x="6316675" y="4024274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060FEAB9-79A1-7C0D-91EB-D39BE19400B5}"/>
              </a:ext>
            </a:extLst>
          </p:cNvPr>
          <p:cNvSpPr/>
          <p:nvPr/>
        </p:nvSpPr>
        <p:spPr>
          <a:xfrm>
            <a:off x="580644" y="4562856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3EDE0074-888D-0C85-47BD-ED3270AB9127}"/>
              </a:ext>
            </a:extLst>
          </p:cNvPr>
          <p:cNvSpPr txBox="1"/>
          <p:nvPr/>
        </p:nvSpPr>
        <p:spPr>
          <a:xfrm>
            <a:off x="1229868" y="4028846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BEVERAGES 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944B75FA-8B1A-F7D8-F368-2E71B02333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995" y="4233672"/>
            <a:ext cx="133502" cy="133502"/>
          </a:xfrm>
          <a:prstGeom prst="rect">
            <a:avLst/>
          </a:prstGeom>
        </p:spPr>
      </p:pic>
      <p:sp>
        <p:nvSpPr>
          <p:cNvPr id="36" name="Shape 35">
            <a:extLst>
              <a:ext uri="{FF2B5EF4-FFF2-40B4-BE49-F238E27FC236}">
                <a16:creationId xmlns:a16="http://schemas.microsoft.com/office/drawing/2014/main" id="{CE17CFF6-AAC8-909B-170D-5C610B4AF35B}"/>
              </a:ext>
            </a:extLst>
          </p:cNvPr>
          <p:cNvSpPr/>
          <p:nvPr/>
        </p:nvSpPr>
        <p:spPr>
          <a:xfrm>
            <a:off x="3338474" y="4562856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23628DA6-C971-477B-5CEA-BAE1A5B3FC9B}"/>
              </a:ext>
            </a:extLst>
          </p:cNvPr>
          <p:cNvSpPr txBox="1"/>
          <p:nvPr/>
        </p:nvSpPr>
        <p:spPr>
          <a:xfrm>
            <a:off x="3272638" y="4028846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+150K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63E8CF1F-36E4-4AAB-6495-9ACA323A25B5}"/>
              </a:ext>
            </a:extLst>
          </p:cNvPr>
          <p:cNvSpPr/>
          <p:nvPr/>
        </p:nvSpPr>
        <p:spPr>
          <a:xfrm>
            <a:off x="4992624" y="4562856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61C9B77F-A981-F56F-9FD2-BAC70680341B}"/>
              </a:ext>
            </a:extLst>
          </p:cNvPr>
          <p:cNvSpPr txBox="1"/>
          <p:nvPr/>
        </p:nvSpPr>
        <p:spPr>
          <a:xfrm>
            <a:off x="4964278" y="4028846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+12.0%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61E3CE77-68F1-A63E-06CA-53453FE2CEA1}"/>
              </a:ext>
            </a:extLst>
          </p:cNvPr>
          <p:cNvSpPr/>
          <p:nvPr/>
        </p:nvSpPr>
        <p:spPr>
          <a:xfrm>
            <a:off x="6316675" y="4562856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F2BCF639-3D3D-C23E-CD17-B4DBEE723E0A}"/>
              </a:ext>
            </a:extLst>
          </p:cNvPr>
          <p:cNvSpPr/>
          <p:nvPr/>
        </p:nvSpPr>
        <p:spPr>
          <a:xfrm>
            <a:off x="580644" y="5106010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AC4DE4F1-66AA-B6E5-F98F-48ABE3B8964D}"/>
              </a:ext>
            </a:extLst>
          </p:cNvPr>
          <p:cNvSpPr txBox="1"/>
          <p:nvPr/>
        </p:nvSpPr>
        <p:spPr>
          <a:xfrm>
            <a:off x="1229868" y="4572000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CLEANING 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60502AB2-A995-DD75-E4D8-44ACC905B3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86054" y="4776826"/>
            <a:ext cx="114300" cy="133502"/>
          </a:xfrm>
          <a:prstGeom prst="rect">
            <a:avLst/>
          </a:prstGeom>
        </p:spPr>
      </p:pic>
      <p:sp>
        <p:nvSpPr>
          <p:cNvPr id="44" name="Shape 42">
            <a:extLst>
              <a:ext uri="{FF2B5EF4-FFF2-40B4-BE49-F238E27FC236}">
                <a16:creationId xmlns:a16="http://schemas.microsoft.com/office/drawing/2014/main" id="{6F8046FB-1FFE-EA5C-722E-F61D81272842}"/>
              </a:ext>
            </a:extLst>
          </p:cNvPr>
          <p:cNvSpPr/>
          <p:nvPr/>
        </p:nvSpPr>
        <p:spPr>
          <a:xfrm>
            <a:off x="3338474" y="5106010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EB6CF7A-F48F-5602-7584-703B7DC62868}"/>
              </a:ext>
            </a:extLst>
          </p:cNvPr>
          <p:cNvSpPr txBox="1"/>
          <p:nvPr/>
        </p:nvSpPr>
        <p:spPr>
          <a:xfrm>
            <a:off x="3272638" y="4572000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+100K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8B72778-7454-C9BD-CB19-08A589F0FC74}"/>
              </a:ext>
            </a:extLst>
          </p:cNvPr>
          <p:cNvSpPr/>
          <p:nvPr/>
        </p:nvSpPr>
        <p:spPr>
          <a:xfrm>
            <a:off x="4992624" y="5106010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5B7CB37-D2F5-35B8-5578-FC7EB93EA7F3}"/>
              </a:ext>
            </a:extLst>
          </p:cNvPr>
          <p:cNvSpPr txBox="1"/>
          <p:nvPr/>
        </p:nvSpPr>
        <p:spPr>
          <a:xfrm>
            <a:off x="4964278" y="4572000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+5.2%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434773B-F547-B8B9-1BF1-64AAD50EF28A}"/>
              </a:ext>
            </a:extLst>
          </p:cNvPr>
          <p:cNvSpPr/>
          <p:nvPr/>
        </p:nvSpPr>
        <p:spPr>
          <a:xfrm>
            <a:off x="6316675" y="5106010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655CCAC-9B7D-4100-62D0-15EB87773EAE}"/>
              </a:ext>
            </a:extLst>
          </p:cNvPr>
          <p:cNvSpPr/>
          <p:nvPr/>
        </p:nvSpPr>
        <p:spPr>
          <a:xfrm>
            <a:off x="580644" y="5649163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19B8A08-0608-B379-0319-5ADECE7092A6}"/>
              </a:ext>
            </a:extLst>
          </p:cNvPr>
          <p:cNvSpPr txBox="1"/>
          <p:nvPr/>
        </p:nvSpPr>
        <p:spPr>
          <a:xfrm>
            <a:off x="1229868" y="5115154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BAKERY 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503929A3-1028-2FBD-F08C-3A95E4AF2D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5995" y="5319979"/>
            <a:ext cx="133502" cy="133502"/>
          </a:xfrm>
          <a:prstGeom prst="rect">
            <a:avLst/>
          </a:prstGeom>
        </p:spPr>
      </p:pic>
      <p:sp>
        <p:nvSpPr>
          <p:cNvPr id="52" name="Shape 49">
            <a:extLst>
              <a:ext uri="{FF2B5EF4-FFF2-40B4-BE49-F238E27FC236}">
                <a16:creationId xmlns:a16="http://schemas.microsoft.com/office/drawing/2014/main" id="{87B67538-937B-3FE2-6ED3-B1FBEAC94C8E}"/>
              </a:ext>
            </a:extLst>
          </p:cNvPr>
          <p:cNvSpPr/>
          <p:nvPr/>
        </p:nvSpPr>
        <p:spPr>
          <a:xfrm>
            <a:off x="3338474" y="5649163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A50D27B7-C693-59FD-28A9-0632690E6906}"/>
              </a:ext>
            </a:extLst>
          </p:cNvPr>
          <p:cNvSpPr txBox="1"/>
          <p:nvPr/>
        </p:nvSpPr>
        <p:spPr>
          <a:xfrm>
            <a:off x="3272638" y="5115154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+80K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DD310A7F-660F-E582-4A28-5C3BC4824CDB}"/>
              </a:ext>
            </a:extLst>
          </p:cNvPr>
          <p:cNvSpPr/>
          <p:nvPr/>
        </p:nvSpPr>
        <p:spPr>
          <a:xfrm>
            <a:off x="4992624" y="5649163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BD4304B5-DD7D-3C2F-D016-DE7F386FECEF}"/>
              </a:ext>
            </a:extLst>
          </p:cNvPr>
          <p:cNvSpPr txBox="1"/>
          <p:nvPr/>
        </p:nvSpPr>
        <p:spPr>
          <a:xfrm>
            <a:off x="4964278" y="5115154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+4.1%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0623868C-F84D-FB89-F9FE-B531D3993DC4}"/>
              </a:ext>
            </a:extLst>
          </p:cNvPr>
          <p:cNvSpPr/>
          <p:nvPr/>
        </p:nvSpPr>
        <p:spPr>
          <a:xfrm>
            <a:off x="6316675" y="5649163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E510F31F-8C90-51AD-DF0F-7532E2F22908}"/>
              </a:ext>
            </a:extLst>
          </p:cNvPr>
          <p:cNvSpPr/>
          <p:nvPr/>
        </p:nvSpPr>
        <p:spPr>
          <a:xfrm>
            <a:off x="580644" y="6192317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3EA4CADB-8AE7-0F11-2563-F4D1A6A52F2F}"/>
              </a:ext>
            </a:extLst>
          </p:cNvPr>
          <p:cNvSpPr txBox="1"/>
          <p:nvPr/>
        </p:nvSpPr>
        <p:spPr>
          <a:xfrm>
            <a:off x="1229868" y="5658307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 CLOTHING 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59" name="Image 5" descr="preencoded.png">
            <a:extLst>
              <a:ext uri="{FF2B5EF4-FFF2-40B4-BE49-F238E27FC236}">
                <a16:creationId xmlns:a16="http://schemas.microsoft.com/office/drawing/2014/main" id="{809E8C92-276C-9C87-E9C9-2E1C9AD9A9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857707" y="5862218"/>
            <a:ext cx="171907" cy="133502"/>
          </a:xfrm>
          <a:prstGeom prst="rect">
            <a:avLst/>
          </a:prstGeom>
        </p:spPr>
      </p:pic>
      <p:sp>
        <p:nvSpPr>
          <p:cNvPr id="60" name="Shape 56">
            <a:extLst>
              <a:ext uri="{FF2B5EF4-FFF2-40B4-BE49-F238E27FC236}">
                <a16:creationId xmlns:a16="http://schemas.microsoft.com/office/drawing/2014/main" id="{423B24F0-D37B-584A-EB9F-D1D7B1EF6374}"/>
              </a:ext>
            </a:extLst>
          </p:cNvPr>
          <p:cNvSpPr/>
          <p:nvPr/>
        </p:nvSpPr>
        <p:spPr>
          <a:xfrm>
            <a:off x="3338474" y="6192317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35E6F2D5-9194-785F-01BF-BE568C48F8B4}"/>
              </a:ext>
            </a:extLst>
          </p:cNvPr>
          <p:cNvSpPr txBox="1"/>
          <p:nvPr/>
        </p:nvSpPr>
        <p:spPr>
          <a:xfrm>
            <a:off x="3272638" y="5658307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-5K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2" name="Shape 58">
            <a:extLst>
              <a:ext uri="{FF2B5EF4-FFF2-40B4-BE49-F238E27FC236}">
                <a16:creationId xmlns:a16="http://schemas.microsoft.com/office/drawing/2014/main" id="{FC2C2101-3F60-592E-56B2-03BFA16FC374}"/>
              </a:ext>
            </a:extLst>
          </p:cNvPr>
          <p:cNvSpPr/>
          <p:nvPr/>
        </p:nvSpPr>
        <p:spPr>
          <a:xfrm>
            <a:off x="4992624" y="6192317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3" name="Text 59">
            <a:extLst>
              <a:ext uri="{FF2B5EF4-FFF2-40B4-BE49-F238E27FC236}">
                <a16:creationId xmlns:a16="http://schemas.microsoft.com/office/drawing/2014/main" id="{8B869031-464F-5F8C-C550-3C468EEDA2C8}"/>
              </a:ext>
            </a:extLst>
          </p:cNvPr>
          <p:cNvSpPr txBox="1"/>
          <p:nvPr/>
        </p:nvSpPr>
        <p:spPr>
          <a:xfrm>
            <a:off x="4964278" y="5658307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-1.2%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4" name="Shape 60">
            <a:extLst>
              <a:ext uri="{FF2B5EF4-FFF2-40B4-BE49-F238E27FC236}">
                <a16:creationId xmlns:a16="http://schemas.microsoft.com/office/drawing/2014/main" id="{C433AC6F-0834-EAEB-9808-842EBA84C07A}"/>
              </a:ext>
            </a:extLst>
          </p:cNvPr>
          <p:cNvSpPr/>
          <p:nvPr/>
        </p:nvSpPr>
        <p:spPr>
          <a:xfrm>
            <a:off x="6316675" y="6192317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5" name="Shape 61">
            <a:extLst>
              <a:ext uri="{FF2B5EF4-FFF2-40B4-BE49-F238E27FC236}">
                <a16:creationId xmlns:a16="http://schemas.microsoft.com/office/drawing/2014/main" id="{0E4BF2D8-BF60-6E95-ACFE-D7A5FCD05B1A}"/>
              </a:ext>
            </a:extLst>
          </p:cNvPr>
          <p:cNvSpPr/>
          <p:nvPr/>
        </p:nvSpPr>
        <p:spPr>
          <a:xfrm>
            <a:off x="580644" y="6200546"/>
            <a:ext cx="11030407" cy="504749"/>
          </a:xfrm>
          <a:prstGeom prst="roundRect">
            <a:avLst>
              <a:gd name="adj" fmla="val 10937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6" name="Text 62">
            <a:extLst>
              <a:ext uri="{FF2B5EF4-FFF2-40B4-BE49-F238E27FC236}">
                <a16:creationId xmlns:a16="http://schemas.microsoft.com/office/drawing/2014/main" id="{61E888C3-A22C-F428-C1E8-9079FDE0C12B}"/>
              </a:ext>
            </a:extLst>
          </p:cNvPr>
          <p:cNvSpPr txBox="1"/>
          <p:nvPr/>
        </p:nvSpPr>
        <p:spPr>
          <a:xfrm>
            <a:off x="1333347" y="6194774"/>
            <a:ext cx="28392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TOTAL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 63">
            <a:extLst>
              <a:ext uri="{FF2B5EF4-FFF2-40B4-BE49-F238E27FC236}">
                <a16:creationId xmlns:a16="http://schemas.microsoft.com/office/drawing/2014/main" id="{EF7DBC27-45E0-9643-D609-6463BA1D7462}"/>
              </a:ext>
            </a:extLst>
          </p:cNvPr>
          <p:cNvSpPr txBox="1"/>
          <p:nvPr/>
        </p:nvSpPr>
        <p:spPr>
          <a:xfrm>
            <a:off x="3272638" y="6200546"/>
            <a:ext cx="172364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+825K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8" name="Text 64">
            <a:extLst>
              <a:ext uri="{FF2B5EF4-FFF2-40B4-BE49-F238E27FC236}">
                <a16:creationId xmlns:a16="http://schemas.microsoft.com/office/drawing/2014/main" id="{E971E5C1-4CFC-B3B4-A99D-4696C70EF21C}"/>
              </a:ext>
            </a:extLst>
          </p:cNvPr>
          <p:cNvSpPr txBox="1"/>
          <p:nvPr/>
        </p:nvSpPr>
        <p:spPr>
          <a:xfrm>
            <a:off x="4964278" y="6200546"/>
            <a:ext cx="13816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+6.8%</a:t>
            </a:r>
            <a:endParaRPr lang="en-US" sz="11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Shape 66">
            <a:extLst>
              <a:ext uri="{FF2B5EF4-FFF2-40B4-BE49-F238E27FC236}">
                <a16:creationId xmlns:a16="http://schemas.microsoft.com/office/drawing/2014/main" id="{C2A0B5D6-8A57-8BEF-97F9-75EEE16B5727}"/>
              </a:ext>
            </a:extLst>
          </p:cNvPr>
          <p:cNvSpPr/>
          <p:nvPr/>
        </p:nvSpPr>
        <p:spPr>
          <a:xfrm>
            <a:off x="6545275" y="36429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1" name="Shape 67">
            <a:extLst>
              <a:ext uri="{FF2B5EF4-FFF2-40B4-BE49-F238E27FC236}">
                <a16:creationId xmlns:a16="http://schemas.microsoft.com/office/drawing/2014/main" id="{6CBFCCA5-0081-4A55-458E-D935055F160B}"/>
              </a:ext>
            </a:extLst>
          </p:cNvPr>
          <p:cNvSpPr/>
          <p:nvPr/>
        </p:nvSpPr>
        <p:spPr>
          <a:xfrm>
            <a:off x="6545275" y="3642970"/>
            <a:ext cx="2905049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2" name="Text 68">
            <a:extLst>
              <a:ext uri="{FF2B5EF4-FFF2-40B4-BE49-F238E27FC236}">
                <a16:creationId xmlns:a16="http://schemas.microsoft.com/office/drawing/2014/main" id="{BDA8C427-7581-F699-931E-01D6062A7C3F}"/>
              </a:ext>
            </a:extLst>
          </p:cNvPr>
          <p:cNvSpPr txBox="1"/>
          <p:nvPr/>
        </p:nvSpPr>
        <p:spPr>
          <a:xfrm>
            <a:off x="6545275" y="3642970"/>
            <a:ext cx="30202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60.0%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3" name="Shape 69">
            <a:extLst>
              <a:ext uri="{FF2B5EF4-FFF2-40B4-BE49-F238E27FC236}">
                <a16:creationId xmlns:a16="http://schemas.microsoft.com/office/drawing/2014/main" id="{36813426-5934-1F3E-3EC8-942774FB58D9}"/>
              </a:ext>
            </a:extLst>
          </p:cNvPr>
          <p:cNvSpPr/>
          <p:nvPr/>
        </p:nvSpPr>
        <p:spPr>
          <a:xfrm>
            <a:off x="6545275" y="4186123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4" name="Shape 70">
            <a:extLst>
              <a:ext uri="{FF2B5EF4-FFF2-40B4-BE49-F238E27FC236}">
                <a16:creationId xmlns:a16="http://schemas.microsoft.com/office/drawing/2014/main" id="{BF43173A-0799-7173-295A-D1286AECDF3B}"/>
              </a:ext>
            </a:extLst>
          </p:cNvPr>
          <p:cNvSpPr/>
          <p:nvPr/>
        </p:nvSpPr>
        <p:spPr>
          <a:xfrm>
            <a:off x="6545275" y="4186123"/>
            <a:ext cx="875995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5" name="Text 71">
            <a:extLst>
              <a:ext uri="{FF2B5EF4-FFF2-40B4-BE49-F238E27FC236}">
                <a16:creationId xmlns:a16="http://schemas.microsoft.com/office/drawing/2014/main" id="{7F67129A-2910-973A-063D-533461D257F4}"/>
              </a:ext>
            </a:extLst>
          </p:cNvPr>
          <p:cNvSpPr txBox="1"/>
          <p:nvPr/>
        </p:nvSpPr>
        <p:spPr>
          <a:xfrm>
            <a:off x="6545275" y="4186123"/>
            <a:ext cx="9528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18.0%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6" name="Shape 72">
            <a:extLst>
              <a:ext uri="{FF2B5EF4-FFF2-40B4-BE49-F238E27FC236}">
                <a16:creationId xmlns:a16="http://schemas.microsoft.com/office/drawing/2014/main" id="{46D5FEC6-16CD-3189-8427-F47DA3DC0957}"/>
              </a:ext>
            </a:extLst>
          </p:cNvPr>
          <p:cNvSpPr/>
          <p:nvPr/>
        </p:nvSpPr>
        <p:spPr>
          <a:xfrm>
            <a:off x="6545275" y="4729277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7" name="Shape 73">
            <a:extLst>
              <a:ext uri="{FF2B5EF4-FFF2-40B4-BE49-F238E27FC236}">
                <a16:creationId xmlns:a16="http://schemas.microsoft.com/office/drawing/2014/main" id="{40D6CA35-45E1-59BD-7948-6CEAD9D3949A}"/>
              </a:ext>
            </a:extLst>
          </p:cNvPr>
          <p:cNvSpPr/>
          <p:nvPr/>
        </p:nvSpPr>
        <p:spPr>
          <a:xfrm>
            <a:off x="6545275" y="4729277"/>
            <a:ext cx="5806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8" name="Text 74">
            <a:extLst>
              <a:ext uri="{FF2B5EF4-FFF2-40B4-BE49-F238E27FC236}">
                <a16:creationId xmlns:a16="http://schemas.microsoft.com/office/drawing/2014/main" id="{6E812D80-07F8-7912-0E8C-C8CAEDD33DCD}"/>
              </a:ext>
            </a:extLst>
          </p:cNvPr>
          <p:cNvSpPr txBox="1"/>
          <p:nvPr/>
        </p:nvSpPr>
        <p:spPr>
          <a:xfrm>
            <a:off x="6545275" y="4729277"/>
            <a:ext cx="6574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12.0%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9" name="Shape 75">
            <a:extLst>
              <a:ext uri="{FF2B5EF4-FFF2-40B4-BE49-F238E27FC236}">
                <a16:creationId xmlns:a16="http://schemas.microsoft.com/office/drawing/2014/main" id="{CF02488C-281D-CC32-60B9-01AD33DEF89E}"/>
              </a:ext>
            </a:extLst>
          </p:cNvPr>
          <p:cNvSpPr/>
          <p:nvPr/>
        </p:nvSpPr>
        <p:spPr>
          <a:xfrm>
            <a:off x="6545275" y="527243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0" name="Shape 76">
            <a:extLst>
              <a:ext uri="{FF2B5EF4-FFF2-40B4-BE49-F238E27FC236}">
                <a16:creationId xmlns:a16="http://schemas.microsoft.com/office/drawing/2014/main" id="{67B93FB6-EFC2-F64E-544A-E17282720CD9}"/>
              </a:ext>
            </a:extLst>
          </p:cNvPr>
          <p:cNvSpPr/>
          <p:nvPr/>
        </p:nvSpPr>
        <p:spPr>
          <a:xfrm>
            <a:off x="6545275" y="5272430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1" name="Text 77">
            <a:extLst>
              <a:ext uri="{FF2B5EF4-FFF2-40B4-BE49-F238E27FC236}">
                <a16:creationId xmlns:a16="http://schemas.microsoft.com/office/drawing/2014/main" id="{F2D4B0E0-ED0A-BBB5-D9F5-1EE011A03192}"/>
              </a:ext>
            </a:extLst>
          </p:cNvPr>
          <p:cNvSpPr txBox="1"/>
          <p:nvPr/>
        </p:nvSpPr>
        <p:spPr>
          <a:xfrm>
            <a:off x="6545275" y="5272430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9.6%</a:t>
            </a:r>
            <a:endParaRPr lang="en-US" sz="9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2" name="Shape 78">
            <a:extLst>
              <a:ext uri="{FF2B5EF4-FFF2-40B4-BE49-F238E27FC236}">
                <a16:creationId xmlns:a16="http://schemas.microsoft.com/office/drawing/2014/main" id="{9FB73AB0-A7F5-C0B4-F670-5CA6A994E1DA}"/>
              </a:ext>
            </a:extLst>
          </p:cNvPr>
          <p:cNvSpPr/>
          <p:nvPr/>
        </p:nvSpPr>
        <p:spPr>
          <a:xfrm>
            <a:off x="6545275" y="58146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84" name="Image 0" descr="preencoded.png">
            <a:extLst>
              <a:ext uri="{FF2B5EF4-FFF2-40B4-BE49-F238E27FC236}">
                <a16:creationId xmlns:a16="http://schemas.microsoft.com/office/drawing/2014/main" id="{21C06D1B-DDDB-B82A-05BE-A0BD6C61F90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" r="-7"/>
          <a:stretch/>
        </p:blipFill>
        <p:spPr>
          <a:xfrm>
            <a:off x="1333347" y="1238098"/>
            <a:ext cx="9525305" cy="1352397"/>
          </a:xfrm>
          <a:prstGeom prst="rect">
            <a:avLst/>
          </a:prstGeom>
        </p:spPr>
      </p:pic>
      <p:sp>
        <p:nvSpPr>
          <p:cNvPr id="83" name="Shape 79">
            <a:extLst>
              <a:ext uri="{FF2B5EF4-FFF2-40B4-BE49-F238E27FC236}">
                <a16:creationId xmlns:a16="http://schemas.microsoft.com/office/drawing/2014/main" id="{7F263BA2-665F-C7F1-38AA-4CDE374305F4}"/>
              </a:ext>
            </a:extLst>
          </p:cNvPr>
          <p:cNvSpPr/>
          <p:nvPr/>
        </p:nvSpPr>
        <p:spPr>
          <a:xfrm>
            <a:off x="6545275" y="5814670"/>
            <a:ext cx="75895" cy="228600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511A2605-B595-9A82-C564-3B8858603144}"/>
              </a:ext>
            </a:extLst>
          </p:cNvPr>
          <p:cNvSpPr txBox="1"/>
          <p:nvPr/>
        </p:nvSpPr>
        <p:spPr>
          <a:xfrm>
            <a:off x="3553413" y="1740693"/>
            <a:ext cx="1585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기여도(%p) =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2D09A849-0029-BBA7-D282-73CCAD7E4093}"/>
              </a:ext>
            </a:extLst>
          </p:cNvPr>
          <p:cNvSpPr/>
          <p:nvPr/>
        </p:nvSpPr>
        <p:spPr>
          <a:xfrm>
            <a:off x="5331921" y="1902542"/>
            <a:ext cx="2266798" cy="192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E99C36E7-C8DC-9B07-E69C-B01A0EC490D8}"/>
              </a:ext>
            </a:extLst>
          </p:cNvPr>
          <p:cNvSpPr txBox="1"/>
          <p:nvPr/>
        </p:nvSpPr>
        <p:spPr>
          <a:xfrm>
            <a:off x="5331921" y="1598047"/>
            <a:ext cx="280355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해당 세그먼트의 매출 변화량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D3F5A52D-20AC-E2E4-D1DF-79C80A483E18}"/>
              </a:ext>
            </a:extLst>
          </p:cNvPr>
          <p:cNvSpPr txBox="1"/>
          <p:nvPr/>
        </p:nvSpPr>
        <p:spPr>
          <a:xfrm>
            <a:off x="5102406" y="1940947"/>
            <a:ext cx="32424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전체 매출 변화량 (Total Growth)</a:t>
            </a:r>
            <a:endParaRPr lang="en-US" sz="15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1B917BE5-7DEA-B617-F88D-96BBA9D3BDEE}"/>
              </a:ext>
            </a:extLst>
          </p:cNvPr>
          <p:cNvSpPr txBox="1"/>
          <p:nvPr/>
        </p:nvSpPr>
        <p:spPr>
          <a:xfrm>
            <a:off x="8015685" y="1740693"/>
            <a:ext cx="7717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Noto Sans KR" pitchFamily="34" charset="-120"/>
              </a:rPr>
              <a:t>× 100</a:t>
            </a:r>
            <a:endParaRPr lang="en-US" sz="18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6533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F90EF42E-DAA9-30BC-BFCF-416DEF6A042A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59DB5A0B-E288-2EA2-2480-500CA6AEF537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4</a:t>
            </a:r>
            <a:r>
              <a:rPr lang="ko-KR" altLang="en-US" dirty="0"/>
              <a:t>분면 분석</a:t>
            </a:r>
            <a:r>
              <a:rPr lang="en-US" altLang="ko-KR" dirty="0"/>
              <a:t>: </a:t>
            </a:r>
            <a:r>
              <a:rPr lang="ko-KR" altLang="en-US" dirty="0"/>
              <a:t>매장 포지셔닝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D82E89D-1C74-ED5B-1A35-781089209E85}"/>
              </a:ext>
            </a:extLst>
          </p:cNvPr>
          <p:cNvSpPr txBox="1"/>
          <p:nvPr/>
        </p:nvSpPr>
        <p:spPr>
          <a:xfrm>
            <a:off x="11753698" y="5975566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3F3CDFB-1894-DF9D-7713-5DD64206B774}"/>
              </a:ext>
            </a:extLst>
          </p:cNvPr>
          <p:cNvSpPr/>
          <p:nvPr/>
        </p:nvSpPr>
        <p:spPr>
          <a:xfrm>
            <a:off x="571500" y="1136561"/>
            <a:ext cx="6391656" cy="5629046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A314405-19C1-7C52-6AAA-68BE7A234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" b="-3"/>
          <a:stretch/>
        </p:blipFill>
        <p:spPr>
          <a:xfrm>
            <a:off x="771754" y="1336815"/>
            <a:ext cx="5991149" cy="5229454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64B88548-77F2-AB48-BDBF-80F5257CB292}"/>
              </a:ext>
            </a:extLst>
          </p:cNvPr>
          <p:cNvSpPr/>
          <p:nvPr/>
        </p:nvSpPr>
        <p:spPr>
          <a:xfrm>
            <a:off x="7343546" y="1136561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AD820EC-E892-2B53-F0A8-51AA10DF49F0}"/>
              </a:ext>
            </a:extLst>
          </p:cNvPr>
          <p:cNvSpPr txBox="1"/>
          <p:nvPr/>
        </p:nvSpPr>
        <p:spPr>
          <a:xfrm>
            <a:off x="7591349" y="1289266"/>
            <a:ext cx="2200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2사분면: 유입 강화 필요</a:t>
            </a:r>
            <a:endParaRPr lang="en-US" sz="13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DB9542B-A07C-3D30-F3CC-B33B9CCE8A32}"/>
              </a:ext>
            </a:extLst>
          </p:cNvPr>
          <p:cNvSpPr txBox="1"/>
          <p:nvPr/>
        </p:nvSpPr>
        <p:spPr>
          <a:xfrm>
            <a:off x="9731959" y="1332243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Low Traffic</a:t>
            </a:r>
            <a:endParaRPr lang="en-US" sz="9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D76A4903-3FBD-1BA5-6922-EF85F539F298}"/>
              </a:ext>
            </a:extLst>
          </p:cNvPr>
          <p:cNvSpPr txBox="1"/>
          <p:nvPr/>
        </p:nvSpPr>
        <p:spPr>
          <a:xfrm>
            <a:off x="7591349" y="1603820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객단가는 높으나 방문객이 적은 매장입니다. 브랜드 충성도가 높거나 입지가 외진 곳일 수 있습니다.</a:t>
            </a:r>
            <a:endParaRPr lang="en-US" sz="10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965516E2-5CC2-02B9-77DD-36EB6FBFD803}"/>
              </a:ext>
            </a:extLst>
          </p:cNvPr>
          <p:cNvSpPr txBox="1"/>
          <p:nvPr/>
        </p:nvSpPr>
        <p:spPr>
          <a:xfrm>
            <a:off x="7749540" y="2053705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모객 마케팅, 첫 구매 프로모션 </a:t>
            </a:r>
            <a:endParaRPr lang="en-US" sz="9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37FD8C2-5B39-7216-80C0-9DECEE8498D8}"/>
              </a:ext>
            </a:extLst>
          </p:cNvPr>
          <p:cNvSpPr/>
          <p:nvPr/>
        </p:nvSpPr>
        <p:spPr>
          <a:xfrm>
            <a:off x="7343546" y="2582228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452CB7C-60BF-C6EB-6586-203289F8DDE1}"/>
              </a:ext>
            </a:extLst>
          </p:cNvPr>
          <p:cNvSpPr txBox="1"/>
          <p:nvPr/>
        </p:nvSpPr>
        <p:spPr>
          <a:xfrm>
            <a:off x="7591349" y="2734933"/>
            <a:ext cx="22448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1사분면: 우수 매장 (Star)</a:t>
            </a:r>
            <a:endParaRPr lang="en-US" sz="13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84EFFD9-3C0B-96E2-09A8-A9C0CA9E43E8}"/>
              </a:ext>
            </a:extLst>
          </p:cNvPr>
          <p:cNvSpPr txBox="1"/>
          <p:nvPr/>
        </p:nvSpPr>
        <p:spPr>
          <a:xfrm>
            <a:off x="9683496" y="2777909"/>
            <a:ext cx="19796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High Traffic</a:t>
            </a:r>
            <a:endParaRPr lang="en-US" sz="9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9953D9E-14BB-6D9F-6DF2-5EB558730A07}"/>
              </a:ext>
            </a:extLst>
          </p:cNvPr>
          <p:cNvSpPr txBox="1"/>
          <p:nvPr/>
        </p:nvSpPr>
        <p:spPr>
          <a:xfrm>
            <a:off x="7591349" y="3049486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이상적인 상태의 매장입니다. 현재 전략을 유지하며 다른 매장의 벤치마킹 모델로 활용합니다.</a:t>
            </a:r>
            <a:endParaRPr lang="en-US" sz="1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952CEFFD-9833-DDDD-109E-035B3A1628E9}"/>
              </a:ext>
            </a:extLst>
          </p:cNvPr>
          <p:cNvSpPr txBox="1"/>
          <p:nvPr/>
        </p:nvSpPr>
        <p:spPr>
          <a:xfrm>
            <a:off x="7749540" y="3498457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VIP 멤버십 강화, 재고 우선 배정 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1B1F49D-11FE-C4C6-25D3-EEDA3070922E}"/>
              </a:ext>
            </a:extLst>
          </p:cNvPr>
          <p:cNvSpPr/>
          <p:nvPr/>
        </p:nvSpPr>
        <p:spPr>
          <a:xfrm>
            <a:off x="7343546" y="4027894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5A9F125-6A18-3AF3-1723-F39803DEF51E}"/>
              </a:ext>
            </a:extLst>
          </p:cNvPr>
          <p:cNvSpPr txBox="1"/>
          <p:nvPr/>
        </p:nvSpPr>
        <p:spPr>
          <a:xfrm>
            <a:off x="7591349" y="4180599"/>
            <a:ext cx="2383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3사분면: 구조적 개선 필요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0BD19C1-6C47-6D26-4060-3EEC06F4E675}"/>
              </a:ext>
            </a:extLst>
          </p:cNvPr>
          <p:cNvSpPr txBox="1"/>
          <p:nvPr/>
        </p:nvSpPr>
        <p:spPr>
          <a:xfrm>
            <a:off x="9779508" y="4223576"/>
            <a:ext cx="18223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Low Traffic</a:t>
            </a: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F86ABAC-7A24-FE06-395C-63F6ED466661}"/>
              </a:ext>
            </a:extLst>
          </p:cNvPr>
          <p:cNvSpPr txBox="1"/>
          <p:nvPr/>
        </p:nvSpPr>
        <p:spPr>
          <a:xfrm>
            <a:off x="7591349" y="4494238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방문객도 적고 구매 금액도 낮습니다. 상품 구성(MD) 문제이거나 상권 쇠퇴가 원인일 수 있습니다.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60E420C-123A-D0ED-D175-0195EE713E47}"/>
              </a:ext>
            </a:extLst>
          </p:cNvPr>
          <p:cNvSpPr txBox="1"/>
          <p:nvPr/>
        </p:nvSpPr>
        <p:spPr>
          <a:xfrm>
            <a:off x="7768742" y="4944123"/>
            <a:ext cx="3775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근본 원인 진단, 카테고리 리뉴얼 </a:t>
            </a:r>
            <a:endParaRPr lang="en-US" sz="9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3F182258-FAD3-1BF5-0230-4B835C2FDF5F}"/>
              </a:ext>
            </a:extLst>
          </p:cNvPr>
          <p:cNvSpPr/>
          <p:nvPr/>
        </p:nvSpPr>
        <p:spPr>
          <a:xfrm>
            <a:off x="7343546" y="5472646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16C642E-9460-BF29-1D0F-388F76F67B7A}"/>
              </a:ext>
            </a:extLst>
          </p:cNvPr>
          <p:cNvSpPr txBox="1"/>
          <p:nvPr/>
        </p:nvSpPr>
        <p:spPr>
          <a:xfrm>
            <a:off x="7591349" y="5625351"/>
            <a:ext cx="19083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4사분면: 업셀링 기회</a:t>
            </a:r>
            <a:endParaRPr lang="en-US" sz="13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E41B580-A305-3A67-BB0F-1EE63E7D583B}"/>
              </a:ext>
            </a:extLst>
          </p:cNvPr>
          <p:cNvSpPr txBox="1"/>
          <p:nvPr/>
        </p:nvSpPr>
        <p:spPr>
          <a:xfrm>
            <a:off x="9731959" y="5668328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High Traffic</a:t>
            </a:r>
            <a:endParaRPr lang="en-US" sz="9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706282F6-39BF-C906-97E7-0257D23E5C83}"/>
              </a:ext>
            </a:extLst>
          </p:cNvPr>
          <p:cNvSpPr txBox="1"/>
          <p:nvPr/>
        </p:nvSpPr>
        <p:spPr>
          <a:xfrm>
            <a:off x="7591349" y="5939905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많이 오지만 저가 상품 위주로 구매합니다. 번화가나 소형 편의점 타입에서 자주 보입니다.</a:t>
            </a:r>
            <a:endParaRPr lang="en-US" sz="10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8024B5E-7B69-9955-23A8-B9C9E6E1957B}"/>
              </a:ext>
            </a:extLst>
          </p:cNvPr>
          <p:cNvSpPr txBox="1"/>
          <p:nvPr/>
        </p:nvSpPr>
        <p:spPr>
          <a:xfrm>
            <a:off x="7721194" y="6389789"/>
            <a:ext cx="3823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묶음 판매(Bundling), 계산대 옆 상품 배치 </a:t>
            </a:r>
            <a:endParaRPr lang="en-US" sz="9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0C41FE82-A886-F67D-9F74-203B0225A703}"/>
              </a:ext>
            </a:extLst>
          </p:cNvPr>
          <p:cNvSpPr txBox="1"/>
          <p:nvPr/>
        </p:nvSpPr>
        <p:spPr>
          <a:xfrm>
            <a:off x="887685" y="1440456"/>
            <a:ext cx="924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Q2. Potential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10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7406BF54-01F6-B560-20AF-E777B1D6D374}"/>
              </a:ext>
            </a:extLst>
          </p:cNvPr>
          <p:cNvSpPr txBox="1"/>
          <p:nvPr/>
        </p:nvSpPr>
        <p:spPr>
          <a:xfrm>
            <a:off x="5984748" y="1527010"/>
            <a:ext cx="590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Q1. Star</a:t>
            </a:r>
            <a:endParaRPr lang="en-US" sz="10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10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AC2B288E-B5AD-7B62-AC4E-6B0F2803EC3E}"/>
              </a:ext>
            </a:extLst>
          </p:cNvPr>
          <p:cNvSpPr txBox="1"/>
          <p:nvPr/>
        </p:nvSpPr>
        <p:spPr>
          <a:xfrm>
            <a:off x="961949" y="5975566"/>
            <a:ext cx="8860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Q3. Problem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100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C91D581A-C33F-2666-ADA9-71564693362A}"/>
              </a:ext>
            </a:extLst>
          </p:cNvPr>
          <p:cNvSpPr txBox="1"/>
          <p:nvPr/>
        </p:nvSpPr>
        <p:spPr>
          <a:xfrm>
            <a:off x="5437022" y="5975566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Q4. Opportunity</a:t>
            </a:r>
            <a:endParaRPr lang="en-US" sz="10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0197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1785</Words>
  <Application>Microsoft Macintosh PowerPoint</Application>
  <PresentationFormat>와이드스크린</PresentationFormat>
  <Paragraphs>299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Apple SD Gothic Neo</vt:lpstr>
      <vt:lpstr>Noto Sans 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진석 김</dc:creator>
  <cp:lastModifiedBy>진석 김</cp:lastModifiedBy>
  <cp:revision>5</cp:revision>
  <dcterms:created xsi:type="dcterms:W3CDTF">2026-03-03T09:05:41Z</dcterms:created>
  <dcterms:modified xsi:type="dcterms:W3CDTF">2026-03-21T08:44:39Z</dcterms:modified>
</cp:coreProperties>
</file>