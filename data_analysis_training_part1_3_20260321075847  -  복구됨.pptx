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2784" y="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561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34" Type="http://schemas.openxmlformats.org/officeDocument/2006/relationships/image" Target="../media/image47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4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Relationship Id="rId35" Type="http://schemas.openxmlformats.org/officeDocument/2006/relationships/image" Target="../media/image9.png"/><Relationship Id="rId8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9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19" Type="http://schemas.openxmlformats.org/officeDocument/2006/relationships/image" Target="../media/image9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0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3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56.png"/><Relationship Id="rId4" Type="http://schemas.openxmlformats.org/officeDocument/2006/relationships/image" Target="../media/image9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5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3.png"/><Relationship Id="rId5" Type="http://schemas.openxmlformats.org/officeDocument/2006/relationships/image" Target="../media/image98.png"/><Relationship Id="rId15" Type="http://schemas.openxmlformats.org/officeDocument/2006/relationships/image" Target="../media/image107.png"/><Relationship Id="rId10" Type="http://schemas.openxmlformats.org/officeDocument/2006/relationships/image" Target="../media/image54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9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3" Type="http://schemas.openxmlformats.org/officeDocument/2006/relationships/image" Target="../media/image130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37.png"/><Relationship Id="rId5" Type="http://schemas.openxmlformats.org/officeDocument/2006/relationships/image" Target="../media/image132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19" Type="http://schemas.openxmlformats.org/officeDocument/2006/relationships/image" Target="../media/image9.png"/><Relationship Id="rId4" Type="http://schemas.openxmlformats.org/officeDocument/2006/relationships/image" Target="../media/image131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60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10" Type="http://schemas.openxmlformats.org/officeDocument/2006/relationships/image" Target="../media/image157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4" Type="http://schemas.openxmlformats.org/officeDocument/2006/relationships/image" Target="../media/image1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10" Type="http://schemas.openxmlformats.org/officeDocument/2006/relationships/image" Target="../media/image9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7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80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10" Type="http://schemas.openxmlformats.org/officeDocument/2006/relationships/image" Target="../media/image9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64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10" Type="http://schemas.openxmlformats.org/officeDocument/2006/relationships/image" Target="../media/image9.png"/><Relationship Id="rId4" Type="http://schemas.openxmlformats.org/officeDocument/2006/relationships/image" Target="../media/image65.png"/><Relationship Id="rId9" Type="http://schemas.openxmlformats.org/officeDocument/2006/relationships/image" Target="../media/image19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9.png"/><Relationship Id="rId3" Type="http://schemas.openxmlformats.org/officeDocument/2006/relationships/image" Target="../media/image96.png"/><Relationship Id="rId7" Type="http://schemas.openxmlformats.org/officeDocument/2006/relationships/image" Target="../media/image196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11" Type="http://schemas.openxmlformats.org/officeDocument/2006/relationships/image" Target="../media/image200.png"/><Relationship Id="rId5" Type="http://schemas.openxmlformats.org/officeDocument/2006/relationships/image" Target="../media/image194.png"/><Relationship Id="rId10" Type="http://schemas.openxmlformats.org/officeDocument/2006/relationships/image" Target="../media/image199.png"/><Relationship Id="rId4" Type="http://schemas.openxmlformats.org/officeDocument/2006/relationships/image" Target="../media/image193.png"/><Relationship Id="rId9" Type="http://schemas.openxmlformats.org/officeDocument/2006/relationships/image" Target="../media/image19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9.png"/><Relationship Id="rId3" Type="http://schemas.openxmlformats.org/officeDocument/2006/relationships/image" Target="../media/image206.png"/><Relationship Id="rId7" Type="http://schemas.openxmlformats.org/officeDocument/2006/relationships/image" Target="../media/image210.png"/><Relationship Id="rId12" Type="http://schemas.openxmlformats.org/officeDocument/2006/relationships/image" Target="../media/image2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11" Type="http://schemas.openxmlformats.org/officeDocument/2006/relationships/image" Target="../media/image214.png"/><Relationship Id="rId5" Type="http://schemas.openxmlformats.org/officeDocument/2006/relationships/image" Target="../media/image208.png"/><Relationship Id="rId10" Type="http://schemas.openxmlformats.org/officeDocument/2006/relationships/image" Target="../media/image213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3" Type="http://schemas.openxmlformats.org/officeDocument/2006/relationships/image" Target="../media/image217.png"/><Relationship Id="rId7" Type="http://schemas.openxmlformats.org/officeDocument/2006/relationships/image" Target="../media/image96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Relationship Id="rId9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2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227.png"/><Relationship Id="rId7" Type="http://schemas.openxmlformats.org/officeDocument/2006/relationships/image" Target="../media/image231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10" Type="http://schemas.openxmlformats.org/officeDocument/2006/relationships/image" Target="../media/image9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13" Type="http://schemas.openxmlformats.org/officeDocument/2006/relationships/image" Target="../media/image9.png"/><Relationship Id="rId3" Type="http://schemas.openxmlformats.org/officeDocument/2006/relationships/image" Target="../media/image240.png"/><Relationship Id="rId7" Type="http://schemas.openxmlformats.org/officeDocument/2006/relationships/image" Target="../media/image243.png"/><Relationship Id="rId12" Type="http://schemas.openxmlformats.org/officeDocument/2006/relationships/image" Target="../media/image24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image" Target="../media/image247.png"/><Relationship Id="rId5" Type="http://schemas.openxmlformats.org/officeDocument/2006/relationships/image" Target="../media/image242.png"/><Relationship Id="rId10" Type="http://schemas.openxmlformats.org/officeDocument/2006/relationships/image" Target="../media/image246.png"/><Relationship Id="rId4" Type="http://schemas.openxmlformats.org/officeDocument/2006/relationships/image" Target="../media/image241.png"/><Relationship Id="rId9" Type="http://schemas.openxmlformats.org/officeDocument/2006/relationships/image" Target="../media/image24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250.png"/><Relationship Id="rId7" Type="http://schemas.openxmlformats.org/officeDocument/2006/relationships/image" Target="../media/image253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.png"/><Relationship Id="rId5" Type="http://schemas.openxmlformats.org/officeDocument/2006/relationships/image" Target="../media/image56.png"/><Relationship Id="rId10" Type="http://schemas.openxmlformats.org/officeDocument/2006/relationships/image" Target="../media/image9.png"/><Relationship Id="rId4" Type="http://schemas.openxmlformats.org/officeDocument/2006/relationships/image" Target="../media/image251.png"/><Relationship Id="rId9" Type="http://schemas.openxmlformats.org/officeDocument/2006/relationships/image" Target="../media/image1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7" Type="http://schemas.openxmlformats.org/officeDocument/2006/relationships/image" Target="../media/image9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7" Type="http://schemas.openxmlformats.org/officeDocument/2006/relationships/image" Target="../media/image9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6.png"/><Relationship Id="rId5" Type="http://schemas.openxmlformats.org/officeDocument/2006/relationships/image" Target="../media/image265.png"/><Relationship Id="rId4" Type="http://schemas.openxmlformats.org/officeDocument/2006/relationships/image" Target="../media/image2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6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69.png"/><Relationship Id="rId7" Type="http://schemas.openxmlformats.org/officeDocument/2006/relationships/image" Target="../media/image273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png"/><Relationship Id="rId5" Type="http://schemas.openxmlformats.org/officeDocument/2006/relationships/image" Target="../media/image271.png"/><Relationship Id="rId4" Type="http://schemas.openxmlformats.org/officeDocument/2006/relationships/image" Target="../media/image27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png"/><Relationship Id="rId13" Type="http://schemas.openxmlformats.org/officeDocument/2006/relationships/image" Target="../media/image9.png"/><Relationship Id="rId3" Type="http://schemas.openxmlformats.org/officeDocument/2006/relationships/image" Target="../media/image274.png"/><Relationship Id="rId7" Type="http://schemas.openxmlformats.org/officeDocument/2006/relationships/image" Target="../media/image278.png"/><Relationship Id="rId12" Type="http://schemas.openxmlformats.org/officeDocument/2006/relationships/image" Target="../media/image283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7.png"/><Relationship Id="rId11" Type="http://schemas.openxmlformats.org/officeDocument/2006/relationships/image" Target="../media/image282.png"/><Relationship Id="rId5" Type="http://schemas.openxmlformats.org/officeDocument/2006/relationships/image" Target="../media/image276.png"/><Relationship Id="rId10" Type="http://schemas.openxmlformats.org/officeDocument/2006/relationships/image" Target="../media/image281.png"/><Relationship Id="rId4" Type="http://schemas.openxmlformats.org/officeDocument/2006/relationships/image" Target="../media/image275.png"/><Relationship Id="rId9" Type="http://schemas.openxmlformats.org/officeDocument/2006/relationships/image" Target="../media/image28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85.png"/><Relationship Id="rId7" Type="http://schemas.openxmlformats.org/officeDocument/2006/relationships/image" Target="../media/image289.png"/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8.png"/><Relationship Id="rId5" Type="http://schemas.openxmlformats.org/officeDocument/2006/relationships/image" Target="../media/image287.png"/><Relationship Id="rId10" Type="http://schemas.openxmlformats.org/officeDocument/2006/relationships/image" Target="../media/image9.png"/><Relationship Id="rId4" Type="http://schemas.openxmlformats.org/officeDocument/2006/relationships/image" Target="../media/image286.png"/><Relationship Id="rId9" Type="http://schemas.openxmlformats.org/officeDocument/2006/relationships/image" Target="../media/image29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7" Type="http://schemas.openxmlformats.org/officeDocument/2006/relationships/image" Target="../media/image9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5.png"/><Relationship Id="rId5" Type="http://schemas.openxmlformats.org/officeDocument/2006/relationships/image" Target="../media/image294.png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png"/><Relationship Id="rId13" Type="http://schemas.openxmlformats.org/officeDocument/2006/relationships/image" Target="../media/image305.png"/><Relationship Id="rId3" Type="http://schemas.openxmlformats.org/officeDocument/2006/relationships/image" Target="../media/image297.png"/><Relationship Id="rId7" Type="http://schemas.openxmlformats.org/officeDocument/2006/relationships/image" Target="../media/image301.png"/><Relationship Id="rId12" Type="http://schemas.openxmlformats.org/officeDocument/2006/relationships/image" Target="../media/image208.pn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0.png"/><Relationship Id="rId11" Type="http://schemas.openxmlformats.org/officeDocument/2006/relationships/image" Target="../media/image304.png"/><Relationship Id="rId5" Type="http://schemas.openxmlformats.org/officeDocument/2006/relationships/image" Target="../media/image299.png"/><Relationship Id="rId10" Type="http://schemas.openxmlformats.org/officeDocument/2006/relationships/image" Target="../media/image206.png"/><Relationship Id="rId4" Type="http://schemas.openxmlformats.org/officeDocument/2006/relationships/image" Target="../media/image298.png"/><Relationship Id="rId9" Type="http://schemas.openxmlformats.org/officeDocument/2006/relationships/image" Target="../media/image303.png"/><Relationship Id="rId1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306.png"/><Relationship Id="rId7" Type="http://schemas.openxmlformats.org/officeDocument/2006/relationships/image" Target="../media/image31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9.png"/><Relationship Id="rId11" Type="http://schemas.openxmlformats.org/officeDocument/2006/relationships/image" Target="../media/image9.png"/><Relationship Id="rId5" Type="http://schemas.openxmlformats.org/officeDocument/2006/relationships/image" Target="../media/image308.png"/><Relationship Id="rId10" Type="http://schemas.openxmlformats.org/officeDocument/2006/relationships/image" Target="../media/image313.png"/><Relationship Id="rId4" Type="http://schemas.openxmlformats.org/officeDocument/2006/relationships/image" Target="../media/image307.png"/><Relationship Id="rId9" Type="http://schemas.openxmlformats.org/officeDocument/2006/relationships/image" Target="../media/image31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13" Type="http://schemas.openxmlformats.org/officeDocument/2006/relationships/image" Target="../media/image322.png"/><Relationship Id="rId3" Type="http://schemas.openxmlformats.org/officeDocument/2006/relationships/image" Target="../media/image235.png"/><Relationship Id="rId7" Type="http://schemas.openxmlformats.org/officeDocument/2006/relationships/image" Target="../media/image316.png"/><Relationship Id="rId12" Type="http://schemas.openxmlformats.org/officeDocument/2006/relationships/image" Target="../media/image321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5.png"/><Relationship Id="rId11" Type="http://schemas.openxmlformats.org/officeDocument/2006/relationships/image" Target="../media/image320.png"/><Relationship Id="rId5" Type="http://schemas.openxmlformats.org/officeDocument/2006/relationships/image" Target="../media/image237.png"/><Relationship Id="rId10" Type="http://schemas.openxmlformats.org/officeDocument/2006/relationships/image" Target="../media/image319.png"/><Relationship Id="rId4" Type="http://schemas.openxmlformats.org/officeDocument/2006/relationships/image" Target="../media/image236.png"/><Relationship Id="rId9" Type="http://schemas.openxmlformats.org/officeDocument/2006/relationships/image" Target="../media/image318.png"/><Relationship Id="rId1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3" Type="http://schemas.openxmlformats.org/officeDocument/2006/relationships/image" Target="../media/image323.png"/><Relationship Id="rId7" Type="http://schemas.openxmlformats.org/officeDocument/2006/relationships/image" Target="../media/image3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6.png"/><Relationship Id="rId5" Type="http://schemas.openxmlformats.org/officeDocument/2006/relationships/image" Target="../media/image325.png"/><Relationship Id="rId4" Type="http://schemas.openxmlformats.org/officeDocument/2006/relationships/image" Target="../media/image324.png"/><Relationship Id="rId9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13" Type="http://schemas.openxmlformats.org/officeDocument/2006/relationships/image" Target="../media/image339.png"/><Relationship Id="rId18" Type="http://schemas.openxmlformats.org/officeDocument/2006/relationships/image" Target="../media/image344.png"/><Relationship Id="rId3" Type="http://schemas.openxmlformats.org/officeDocument/2006/relationships/image" Target="../media/image329.png"/><Relationship Id="rId7" Type="http://schemas.openxmlformats.org/officeDocument/2006/relationships/image" Target="../media/image333.png"/><Relationship Id="rId12" Type="http://schemas.openxmlformats.org/officeDocument/2006/relationships/image" Target="../media/image338.png"/><Relationship Id="rId17" Type="http://schemas.openxmlformats.org/officeDocument/2006/relationships/image" Target="../media/image343.png"/><Relationship Id="rId2" Type="http://schemas.openxmlformats.org/officeDocument/2006/relationships/image" Target="../media/image234.png"/><Relationship Id="rId16" Type="http://schemas.openxmlformats.org/officeDocument/2006/relationships/image" Target="../media/image3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2.png"/><Relationship Id="rId11" Type="http://schemas.openxmlformats.org/officeDocument/2006/relationships/image" Target="../media/image337.png"/><Relationship Id="rId5" Type="http://schemas.openxmlformats.org/officeDocument/2006/relationships/image" Target="../media/image331.png"/><Relationship Id="rId15" Type="http://schemas.openxmlformats.org/officeDocument/2006/relationships/image" Target="../media/image341.png"/><Relationship Id="rId10" Type="http://schemas.openxmlformats.org/officeDocument/2006/relationships/image" Target="../media/image336.png"/><Relationship Id="rId19" Type="http://schemas.openxmlformats.org/officeDocument/2006/relationships/image" Target="../media/image9.png"/><Relationship Id="rId4" Type="http://schemas.openxmlformats.org/officeDocument/2006/relationships/image" Target="../media/image330.png"/><Relationship Id="rId9" Type="http://schemas.openxmlformats.org/officeDocument/2006/relationships/image" Target="../media/image335.png"/><Relationship Id="rId14" Type="http://schemas.openxmlformats.org/officeDocument/2006/relationships/image" Target="../media/image34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34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7.png"/><Relationship Id="rId5" Type="http://schemas.openxmlformats.org/officeDocument/2006/relationships/image" Target="../media/image346.png"/><Relationship Id="rId4" Type="http://schemas.openxmlformats.org/officeDocument/2006/relationships/image" Target="../media/image34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9.png"/><Relationship Id="rId2" Type="http://schemas.openxmlformats.org/officeDocument/2006/relationships/image" Target="../media/image3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3.png"/><Relationship Id="rId5" Type="http://schemas.openxmlformats.org/officeDocument/2006/relationships/image" Target="../media/image352.png"/><Relationship Id="rId4" Type="http://schemas.openxmlformats.org/officeDocument/2006/relationships/image" Target="../media/image3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4286707" cy="4286707"/>
          </a:xfrm>
          <a:prstGeom prst="ellipse">
            <a:avLst/>
          </a:prstGeom>
          <a:solidFill>
            <a:srgbClr val="1E3A8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05902" y="2572207"/>
            <a:ext cx="4762195" cy="4762195"/>
          </a:xfrm>
          <a:prstGeom prst="ellipse">
            <a:avLst/>
          </a:prstGeom>
          <a:solidFill>
            <a:srgbClr val="2563EB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657807" y="394106"/>
            <a:ext cx="8877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&amp; Growth Strategy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28546" y="889711"/>
            <a:ext cx="893460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8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데이터 이해 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kern="0" spc="-108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그로스 분석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561795" y="2627071"/>
            <a:ext cx="9068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데이터 분석 교육 핸드아웃</a:t>
            </a:r>
            <a:endParaRPr lang="en-US" sz="2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1714500" y="3712464"/>
            <a:ext cx="8762695" cy="27505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376318"/>
            <a:ext cx="9144" cy="1423721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86254" y="4246474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90749" y="4198925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486254" y="4636922"/>
            <a:ext cx="3403397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비즈니스 성장 둔화의 원인을 규명하고,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기반의 </a:t>
            </a: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및 성장 액션 플랜</a:t>
            </a: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수립 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1598" y="4246474"/>
            <a:ext cx="14264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4198925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636922"/>
            <a:ext cx="3403397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트렌드/세그먼트 분석 리포트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성장 기여도 분해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인사이트 요약(MD) 및 데이터셋(CSV) 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이해부터 인사이트 도출까지, 체계적인 그로스 분석 여정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1285646" y="2866644"/>
            <a:ext cx="30449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그로스 분석 프레임워크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문제를 체계적으로 진단하는 4단계 방법론 (트렌드 → 영향 요인 → 세그먼트 → 액션)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6748272" y="2866644"/>
            <a:ext cx="237744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구조와 전처리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핵심 테이블의 관계 파악 및 시계열 데이터 조인 기법 (merge vs merge_asof)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데이터 분석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트렌드, 프로모션 리프트, 계절성 히트맵, 성장 기여도 등 핵심 지표 분석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00723" y="4772254"/>
            <a:ext cx="333756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요약 및 활용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인사이트를 요약하여 액션 플랜 수립 및 AI 챗봇(Part 3) 연동을 위한 데이터 준비</a:t>
            </a:r>
            <a:endParaRPr lang="en-US" sz="13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5" y="30541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그로스 분석 프레임워크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 해결을 위한 체계적인 4단계 접근 방식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571500" y="2590495"/>
            <a:ext cx="2318918" cy="2924251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829154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52928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파악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19856"/>
            <a:ext cx="1923898" cy="629107"/>
          </a:xfrm>
          <a:prstGeom prst="roundRect">
            <a:avLst>
              <a:gd name="adj" fmla="val 3523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771754" y="3419856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923544" y="3534156"/>
            <a:ext cx="17236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"언제부터, 얼마나 떨어졌나?"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200754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4622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일별/월별 매출 추이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33849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/ MoM 성장률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5426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 추세선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3481121" y="2590495"/>
            <a:ext cx="2318918" cy="2924251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3681374" y="2829154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3642970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852928"/>
            <a:ext cx="13176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요인 분해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3681374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3834079" y="3534156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떨어졌나?"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262018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 (Lift)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휴일/계절성/유가 분석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기여도 분해</a:t>
            </a:r>
            <a:endParaRPr lang="en-US" sz="11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6391656" y="2590495"/>
            <a:ext cx="2318918" cy="2924251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6590995" y="2829154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/>
          <p:nvPr/>
        </p:nvSpPr>
        <p:spPr>
          <a:xfrm>
            <a:off x="6553505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91502" y="2852928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 심화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590995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6743700" y="3534156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떨어졌나?"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26201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클러스터/타입 분석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vs 객단가 분해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4분면 포지셔닝</a:t>
            </a:r>
            <a:endParaRPr lang="en-US" sz="11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9301277" y="2590495"/>
            <a:ext cx="2318918" cy="2924251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/>
          <p:cNvSpPr/>
          <p:nvPr/>
        </p:nvSpPr>
        <p:spPr>
          <a:xfrm>
            <a:off x="9501530" y="2829154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/>
          <p:nvPr/>
        </p:nvSpPr>
        <p:spPr>
          <a:xfrm>
            <a:off x="9463126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852928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플랜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9501530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 txBox="1"/>
          <p:nvPr/>
        </p:nvSpPr>
        <p:spPr>
          <a:xfrm>
            <a:off x="9653321" y="3534156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회복할 것인가?"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26201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전략 권고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세그먼트 선정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효과 시뮬레이션</a:t>
            </a:r>
            <a:endParaRPr lang="en-US" sz="11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858707" y="-1429207"/>
            <a:ext cx="4762195" cy="476219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핵심 포인트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올바르게 해석하기 위해 반드시 지켜야 할 두 가지 원칙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57707" y="2076602"/>
            <a:ext cx="5000854" cy="49149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076602"/>
            <a:ext cx="4981651" cy="758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248156" y="2467051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1433779" y="2676449"/>
            <a:ext cx="390449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48156" y="3514954"/>
            <a:ext cx="4589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분해(Decomposition)가 핵심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1248156" y="4162349"/>
            <a:ext cx="429585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숫자(Total Number)만 보면 원인을 놓치기 쉽습니다. 평균은 데이터의 변동성을 감춥니다. 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데이터를 </a:t>
            </a: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시계열, 상품 카테고리, 지역, 고객 세그먼트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다양한 차원으로 쪼개어(Drill-down) 구체적인 변화의 근원을 찾아야 합니다. </a:t>
            </a:r>
            <a:endParaRPr lang="en-US" sz="15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6334049" y="2076602"/>
            <a:ext cx="5000854" cy="49149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334049" y="2076602"/>
            <a:ext cx="4981651" cy="7589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724498" y="2467051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33895" y="2676449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24498" y="3514954"/>
            <a:ext cx="4410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 vs 원인 구분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6724498" y="4162349"/>
            <a:ext cx="4295851" cy="2438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"매출이 떨어졌다"는 것은 눈에 보이는 </a:t>
            </a:r>
            <a:r>
              <a:rPr lang="en-US" sz="15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현상(Symptom)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뿐입니다. 이것 자체가 문제는 아닙니다. 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진짜 </a:t>
            </a: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원인(Root Cause)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무엇입니까? 거래건수의 감소입니까, 객단가의 하락입니까, 아니면 특정 고수익 상품군의 이탈입니까? 원인을 좁혀야 해결책이 나옵니다. 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구조와 시계열 조인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에콰도르 대형 유통사(Corporación Favorita) 5개 테이블의 관계도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533449"/>
            <a:ext cx="11048695" cy="494324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1524305" y="2726741"/>
            <a:ext cx="2476195" cy="255757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33449" y="2735885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533449" y="3193085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1686154" y="2735885"/>
            <a:ext cx="514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stores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3666744" y="2888590"/>
            <a:ext cx="171907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533449" y="3203143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533449" y="3546043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1533449" y="3203143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메타데이터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876349" y="3626510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49999" r="-49999"/>
          <a:stretch/>
        </p:blipFill>
        <p:spPr>
          <a:xfrm>
            <a:off x="1686154" y="3736238"/>
            <a:ext cx="190195" cy="9509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76349" y="3941064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city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30000" r="-30000"/>
          <a:stretch/>
        </p:blipFill>
        <p:spPr>
          <a:xfrm>
            <a:off x="1686154" y="4050792"/>
            <a:ext cx="190195" cy="9509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76349" y="42556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state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l="-38888" r="-38888"/>
          <a:stretch/>
        </p:blipFill>
        <p:spPr>
          <a:xfrm>
            <a:off x="1686154" y="4364431"/>
            <a:ext cx="190195" cy="9509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876349" y="4569257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type</a:t>
            </a:r>
            <a:endParaRPr lang="en-US" sz="10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l="-64285" r="-64285"/>
          <a:stretch/>
        </p:blipFill>
        <p:spPr>
          <a:xfrm>
            <a:off x="1686154" y="4678985"/>
            <a:ext cx="190195" cy="9509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876349" y="4883810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cluster</a:t>
            </a:r>
            <a:endParaRPr lang="en-US" sz="1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 l="-38888" r="-38888"/>
          <a:stretch/>
        </p:blipFill>
        <p:spPr>
          <a:xfrm>
            <a:off x="1686154" y="4993538"/>
            <a:ext cx="190195" cy="95098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rcRect t="-17" b="-17"/>
          <a:stretch/>
        </p:blipFill>
        <p:spPr>
          <a:xfrm>
            <a:off x="2000707" y="2104949"/>
            <a:ext cx="2476195" cy="161483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2009851" y="2115007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7"/>
          <p:cNvSpPr/>
          <p:nvPr/>
        </p:nvSpPr>
        <p:spPr>
          <a:xfrm>
            <a:off x="2009851" y="2572207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8"/>
          <p:cNvSpPr txBox="1"/>
          <p:nvPr/>
        </p:nvSpPr>
        <p:spPr>
          <a:xfrm>
            <a:off x="2162556" y="2115007"/>
            <a:ext cx="2478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</a:t>
            </a:r>
            <a:endParaRPr lang="en-US" sz="12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4123944" y="2266798"/>
            <a:ext cx="190195" cy="152705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2009851" y="2581351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0"/>
          <p:cNvSpPr/>
          <p:nvPr/>
        </p:nvSpPr>
        <p:spPr>
          <a:xfrm>
            <a:off x="2009851" y="2924251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1"/>
          <p:cNvSpPr txBox="1"/>
          <p:nvPr/>
        </p:nvSpPr>
        <p:spPr>
          <a:xfrm>
            <a:off x="2009851" y="2581351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WTI 유가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2352751" y="30047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rcRect l="-64285" r="-64285"/>
          <a:stretch/>
        </p:blipFill>
        <p:spPr>
          <a:xfrm>
            <a:off x="2162556" y="3114446"/>
            <a:ext cx="190195" cy="95098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2352751" y="331927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dcoilwtico</a:t>
            </a:r>
            <a:endParaRPr lang="en-US" sz="10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 l="-109999" r="-109999"/>
          <a:stretch/>
        </p:blipFill>
        <p:spPr>
          <a:xfrm>
            <a:off x="2162556" y="3429000"/>
            <a:ext cx="190195" cy="95098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rcRect t="-4" b="-4"/>
          <a:stretch/>
        </p:blipFill>
        <p:spPr>
          <a:xfrm>
            <a:off x="7715707" y="2104949"/>
            <a:ext cx="2476195" cy="2243023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7724851" y="2115007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D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5"/>
          <p:cNvSpPr/>
          <p:nvPr/>
        </p:nvSpPr>
        <p:spPr>
          <a:xfrm>
            <a:off x="7724851" y="2572207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6"/>
          <p:cNvSpPr txBox="1"/>
          <p:nvPr/>
        </p:nvSpPr>
        <p:spPr>
          <a:xfrm>
            <a:off x="7877556" y="2115007"/>
            <a:ext cx="128656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holidays_events</a:t>
            </a:r>
            <a:endParaRPr lang="en-US" sz="12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9896551" y="2266798"/>
            <a:ext cx="133502" cy="152705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7724851" y="2581351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28"/>
          <p:cNvSpPr/>
          <p:nvPr/>
        </p:nvSpPr>
        <p:spPr>
          <a:xfrm>
            <a:off x="7724851" y="2924251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29"/>
          <p:cNvSpPr txBox="1"/>
          <p:nvPr/>
        </p:nvSpPr>
        <p:spPr>
          <a:xfrm>
            <a:off x="7724851" y="2581351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 및 이벤트 정보</a:t>
            </a:r>
            <a:endParaRPr lang="en-US" sz="900" dirty="0"/>
          </a:p>
        </p:txBody>
      </p:sp>
      <p:sp>
        <p:nvSpPr>
          <p:cNvPr id="46" name="Text 30"/>
          <p:cNvSpPr txBox="1"/>
          <p:nvPr/>
        </p:nvSpPr>
        <p:spPr>
          <a:xfrm>
            <a:off x="8067751" y="30047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3"/>
          <a:srcRect l="-64285" r="-64285"/>
          <a:stretch/>
        </p:blipFill>
        <p:spPr>
          <a:xfrm>
            <a:off x="7877556" y="3114446"/>
            <a:ext cx="190195" cy="95098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8067751" y="331927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type</a:t>
            </a:r>
            <a:endParaRPr lang="en-US" sz="1000" dirty="0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7"/>
          <a:srcRect l="-49999" r="-49999"/>
          <a:stretch/>
        </p:blipFill>
        <p:spPr>
          <a:xfrm>
            <a:off x="7877556" y="3429000"/>
            <a:ext cx="190195" cy="95098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8067751" y="3633826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locale</a:t>
            </a:r>
            <a:endParaRPr lang="en-US" sz="1000" dirty="0"/>
          </a:p>
        </p:txBody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8"/>
          <a:srcRect l="-83333" r="-83333"/>
          <a:stretch/>
        </p:blipFill>
        <p:spPr>
          <a:xfrm>
            <a:off x="7877556" y="3743554"/>
            <a:ext cx="190195" cy="95098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8067751" y="3948379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transferred</a:t>
            </a:r>
            <a:endParaRPr lang="en-US" sz="10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9"/>
          <a:srcRect l="-49999" r="-49999"/>
          <a:stretch/>
        </p:blipFill>
        <p:spPr>
          <a:xfrm>
            <a:off x="7877556" y="4058107"/>
            <a:ext cx="190195" cy="95098"/>
          </a:xfrm>
          <a:prstGeom prst="rect">
            <a:avLst/>
          </a:prstGeom>
        </p:spPr>
      </p:pic>
      <p:pic>
        <p:nvPicPr>
          <p:cNvPr id="54" name="Image 18" descr="preencoded.png"/>
          <p:cNvPicPr>
            <a:picLocks noChangeAspect="1"/>
          </p:cNvPicPr>
          <p:nvPr/>
        </p:nvPicPr>
        <p:blipFill>
          <a:blip r:embed="rId20"/>
          <a:srcRect l="-3" r="-3"/>
          <a:stretch/>
        </p:blipFill>
        <p:spPr>
          <a:xfrm>
            <a:off x="7715707" y="3976726"/>
            <a:ext cx="2476195" cy="1928470"/>
          </a:xfrm>
          <a:prstGeom prst="rect">
            <a:avLst/>
          </a:prstGeom>
        </p:spPr>
      </p:pic>
      <p:sp>
        <p:nvSpPr>
          <p:cNvPr id="55" name="Shape 34"/>
          <p:cNvSpPr/>
          <p:nvPr/>
        </p:nvSpPr>
        <p:spPr>
          <a:xfrm>
            <a:off x="7724851" y="3985870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35"/>
          <p:cNvSpPr/>
          <p:nvPr/>
        </p:nvSpPr>
        <p:spPr>
          <a:xfrm>
            <a:off x="7724851" y="4443070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36"/>
          <p:cNvSpPr txBox="1"/>
          <p:nvPr/>
        </p:nvSpPr>
        <p:spPr>
          <a:xfrm>
            <a:off x="7877556" y="3985870"/>
            <a:ext cx="10003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transactions</a:t>
            </a:r>
            <a:endParaRPr lang="en-US" sz="1200" dirty="0"/>
          </a:p>
        </p:txBody>
      </p:sp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21"/>
          <a:srcRect t="-100" b="-100"/>
          <a:stretch/>
        </p:blipFill>
        <p:spPr>
          <a:xfrm>
            <a:off x="9915754" y="4138574"/>
            <a:ext cx="114300" cy="152705"/>
          </a:xfrm>
          <a:prstGeom prst="rect">
            <a:avLst/>
          </a:prstGeom>
        </p:spPr>
      </p:pic>
      <p:sp>
        <p:nvSpPr>
          <p:cNvPr id="59" name="Shape 37"/>
          <p:cNvSpPr/>
          <p:nvPr/>
        </p:nvSpPr>
        <p:spPr>
          <a:xfrm>
            <a:off x="7724851" y="4453128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38"/>
          <p:cNvSpPr/>
          <p:nvPr/>
        </p:nvSpPr>
        <p:spPr>
          <a:xfrm>
            <a:off x="7724851" y="4796028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39"/>
          <p:cNvSpPr txBox="1"/>
          <p:nvPr/>
        </p:nvSpPr>
        <p:spPr>
          <a:xfrm>
            <a:off x="7724851" y="4453128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매장 거래건수</a:t>
            </a:r>
            <a:endParaRPr lang="en-US" sz="900" dirty="0"/>
          </a:p>
        </p:txBody>
      </p:sp>
      <p:sp>
        <p:nvSpPr>
          <p:cNvPr id="62" name="Text 40"/>
          <p:cNvSpPr txBox="1"/>
          <p:nvPr/>
        </p:nvSpPr>
        <p:spPr>
          <a:xfrm>
            <a:off x="8067751" y="4876495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63" name="Image 20" descr="preencoded.png"/>
          <p:cNvPicPr>
            <a:picLocks noChangeAspect="1"/>
          </p:cNvPicPr>
          <p:nvPr/>
        </p:nvPicPr>
        <p:blipFill>
          <a:blip r:embed="rId13"/>
          <a:srcRect l="-64285" r="-64285"/>
          <a:stretch/>
        </p:blipFill>
        <p:spPr>
          <a:xfrm>
            <a:off x="7877556" y="4986223"/>
            <a:ext cx="190195" cy="95098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8067751" y="5191049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65" name="Image 21" descr="preencoded.png"/>
          <p:cNvPicPr>
            <a:picLocks noChangeAspect="1"/>
          </p:cNvPicPr>
          <p:nvPr/>
        </p:nvPicPr>
        <p:blipFill>
          <a:blip r:embed="rId22"/>
          <a:srcRect l="-38888" r="-38888"/>
          <a:stretch/>
        </p:blipFill>
        <p:spPr>
          <a:xfrm>
            <a:off x="7877556" y="5300777"/>
            <a:ext cx="190195" cy="95098"/>
          </a:xfrm>
          <a:prstGeom prst="rect">
            <a:avLst/>
          </a:prstGeom>
        </p:spPr>
      </p:pic>
      <p:sp>
        <p:nvSpPr>
          <p:cNvPr id="66" name="Text 42"/>
          <p:cNvSpPr txBox="1"/>
          <p:nvPr/>
        </p:nvSpPr>
        <p:spPr>
          <a:xfrm>
            <a:off x="8067751" y="550560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transactions</a:t>
            </a:r>
            <a:endParaRPr lang="en-US" sz="1000" dirty="0"/>
          </a:p>
        </p:txBody>
      </p:sp>
      <p:pic>
        <p:nvPicPr>
          <p:cNvPr id="67" name="Image 22" descr="preencoded.png"/>
          <p:cNvPicPr>
            <a:picLocks noChangeAspect="1"/>
          </p:cNvPicPr>
          <p:nvPr/>
        </p:nvPicPr>
        <p:blipFill>
          <a:blip r:embed="rId23"/>
          <a:srcRect l="-30000" r="-30000"/>
          <a:stretch/>
        </p:blipFill>
        <p:spPr>
          <a:xfrm>
            <a:off x="7877556" y="5615330"/>
            <a:ext cx="190195" cy="95098"/>
          </a:xfrm>
          <a:prstGeom prst="rect">
            <a:avLst/>
          </a:prstGeom>
        </p:spPr>
      </p:pic>
      <p:pic>
        <p:nvPicPr>
          <p:cNvPr id="68" name="Image 23" descr="preencoded.png"/>
          <p:cNvPicPr>
            <a:picLocks noChangeAspect="1"/>
          </p:cNvPicPr>
          <p:nvPr/>
        </p:nvPicPr>
        <p:blipFill>
          <a:blip r:embed="rId24"/>
          <a:srcRect l="-287" r="-287"/>
          <a:stretch/>
        </p:blipFill>
        <p:spPr>
          <a:xfrm>
            <a:off x="4190695" y="3906317"/>
            <a:ext cx="914400" cy="267005"/>
          </a:xfrm>
          <a:prstGeom prst="rect">
            <a:avLst/>
          </a:prstGeom>
        </p:spPr>
      </p:pic>
      <p:sp>
        <p:nvSpPr>
          <p:cNvPr id="69" name="Text 43"/>
          <p:cNvSpPr txBox="1"/>
          <p:nvPr/>
        </p:nvSpPr>
        <p:spPr>
          <a:xfrm>
            <a:off x="4447642" y="3906317"/>
            <a:ext cx="715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 </a:t>
            </a:r>
            <a:endParaRPr lang="en-US" sz="900" dirty="0"/>
          </a:p>
        </p:txBody>
      </p:sp>
      <p:pic>
        <p:nvPicPr>
          <p:cNvPr id="70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4295851" y="3982212"/>
            <a:ext cx="114300" cy="114300"/>
          </a:xfrm>
          <a:prstGeom prst="rect">
            <a:avLst/>
          </a:prstGeom>
        </p:spPr>
      </p:pic>
      <p:pic>
        <p:nvPicPr>
          <p:cNvPr id="71" name="Image 25" descr="preencoded.png"/>
          <p:cNvPicPr>
            <a:picLocks noChangeAspect="1"/>
          </p:cNvPicPr>
          <p:nvPr/>
        </p:nvPicPr>
        <p:blipFill>
          <a:blip r:embed="rId26"/>
          <a:srcRect l="-560" r="-560"/>
          <a:stretch/>
        </p:blipFill>
        <p:spPr>
          <a:xfrm>
            <a:off x="4381805" y="3115361"/>
            <a:ext cx="609905" cy="267005"/>
          </a:xfrm>
          <a:prstGeom prst="rect">
            <a:avLst/>
          </a:prstGeom>
        </p:spPr>
      </p:pic>
      <p:sp>
        <p:nvSpPr>
          <p:cNvPr id="72" name="Text 44"/>
          <p:cNvSpPr txBox="1"/>
          <p:nvPr/>
        </p:nvSpPr>
        <p:spPr>
          <a:xfrm>
            <a:off x="4629607" y="3115361"/>
            <a:ext cx="419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 </a:t>
            </a:r>
            <a:endParaRPr lang="en-US" sz="900" dirty="0"/>
          </a:p>
        </p:txBody>
      </p:sp>
      <p:pic>
        <p:nvPicPr>
          <p:cNvPr id="73" name="Image 26" descr="preencoded.png"/>
          <p:cNvPicPr>
            <a:picLocks noChangeAspect="1"/>
          </p:cNvPicPr>
          <p:nvPr/>
        </p:nvPicPr>
        <p:blipFill>
          <a:blip r:embed="rId27"/>
          <a:srcRect l="-2571" r="-2571"/>
          <a:stretch/>
        </p:blipFill>
        <p:spPr>
          <a:xfrm>
            <a:off x="4486046" y="3191256"/>
            <a:ext cx="105156" cy="114300"/>
          </a:xfrm>
          <a:prstGeom prst="rect">
            <a:avLst/>
          </a:prstGeom>
        </p:spPr>
      </p:pic>
      <p:pic>
        <p:nvPicPr>
          <p:cNvPr id="74" name="Image 27" descr="preencoded.png"/>
          <p:cNvPicPr>
            <a:picLocks noChangeAspect="1"/>
          </p:cNvPicPr>
          <p:nvPr/>
        </p:nvPicPr>
        <p:blipFill>
          <a:blip r:embed="rId26"/>
          <a:srcRect l="-560" r="-560"/>
          <a:stretch/>
        </p:blipFill>
        <p:spPr>
          <a:xfrm>
            <a:off x="7208215" y="3115361"/>
            <a:ext cx="609905" cy="267005"/>
          </a:xfrm>
          <a:prstGeom prst="rect">
            <a:avLst/>
          </a:prstGeom>
        </p:spPr>
      </p:pic>
      <p:sp>
        <p:nvSpPr>
          <p:cNvPr id="75" name="Text 45"/>
          <p:cNvSpPr txBox="1"/>
          <p:nvPr/>
        </p:nvSpPr>
        <p:spPr>
          <a:xfrm>
            <a:off x="7456018" y="3115361"/>
            <a:ext cx="419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 </a:t>
            </a:r>
            <a:endParaRPr lang="en-US" sz="900" dirty="0"/>
          </a:p>
        </p:txBody>
      </p:sp>
      <p:pic>
        <p:nvPicPr>
          <p:cNvPr id="76" name="Image 28" descr="preencoded.png"/>
          <p:cNvPicPr>
            <a:picLocks noChangeAspect="1"/>
          </p:cNvPicPr>
          <p:nvPr/>
        </p:nvPicPr>
        <p:blipFill>
          <a:blip r:embed="rId27"/>
          <a:srcRect l="-2571" r="-2571"/>
          <a:stretch/>
        </p:blipFill>
        <p:spPr>
          <a:xfrm>
            <a:off x="7312457" y="3191256"/>
            <a:ext cx="105156" cy="114300"/>
          </a:xfrm>
          <a:prstGeom prst="rect">
            <a:avLst/>
          </a:prstGeom>
        </p:spPr>
      </p:pic>
      <p:pic>
        <p:nvPicPr>
          <p:cNvPr id="77" name="Image 29" descr="preencoded.png"/>
          <p:cNvPicPr>
            <a:picLocks noChangeAspect="1"/>
          </p:cNvPicPr>
          <p:nvPr/>
        </p:nvPicPr>
        <p:blipFill>
          <a:blip r:embed="rId28"/>
          <a:srcRect t="-4" b="-4"/>
          <a:stretch/>
        </p:blipFill>
        <p:spPr>
          <a:xfrm>
            <a:off x="6554419" y="4746650"/>
            <a:ext cx="1257300" cy="267005"/>
          </a:xfrm>
          <a:prstGeom prst="rect">
            <a:avLst/>
          </a:prstGeom>
        </p:spPr>
      </p:pic>
      <p:sp>
        <p:nvSpPr>
          <p:cNvPr id="78" name="Text 46"/>
          <p:cNvSpPr txBox="1"/>
          <p:nvPr/>
        </p:nvSpPr>
        <p:spPr>
          <a:xfrm>
            <a:off x="6840626" y="4746650"/>
            <a:ext cx="1028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date, store_nbr </a:t>
            </a:r>
            <a:endParaRPr lang="en-US" sz="900" dirty="0"/>
          </a:p>
        </p:txBody>
      </p:sp>
      <p:pic>
        <p:nvPicPr>
          <p:cNvPr id="79" name="Image 30" descr="preencoded.png"/>
          <p:cNvPicPr>
            <a:picLocks noChangeAspect="1"/>
          </p:cNvPicPr>
          <p:nvPr/>
        </p:nvPicPr>
        <p:blipFill>
          <a:blip r:embed="rId29"/>
          <a:srcRect t="-80" b="-80"/>
          <a:stretch/>
        </p:blipFill>
        <p:spPr>
          <a:xfrm>
            <a:off x="6659575" y="4822546"/>
            <a:ext cx="142646" cy="114300"/>
          </a:xfrm>
          <a:prstGeom prst="rect">
            <a:avLst/>
          </a:prstGeom>
        </p:spPr>
      </p:pic>
      <p:pic>
        <p:nvPicPr>
          <p:cNvPr id="80" name="Image 31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4762195" y="2569464"/>
            <a:ext cx="2667305" cy="2872130"/>
          </a:xfrm>
          <a:prstGeom prst="rect">
            <a:avLst/>
          </a:prstGeom>
        </p:spPr>
      </p:pic>
      <p:sp>
        <p:nvSpPr>
          <p:cNvPr id="81" name="Shape 47"/>
          <p:cNvSpPr/>
          <p:nvPr/>
        </p:nvSpPr>
        <p:spPr>
          <a:xfrm>
            <a:off x="4772254" y="2578608"/>
            <a:ext cx="2648102" cy="466344"/>
          </a:xfrm>
          <a:prstGeom prst="roundRect">
            <a:avLst>
              <a:gd name="adj" fmla="val 9603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48"/>
          <p:cNvSpPr/>
          <p:nvPr/>
        </p:nvSpPr>
        <p:spPr>
          <a:xfrm>
            <a:off x="4772254" y="3035808"/>
            <a:ext cx="2648102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49"/>
          <p:cNvSpPr txBox="1"/>
          <p:nvPr/>
        </p:nvSpPr>
        <p:spPr>
          <a:xfrm>
            <a:off x="4924044" y="2578608"/>
            <a:ext cx="4197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1200" dirty="0"/>
          </a:p>
        </p:txBody>
      </p:sp>
      <p:pic>
        <p:nvPicPr>
          <p:cNvPr id="84" name="Image 32" descr="preencoded.png"/>
          <p:cNvPicPr>
            <a:picLocks noChangeAspect="1"/>
          </p:cNvPicPr>
          <p:nvPr/>
        </p:nvPicPr>
        <p:blipFill>
          <a:blip r:embed="rId31"/>
          <a:srcRect t="-43" b="-43"/>
          <a:stretch/>
        </p:blipFill>
        <p:spPr>
          <a:xfrm>
            <a:off x="7134149" y="2731313"/>
            <a:ext cx="133502" cy="152705"/>
          </a:xfrm>
          <a:prstGeom prst="rect">
            <a:avLst/>
          </a:prstGeom>
        </p:spPr>
      </p:pic>
      <p:sp>
        <p:nvSpPr>
          <p:cNvPr id="85" name="Shape 50"/>
          <p:cNvSpPr/>
          <p:nvPr/>
        </p:nvSpPr>
        <p:spPr>
          <a:xfrm>
            <a:off x="4772254" y="3045866"/>
            <a:ext cx="2648102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51"/>
          <p:cNvSpPr/>
          <p:nvPr/>
        </p:nvSpPr>
        <p:spPr>
          <a:xfrm>
            <a:off x="4772254" y="3388766"/>
            <a:ext cx="26481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52"/>
          <p:cNvSpPr txBox="1"/>
          <p:nvPr/>
        </p:nvSpPr>
        <p:spPr>
          <a:xfrm>
            <a:off x="4772254" y="3045866"/>
            <a:ext cx="272491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매장-카테고리 매출 (Target)</a:t>
            </a:r>
            <a:endParaRPr lang="en-US" sz="900" dirty="0"/>
          </a:p>
        </p:txBody>
      </p:sp>
      <p:sp>
        <p:nvSpPr>
          <p:cNvPr id="88" name="Text 53"/>
          <p:cNvSpPr txBox="1"/>
          <p:nvPr/>
        </p:nvSpPr>
        <p:spPr>
          <a:xfrm>
            <a:off x="5115154" y="346923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id</a:t>
            </a:r>
            <a:endParaRPr lang="en-US" sz="1000" dirty="0"/>
          </a:p>
        </p:txBody>
      </p:sp>
      <p:pic>
        <p:nvPicPr>
          <p:cNvPr id="89" name="Image 33" descr="preencoded.png"/>
          <p:cNvPicPr>
            <a:picLocks noChangeAspect="1"/>
          </p:cNvPicPr>
          <p:nvPr/>
        </p:nvPicPr>
        <p:blipFill>
          <a:blip r:embed="rId6"/>
          <a:srcRect l="-49999" r="-49999"/>
          <a:stretch/>
        </p:blipFill>
        <p:spPr>
          <a:xfrm>
            <a:off x="4924044" y="3578962"/>
            <a:ext cx="190195" cy="95098"/>
          </a:xfrm>
          <a:prstGeom prst="rect">
            <a:avLst/>
          </a:prstGeom>
        </p:spPr>
      </p:pic>
      <p:sp>
        <p:nvSpPr>
          <p:cNvPr id="90" name="Text 54"/>
          <p:cNvSpPr txBox="1"/>
          <p:nvPr/>
        </p:nvSpPr>
        <p:spPr>
          <a:xfrm>
            <a:off x="5115154" y="3783787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91" name="Image 34" descr="preencoded.png"/>
          <p:cNvPicPr>
            <a:picLocks noChangeAspect="1"/>
          </p:cNvPicPr>
          <p:nvPr/>
        </p:nvPicPr>
        <p:blipFill>
          <a:blip r:embed="rId13"/>
          <a:srcRect l="-64285" r="-64285"/>
          <a:stretch/>
        </p:blipFill>
        <p:spPr>
          <a:xfrm>
            <a:off x="4924044" y="3893515"/>
            <a:ext cx="190195" cy="95098"/>
          </a:xfrm>
          <a:prstGeom prst="rect">
            <a:avLst/>
          </a:prstGeom>
        </p:spPr>
      </p:pic>
      <p:sp>
        <p:nvSpPr>
          <p:cNvPr id="92" name="Text 55"/>
          <p:cNvSpPr txBox="1"/>
          <p:nvPr/>
        </p:nvSpPr>
        <p:spPr>
          <a:xfrm>
            <a:off x="5115154" y="4098341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93" name="Image 35" descr="preencoded.png"/>
          <p:cNvPicPr>
            <a:picLocks noChangeAspect="1"/>
          </p:cNvPicPr>
          <p:nvPr/>
        </p:nvPicPr>
        <p:blipFill>
          <a:blip r:embed="rId22"/>
          <a:srcRect l="-38888" r="-38888"/>
          <a:stretch/>
        </p:blipFill>
        <p:spPr>
          <a:xfrm>
            <a:off x="4924044" y="4208069"/>
            <a:ext cx="190195" cy="95098"/>
          </a:xfrm>
          <a:prstGeom prst="rect">
            <a:avLst/>
          </a:prstGeom>
        </p:spPr>
      </p:pic>
      <p:sp>
        <p:nvSpPr>
          <p:cNvPr id="94" name="Text 56"/>
          <p:cNvSpPr txBox="1"/>
          <p:nvPr/>
        </p:nvSpPr>
        <p:spPr>
          <a:xfrm>
            <a:off x="5115154" y="441289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family (category)</a:t>
            </a:r>
            <a:endParaRPr lang="en-US" sz="1000" dirty="0"/>
          </a:p>
        </p:txBody>
      </p:sp>
      <p:pic>
        <p:nvPicPr>
          <p:cNvPr id="95" name="Image 36" descr="preencoded.png"/>
          <p:cNvPicPr>
            <a:picLocks noChangeAspect="1"/>
          </p:cNvPicPr>
          <p:nvPr/>
        </p:nvPicPr>
        <p:blipFill>
          <a:blip r:embed="rId32"/>
          <a:srcRect l="-64285" r="-64285"/>
          <a:stretch/>
        </p:blipFill>
        <p:spPr>
          <a:xfrm>
            <a:off x="4924044" y="4521708"/>
            <a:ext cx="190195" cy="95098"/>
          </a:xfrm>
          <a:prstGeom prst="rect">
            <a:avLst/>
          </a:prstGeom>
        </p:spPr>
      </p:pic>
      <p:sp>
        <p:nvSpPr>
          <p:cNvPr id="96" name="Text 57"/>
          <p:cNvSpPr txBox="1"/>
          <p:nvPr/>
        </p:nvSpPr>
        <p:spPr>
          <a:xfrm>
            <a:off x="5115154" y="472653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sales (Target)</a:t>
            </a:r>
            <a:endParaRPr lang="en-US" sz="1000" dirty="0"/>
          </a:p>
        </p:txBody>
      </p:sp>
      <p:pic>
        <p:nvPicPr>
          <p:cNvPr id="97" name="Image 37" descr="preencoded.png"/>
          <p:cNvPicPr>
            <a:picLocks noChangeAspect="1"/>
          </p:cNvPicPr>
          <p:nvPr/>
        </p:nvPicPr>
        <p:blipFill>
          <a:blip r:embed="rId33"/>
          <a:srcRect l="-49999" r="-49999"/>
          <a:stretch/>
        </p:blipFill>
        <p:spPr>
          <a:xfrm>
            <a:off x="4924044" y="4836262"/>
            <a:ext cx="190195" cy="95098"/>
          </a:xfrm>
          <a:prstGeom prst="rect">
            <a:avLst/>
          </a:prstGeom>
        </p:spPr>
      </p:pic>
      <p:sp>
        <p:nvSpPr>
          <p:cNvPr id="98" name="Text 58"/>
          <p:cNvSpPr txBox="1"/>
          <p:nvPr/>
        </p:nvSpPr>
        <p:spPr>
          <a:xfrm>
            <a:off x="5115154" y="5041087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onpromotion</a:t>
            </a:r>
            <a:endParaRPr lang="en-US" sz="1000" dirty="0"/>
          </a:p>
        </p:txBody>
      </p:sp>
      <p:pic>
        <p:nvPicPr>
          <p:cNvPr id="99" name="Image 38" descr="preencoded.png"/>
          <p:cNvPicPr>
            <a:picLocks noChangeAspect="1"/>
          </p:cNvPicPr>
          <p:nvPr/>
        </p:nvPicPr>
        <p:blipFill>
          <a:blip r:embed="rId34"/>
          <a:srcRect l="-49999" r="-49999"/>
          <a:stretch/>
        </p:blipFill>
        <p:spPr>
          <a:xfrm>
            <a:off x="4924044" y="5150815"/>
            <a:ext cx="190195" cy="95098"/>
          </a:xfrm>
          <a:prstGeom prst="rect">
            <a:avLst/>
          </a:prstGeom>
        </p:spPr>
      </p:pic>
      <p:pic>
        <p:nvPicPr>
          <p:cNvPr id="100" name="Image 39" descr="preencoded.png"/>
          <p:cNvPicPr>
            <a:picLocks noChangeAspect="1"/>
          </p:cNvPicPr>
          <p:nvPr/>
        </p:nvPicPr>
        <p:blipFill>
          <a:blip r:embed="rId3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vs merge_asof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데이터 결합을 위한 핵심 함수 비교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28954" y="6344107"/>
            <a:ext cx="360090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데이터프레임 모두 반드시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조인 키(날짜)를 기준으로 오름차순 정렬(sort_values)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되어 있어야 정확하게 동작합니다.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6452921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28954" y="607710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merge_asof 사용 조건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21717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144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972007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495044" y="2352751"/>
            <a:ext cx="10287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 Match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2771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값이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정확히 일치하는 행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결합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66851" y="3295498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1151" y="3295498"/>
            <a:ext cx="394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정보, 지역 코드 등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데이터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조인에 적합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866851" y="3638398"/>
            <a:ext cx="105156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2007" y="3638398"/>
            <a:ext cx="4671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시계열에서 날짜가 하루라도 어긋나면 결합 불가 (데이터 유실)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019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방식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rcRect l="-602" r="-602"/>
          <a:stretch/>
        </p:blipFill>
        <p:spPr>
          <a:xfrm>
            <a:off x="2026310" y="4848149"/>
            <a:ext cx="657454" cy="3337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26310" y="4848149"/>
            <a:ext cx="715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Key: A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2770632" y="4947818"/>
            <a:ext cx="114300" cy="133502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 l="-602" r="-602"/>
          <a:stretch/>
        </p:blipFill>
        <p:spPr>
          <a:xfrm>
            <a:off x="2980030" y="4848149"/>
            <a:ext cx="657454" cy="3337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980030" y="4848149"/>
            <a:ext cx="715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Key: A</a:t>
            </a:r>
            <a:endParaRPr lang="en-US" sz="10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3724351" y="4947818"/>
            <a:ext cx="114300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3933749" y="4848149"/>
            <a:ext cx="581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Join OK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210044" y="1971446"/>
            <a:ext cx="21396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pd.merge_asof()</a:t>
            </a:r>
            <a:endParaRPr lang="en-US" sz="1800" dirty="0"/>
          </a:p>
        </p:txBody>
      </p:sp>
      <p:sp>
        <p:nvSpPr>
          <p:cNvPr id="42" name="Shape 30"/>
          <p:cNvSpPr/>
          <p:nvPr/>
        </p:nvSpPr>
        <p:spPr>
          <a:xfrm>
            <a:off x="7210044" y="2352751"/>
            <a:ext cx="1133856" cy="247802"/>
          </a:xfrm>
          <a:prstGeom prst="roundRect">
            <a:avLst>
              <a:gd name="adj" fmla="val 17031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1"/>
          <p:cNvSpPr txBox="1"/>
          <p:nvPr/>
        </p:nvSpPr>
        <p:spPr>
          <a:xfrm>
            <a:off x="7210044" y="2352751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Nearest Match</a:t>
            </a:r>
            <a:endParaRPr lang="en-US" sz="9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6581851" y="2952598"/>
            <a:ext cx="114300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696151" y="2952598"/>
            <a:ext cx="3556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값이 없으면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가까운 과거 값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가져옴</a:t>
            </a:r>
            <a:endParaRPr lang="en-US" sz="12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6581851" y="3295498"/>
            <a:ext cx="114300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696151" y="3295498"/>
            <a:ext cx="4324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유가, 환율, 센서 등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비정기적 시계열 데이터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조인에 필수</a:t>
            </a:r>
            <a:endParaRPr lang="en-US" sz="12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6581851" y="3638398"/>
            <a:ext cx="114300" cy="13350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696151" y="3638398"/>
            <a:ext cx="3995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"주말이라 유가 데이터가 없어도 금요일 가격을 적용"</a:t>
            </a:r>
            <a:endParaRPr lang="en-US" sz="1200" dirty="0"/>
          </a:p>
        </p:txBody>
      </p:sp>
      <p:sp>
        <p:nvSpPr>
          <p:cNvPr id="50" name="Shape 35"/>
          <p:cNvSpPr/>
          <p:nvPr/>
        </p:nvSpPr>
        <p:spPr>
          <a:xfrm>
            <a:off x="6581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6"/>
          <p:cNvSpPr txBox="1"/>
          <p:nvPr/>
        </p:nvSpPr>
        <p:spPr>
          <a:xfrm>
            <a:off x="6734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방식</a:t>
            </a:r>
            <a:endParaRPr lang="en-US" sz="9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2"/>
          <a:srcRect l="-436" r="-436"/>
          <a:stretch/>
        </p:blipFill>
        <p:spPr>
          <a:xfrm>
            <a:off x="7409383" y="4848149"/>
            <a:ext cx="838505" cy="333756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7409383" y="4848149"/>
            <a:ext cx="8961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Date: 1/3</a:t>
            </a:r>
            <a:endParaRPr lang="en-US" sz="10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34756" y="4947818"/>
            <a:ext cx="133502" cy="133502"/>
          </a:xfrm>
          <a:prstGeom prst="rect">
            <a:avLst/>
          </a:prstGeom>
        </p:spPr>
      </p:pic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4"/>
          <a:srcRect l="-528" r="-528"/>
          <a:stretch/>
        </p:blipFill>
        <p:spPr>
          <a:xfrm>
            <a:off x="8563356" y="4848149"/>
            <a:ext cx="752551" cy="333756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8563356" y="4848149"/>
            <a:ext cx="8101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1/2</a:t>
            </a:r>
            <a:endParaRPr lang="en-US" sz="1000" dirty="0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9402775" y="4947818"/>
            <a:ext cx="114300" cy="133502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9612173" y="4848149"/>
            <a:ext cx="943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1/2 Value</a:t>
            </a:r>
            <a:endParaRPr lang="en-US" sz="1000" dirty="0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1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불완전 데이터 처리 원칙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분석의 왜곡을 막기 위한 데이터 컷오프(Cut-off) 및 정제 기준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04849" y="2866644"/>
            <a:ext cx="26700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불완전 구간 제거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누락된 기간을 포함하면 "매출 급감"이라는 잘못된 신호 발생. 과감히 제외하는 것이 원칙.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6734556" y="2866644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사례: 2017년 8월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2017-08-15 이후 일부 매장 및 카테고리 데이터 누락 확인 → 해당 월 전체를 분석 대상에서 제외.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수립 방법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관측일수(예: 월 28일 이상), 전체 매장의 95% 이상 리포팅 여부를 기준으로 컷오프 설정.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00723" y="4772254"/>
            <a:ext cx="333756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신뢰도 확보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노이즈를 제거해야 트렌드 분석과 예측 모델의 학습 정확도가 향상됨 (GIGO 원칙 준수).</a:t>
            </a:r>
            <a:endParaRPr lang="en-US" sz="13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분석 핵심 KPI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데이터의 변화를 포착하고 해석하기 위한 3가지 관점의 지표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7" r="-7"/>
          <a:stretch/>
        </p:blipFill>
        <p:spPr>
          <a:xfrm>
            <a:off x="571500" y="1719072"/>
            <a:ext cx="3480206" cy="4572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86054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7844" y="218633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71854" y="2049170"/>
            <a:ext cx="151607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지표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(Growth Rate)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886054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 대비 현재의 변화량을 측정하여 비즈니스의 성장 또는 쇠퇴 속도를 파악합니다.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86054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1086307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1086307" y="408645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(전년 대비)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2839212" y="4086454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성장세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1086307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1086307" y="4539082"/>
            <a:ext cx="1228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MoM (전월 대비)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2839212" y="4539082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모멘텀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086307" y="4990795"/>
            <a:ext cx="12298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WoW (전주 대비)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2839212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변동성</a:t>
            </a:r>
            <a:endParaRPr lang="en-US" sz="11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 t="-3" b="-3"/>
          <a:stretch/>
        </p:blipFill>
        <p:spPr>
          <a:xfrm>
            <a:off x="886054" y="5862218"/>
            <a:ext cx="443484" cy="114300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-136" b="-136"/>
          <a:stretch/>
        </p:blipFill>
        <p:spPr>
          <a:xfrm>
            <a:off x="1367028" y="5805526"/>
            <a:ext cx="443484" cy="171907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rcRect t="-103" b="-103"/>
          <a:stretch/>
        </p:blipFill>
        <p:spPr>
          <a:xfrm>
            <a:off x="1848917" y="5824728"/>
            <a:ext cx="443484" cy="152705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rcRect t="-3" b="-3"/>
          <a:stretch/>
        </p:blipFill>
        <p:spPr>
          <a:xfrm>
            <a:off x="2330806" y="5747918"/>
            <a:ext cx="443484" cy="2286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>
            <a:alphaModFix amt="20000"/>
          </a:blip>
          <a:srcRect l="-34" r="-34"/>
          <a:stretch/>
        </p:blipFill>
        <p:spPr>
          <a:xfrm>
            <a:off x="2812694" y="5767121"/>
            <a:ext cx="443484" cy="209398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 l="-47" r="-47"/>
          <a:stretch/>
        </p:blipFill>
        <p:spPr>
          <a:xfrm>
            <a:off x="3293669" y="5672023"/>
            <a:ext cx="443484" cy="304495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5"/>
          <a:srcRect l="-7" r="-7"/>
          <a:stretch/>
        </p:blipFill>
        <p:spPr>
          <a:xfrm>
            <a:off x="4356202" y="1719072"/>
            <a:ext cx="3480206" cy="4572000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4670755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3"/>
          <a:srcRect l="-80" r="-80"/>
          <a:stretch/>
        </p:blipFill>
        <p:spPr>
          <a:xfrm>
            <a:off x="4794199" y="2186330"/>
            <a:ext cx="286207" cy="22860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5356555" y="2049170"/>
            <a:ext cx="186263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 지표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(Moving Average)</a:t>
            </a:r>
            <a:endParaRPr lang="en-US" sz="1600" dirty="0"/>
          </a:p>
        </p:txBody>
      </p:sp>
      <p:sp>
        <p:nvSpPr>
          <p:cNvPr id="33" name="Text 19"/>
          <p:cNvSpPr txBox="1"/>
          <p:nvPr/>
        </p:nvSpPr>
        <p:spPr>
          <a:xfrm>
            <a:off x="4670755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데이터의 노이즈(불규칙 변동)를 제거하고 근본적인 방향성을 확인합니다.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4670755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1"/>
          <p:cNvSpPr/>
          <p:nvPr/>
        </p:nvSpPr>
        <p:spPr>
          <a:xfrm>
            <a:off x="4870094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2"/>
          <p:cNvSpPr txBox="1"/>
          <p:nvPr/>
        </p:nvSpPr>
        <p:spPr>
          <a:xfrm>
            <a:off x="4870094" y="4086454"/>
            <a:ext cx="9491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이동평균</a:t>
            </a:r>
            <a:endParaRPr lang="en-US" sz="1100" dirty="0"/>
          </a:p>
        </p:txBody>
      </p:sp>
      <p:sp>
        <p:nvSpPr>
          <p:cNvPr id="37" name="Text 23"/>
          <p:cNvSpPr txBox="1"/>
          <p:nvPr/>
        </p:nvSpPr>
        <p:spPr>
          <a:xfrm>
            <a:off x="6452921" y="4086454"/>
            <a:ext cx="1098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 효과 제거</a:t>
            </a:r>
            <a:endParaRPr lang="en-US" sz="1100" dirty="0"/>
          </a:p>
        </p:txBody>
      </p:sp>
      <p:sp>
        <p:nvSpPr>
          <p:cNvPr id="38" name="Shape 24"/>
          <p:cNvSpPr/>
          <p:nvPr/>
        </p:nvSpPr>
        <p:spPr>
          <a:xfrm>
            <a:off x="4870094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5"/>
          <p:cNvSpPr txBox="1"/>
          <p:nvPr/>
        </p:nvSpPr>
        <p:spPr>
          <a:xfrm>
            <a:off x="4870094" y="4539082"/>
            <a:ext cx="10442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이동평균</a:t>
            </a:r>
            <a:endParaRPr lang="en-US" sz="1100" dirty="0"/>
          </a:p>
        </p:txBody>
      </p:sp>
      <p:sp>
        <p:nvSpPr>
          <p:cNvPr id="40" name="Text 26"/>
          <p:cNvSpPr txBox="1"/>
          <p:nvPr/>
        </p:nvSpPr>
        <p:spPr>
          <a:xfrm>
            <a:off x="6623914" y="4539082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트렌드</a:t>
            </a:r>
            <a:endParaRPr lang="en-US" sz="1100" dirty="0"/>
          </a:p>
        </p:txBody>
      </p:sp>
      <p:sp>
        <p:nvSpPr>
          <p:cNvPr id="41" name="Text 27"/>
          <p:cNvSpPr txBox="1"/>
          <p:nvPr/>
        </p:nvSpPr>
        <p:spPr>
          <a:xfrm>
            <a:off x="4870094" y="4990795"/>
            <a:ext cx="10442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이동평균</a:t>
            </a:r>
            <a:endParaRPr lang="en-US" sz="1100" dirty="0"/>
          </a:p>
        </p:txBody>
      </p:sp>
      <p:sp>
        <p:nvSpPr>
          <p:cNvPr id="42" name="Text 28"/>
          <p:cNvSpPr txBox="1"/>
          <p:nvPr/>
        </p:nvSpPr>
        <p:spPr>
          <a:xfrm>
            <a:off x="6623914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방향성</a:t>
            </a:r>
            <a:endParaRPr lang="en-US" sz="11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4"/>
          <a:srcRect l="-174820" r="-174820"/>
          <a:stretch/>
        </p:blipFill>
        <p:spPr>
          <a:xfrm>
            <a:off x="4670755" y="5596128"/>
            <a:ext cx="2857500" cy="381305"/>
          </a:xfrm>
          <a:prstGeom prst="rect">
            <a:avLst/>
          </a:prstGeom>
        </p:spPr>
      </p:pic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5"/>
          <a:srcRect l="-4" r="-4"/>
          <a:stretch/>
        </p:blipFill>
        <p:spPr>
          <a:xfrm>
            <a:off x="8140903" y="1719072"/>
            <a:ext cx="3480206" cy="4572000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8454542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07247" y="2186330"/>
            <a:ext cx="228600" cy="22860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140342" y="2049170"/>
            <a:ext cx="120975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편차 지표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(Deviation)</a:t>
            </a:r>
            <a:endParaRPr lang="en-US" sz="1600" dirty="0"/>
          </a:p>
        </p:txBody>
      </p:sp>
      <p:sp>
        <p:nvSpPr>
          <p:cNvPr id="48" name="Text 31"/>
          <p:cNvSpPr txBox="1"/>
          <p:nvPr/>
        </p:nvSpPr>
        <p:spPr>
          <a:xfrm>
            <a:off x="8454542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평상시 패턴(Baseline)에서 얼마나 벗어났는지를 통해 이상 징후를 감지합니다.</a:t>
            </a:r>
            <a:endParaRPr lang="en-US" sz="1200" dirty="0"/>
          </a:p>
        </p:txBody>
      </p:sp>
      <p:sp>
        <p:nvSpPr>
          <p:cNvPr id="49" name="Shape 32"/>
          <p:cNvSpPr/>
          <p:nvPr/>
        </p:nvSpPr>
        <p:spPr>
          <a:xfrm>
            <a:off x="8454542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3"/>
          <p:cNvSpPr/>
          <p:nvPr/>
        </p:nvSpPr>
        <p:spPr>
          <a:xfrm>
            <a:off x="8654796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4"/>
          <p:cNvSpPr txBox="1"/>
          <p:nvPr/>
        </p:nvSpPr>
        <p:spPr>
          <a:xfrm>
            <a:off x="8654796" y="4086454"/>
            <a:ext cx="1098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대비 편차</a:t>
            </a:r>
            <a:endParaRPr lang="en-US" sz="1100" dirty="0"/>
          </a:p>
        </p:txBody>
      </p:sp>
      <p:sp>
        <p:nvSpPr>
          <p:cNvPr id="52" name="Text 35"/>
          <p:cNvSpPr txBox="1"/>
          <p:nvPr/>
        </p:nvSpPr>
        <p:spPr>
          <a:xfrm>
            <a:off x="10062972" y="4086454"/>
            <a:ext cx="1247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수준(Level) 변화</a:t>
            </a:r>
            <a:endParaRPr lang="en-US" sz="1100" dirty="0"/>
          </a:p>
        </p:txBody>
      </p:sp>
      <p:sp>
        <p:nvSpPr>
          <p:cNvPr id="53" name="Shape 36"/>
          <p:cNvSpPr/>
          <p:nvPr/>
        </p:nvSpPr>
        <p:spPr>
          <a:xfrm>
            <a:off x="8654796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7"/>
          <p:cNvSpPr txBox="1"/>
          <p:nvPr/>
        </p:nvSpPr>
        <p:spPr>
          <a:xfrm>
            <a:off x="8654796" y="4539082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Z-Score</a:t>
            </a:r>
            <a:endParaRPr lang="en-US" sz="1100" dirty="0"/>
          </a:p>
        </p:txBody>
      </p:sp>
      <p:sp>
        <p:nvSpPr>
          <p:cNvPr id="55" name="Text 38"/>
          <p:cNvSpPr txBox="1"/>
          <p:nvPr/>
        </p:nvSpPr>
        <p:spPr>
          <a:xfrm>
            <a:off x="10108692" y="4539082"/>
            <a:ext cx="11905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이상치(Outlier)</a:t>
            </a:r>
            <a:endParaRPr lang="en-US" sz="1100" dirty="0"/>
          </a:p>
        </p:txBody>
      </p:sp>
      <p:sp>
        <p:nvSpPr>
          <p:cNvPr id="56" name="Text 39"/>
          <p:cNvSpPr txBox="1"/>
          <p:nvPr/>
        </p:nvSpPr>
        <p:spPr>
          <a:xfrm>
            <a:off x="8654796" y="4990795"/>
            <a:ext cx="1020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CV (변동계수)</a:t>
            </a:r>
            <a:endParaRPr lang="en-US" sz="1100" dirty="0"/>
          </a:p>
        </p:txBody>
      </p:sp>
      <p:sp>
        <p:nvSpPr>
          <p:cNvPr id="57" name="Text 40"/>
          <p:cNvSpPr txBox="1"/>
          <p:nvPr/>
        </p:nvSpPr>
        <p:spPr>
          <a:xfrm>
            <a:off x="10408615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평가</a:t>
            </a:r>
            <a:endParaRPr lang="en-US" sz="1100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7"/>
          <a:srcRect t="-403" b="-403"/>
          <a:stretch/>
        </p:blipFill>
        <p:spPr>
          <a:xfrm>
            <a:off x="8454542" y="5777179"/>
            <a:ext cx="2851099" cy="19202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9025128" y="5747918"/>
            <a:ext cx="75895" cy="75895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2"/>
          <p:cNvSpPr/>
          <p:nvPr/>
        </p:nvSpPr>
        <p:spPr>
          <a:xfrm>
            <a:off x="9881006" y="5747918"/>
            <a:ext cx="75895" cy="75895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878617" y="5729630"/>
            <a:ext cx="114300" cy="114300"/>
          </a:xfrm>
          <a:prstGeom prst="rect">
            <a:avLst/>
          </a:prstGeom>
        </p:spPr>
      </p:pic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1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성장률 계산과 해석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Year-over-Year: 전년 동기 대비 변화율을 통한 성장 추세 파악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1333195" y="1628546"/>
            <a:ext cx="9525305" cy="233812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2206447" y="2338121"/>
            <a:ext cx="3124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YoY 성장률(%) =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5341925" y="2581351"/>
            <a:ext cx="3295498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5068519" y="2085746"/>
            <a:ext cx="20034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올해 매출</a:t>
            </a:r>
            <a:endParaRPr lang="en-US" sz="2700" dirty="0"/>
          </a:p>
        </p:txBody>
      </p:sp>
      <p:sp>
        <p:nvSpPr>
          <p:cNvPr id="13" name="Text 9"/>
          <p:cNvSpPr txBox="1"/>
          <p:nvPr/>
        </p:nvSpPr>
        <p:spPr>
          <a:xfrm>
            <a:off x="6894576" y="2085746"/>
            <a:ext cx="191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6907378" y="2085746"/>
            <a:ext cx="20034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작년 매출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5988406" y="2657246"/>
            <a:ext cx="200345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작년 매출</a:t>
            </a:r>
            <a:endParaRPr lang="en-US" sz="2700" dirty="0"/>
          </a:p>
        </p:txBody>
      </p:sp>
      <p:sp>
        <p:nvSpPr>
          <p:cNvPr id="16" name="Text 12"/>
          <p:cNvSpPr txBox="1"/>
          <p:nvPr/>
        </p:nvSpPr>
        <p:spPr>
          <a:xfrm>
            <a:off x="8759952" y="2338121"/>
            <a:ext cx="112745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2700" dirty="0"/>
          </a:p>
        </p:txBody>
      </p:sp>
      <p:sp>
        <p:nvSpPr>
          <p:cNvPr id="17" name="Text 13"/>
          <p:cNvSpPr txBox="1"/>
          <p:nvPr/>
        </p:nvSpPr>
        <p:spPr>
          <a:xfrm>
            <a:off x="1628546" y="3362249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*전년 동월(또는 동일 기간) 데이터와 비교하여 계절성을 제거한 순수 성장률 측정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57707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857707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590142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절대값 대신 성장률인가? </a:t>
            </a:r>
            <a:endParaRPr lang="en-US" sz="15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30000" r="-30000"/>
          <a:stretch/>
        </p:blipFill>
        <p:spPr>
          <a:xfrm>
            <a:off x="1152144" y="4681728"/>
            <a:ext cx="342900" cy="342900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1152144" y="5167274"/>
            <a:ext cx="114300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9149" y="516727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규모에 관계없는 비교: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 규모가 다른 매장 간 성과를 공정하게 비교할 수 있습니다.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1152144" y="5768950"/>
            <a:ext cx="114300" cy="1335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9149" y="576895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제거: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전월 대비(MoM)는 계절 효과로 왜곡될 수 있으나, 전년 동기는 계절 조건이 유사합니다.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1152144" y="6399886"/>
            <a:ext cx="4505249" cy="1162202"/>
          </a:xfrm>
          <a:prstGeom prst="roundRect">
            <a:avLst>
              <a:gd name="adj" fmla="val 12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1304849" y="679947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304849" y="6551676"/>
            <a:ext cx="324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2876702" y="6551676"/>
            <a:ext cx="7973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절대값 평가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854550" y="6551676"/>
            <a:ext cx="7973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평가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304849" y="710488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1304849" y="6857086"/>
            <a:ext cx="12783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A매장 (10억→11억)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3385109" y="6857086"/>
            <a:ext cx="9637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+1억 증가 (큼)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140757" y="685708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+10%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304849" y="7161581"/>
            <a:ext cx="12765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B매장 (1억→1.5억)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3000146" y="7161581"/>
            <a:ext cx="12362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+0.5억 증가 (작음)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635094" y="7161581"/>
            <a:ext cx="1011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+50% (고성장)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238951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238951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6972300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해석 시 주의사항 </a:t>
            </a:r>
            <a:endParaRPr lang="en-US" sz="15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302" y="4681728"/>
            <a:ext cx="342900" cy="342900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34302" y="5167274"/>
            <a:ext cx="133502" cy="1335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820510" y="5167274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기저 효과 (Base Effect):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매출(분모)이 비정상적으로 낮았다면, 올해 조금만 팔아도 성장률이 폭등해 보입니다.</a:t>
            </a:r>
            <a:endParaRPr lang="en-US" sz="12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34302" y="5768950"/>
            <a:ext cx="133502" cy="13350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20510" y="5768950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모수의 함정: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매출이 적은 신규 카테고리는 1~2개만 더 팔려도 100%, 200% 성장으로 과장될 수 있습니다.</a:t>
            </a:r>
            <a:endParaRPr lang="en-US" sz="12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34302" y="6370625"/>
            <a:ext cx="133502" cy="133502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820510" y="6370625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누락: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데이터가 없는 신규 매장은 YoY 계산이 불가능하므로 별도 그룹으로 분석해야 합니다.</a:t>
            </a:r>
            <a:endParaRPr lang="en-US" sz="12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월×연도 히트맵 분석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시각적으로 계절성 패턴과 이상치를 한눈에 파악하는 방법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" y="1628546"/>
            <a:ext cx="3810305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57046" y="1867205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구조와 원리 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1910182"/>
            <a:ext cx="171907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9244" y="2238451"/>
            <a:ext cx="34107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두 개의 범주(월, 연도)를 축으로 설정하고, 매출의 크기를 </a:t>
            </a: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색상의 농도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표현합니다. 숫자만으로는 보이지 않는 거시적인 패턴을 직관적으로 보여줍니다. 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500" y="3397910"/>
            <a:ext cx="3810305" cy="3314700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057046" y="3636569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해석 포인트 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3679546"/>
            <a:ext cx="171907" cy="171907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809244" y="4046220"/>
            <a:ext cx="152705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76249" y="4007815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(Seasonality)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76249" y="4274820"/>
            <a:ext cx="3143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월(행)의 색상이 매년 진하게 나타나는지 확인합니다. (예: 12월 연말 특수)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" y="4865522"/>
            <a:ext cx="171907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5451" y="4827118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트렌드 (Trend)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095451" y="5094122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왼쪽(과거)에서 오른쪽(최근)으로 갈수록 전체적인 색상이 진해진다면 성장 추세입니다.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5683910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5451" y="5646420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 (Outlier)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095451" y="5912510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패턴에서 벗어난 유독 진하거나 옅은 스팟을 찾습니다. (예: 지진, 파업 등 외부 요인)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4762195" y="1628546"/>
            <a:ext cx="6858000" cy="52669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962449" y="182880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연도별 월 매출 히트맵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9532620" y="185714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217" r="-217"/>
          <a:stretch/>
        </p:blipFill>
        <p:spPr>
          <a:xfrm>
            <a:off x="9829800" y="1904695"/>
            <a:ext cx="952805" cy="758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858500" y="1857146"/>
            <a:ext cx="6803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Sales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1" r="-1"/>
          <a:stretch/>
        </p:blipFill>
        <p:spPr>
          <a:xfrm>
            <a:off x="4962449" y="2152498"/>
            <a:ext cx="6458407" cy="4543654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리프트(Lift) 분석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유무에 따른 매출 성과 차이를 측정하여 마케팅 효율성 판단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7" r="-7"/>
          <a:stretch/>
        </p:blipFill>
        <p:spPr>
          <a:xfrm>
            <a:off x="1333195" y="1628546"/>
            <a:ext cx="9525305" cy="233812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896466" y="2338121"/>
            <a:ext cx="20263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Lift(%) =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3895344" y="2581351"/>
            <a:ext cx="5009998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520440" y="2085746"/>
            <a:ext cx="289407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프로모션 매출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6133795" y="2085746"/>
            <a:ext cx="191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5993892" y="2085746"/>
            <a:ext cx="33384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비프로모션 매출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4731106" y="2657246"/>
            <a:ext cx="333847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비프로모션 매출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9027871" y="2338121"/>
            <a:ext cx="112745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1628546" y="3362249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*평상시 대비 프로모션 기간 동안 매출이 얼마나 "들어 올려졌는지(Lift)" 측정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7707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57707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590142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리프트 지수의 해석 </a:t>
            </a:r>
            <a:endParaRPr lang="en-US" sz="15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2144" y="4681728"/>
            <a:ext cx="342900" cy="342900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52144" y="5167274"/>
            <a:ext cx="114300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19149" y="516727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+50%의 의미: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프로모션을 진행했을 때 평소보다 매출이 1.5배 높았다는 뜻입니다.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52144" y="5768950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9149" y="576895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파악: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카테고리별로 리프트를 비교하면, 할인에 민감한 상품군(탄력적)을 식별할 수 있습니다.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152144" y="6399886"/>
            <a:ext cx="4505249" cy="1162202"/>
          </a:xfrm>
          <a:prstGeom prst="roundRect">
            <a:avLst>
              <a:gd name="adj" fmla="val 12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1304849" y="679947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1304849" y="6551676"/>
            <a:ext cx="571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3301898" y="6551676"/>
            <a:ext cx="5440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Lift(%)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259629" y="6551676"/>
            <a:ext cx="324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304849" y="710488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1304849" y="6857086"/>
            <a:ext cx="1133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식료품(Grocery)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201314" y="685708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+15%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4518965" y="6857086"/>
            <a:ext cx="12161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비탄력적 (필수재)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304849" y="7161581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전자제품(Electronics)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3083357" y="7161581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+120%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4038905" y="7161581"/>
            <a:ext cx="18781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탄력적 (할인 효과 큼)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238951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6238951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 txBox="1"/>
          <p:nvPr/>
        </p:nvSpPr>
        <p:spPr>
          <a:xfrm>
            <a:off x="6972300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상관관계 vs 인과관계의 함정 </a:t>
            </a:r>
            <a:endParaRPr lang="en-US" sz="15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34302" y="4681728"/>
            <a:ext cx="342900" cy="342900"/>
          </a:xfrm>
          <a:prstGeom prst="rect">
            <a:avLst/>
          </a:prstGeom>
        </p:spPr>
      </p:pic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302" y="5167274"/>
            <a:ext cx="133502" cy="1335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820510" y="5167274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타깃팅 바이어스(Bias):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"원래 잘 팔리는 인기 상품"에 프로모션을 거는 경향이 있어 효과가 과장될 수 있습니다.</a:t>
            </a:r>
            <a:endParaRPr lang="en-US" sz="12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302" y="5768950"/>
            <a:ext cx="133502" cy="13350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820510" y="5768950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크리스마스 같은 성수기에 프로모션을 하면, 매출 증가는 '시즌 효과'인지 '할인 효과'인지 구분하기 어렵습니다.</a:t>
            </a:r>
            <a:endParaRPr lang="en-US" sz="12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534302" y="6370625"/>
            <a:ext cx="105156" cy="1335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791249" y="6370625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정확한 인과관계 파악을 위해서는 프로모션을 하지 않은 유사 매장/기간과 비교(A/B 테스트)해야 합니다.</a:t>
            </a:r>
            <a:endParaRPr lang="en-US" sz="12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E11D4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변수: 휴일 vs 프로모션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휴일이라서 잘 팔린 것일까? 데이터로 검증하는 인과관계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171346" y="6344107"/>
            <a:ext cx="6848856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변수(휴일-매출) 사이의 관계를 왜곡하는 제3의 변수(프로모션)를 말합니다. A/B 테스트나 데이터 분석 시 반드시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변수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설정하여 순수한 효과를 측정해야 합니다.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809244" y="6452921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077102"/>
            <a:ext cx="2845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 (Confounding Variable)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976579" y="2171700"/>
            <a:ext cx="256946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32324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 (Phenomenon)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923544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495044" y="2352751"/>
            <a:ext cx="9811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가설: 휴일 효과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4193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휴일(Holiday) 기간에 매출이 평소보다 높게 나타남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6851" y="3338474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0354" y="3338474"/>
            <a:ext cx="366948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"쉬는 날이라 고객이 많다"고 직관적으로 해석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6851" y="3724351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4" y="3724351"/>
            <a:ext cx="38825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하지만 휴일에는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프로모션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함께 진행됨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019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일반적 해석 오류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99" r="-99"/>
          <a:stretch/>
        </p:blipFill>
        <p:spPr>
          <a:xfrm>
            <a:off x="2297887" y="4848149"/>
            <a:ext cx="666598" cy="3337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593238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휴일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2421331" y="4947818"/>
            <a:ext cx="114300" cy="133502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3057754" y="4947818"/>
            <a:ext cx="114300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267151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상승 (오해)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5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F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210044" y="1971446"/>
            <a:ext cx="31519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검증 (Verification)</a:t>
            </a:r>
            <a:endParaRPr lang="en-US" sz="1800" dirty="0"/>
          </a:p>
        </p:txBody>
      </p:sp>
      <p:sp>
        <p:nvSpPr>
          <p:cNvPr id="40" name="Shape 29"/>
          <p:cNvSpPr/>
          <p:nvPr/>
        </p:nvSpPr>
        <p:spPr>
          <a:xfrm>
            <a:off x="7210044" y="2352751"/>
            <a:ext cx="1133856" cy="247802"/>
          </a:xfrm>
          <a:prstGeom prst="roundRect">
            <a:avLst>
              <a:gd name="adj" fmla="val 170310"/>
            </a:avLst>
          </a:prstGeom>
          <a:solidFill>
            <a:srgbClr val="FEC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/>
          <p:cNvSpPr txBox="1"/>
          <p:nvPr/>
        </p:nvSpPr>
        <p:spPr>
          <a:xfrm>
            <a:off x="7210044" y="2352751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진실: 프로모션 효과</a:t>
            </a:r>
            <a:endParaRPr lang="en-US" sz="9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81851" y="2952598"/>
            <a:ext cx="133502" cy="13350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715354" y="2952598"/>
            <a:ext cx="464240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변수: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 없는 휴일(OnPromotion=0)만 필터링</a:t>
            </a:r>
            <a:endParaRPr lang="en-US" sz="12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rcRect l="-2512" r="-2512"/>
          <a:stretch/>
        </p:blipFill>
        <p:spPr>
          <a:xfrm>
            <a:off x="6581851" y="3338474"/>
            <a:ext cx="105156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687007" y="3338474"/>
            <a:ext cx="49130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결과, 프로모션 없는 휴일 매출은 평일 대비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-6.2% 감소</a:t>
            </a:r>
            <a:endParaRPr lang="en-US" sz="12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581851" y="3724351"/>
            <a:ext cx="133502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715354" y="3724351"/>
            <a:ext cx="39803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상승의 진짜 원인은 휴일이 아닌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</a:t>
            </a:r>
            <a:endParaRPr lang="en-US" sz="1200" dirty="0"/>
          </a:p>
        </p:txBody>
      </p:sp>
      <p:sp>
        <p:nvSpPr>
          <p:cNvPr id="48" name="Shape 34"/>
          <p:cNvSpPr/>
          <p:nvPr/>
        </p:nvSpPr>
        <p:spPr>
          <a:xfrm>
            <a:off x="6581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5"/>
          <p:cNvSpPr txBox="1"/>
          <p:nvPr/>
        </p:nvSpPr>
        <p:spPr>
          <a:xfrm>
            <a:off x="6734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요인 통제 후</a:t>
            </a:r>
            <a:endParaRPr lang="en-US" sz="900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8"/>
          <a:srcRect l="-99" r="-99"/>
          <a:stretch/>
        </p:blipFill>
        <p:spPr>
          <a:xfrm>
            <a:off x="7543800" y="4848149"/>
            <a:ext cx="666598" cy="333756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839151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휴일</a:t>
            </a:r>
            <a:endParaRPr lang="en-US" sz="10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5"/>
          <a:srcRect t="-1100" b="-1100"/>
          <a:stretch/>
        </p:blipFill>
        <p:spPr>
          <a:xfrm>
            <a:off x="7667244" y="4947818"/>
            <a:ext cx="114300" cy="133502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8303666" y="4848149"/>
            <a:ext cx="905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without Promo</a:t>
            </a:r>
            <a:endParaRPr lang="en-US" sz="9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9241841" y="4947818"/>
            <a:ext cx="114300" cy="133502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9451238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감소 (진실)</a:t>
            </a:r>
            <a:endParaRPr lang="en-US" sz="10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1904695"/>
            <a:ext cx="2857500" cy="2857500"/>
          </a:xfrm>
          <a:prstGeom prst="ellipse">
            <a:avLst/>
          </a:prstGeom>
          <a:solidFill>
            <a:srgbClr val="F0F9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기여도 분해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세그먼트가 전체 성장을 견인했는지 파악하는 정량적 분석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11048695" cy="1028700"/>
          </a:xfrm>
          <a:prstGeom prst="roundRect">
            <a:avLst>
              <a:gd name="adj" fmla="val 1975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05710" y="1928470"/>
            <a:ext cx="1343254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048610" y="1928470"/>
            <a:ext cx="10579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기여도 공식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33342" y="1971446"/>
            <a:ext cx="15855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기여도(%p) =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11850" y="2133295"/>
            <a:ext cx="2266798" cy="1920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111850" y="1828800"/>
            <a:ext cx="280355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세그먼트의 매출 변화량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82335" y="2171700"/>
            <a:ext cx="324246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매출 변화량 (Total Growth)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95614" y="1971446"/>
            <a:ext cx="7717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100</a:t>
            </a:r>
            <a:endParaRPr lang="en-US" sz="18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571500" y="2943454"/>
            <a:ext cx="11048695" cy="37673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0644" y="2952598"/>
            <a:ext cx="2762402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80644" y="3466490"/>
            <a:ext cx="2762402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80644" y="2952598"/>
            <a:ext cx="283921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(Category)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38474" y="2952598"/>
            <a:ext cx="1657807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3338474" y="3466490"/>
            <a:ext cx="1657807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3272638" y="2952598"/>
            <a:ext cx="1723644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변화량 ($)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92624" y="2952598"/>
            <a:ext cx="1324051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992624" y="3466490"/>
            <a:ext cx="1324051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4964278" y="2952598"/>
            <a:ext cx="13816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(%)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16675" y="2952598"/>
            <a:ext cx="5296205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316675" y="3466490"/>
            <a:ext cx="529620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6316675" y="2952598"/>
            <a:ext cx="53721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성장에 대한 기여도 (Contribution)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0644" y="4024274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1190549" y="3481121"/>
            <a:ext cx="22293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GROCERY I</a:t>
            </a:r>
            <a:endParaRPr lang="en-US" sz="11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866851" y="3690518"/>
            <a:ext cx="152705" cy="133502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338474" y="4024274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3272638" y="3481121"/>
            <a:ext cx="1723644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+500K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992624" y="4024274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 txBox="1"/>
          <p:nvPr/>
        </p:nvSpPr>
        <p:spPr>
          <a:xfrm>
            <a:off x="4964278" y="3481121"/>
            <a:ext cx="1381658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+8.5%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316675" y="4024274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580644" y="4562856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1229868" y="4028846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BEVERAGES </a:t>
            </a:r>
            <a:endParaRPr lang="en-US" sz="11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5995" y="4233672"/>
            <a:ext cx="133502" cy="133502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3338474" y="4562856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 txBox="1"/>
          <p:nvPr/>
        </p:nvSpPr>
        <p:spPr>
          <a:xfrm>
            <a:off x="3272638" y="4028846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+150K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992624" y="4562856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 txBox="1"/>
          <p:nvPr/>
        </p:nvSpPr>
        <p:spPr>
          <a:xfrm>
            <a:off x="4964278" y="4028846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+12.0%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316675" y="4562856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0"/>
          <p:cNvSpPr/>
          <p:nvPr/>
        </p:nvSpPr>
        <p:spPr>
          <a:xfrm>
            <a:off x="580644" y="5106010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 txBox="1"/>
          <p:nvPr/>
        </p:nvSpPr>
        <p:spPr>
          <a:xfrm>
            <a:off x="1229868" y="4572000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CLEANING </a:t>
            </a:r>
            <a:endParaRPr lang="en-US" sz="110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886054" y="4776826"/>
            <a:ext cx="114300" cy="133502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3338474" y="5106010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3"/>
          <p:cNvSpPr txBox="1"/>
          <p:nvPr/>
        </p:nvSpPr>
        <p:spPr>
          <a:xfrm>
            <a:off x="3272638" y="4572000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+100K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4992624" y="5106010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5"/>
          <p:cNvSpPr txBox="1"/>
          <p:nvPr/>
        </p:nvSpPr>
        <p:spPr>
          <a:xfrm>
            <a:off x="4964278" y="4572000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+5.2%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6316675" y="5106010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7"/>
          <p:cNvSpPr/>
          <p:nvPr/>
        </p:nvSpPr>
        <p:spPr>
          <a:xfrm>
            <a:off x="580644" y="5649163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8"/>
          <p:cNvSpPr txBox="1"/>
          <p:nvPr/>
        </p:nvSpPr>
        <p:spPr>
          <a:xfrm>
            <a:off x="1229868" y="5115154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BAKERY </a:t>
            </a:r>
            <a:endParaRPr lang="en-US" sz="1100" dirty="0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5995" y="5319979"/>
            <a:ext cx="133502" cy="133502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3338474" y="5649163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0"/>
          <p:cNvSpPr txBox="1"/>
          <p:nvPr/>
        </p:nvSpPr>
        <p:spPr>
          <a:xfrm>
            <a:off x="3272638" y="5115154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+80K</a:t>
            </a:r>
            <a:endParaRPr lang="en-US" sz="1100" dirty="0"/>
          </a:p>
        </p:txBody>
      </p:sp>
      <p:sp>
        <p:nvSpPr>
          <p:cNvPr id="58" name="Shape 51"/>
          <p:cNvSpPr/>
          <p:nvPr/>
        </p:nvSpPr>
        <p:spPr>
          <a:xfrm>
            <a:off x="4992624" y="5649163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 txBox="1"/>
          <p:nvPr/>
        </p:nvSpPr>
        <p:spPr>
          <a:xfrm>
            <a:off x="4964278" y="5115154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+4.1%</a:t>
            </a:r>
            <a:endParaRPr lang="en-US" sz="1100" dirty="0"/>
          </a:p>
        </p:txBody>
      </p:sp>
      <p:sp>
        <p:nvSpPr>
          <p:cNvPr id="60" name="Shape 53"/>
          <p:cNvSpPr/>
          <p:nvPr/>
        </p:nvSpPr>
        <p:spPr>
          <a:xfrm>
            <a:off x="6316675" y="5649163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4"/>
          <p:cNvSpPr/>
          <p:nvPr/>
        </p:nvSpPr>
        <p:spPr>
          <a:xfrm>
            <a:off x="580644" y="6192317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5"/>
          <p:cNvSpPr txBox="1"/>
          <p:nvPr/>
        </p:nvSpPr>
        <p:spPr>
          <a:xfrm>
            <a:off x="1229868" y="5658307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CLOTHING </a:t>
            </a:r>
            <a:endParaRPr lang="en-US" sz="1100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857707" y="5862218"/>
            <a:ext cx="171907" cy="133502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3338474" y="6192317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7"/>
          <p:cNvSpPr txBox="1"/>
          <p:nvPr/>
        </p:nvSpPr>
        <p:spPr>
          <a:xfrm>
            <a:off x="3272638" y="5658307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-5K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4992624" y="6192317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59"/>
          <p:cNvSpPr txBox="1"/>
          <p:nvPr/>
        </p:nvSpPr>
        <p:spPr>
          <a:xfrm>
            <a:off x="4964278" y="5658307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-1.2%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6316675" y="6192317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1"/>
          <p:cNvSpPr/>
          <p:nvPr/>
        </p:nvSpPr>
        <p:spPr>
          <a:xfrm>
            <a:off x="580644" y="6200546"/>
            <a:ext cx="11030407" cy="504749"/>
          </a:xfrm>
          <a:prstGeom prst="roundRect">
            <a:avLst>
              <a:gd name="adj" fmla="val 10937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2"/>
          <p:cNvSpPr txBox="1"/>
          <p:nvPr/>
        </p:nvSpPr>
        <p:spPr>
          <a:xfrm>
            <a:off x="580644" y="6200546"/>
            <a:ext cx="28392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</a:t>
            </a:r>
            <a:endParaRPr lang="en-US" sz="1100" dirty="0"/>
          </a:p>
        </p:txBody>
      </p:sp>
      <p:sp>
        <p:nvSpPr>
          <p:cNvPr id="71" name="Text 63"/>
          <p:cNvSpPr txBox="1"/>
          <p:nvPr/>
        </p:nvSpPr>
        <p:spPr>
          <a:xfrm>
            <a:off x="3272638" y="6200546"/>
            <a:ext cx="172364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+825K</a:t>
            </a:r>
            <a:endParaRPr lang="en-US" sz="1100" dirty="0"/>
          </a:p>
        </p:txBody>
      </p:sp>
      <p:sp>
        <p:nvSpPr>
          <p:cNvPr id="72" name="Text 64"/>
          <p:cNvSpPr txBox="1"/>
          <p:nvPr/>
        </p:nvSpPr>
        <p:spPr>
          <a:xfrm>
            <a:off x="4964278" y="6200546"/>
            <a:ext cx="13816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+6.8%</a:t>
            </a:r>
            <a:endParaRPr lang="en-US" sz="1100" dirty="0"/>
          </a:p>
        </p:txBody>
      </p:sp>
      <p:pic>
        <p:nvPicPr>
          <p:cNvPr id="73" name="Image 6" descr="preencoded.png"/>
          <p:cNvPicPr>
            <a:picLocks noChangeAspect="1"/>
          </p:cNvPicPr>
          <p:nvPr/>
        </p:nvPicPr>
        <p:blipFill>
          <a:blip r:embed="rId9"/>
          <a:srcRect t="-8" b="-8"/>
          <a:stretch/>
        </p:blipFill>
        <p:spPr>
          <a:xfrm>
            <a:off x="571500" y="6996074"/>
            <a:ext cx="11048695" cy="868680"/>
          </a:xfrm>
          <a:prstGeom prst="rect">
            <a:avLst/>
          </a:prstGeom>
        </p:spPr>
      </p:pic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914400" y="7224674"/>
            <a:ext cx="171907" cy="228600"/>
          </a:xfrm>
          <a:prstGeom prst="rect">
            <a:avLst/>
          </a:prstGeom>
        </p:spPr>
      </p:pic>
      <p:sp>
        <p:nvSpPr>
          <p:cNvPr id="75" name="Text 65"/>
          <p:cNvSpPr txBox="1"/>
          <p:nvPr/>
        </p:nvSpPr>
        <p:spPr>
          <a:xfrm>
            <a:off x="1276502" y="7186270"/>
            <a:ext cx="101352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인사이트:</a:t>
            </a:r>
            <a:r>
              <a:rPr lang="en-US" sz="12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매출이 약 6.8% 성장했지만, </a:t>
            </a: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성장의 60%는 'GROCERY I' 단일 카테고리에서 발생</a:t>
            </a:r>
            <a:r>
              <a:rPr lang="en-US" sz="12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했습니다. 반면 'BEVERAGES'는 성장률(+12.0%)은 가장 높지만 규모가 작아 기여도는 18%에 그쳤습니다. 전략적으로 'GROCERY I'의 성장세를 유지하면서 고성장 카테고리의 볼륨을 키우는 것이 중요합니다. </a:t>
            </a:r>
            <a:endParaRPr lang="en-US" sz="1200" dirty="0"/>
          </a:p>
        </p:txBody>
      </p:sp>
      <p:pic>
        <p:nvPicPr>
          <p:cNvPr id="76" name="Image 8" descr="preencoded.png"/>
          <p:cNvPicPr>
            <a:picLocks noChangeAspect="1"/>
          </p:cNvPicPr>
          <p:nvPr/>
        </p:nvPicPr>
        <p:blipFill>
          <a:blip r:embed="rId11"/>
          <a:srcRect l="-1773" r="-1773"/>
          <a:stretch/>
        </p:blipFill>
        <p:spPr>
          <a:xfrm>
            <a:off x="2867558" y="2064715"/>
            <a:ext cx="133502" cy="171907"/>
          </a:xfrm>
          <a:prstGeom prst="rect">
            <a:avLst/>
          </a:prstGeom>
        </p:spPr>
      </p:pic>
      <p:sp>
        <p:nvSpPr>
          <p:cNvPr id="77" name="Shape 66"/>
          <p:cNvSpPr/>
          <p:nvPr/>
        </p:nvSpPr>
        <p:spPr>
          <a:xfrm>
            <a:off x="6545275" y="36429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67"/>
          <p:cNvSpPr/>
          <p:nvPr/>
        </p:nvSpPr>
        <p:spPr>
          <a:xfrm>
            <a:off x="6545275" y="3642970"/>
            <a:ext cx="2905049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68"/>
          <p:cNvSpPr txBox="1"/>
          <p:nvPr/>
        </p:nvSpPr>
        <p:spPr>
          <a:xfrm>
            <a:off x="6545275" y="3642970"/>
            <a:ext cx="30202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60.0%</a:t>
            </a:r>
            <a:endParaRPr lang="en-US" sz="900" dirty="0"/>
          </a:p>
        </p:txBody>
      </p:sp>
      <p:sp>
        <p:nvSpPr>
          <p:cNvPr id="80" name="Shape 69"/>
          <p:cNvSpPr/>
          <p:nvPr/>
        </p:nvSpPr>
        <p:spPr>
          <a:xfrm>
            <a:off x="6545275" y="4186123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0"/>
          <p:cNvSpPr/>
          <p:nvPr/>
        </p:nvSpPr>
        <p:spPr>
          <a:xfrm>
            <a:off x="6545275" y="4186123"/>
            <a:ext cx="875995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1"/>
          <p:cNvSpPr txBox="1"/>
          <p:nvPr/>
        </p:nvSpPr>
        <p:spPr>
          <a:xfrm>
            <a:off x="6545275" y="4186123"/>
            <a:ext cx="9528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18.0%</a:t>
            </a:r>
            <a:endParaRPr lang="en-US" sz="900" dirty="0"/>
          </a:p>
        </p:txBody>
      </p:sp>
      <p:sp>
        <p:nvSpPr>
          <p:cNvPr id="83" name="Shape 72"/>
          <p:cNvSpPr/>
          <p:nvPr/>
        </p:nvSpPr>
        <p:spPr>
          <a:xfrm>
            <a:off x="6545275" y="4729277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73"/>
          <p:cNvSpPr/>
          <p:nvPr/>
        </p:nvSpPr>
        <p:spPr>
          <a:xfrm>
            <a:off x="6545275" y="4729277"/>
            <a:ext cx="5806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74"/>
          <p:cNvSpPr txBox="1"/>
          <p:nvPr/>
        </p:nvSpPr>
        <p:spPr>
          <a:xfrm>
            <a:off x="6545275" y="4729277"/>
            <a:ext cx="6574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12.0%</a:t>
            </a:r>
            <a:endParaRPr lang="en-US" sz="900" dirty="0"/>
          </a:p>
        </p:txBody>
      </p:sp>
      <p:sp>
        <p:nvSpPr>
          <p:cNvPr id="86" name="Shape 75"/>
          <p:cNvSpPr/>
          <p:nvPr/>
        </p:nvSpPr>
        <p:spPr>
          <a:xfrm>
            <a:off x="6545275" y="527243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76"/>
          <p:cNvSpPr/>
          <p:nvPr/>
        </p:nvSpPr>
        <p:spPr>
          <a:xfrm>
            <a:off x="6545275" y="5272430"/>
            <a:ext cx="4663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77"/>
          <p:cNvSpPr txBox="1"/>
          <p:nvPr/>
        </p:nvSpPr>
        <p:spPr>
          <a:xfrm>
            <a:off x="6545275" y="5272430"/>
            <a:ext cx="5431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9.6%</a:t>
            </a:r>
            <a:endParaRPr lang="en-US" sz="900" dirty="0"/>
          </a:p>
        </p:txBody>
      </p:sp>
      <p:sp>
        <p:nvSpPr>
          <p:cNvPr id="89" name="Shape 78"/>
          <p:cNvSpPr/>
          <p:nvPr/>
        </p:nvSpPr>
        <p:spPr>
          <a:xfrm>
            <a:off x="6545275" y="58146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79"/>
          <p:cNvSpPr/>
          <p:nvPr/>
        </p:nvSpPr>
        <p:spPr>
          <a:xfrm>
            <a:off x="6545275" y="5814670"/>
            <a:ext cx="75895" cy="228600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1" name="Image 9" descr="preencoded.png"/>
          <p:cNvPicPr>
            <a:picLocks noChangeAspect="1"/>
          </p:cNvPicPr>
          <p:nvPr/>
        </p:nvPicPr>
        <p:blipFill>
          <a:blip r:embed="rId12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분해: 거래건수 × 객단가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총매출을 구성 요소로 분해하여 성장의 질(Quality)과 원인을 규명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1333195" y="1628546"/>
            <a:ext cx="9525305" cy="23573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695298" y="2033626"/>
            <a:ext cx="1239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40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총매출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055925" y="2318918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499409" y="3161995"/>
            <a:ext cx="2781605" cy="2834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443630" y="2018995"/>
            <a:ext cx="2893162" cy="11439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거래건수 (Traffic)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427318" y="2318918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6870802" y="3161995"/>
            <a:ext cx="3600907" cy="2834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799478" y="2018995"/>
            <a:ext cx="3743554" cy="11439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객단가 (Average Ticket)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1628546" y="3381451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*매출 변동의 원인이 '고객 수 변화'인지 '구매 금액 변화'인지 파악하는 핵심 공식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7707" y="4367174"/>
            <a:ext cx="5095951" cy="3191256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57707" y="4367174"/>
            <a:ext cx="5095951" cy="47549"/>
          </a:xfrm>
          <a:prstGeom prst="roundRect">
            <a:avLst>
              <a:gd name="adj" fmla="val 183696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590142" y="4700930"/>
            <a:ext cx="418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성장의 질(Quality) 해석 </a:t>
            </a:r>
            <a:endParaRPr lang="en-US" sz="15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2144" y="4700930"/>
            <a:ext cx="342900" cy="342900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1152144" y="5186477"/>
            <a:ext cx="171907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76756" y="5186477"/>
            <a:ext cx="425744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증가: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고객 유입 또는 재방문 증가. 장기적으로 가장 건전하고 지속 가능한 성장 신호입니다.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1152144" y="5788152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9149" y="5788152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증가: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가격 인상이나 대량 구매 유도. 단기 매출엔 좋으나, 고객 이탈 위험이 있는지 확인해야 합니다.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152144" y="6389827"/>
            <a:ext cx="4505249" cy="866851"/>
          </a:xfrm>
          <a:prstGeom prst="roundRect">
            <a:avLst>
              <a:gd name="adj" fmla="val 231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1304849" y="6819595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1304849" y="6542532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Traffic ↑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2257654" y="6542532"/>
            <a:ext cx="34390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성공, 시장 확대, 브랜드 인지도 상승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304849" y="6904634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Ticket ↑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2257654" y="6904634"/>
            <a:ext cx="36475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정책 변화, 묶음 상품(Bundle) 효과, 프리미엄화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238951" y="4367174"/>
            <a:ext cx="5095951" cy="3191256"/>
          </a:xfrm>
          <a:prstGeom prst="roundRect">
            <a:avLst>
              <a:gd name="adj" fmla="val 2737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238951" y="4367174"/>
            <a:ext cx="5095951" cy="47549"/>
          </a:xfrm>
          <a:prstGeom prst="roundRect">
            <a:avLst>
              <a:gd name="adj" fmla="val 183696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6972300" y="4700930"/>
            <a:ext cx="418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전략적 활용 (Action Plan) </a:t>
            </a:r>
            <a:endParaRPr lang="en-US" sz="15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534302" y="4700930"/>
            <a:ext cx="342900" cy="342900"/>
          </a:xfrm>
          <a:prstGeom prst="rect">
            <a:avLst/>
          </a:prstGeom>
        </p:spPr>
      </p:pic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534302" y="5186477"/>
            <a:ext cx="114300" cy="1335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801307" y="5186477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부족 시: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트래픽 유도 마케팅, 첫 구매 프로모션, 로열티 프로그램(재방문 유도) 강화.</a:t>
            </a:r>
            <a:endParaRPr lang="en-US" sz="12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534302" y="5788152"/>
            <a:ext cx="114300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801307" y="5788152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부족 시: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크로스셀링(Cross-selling), 업셀링(Up-selling), '3만원 이상 무료배송' 등의 장바구니 확대 전략.</a:t>
            </a:r>
            <a:endParaRPr lang="en-US" sz="12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6534302" y="6389827"/>
            <a:ext cx="105156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791249" y="6389827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매출은 늘어도 특정 세그먼트의 거래건수가 급감하고 있다면(가격 인상 효과), 곧 위기가 올 수 있습니다.</a:t>
            </a:r>
            <a:endParaRPr lang="en-US" sz="12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4분면 분석: 매장 포지셔닝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거래건수(Traffic)와 객단가(Ticket Size)를 축으로 매장별 전략 수립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6391656" cy="5629046"/>
          </a:xfrm>
          <a:prstGeom prst="roundRect">
            <a:avLst>
              <a:gd name="adj" fmla="val 8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771754" y="1828800"/>
            <a:ext cx="5991149" cy="52294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43546" y="1628546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343546" y="1628546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591349" y="1781251"/>
            <a:ext cx="2200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2사분면: 유입 강화 필요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731959" y="1824228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Low Traffic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591349" y="2095805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객단가는 높으나 방문객이 적은 매장입니다. 브랜드 충성도가 높거나 입지가 외진 곳일 수 있습니다.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49540" y="254569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모객 마케팅, 첫 구매 프로모션 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91349" y="2598725"/>
            <a:ext cx="123444" cy="1234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343546" y="3074213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7343546" y="3074213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7591349" y="3226918"/>
            <a:ext cx="22448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1사분면: 우수 매장 (Star)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683496" y="3269894"/>
            <a:ext cx="19796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High Traffic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7591349" y="3541471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이상적인 상태의 매장입니다. 현재 전략을 유지하며 다른 매장의 벤치마킹 모델로 활용합니다.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749540" y="399044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VIP 멤버십 강화, 재고 우선 배정 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91349" y="4044391"/>
            <a:ext cx="123444" cy="12344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343546" y="4519879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7343546" y="4519879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7591349" y="4672584"/>
            <a:ext cx="23838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3사분면: 구조적 개선 필요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779508" y="4715561"/>
            <a:ext cx="18223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Low Traffic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7591349" y="4986223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방문객도 적고 구매 금액도 낮습니다. 상품 구성(MD) 문제이거나 상권 쇠퇴가 원인일 수 있습니다.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768742" y="5436108"/>
            <a:ext cx="3775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근본 원인 진단, 카테고리 리뉴얼 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1358" r="-1358"/>
          <a:stretch/>
        </p:blipFill>
        <p:spPr>
          <a:xfrm>
            <a:off x="7591349" y="5490058"/>
            <a:ext cx="142646" cy="12344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343546" y="5964631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7343546" y="5964631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7591349" y="6117336"/>
            <a:ext cx="19083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4사분면: 업셀링 기회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9731959" y="6160313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High Traffic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7591349" y="6431890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많이 오지만 저가 상품 위주로 구매합니다. 번화가나 소형 편의점 타입에서 자주 보입니다.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721194" y="6881774"/>
            <a:ext cx="3823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묶음 판매(Bundling), 계산대 옆 상품 배치 </a:t>
            </a:r>
            <a:endParaRPr lang="en-US" sz="9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7591349" y="6934810"/>
            <a:ext cx="95098" cy="1234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61949" y="2018995"/>
            <a:ext cx="924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Q2. Potential</a:t>
            </a:r>
            <a:endParaRPr lang="en-US" sz="10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고급화/마니아층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961949" y="2238451"/>
            <a:ext cx="8997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고급화/마니아층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5984748" y="2018995"/>
            <a:ext cx="590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Q1. Star</a:t>
            </a:r>
            <a:endParaRPr lang="en-US" sz="10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매장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6032297" y="2238451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매장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961949" y="6467551"/>
            <a:ext cx="8860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Q3. Problem</a:t>
            </a:r>
            <a:endParaRPr lang="en-US" sz="10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961949" y="6687007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5437022" y="6467551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Q4. Opportunity</a:t>
            </a:r>
            <a:endParaRPr lang="en-US" sz="10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박리다매형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5970118" y="6687007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박리다매형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771754" y="1828800"/>
            <a:ext cx="2048256" cy="323698"/>
          </a:xfrm>
          <a:prstGeom prst="roundRect">
            <a:avLst>
              <a:gd name="adj" fmla="val 2824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0"/>
          <p:cNvSpPr/>
          <p:nvPr/>
        </p:nvSpPr>
        <p:spPr>
          <a:xfrm>
            <a:off x="1123798" y="1828800"/>
            <a:ext cx="17721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Store Clustering Map</a:t>
            </a:r>
            <a:endParaRPr lang="en-US" sz="120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5198" y="1923898"/>
            <a:ext cx="152705" cy="152705"/>
          </a:xfrm>
          <a:prstGeom prst="rect">
            <a:avLst/>
          </a:prstGeom>
        </p:spPr>
      </p:pic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476402" y="952805"/>
            <a:ext cx="1904695" cy="1904695"/>
          </a:xfrm>
          <a:prstGeom prst="ellips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810598" y="3524098"/>
            <a:ext cx="2857500" cy="2857500"/>
          </a:xfrm>
          <a:prstGeom prst="ellipse">
            <a:avLst/>
          </a:prstGeom>
          <a:solidFill>
            <a:srgbClr val="F0FDF4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→ 액션 플랜으로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결과를 실제 비즈니스 성과로 연결하는 3단계 실행 프레임워크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4056278" y="3938321"/>
            <a:ext cx="142646" cy="2286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7992770" y="3938321"/>
            <a:ext cx="142646" cy="2286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571500" y="1766621"/>
            <a:ext cx="3174797" cy="4572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80644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2006194" y="2042770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1977847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825142" y="2462479"/>
            <a:ext cx="666598" cy="66659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16252" y="2652674"/>
            <a:ext cx="286207" cy="2862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91970" y="3281782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명확화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800454" y="3605479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Diagnosis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" y="4272077"/>
            <a:ext cx="133502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42746" y="4272077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어디서(Where)?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도시, 매장 타입, 카테고리 등 문제 영역 핀포인트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5067605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42746" y="5067605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무엇이(What)?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감소 vs 객단가 하락 vs 이탈률 증가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809244" y="5862218"/>
            <a:ext cx="105156" cy="13350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14400" y="5862218"/>
            <a:ext cx="26581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얼마나(How much)?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-5% 하락, 경쟁사 대비 10% 열위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809244" y="6291072"/>
            <a:ext cx="2704795" cy="790956"/>
          </a:xfrm>
          <a:prstGeom prst="roundRect">
            <a:avLst>
              <a:gd name="adj" fmla="val 2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7"/>
          <p:cNvSpPr txBox="1"/>
          <p:nvPr/>
        </p:nvSpPr>
        <p:spPr>
          <a:xfrm>
            <a:off x="771754" y="6291072"/>
            <a:ext cx="2781605" cy="7909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"A타입 매장의 식품 카테고리 객단가가 5% 하락함" </a:t>
            </a:r>
            <a:endParaRPr lang="en-US" sz="9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rcRect t="-2" b="-2"/>
          <a:stretch/>
        </p:blipFill>
        <p:spPr>
          <a:xfrm>
            <a:off x="4508906" y="1766621"/>
            <a:ext cx="3174797" cy="457200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4518050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9"/>
          <p:cNvSpPr/>
          <p:nvPr/>
        </p:nvSpPr>
        <p:spPr>
          <a:xfrm>
            <a:off x="5943600" y="2042770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0"/>
          <p:cNvSpPr/>
          <p:nvPr/>
        </p:nvSpPr>
        <p:spPr>
          <a:xfrm>
            <a:off x="5915254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5762549" y="2462479"/>
            <a:ext cx="666598" cy="66659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52744" y="2652674"/>
            <a:ext cx="286207" cy="28620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529377" y="3281782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레버별 액션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5599786" y="3605479"/>
            <a:ext cx="997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Levers</a:t>
            </a:r>
            <a:endParaRPr lang="en-US" sz="10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4746650" y="4272077"/>
            <a:ext cx="171907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917643" y="4272077"/>
            <a:ext cx="26106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(Traffic)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마케팅, 매장 내 동선 개선, 전단지 배포</a:t>
            </a:r>
            <a:endParaRPr lang="en-US" sz="11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746650" y="5067605"/>
            <a:ext cx="133502" cy="133502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4880153" y="5067605"/>
            <a:ext cx="20674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(Conversion)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품절 방지, 시식 행사, 진열 최적화</a:t>
            </a:r>
            <a:endParaRPr lang="en-US" sz="11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3"/>
          <a:srcRect l="-837" r="-837"/>
          <a:stretch/>
        </p:blipFill>
        <p:spPr>
          <a:xfrm>
            <a:off x="4746650" y="5648249"/>
            <a:ext cx="152705" cy="133502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899355" y="5648249"/>
            <a:ext cx="26289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(AOV)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번들 상품 기획, 크로스셀링, 계산대 앞 충동구매 유도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4746650" y="6291072"/>
            <a:ext cx="2704795" cy="599846"/>
          </a:xfrm>
          <a:prstGeom prst="roundRect">
            <a:avLst>
              <a:gd name="adj" fmla="val 387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8"/>
          <p:cNvSpPr txBox="1"/>
          <p:nvPr/>
        </p:nvSpPr>
        <p:spPr>
          <a:xfrm>
            <a:off x="4708246" y="6291072"/>
            <a:ext cx="27816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"식품 번들 프로모션으로 객단가 회복 시도" </a:t>
            </a:r>
            <a:endParaRPr lang="en-US" sz="9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4"/>
          <a:srcRect t="-2" b="-2"/>
          <a:stretch/>
        </p:blipFill>
        <p:spPr>
          <a:xfrm>
            <a:off x="8445398" y="1766621"/>
            <a:ext cx="3174797" cy="4572000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8454542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0"/>
          <p:cNvSpPr/>
          <p:nvPr/>
        </p:nvSpPr>
        <p:spPr>
          <a:xfrm>
            <a:off x="9880092" y="2042770"/>
            <a:ext cx="304495" cy="3044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1"/>
          <p:cNvSpPr/>
          <p:nvPr/>
        </p:nvSpPr>
        <p:spPr>
          <a:xfrm>
            <a:off x="9851746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32"/>
          <p:cNvSpPr/>
          <p:nvPr/>
        </p:nvSpPr>
        <p:spPr>
          <a:xfrm>
            <a:off x="9699041" y="2462479"/>
            <a:ext cx="666598" cy="66659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5"/>
          <a:srcRect t="-530" b="-530"/>
          <a:stretch/>
        </p:blipFill>
        <p:spPr>
          <a:xfrm>
            <a:off x="9909353" y="2652674"/>
            <a:ext cx="247802" cy="286207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9569196" y="3281782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설계</a:t>
            </a:r>
            <a:endParaRPr lang="en-US" sz="1500" dirty="0"/>
          </a:p>
        </p:txBody>
      </p:sp>
      <p:sp>
        <p:nvSpPr>
          <p:cNvPr id="50" name="Text 34"/>
          <p:cNvSpPr txBox="1"/>
          <p:nvPr/>
        </p:nvSpPr>
        <p:spPr>
          <a:xfrm>
            <a:off x="9334195" y="3605479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 Design</a:t>
            </a:r>
            <a:endParaRPr lang="en-US" sz="10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83142" y="4272077"/>
            <a:ext cx="133502" cy="133502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8816645" y="4272077"/>
            <a:ext cx="24487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&amp; 기간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A타입 5개 매장 대상, 2주간 파일럿 운영</a:t>
            </a:r>
            <a:endParaRPr lang="en-US" sz="11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83142" y="4852721"/>
            <a:ext cx="133502" cy="133502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816645" y="4852721"/>
            <a:ext cx="23719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 (KPI)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기간 내 객단가 3% 상승 목표</a:t>
            </a:r>
            <a:endParaRPr lang="en-US" sz="1100" dirty="0"/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83142" y="5434279"/>
            <a:ext cx="133502" cy="133502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8816645" y="5434279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&amp; 리소스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할인 비용 및 POS 업데이트 공수 산정</a:t>
            </a:r>
            <a:endParaRPr lang="en-US" sz="1100" dirty="0"/>
          </a:p>
        </p:txBody>
      </p:sp>
      <p:sp>
        <p:nvSpPr>
          <p:cNvPr id="57" name="Shape 38"/>
          <p:cNvSpPr/>
          <p:nvPr/>
        </p:nvSpPr>
        <p:spPr>
          <a:xfrm>
            <a:off x="8683142" y="6077102"/>
            <a:ext cx="2704795" cy="599846"/>
          </a:xfrm>
          <a:prstGeom prst="roundRect">
            <a:avLst>
              <a:gd name="adj" fmla="val 387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39"/>
          <p:cNvSpPr txBox="1"/>
          <p:nvPr/>
        </p:nvSpPr>
        <p:spPr>
          <a:xfrm>
            <a:off x="8645652" y="6077102"/>
            <a:ext cx="27816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"2주 후 객단가 변화 측정 및 전사 확대 결정" </a:t>
            </a:r>
            <a:endParaRPr lang="en-US" sz="900" dirty="0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1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 작성법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의사결정자를 위한 피라미드 구조 보고서 작성 가이드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857707" y="1981505"/>
            <a:ext cx="5048402" cy="19623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1981505"/>
            <a:ext cx="57607" cy="194310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2768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8682" y="2428646"/>
            <a:ext cx="200254" cy="2670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952244" y="2305202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952244" y="2305202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1: 결론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952244" y="2572207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(Key Message)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952244" y="2962656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둔화의 주 원인은 객단가 하락이며, 프로모션 최적화로 5% 회복 가능합니다."와 같이 결론을 1문장으로 압축하여 최상단에 제시합니다.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6286500" y="1981505"/>
            <a:ext cx="5048402" cy="196230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86500" y="1981505"/>
            <a:ext cx="57607" cy="19431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6581851" y="22768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34556" y="2428646"/>
            <a:ext cx="267005" cy="26700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381951" y="2305202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7381951" y="2305202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2: 근거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7381951" y="2572207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근거 3가지 (Key Findings)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381951" y="2962656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메시지를 뒷받침하는 가장 강력한 데이터 발견점 3가지를 요약합니다. (예: 프로모션 효율 저하, 특정 세그먼트 이탈 등)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857707" y="4324198"/>
            <a:ext cx="5048402" cy="196230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57707" y="4324198"/>
            <a:ext cx="57607" cy="194310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1285646" y="4772254"/>
            <a:ext cx="304495" cy="26700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952244" y="4647895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1952244" y="4647895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3: 상세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952244" y="4914900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분석 및 부록 (Details)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1952244" y="5305349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주장에 대한 신뢰성을 높이는 상세 차트, 분석 방법론, 데이터 출처, 가정 및 한계점은 뒷부분에 배치하여 궁금할 때 찾아보게 합니다.</a:t>
            </a:r>
            <a:endParaRPr lang="en-US" sz="12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6286500" y="4324198"/>
            <a:ext cx="5048402" cy="196230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286500" y="4324198"/>
            <a:ext cx="57607" cy="19431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rcRect l="-685" r="-685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381951" y="4647895"/>
            <a:ext cx="761695" cy="209398"/>
          </a:xfrm>
          <a:prstGeom prst="roundRect">
            <a:avLst>
              <a:gd name="adj" fmla="val 15879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8"/>
          <p:cNvSpPr txBox="1"/>
          <p:nvPr/>
        </p:nvSpPr>
        <p:spPr>
          <a:xfrm>
            <a:off x="7381951" y="4647895"/>
            <a:ext cx="8385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Principle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7381951" y="4914900"/>
            <a:ext cx="409011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피라미드 구조 (Pyramid Structure)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7381951" y="5305349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Top-Down 커뮤니케이션: 결론부터 말하고(What), 이유를 설명하고(Why), 세부사항을 제시하는(How) 흐름을 유지해야 합니다.</a:t>
            </a:r>
            <a:endParaRPr lang="en-US" sz="12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CSV/MD Export로 Part 3와 연결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결과를 RAG 챗봇의 지식 베이스(Knowledge Base)로 활용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5333695" cy="4962449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9244" y="2457907"/>
            <a:ext cx="4858207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2057400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1995221"/>
            <a:ext cx="1950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데이터 (CSV)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9244" y="2667305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14400" y="2762402"/>
            <a:ext cx="133502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04849" y="2667305"/>
            <a:ext cx="4496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대상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304849" y="2980944"/>
            <a:ext cx="49496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전처리된 </a:t>
            </a: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train.csv</a:t>
            </a: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transactions.csv</a:t>
            </a: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실제 수치 데이터 파일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9244" y="3414370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3510382"/>
            <a:ext cx="152705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04849" y="3414370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도구: DuckDB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304849" y="3728923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In-memory SQL 데이터베이스에 적재하여 고성능 쿼리 환경 구축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09244" y="4134002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5256" y="4229100"/>
            <a:ext cx="152705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04849" y="4134002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질문 유형 (Text-to-SQL)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304849" y="4448556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"2016년 총 매출은 얼마인가?", "가장 많이 팔린 카테고리 Top 5는?" 등 정확한 수치가 필요한 질문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286500" y="1723644"/>
            <a:ext cx="5333695" cy="4962449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6524244" y="2457907"/>
            <a:ext cx="4858207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6524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44030" y="2057400"/>
            <a:ext cx="142646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19849" y="1995221"/>
            <a:ext cx="26919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 데이터 (Markdown)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6524244" y="2667305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629400" y="2762402"/>
            <a:ext cx="133502" cy="152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19849" y="2667305"/>
            <a:ext cx="41632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대상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019849" y="2980944"/>
            <a:ext cx="46067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insight_report.md</a:t>
            </a: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Part 1에서 도출한 분석 결과 요약 문서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524244" y="3414370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629400" y="3510382"/>
            <a:ext cx="133502" cy="1527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19849" y="3414370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도구: ChromaDB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7019849" y="3728923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문서를 벡터(Vector)로 임베딩하여 유사도 기반 검색(Retrieval) 환경 구축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524244" y="4347972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6638544" y="4443070"/>
            <a:ext cx="114300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019849" y="4347972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질문 유형 (RAG)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7019849" y="4662526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성장 둔화의 원인은 무엇인가?", "권장하는 프로모션 전략은?" 등 맥락과 해석이 필요한 질문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809244" y="5091379"/>
            <a:ext cx="4858207" cy="1352398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952805" y="52907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Flow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100949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l="-220433" r="-220433"/>
          <a:stretch/>
        </p:blipFill>
        <p:spPr>
          <a:xfrm>
            <a:off x="1164031" y="5747918"/>
            <a:ext cx="1028700" cy="19019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12379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파일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2442362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8"/>
          <p:cNvSpPr/>
          <p:nvPr/>
        </p:nvSpPr>
        <p:spPr>
          <a:xfrm>
            <a:off x="257037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 l="-259066" r="-259066"/>
          <a:stretch/>
        </p:blipFill>
        <p:spPr>
          <a:xfrm>
            <a:off x="2723998" y="5747918"/>
            <a:ext cx="1028700" cy="19019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268467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4002329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1"/>
          <p:cNvSpPr/>
          <p:nvPr/>
        </p:nvSpPr>
        <p:spPr>
          <a:xfrm>
            <a:off x="4130345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rcRect l="-166346" r="-166346"/>
          <a:stretch/>
        </p:blipFill>
        <p:spPr>
          <a:xfrm>
            <a:off x="4284878" y="5747918"/>
            <a:ext cx="1028700" cy="1901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4244645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쿼리</a:t>
            </a:r>
            <a:endParaRPr lang="en-US" sz="900" dirty="0"/>
          </a:p>
        </p:txBody>
      </p:sp>
      <p:sp>
        <p:nvSpPr>
          <p:cNvPr id="56" name="Shape 43"/>
          <p:cNvSpPr/>
          <p:nvPr/>
        </p:nvSpPr>
        <p:spPr>
          <a:xfrm>
            <a:off x="6524244" y="5091379"/>
            <a:ext cx="4858207" cy="1352398"/>
          </a:xfrm>
          <a:prstGeom prst="roundRect">
            <a:avLst>
              <a:gd name="adj" fmla="val 11428"/>
            </a:avLst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4"/>
          <p:cNvSpPr txBox="1"/>
          <p:nvPr/>
        </p:nvSpPr>
        <p:spPr>
          <a:xfrm>
            <a:off x="6667805" y="52907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Flow</a:t>
            </a:r>
            <a:endParaRPr lang="en-US" sz="1000" dirty="0"/>
          </a:p>
        </p:txBody>
      </p:sp>
      <p:sp>
        <p:nvSpPr>
          <p:cNvPr id="58" name="Shape 45"/>
          <p:cNvSpPr/>
          <p:nvPr/>
        </p:nvSpPr>
        <p:spPr>
          <a:xfrm>
            <a:off x="672449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4"/>
          <a:srcRect l="-310577" r="-310577"/>
          <a:stretch/>
        </p:blipFill>
        <p:spPr>
          <a:xfrm>
            <a:off x="6879031" y="5747918"/>
            <a:ext cx="1028700" cy="190195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683879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문서</a:t>
            </a:r>
            <a:endParaRPr lang="en-US" sz="900" dirty="0"/>
          </a:p>
        </p:txBody>
      </p:sp>
      <p:sp>
        <p:nvSpPr>
          <p:cNvPr id="61" name="Shape 47"/>
          <p:cNvSpPr/>
          <p:nvPr/>
        </p:nvSpPr>
        <p:spPr>
          <a:xfrm>
            <a:off x="8157362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8"/>
          <p:cNvSpPr/>
          <p:nvPr/>
        </p:nvSpPr>
        <p:spPr>
          <a:xfrm>
            <a:off x="828537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5"/>
          <a:srcRect l="-190385" r="-190385"/>
          <a:stretch/>
        </p:blipFill>
        <p:spPr>
          <a:xfrm>
            <a:off x="8438998" y="5747918"/>
            <a:ext cx="1028700" cy="190195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839967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ChromaDB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9717329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1"/>
          <p:cNvSpPr/>
          <p:nvPr/>
        </p:nvSpPr>
        <p:spPr>
          <a:xfrm>
            <a:off x="9845345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Image 13" descr="preencoded.png"/>
          <p:cNvPicPr>
            <a:picLocks noChangeAspect="1"/>
          </p:cNvPicPr>
          <p:nvPr/>
        </p:nvPicPr>
        <p:blipFill>
          <a:blip r:embed="rId16"/>
          <a:srcRect l="-220433" r="-220433"/>
          <a:stretch/>
        </p:blipFill>
        <p:spPr>
          <a:xfrm>
            <a:off x="9999878" y="5747918"/>
            <a:ext cx="1028700" cy="190195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9955987" y="5967374"/>
            <a:ext cx="11219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검색</a:t>
            </a:r>
            <a:endParaRPr lang="en-US" sz="900" dirty="0"/>
          </a:p>
        </p:txBody>
      </p:sp>
      <p:pic>
        <p:nvPicPr>
          <p:cNvPr id="69" name="Image 14" descr="preencoded.png"/>
          <p:cNvPicPr>
            <a:picLocks noChangeAspect="1"/>
          </p:cNvPicPr>
          <p:nvPr/>
        </p:nvPicPr>
        <p:blipFill>
          <a:blip r:embed="rId1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4286707" cy="4286707"/>
          </a:xfrm>
          <a:prstGeom prst="ellipse">
            <a:avLst/>
          </a:prstGeom>
          <a:solidFill>
            <a:srgbClr val="1E3A8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05902" y="2572207"/>
            <a:ext cx="4762195" cy="4762195"/>
          </a:xfrm>
          <a:prstGeom prst="ellipse">
            <a:avLst/>
          </a:prstGeom>
          <a:solidFill>
            <a:srgbClr val="2563EB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81405" y="561442"/>
            <a:ext cx="9829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Predictive Modeling &amp; Scenario Analysis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057046"/>
            <a:ext cx="9887407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8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예측 모델 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kern="0" spc="-108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시나리오 분석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086307" y="2794406"/>
            <a:ext cx="100209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데이터 분석 교육 핸드아웃</a:t>
            </a:r>
            <a:endParaRPr lang="en-US" sz="2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1238098" y="3880714"/>
            <a:ext cx="9715500" cy="24158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510735"/>
            <a:ext cx="9144" cy="1154887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09851" y="4413809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14346" y="4366260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009851" y="4804258"/>
            <a:ext cx="3879799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미래의 매출과 수요를 정밀하게 예측하고,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시나리오</a:t>
            </a: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데이터 기반의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 의사결정을 지원 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1598" y="4413809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007" y="4366260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804258"/>
            <a:ext cx="3879799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베이스라인 예측 모델 및 성능 리포트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시나리오별 임팩트 분석 결과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SHAP 기반 모델 해석 및 최적화 제안 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모델링부터 시나리오 분석까지, 데이터 기반 의사결정의 핵심 과정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571500" y="2214677"/>
            <a:ext cx="3524098" cy="1733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214677"/>
            <a:ext cx="47549" cy="17145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09244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602" y="2576779"/>
            <a:ext cx="209398" cy="2093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9149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예측 개념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" y="3023921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모델의 비즈니스 활용과 시계열 데이터의 4가지 구성 요소 (트렌드, 계절성, 주기성, 잔차)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4334256" y="2214677"/>
            <a:ext cx="3524098" cy="173370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34256" y="2214677"/>
            <a:ext cx="47549" cy="171450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4572000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1004" r="-1004"/>
          <a:stretch/>
        </p:blipFill>
        <p:spPr>
          <a:xfrm>
            <a:off x="4667098" y="2576779"/>
            <a:ext cx="267005" cy="20939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81905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3023921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성능을 좌우하는 시간/래그/롤링/외부 피처 생성 및 데이터 누수(Leakage) 방지 기법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8096098" y="2214677"/>
            <a:ext cx="3524098" cy="173370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096098" y="2214677"/>
            <a:ext cx="47549" cy="17145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8334756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8429854" y="2576779"/>
            <a:ext cx="267005" cy="20939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43746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선택과 비교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8334756" y="3023921"/>
            <a:ext cx="3124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Prophet vs GBMs(XGBoost, LightGBM, CatBoost)의 장단점 비교 및 최적 모델 선정 기준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571500" y="4186123"/>
            <a:ext cx="3524098" cy="173370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71500" y="4186123"/>
            <a:ext cx="47549" cy="17145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809244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 t="-600" b="-600"/>
          <a:stretch/>
        </p:blipFill>
        <p:spPr>
          <a:xfrm>
            <a:off x="947318" y="4548226"/>
            <a:ext cx="181051" cy="20939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419149" y="4529023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및 튜닝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809244" y="4996282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교차 검증(TimeSeriesSplit)의 원리와 Optuna를 활용한 하이퍼파라미터 최적화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4334256" y="4186123"/>
            <a:ext cx="3524098" cy="1733702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4334256" y="4186123"/>
            <a:ext cx="47549" cy="1714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4"/>
          <p:cNvSpPr/>
          <p:nvPr/>
        </p:nvSpPr>
        <p:spPr>
          <a:xfrm>
            <a:off x="4572000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95444" y="4548226"/>
            <a:ext cx="209398" cy="20939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5181905" y="4529023"/>
            <a:ext cx="25365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해석 (SHAP)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4572000" y="4996282"/>
            <a:ext cx="3124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블랙박스 모델의 예측 원인을 설명하는 SHAP 값의 개념과 주요 시각화 방법(Summary, Dependence)</a:t>
            </a:r>
            <a:endParaRPr lang="en-US" sz="12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8096098" y="4186123"/>
            <a:ext cx="3524098" cy="1733702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6098" y="4186123"/>
            <a:ext cx="47549" cy="1714500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8"/>
          <p:cNvSpPr/>
          <p:nvPr/>
        </p:nvSpPr>
        <p:spPr>
          <a:xfrm>
            <a:off x="8334756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D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9"/>
          <a:srcRect t="-600" b="-600"/>
          <a:stretch/>
        </p:blipFill>
        <p:spPr>
          <a:xfrm>
            <a:off x="8472830" y="4548226"/>
            <a:ext cx="181051" cy="209398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943746" y="4529023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</a:t>
            </a:r>
            <a:endParaRPr lang="en-US" sz="1500" dirty="0"/>
          </a:p>
        </p:txBody>
      </p:sp>
      <p:sp>
        <p:nvSpPr>
          <p:cNvPr id="44" name="Text 30"/>
          <p:cNvSpPr txBox="1"/>
          <p:nvPr/>
        </p:nvSpPr>
        <p:spPr>
          <a:xfrm>
            <a:off x="8334756" y="4996282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시뮬레이션을 통한 미래 예측 변화 분석 및 프로모션 ROI 최적화 전략 수립</a:t>
            </a:r>
            <a:endParaRPr lang="en-US" sz="12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예측 모델이 필요한가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분석을 넘어 미래를 대비하는 4가지 핵심 비즈니스 활용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1285646" y="2866644"/>
            <a:ext cx="30449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 최적화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 매출 예측 → 적정 재고 수준 결정 (결품 및 초과 재고 최소화)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00723" y="2866644"/>
            <a:ext cx="333756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배치 효율화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성수기/비수기 수요 예측 → 인력 스케줄링 최적화 및 운영 비용 절감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계획 수립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 사전 예측 → ROI(투자 대비 수익) 최적화 및 전략 수립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 l="-685" r="-685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 계획 및 예산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연간/분기 매출 예측 → 현실적인 목표 설정 및 예산 수립의 근거 마련</a:t>
            </a:r>
            <a:endParaRPr lang="en-US" sz="13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시계열의 네 가지 구성 요소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관측된 데이터를 분해(Decomposition)하여 숨겨진 패턴을 파악하는 방법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57707" y="3448202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57707" y="3448202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36960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8156" y="3800246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66951" y="3757270"/>
            <a:ext cx="136062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(Trend)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4190695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장기적으로 상승하거나 하락하는 경향입니다. 일시적인 변동을 제외한 데이터의 주된 방향성을 나타냅니다.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143000" y="4714646"/>
            <a:ext cx="2266798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434694" y="4714646"/>
            <a:ext cx="205191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매년 매출이 5%씩 꾸준히 성장 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91402" y="3448202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191402" y="3448202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476695" y="36960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590995" y="3800246"/>
            <a:ext cx="152705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00646" y="3757270"/>
            <a:ext cx="195041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(Seasonality)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4190695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일정한 기간(1년, 1주, 하루 등)을 주기로 반복되는 패턴입니다. 달력의 날짜나 요일과 밀접한 관련이 있습니다.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76695" y="4714646"/>
            <a:ext cx="2333549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6768389" y="4714646"/>
            <a:ext cx="211866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12월 크리스마스 시즌 매출 급증 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57707" y="5415077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857707" y="5415077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1143000" y="5662879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1224382" y="5767121"/>
            <a:ext cx="219456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66951" y="5724144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주기성 (Cyclicity)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6157570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고정된 빈도가 없으며, 보통 1년 이상의 긴 기간에 걸쳐 나타나는 상승과 하락의 파동입니다. 경제적 요인에 주로 기인합니다.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143000" y="6681521"/>
            <a:ext cx="2457907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 txBox="1"/>
          <p:nvPr/>
        </p:nvSpPr>
        <p:spPr>
          <a:xfrm>
            <a:off x="1434694" y="6681521"/>
            <a:ext cx="2242109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경기 호황과 불황에 따른 소비 변동 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191402" y="5415077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191402" y="5415077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6476695" y="5662879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81851" y="5767121"/>
            <a:ext cx="171907" cy="1719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000646" y="5724144"/>
            <a:ext cx="20976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잔차 (Residual/Noise)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6476695" y="6157570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세 가지 요소로 설명할 수 없는 무작위 변동입니다. 예측 불가능한 불규칙한 요소를 의미합니다.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476695" y="6681521"/>
            <a:ext cx="2419502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 txBox="1"/>
          <p:nvPr/>
        </p:nvSpPr>
        <p:spPr>
          <a:xfrm>
            <a:off x="6768389" y="6681521"/>
            <a:ext cx="220461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천재지변, 갑작스러운 이벤트 효과 </a:t>
            </a:r>
            <a:endParaRPr lang="en-US" sz="9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38098" y="4787798"/>
            <a:ext cx="123444" cy="123444"/>
          </a:xfrm>
          <a:prstGeom prst="rect">
            <a:avLst/>
          </a:prstGeom>
        </p:spPr>
      </p:pic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4787798"/>
            <a:ext cx="123444" cy="123444"/>
          </a:xfrm>
          <a:prstGeom prst="rect">
            <a:avLst/>
          </a:prstGeom>
        </p:spPr>
      </p:pic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38098" y="6754673"/>
            <a:ext cx="123444" cy="123444"/>
          </a:xfrm>
          <a:prstGeom prst="rect">
            <a:avLst/>
          </a:prstGeom>
        </p:spPr>
      </p:pic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6754673"/>
            <a:ext cx="123444" cy="123444"/>
          </a:xfrm>
          <a:prstGeom prst="rect">
            <a:avLst/>
          </a:prstGeom>
        </p:spPr>
      </p:pic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rcRect l="-1" r="-1"/>
          <a:stretch/>
        </p:blipFill>
        <p:spPr>
          <a:xfrm>
            <a:off x="857707" y="1628546"/>
            <a:ext cx="10477195" cy="1533449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6086246" y="1514246"/>
            <a:ext cx="2131466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4"/>
          <p:cNvSpPr txBox="1"/>
          <p:nvPr/>
        </p:nvSpPr>
        <p:spPr>
          <a:xfrm>
            <a:off x="1054303" y="1971446"/>
            <a:ext cx="20162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</a:t>
            </a:r>
            <a:endParaRPr lang="en-US" sz="3000" dirty="0"/>
          </a:p>
        </p:txBody>
      </p:sp>
      <p:sp>
        <p:nvSpPr>
          <p:cNvPr id="47" name="Text 35"/>
          <p:cNvSpPr txBox="1"/>
          <p:nvPr/>
        </p:nvSpPr>
        <p:spPr>
          <a:xfrm>
            <a:off x="1837030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관측값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2994660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3000" dirty="0"/>
          </a:p>
        </p:txBody>
      </p:sp>
      <p:sp>
        <p:nvSpPr>
          <p:cNvPr id="49" name="Text 37"/>
          <p:cNvSpPr txBox="1"/>
          <p:nvPr/>
        </p:nvSpPr>
        <p:spPr>
          <a:xfrm>
            <a:off x="3301898" y="1971446"/>
            <a:ext cx="12600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</a:t>
            </a:r>
            <a:endParaRPr lang="en-US" sz="3000" dirty="0"/>
          </a:p>
        </p:txBody>
      </p:sp>
      <p:sp>
        <p:nvSpPr>
          <p:cNvPr id="50" name="Text 38"/>
          <p:cNvSpPr txBox="1"/>
          <p:nvPr/>
        </p:nvSpPr>
        <p:spPr>
          <a:xfrm>
            <a:off x="3708806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4573829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2" name="Text 40"/>
          <p:cNvSpPr txBox="1"/>
          <p:nvPr/>
        </p:nvSpPr>
        <p:spPr>
          <a:xfrm>
            <a:off x="4571086" y="1971446"/>
            <a:ext cx="27468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Seasonality</a:t>
            </a:r>
            <a:endParaRPr lang="en-US" sz="3000" dirty="0"/>
          </a:p>
        </p:txBody>
      </p:sp>
      <p:sp>
        <p:nvSpPr>
          <p:cNvPr id="53" name="Text 41"/>
          <p:cNvSpPr txBox="1"/>
          <p:nvPr/>
        </p:nvSpPr>
        <p:spPr>
          <a:xfrm>
            <a:off x="5718658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</a:t>
            </a:r>
            <a:endParaRPr lang="en-US" sz="1000" dirty="0"/>
          </a:p>
        </p:txBody>
      </p:sp>
      <p:sp>
        <p:nvSpPr>
          <p:cNvPr id="54" name="Text 42"/>
          <p:cNvSpPr txBox="1"/>
          <p:nvPr/>
        </p:nvSpPr>
        <p:spPr>
          <a:xfrm>
            <a:off x="7014362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5" name="Text 43"/>
          <p:cNvSpPr txBox="1"/>
          <p:nvPr/>
        </p:nvSpPr>
        <p:spPr>
          <a:xfrm>
            <a:off x="7062826" y="1971446"/>
            <a:ext cx="22421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Cyclicity</a:t>
            </a:r>
            <a:endParaRPr lang="en-US" sz="3000" dirty="0"/>
          </a:p>
        </p:txBody>
      </p:sp>
      <p:sp>
        <p:nvSpPr>
          <p:cNvPr id="56" name="Text 44"/>
          <p:cNvSpPr txBox="1"/>
          <p:nvPr/>
        </p:nvSpPr>
        <p:spPr>
          <a:xfrm>
            <a:off x="7957109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주기성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9050731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8" name="Text 46"/>
          <p:cNvSpPr txBox="1"/>
          <p:nvPr/>
        </p:nvSpPr>
        <p:spPr>
          <a:xfrm>
            <a:off x="9205265" y="1971446"/>
            <a:ext cx="2003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Residual</a:t>
            </a:r>
            <a:endParaRPr lang="en-US" sz="3000" dirty="0"/>
          </a:p>
        </p:txBody>
      </p:sp>
      <p:sp>
        <p:nvSpPr>
          <p:cNvPr id="59" name="Text 47"/>
          <p:cNvSpPr txBox="1"/>
          <p:nvPr/>
        </p:nvSpPr>
        <p:spPr>
          <a:xfrm>
            <a:off x="9780422" y="2619756"/>
            <a:ext cx="857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잔차(노이즈)</a:t>
            </a:r>
            <a:endParaRPr lang="en-US" sz="1000" dirty="0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 개요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모델 성능을 결정짓는 핵심 과정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57707" y="2162556"/>
            <a:ext cx="5048402" cy="17812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162556"/>
            <a:ext cx="57607" cy="1762049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4579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71930" y="2609698"/>
            <a:ext cx="333756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457907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엔지니어링이란?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2876702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데이터에서 도메인 지식을 활용하여 모델이 학습하기 좋은 형태의 새로운 변수(Feature)를 재가공하는 과정입니다.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286500" y="2162556"/>
            <a:ext cx="5048402" cy="17812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162556"/>
            <a:ext cx="57607" cy="1762049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4579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34556" y="2609698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457907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성능에 미치는 영향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2876702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"Garbage In, Garbage Out". 아무리 좋은 알고리즘도 데이터가 나쁘면 소용없으며, 성능의 80%는 피처가 결정합니다.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57707" y="4324198"/>
            <a:ext cx="5048402" cy="178125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762049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수행 원칙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피처부터 시작해 가설을 검증하며 확장해야 합니다. 특히 미래 정보를 사용하는 '데이터 누수'에 주의해야 합니다.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286500" y="4324198"/>
            <a:ext cx="5048402" cy="178125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7620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67474" y="4772254"/>
            <a:ext cx="200254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피처 예시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시간(요일/월/연), 래그(과거 시점 데이터), 롤링(이동평균), 외부 변수(휴일/유가) 등을 조합하여 생성합니다.</a:t>
            </a:r>
            <a:endParaRPr lang="en-US" sz="13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피처의 주요 유형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성능의 80%를 결정하는 4가지 핵심 피처 카테고리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571500" y="1671523"/>
            <a:ext cx="5410505" cy="226679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76295" y="1910182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809244" y="191018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952805" y="2042770"/>
            <a:ext cx="171907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99946" y="1910182"/>
            <a:ext cx="154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피처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(Time Features)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09244" y="2481682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데이터에서 계절성과 주기성 패턴을 명시적으로 학습할 수 있도록 돕습니다.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471977" y="2499970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3624682" y="2428646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요일/주말: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주간 반복 패턴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471977" y="2776118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3624682" y="2704795"/>
            <a:ext cx="1436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월/분기: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연간 계절성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471977" y="3053182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3624682" y="2980944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월초/월말: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급여일 효과 등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6210605" y="1671523"/>
            <a:ext cx="5410505" cy="226679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915400" y="1910182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6448349" y="191018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81851" y="2042770"/>
            <a:ext cx="190195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39051" y="1910182"/>
            <a:ext cx="14008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래그 피처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(Lag Features)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448349" y="2481682"/>
            <a:ext cx="23527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시점의 값을 현재 입력으로 사용하여 자기상관(Autocorrelation)을 반영합니다.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9111082" y="2499970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 txBox="1"/>
          <p:nvPr/>
        </p:nvSpPr>
        <p:spPr>
          <a:xfrm>
            <a:off x="9262872" y="2428646"/>
            <a:ext cx="20180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Lag_7: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지난주 동일 요일 매출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9111082" y="2776118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9262872" y="2704795"/>
            <a:ext cx="1408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Lag_30: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지난달 매출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9111082" y="3053182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4"/>
          <p:cNvSpPr txBox="1"/>
          <p:nvPr/>
        </p:nvSpPr>
        <p:spPr>
          <a:xfrm>
            <a:off x="9262872" y="2980944"/>
            <a:ext cx="17062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Lag_365: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동기 매출</a:t>
            </a:r>
            <a:endParaRPr lang="en-US" sz="10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571500" y="4166921"/>
            <a:ext cx="5410505" cy="2266798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3276295" y="4405579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/>
          <p:cNvSpPr/>
          <p:nvPr/>
        </p:nvSpPr>
        <p:spPr>
          <a:xfrm>
            <a:off x="809244" y="4405579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8972" y="4539082"/>
            <a:ext cx="237744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399946" y="4405579"/>
            <a:ext cx="1733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롤링 피처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(Rolling Features)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809244" y="4977079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윈도우(Window) 내의 통계값을 통해 추세와 변동성을 요약합니다.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3471977" y="4996282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0"/>
          <p:cNvSpPr txBox="1"/>
          <p:nvPr/>
        </p:nvSpPr>
        <p:spPr>
          <a:xfrm>
            <a:off x="3624682" y="4924044"/>
            <a:ext cx="1921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이동평균(MA7):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단기 트렌드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3471977" y="5272430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2"/>
          <p:cNvSpPr txBox="1"/>
          <p:nvPr/>
        </p:nvSpPr>
        <p:spPr>
          <a:xfrm>
            <a:off x="3624682" y="5201107"/>
            <a:ext cx="19202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표준편차(STD):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변동성 측정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3471977" y="5548579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3624682" y="5477256"/>
            <a:ext cx="17071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Min/Max: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구간 내 극단값</a:t>
            </a:r>
            <a:endParaRPr lang="en-US" sz="10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6210605" y="4166921"/>
            <a:ext cx="5410505" cy="2266798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8915400" y="4405579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6"/>
          <p:cNvSpPr/>
          <p:nvPr/>
        </p:nvSpPr>
        <p:spPr>
          <a:xfrm>
            <a:off x="6448349" y="4519879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81851" y="4653382"/>
            <a:ext cx="190195" cy="190195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7039051" y="4405579"/>
            <a:ext cx="1753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피처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(External Features)</a:t>
            </a:r>
            <a:endParaRPr lang="en-US" sz="1500" dirty="0"/>
          </a:p>
        </p:txBody>
      </p:sp>
      <p:sp>
        <p:nvSpPr>
          <p:cNvPr id="50" name="Text 38"/>
          <p:cNvSpPr txBox="1"/>
          <p:nvPr/>
        </p:nvSpPr>
        <p:spPr>
          <a:xfrm>
            <a:off x="6448349" y="5205679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매출에 영향을 미치는 외부 환경 요인을 모델에 추가합니다.</a:t>
            </a:r>
            <a:endParaRPr lang="en-US" sz="1100" dirty="0"/>
          </a:p>
        </p:txBody>
      </p:sp>
      <p:sp>
        <p:nvSpPr>
          <p:cNvPr id="51" name="Shape 39"/>
          <p:cNvSpPr/>
          <p:nvPr/>
        </p:nvSpPr>
        <p:spPr>
          <a:xfrm>
            <a:off x="9111082" y="4996282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0"/>
          <p:cNvSpPr txBox="1"/>
          <p:nvPr/>
        </p:nvSpPr>
        <p:spPr>
          <a:xfrm>
            <a:off x="9262872" y="4924044"/>
            <a:ext cx="1955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onpromotion 여부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9111082" y="5272430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2"/>
          <p:cNvSpPr txBox="1"/>
          <p:nvPr/>
        </p:nvSpPr>
        <p:spPr>
          <a:xfrm>
            <a:off x="9262872" y="5201107"/>
            <a:ext cx="17126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휴일/이벤트: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공휴일 효과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9111082" y="5548579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4"/>
          <p:cNvSpPr txBox="1"/>
          <p:nvPr/>
        </p:nvSpPr>
        <p:spPr>
          <a:xfrm>
            <a:off x="9262872" y="5477256"/>
            <a:ext cx="1877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거시경제: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유가, 환율, 날씨</a:t>
            </a:r>
            <a:endParaRPr lang="en-US" sz="1000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누수(Data Leakage) 방지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모델의 신뢰도를 결정짓는 가장 중요한 원칙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171346" y="6344107"/>
            <a:ext cx="3572561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배포하여 실제로 예측하는 시점(Inference Time)에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확보할 수 없는 데이터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절대 학습에 사용해서는 안 됩니다.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809244" y="6452921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077102"/>
            <a:ext cx="28693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체크포인트: "타임머신은 없다"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21717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1998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누수 발생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562356" cy="247802"/>
          </a:xfrm>
          <a:prstGeom prst="roundRect">
            <a:avLst>
              <a:gd name="adj" fmla="val 17031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495044" y="2352751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6851" y="2952598"/>
            <a:ext cx="133502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00354" y="2952598"/>
            <a:ext cx="3885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정보 사용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오늘 매출 예측에 내일 날씨 반영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6851" y="3295498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0354" y="3295498"/>
            <a:ext cx="3707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Split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데이터를 섞어서 훈련/검증 분할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6851" y="3638398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4" y="3638398"/>
            <a:ext cx="3488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통계 사용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Test셋 포함해서 Scaling 적용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6227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019556" y="4614977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학습 (미래 참조)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 t="-658" b="-658"/>
          <a:stretch/>
        </p:blipFill>
        <p:spPr>
          <a:xfrm>
            <a:off x="2033626" y="4862779"/>
            <a:ext cx="819302" cy="3236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33626" y="4862779"/>
            <a:ext cx="876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Train: 1/5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47111" y="4955134"/>
            <a:ext cx="133502" cy="133502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 t="-445" b="-445"/>
          <a:stretch/>
        </p:blipFill>
        <p:spPr>
          <a:xfrm>
            <a:off x="3175711" y="4862779"/>
            <a:ext cx="761695" cy="32369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175711" y="4862779"/>
            <a:ext cx="819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Test: 1/3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4104742" y="4862779"/>
            <a:ext cx="4005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10044" y="1971446"/>
            <a:ext cx="13661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처리</a:t>
            </a:r>
            <a:endParaRPr lang="en-US" sz="1800" dirty="0"/>
          </a:p>
        </p:txBody>
      </p:sp>
      <p:sp>
        <p:nvSpPr>
          <p:cNvPr id="41" name="Shape 30"/>
          <p:cNvSpPr/>
          <p:nvPr/>
        </p:nvSpPr>
        <p:spPr>
          <a:xfrm>
            <a:off x="7210044" y="2352751"/>
            <a:ext cx="666598" cy="247802"/>
          </a:xfrm>
          <a:prstGeom prst="roundRect">
            <a:avLst>
              <a:gd name="adj" fmla="val 17031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/>
          <p:cNvSpPr txBox="1"/>
          <p:nvPr/>
        </p:nvSpPr>
        <p:spPr>
          <a:xfrm>
            <a:off x="7210044" y="2352751"/>
            <a:ext cx="7242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 THIS</a:t>
            </a:r>
            <a:endParaRPr lang="en-US" sz="9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2952598"/>
            <a:ext cx="133502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715354" y="2952598"/>
            <a:ext cx="381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정보만 사용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Lag 피처(어제, 지난주 매출)</a:t>
            </a:r>
            <a:endParaRPr lang="en-US" sz="12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3295498"/>
            <a:ext cx="133502" cy="13350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715354" y="3295498"/>
            <a:ext cx="3444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 Series Split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시간 순서를 지켜서 분할</a:t>
            </a:r>
            <a:endParaRPr lang="en-US" sz="12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3638398"/>
            <a:ext cx="133502" cy="13350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715354" y="3638398"/>
            <a:ext cx="3992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기준 전처리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검증 데이터는 Transform만 수행</a:t>
            </a:r>
            <a:endParaRPr lang="en-US" sz="1200" dirty="0"/>
          </a:p>
        </p:txBody>
      </p:sp>
      <p:sp>
        <p:nvSpPr>
          <p:cNvPr id="49" name="Shape 35"/>
          <p:cNvSpPr/>
          <p:nvPr/>
        </p:nvSpPr>
        <p:spPr>
          <a:xfrm>
            <a:off x="6581851" y="446227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6"/>
          <p:cNvSpPr txBox="1"/>
          <p:nvPr/>
        </p:nvSpPr>
        <p:spPr>
          <a:xfrm>
            <a:off x="6734556" y="4614977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학습 (시간 순서 준수)</a:t>
            </a:r>
            <a:endParaRPr lang="en-US" sz="900" dirty="0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1"/>
          <a:srcRect t="-444" b="-444"/>
          <a:stretch/>
        </p:blipFill>
        <p:spPr>
          <a:xfrm>
            <a:off x="7794346" y="4862779"/>
            <a:ext cx="895198" cy="323698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7794346" y="4862779"/>
            <a:ext cx="9528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Train: ~1/3</a:t>
            </a:r>
            <a:endParaRPr lang="en-US" sz="900" dirty="0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8780069" y="4955134"/>
            <a:ext cx="114300" cy="133502"/>
          </a:xfrm>
          <a:prstGeom prst="rect">
            <a:avLst/>
          </a:prstGeom>
        </p:spPr>
      </p:pic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8"/>
          <a:srcRect t="-445" b="-445"/>
          <a:stretch/>
        </p:blipFill>
        <p:spPr>
          <a:xfrm>
            <a:off x="8989466" y="4862779"/>
            <a:ext cx="761695" cy="323698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8989466" y="4862779"/>
            <a:ext cx="819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Test: 1/4</a:t>
            </a:r>
            <a:endParaRPr lang="en-US" sz="900" dirty="0"/>
          </a:p>
        </p:txBody>
      </p:sp>
      <p:sp>
        <p:nvSpPr>
          <p:cNvPr id="56" name="Text 39"/>
          <p:cNvSpPr txBox="1"/>
          <p:nvPr/>
        </p:nvSpPr>
        <p:spPr>
          <a:xfrm>
            <a:off x="9918497" y="4862779"/>
            <a:ext cx="257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OK</a:t>
            </a:r>
            <a:endParaRPr lang="en-US" sz="100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 개요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 해결을 위한 최적의 예측 모델 선정 전략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71500" y="2609698"/>
            <a:ext cx="3492094" cy="30476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609698"/>
            <a:ext cx="3473806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66851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7902" y="3086100"/>
            <a:ext cx="304495" cy="3044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66851" y="3800246"/>
            <a:ext cx="270845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베이스라인: Prophet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866851" y="4324198"/>
            <a:ext cx="2638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빠르고 직관적인 초기 모델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6851" y="4751222"/>
            <a:ext cx="2696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시계열(계절성/휴일) 특화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6851" y="5055718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결측치에 강건하며 자동화 용이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66851" y="5360213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신뢰구간 제공으로 불확실성 파악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2" b="-2"/>
          <a:stretch/>
        </p:blipFill>
        <p:spPr>
          <a:xfrm>
            <a:off x="4349801" y="2609698"/>
            <a:ext cx="3492094" cy="30476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49801" y="2609698"/>
            <a:ext cx="3473806" cy="57607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645152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26203" y="3086100"/>
            <a:ext cx="304495" cy="3044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45152" y="3800246"/>
            <a:ext cx="276423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고성능: GBMs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4645152" y="4324198"/>
            <a:ext cx="2848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정확도가 중요한 메인 모델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645152" y="4751222"/>
            <a:ext cx="2959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XGBoost, LightGBM, CatBoost 활용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645152" y="5055718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비선형 관계 및 상호작용 포착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645152" y="5360213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엔지니어링을 통해 성능 극대화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128102" y="2609698"/>
            <a:ext cx="3492094" cy="304769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128102" y="2609698"/>
            <a:ext cx="3473806" cy="57607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2"/>
          <p:cNvSpPr/>
          <p:nvPr/>
        </p:nvSpPr>
        <p:spPr>
          <a:xfrm>
            <a:off x="8423453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8585302" y="3086100"/>
            <a:ext cx="342900" cy="3044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23453" y="3800246"/>
            <a:ext cx="31693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전략: 앙상블 &amp; 시나리오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423453" y="4324198"/>
            <a:ext cx="30961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안정성과 활용성 강화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23453" y="4751222"/>
            <a:ext cx="2981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한계 극복을 위한 혼합(Ensemble)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8423453" y="5284318"/>
            <a:ext cx="3096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과적합 방지 및 예측 안정성 확보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423453" y="5588813"/>
            <a:ext cx="3058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분석(What-if) 대응 구조 설계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E2E8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GBMs 비교: XGBoost vs LightGBM vs CatBoost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예측 성능을 극대화하는 3대 트리 기반 부스팅 모델 특징 비교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6" b="-6"/>
          <a:stretch/>
        </p:blipFill>
        <p:spPr>
          <a:xfrm>
            <a:off x="571500" y="1723644"/>
            <a:ext cx="3530498" cy="45628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80644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031797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2203704" y="2162556"/>
            <a:ext cx="26700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15084" y="2771546"/>
            <a:ext cx="1047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470355" y="3152851"/>
            <a:ext cx="17401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"The Kaggle Standard"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3819449"/>
            <a:ext cx="133502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2746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&amp; 성능: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가장 널리 쓰이며 검증된 성능. 과적합 규제(Regularization) 기능이 강력함.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4362602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746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Level-wise 성장: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트리를 균형 있게(수평적으로) 확장하여 깊이를 제어.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" y="4905756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42746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대용량 데이터에서 학습 속도가 상대적으로 느리고 메모리 사용량이 큼.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09244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771754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일반적인 정형 데이터, 중소규모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 t="-6" b="-6"/>
          <a:stretch/>
        </p:blipFill>
        <p:spPr>
          <a:xfrm>
            <a:off x="4330598" y="1723644"/>
            <a:ext cx="3530498" cy="45628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40657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4340657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5790895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rcRect l="-107" r="-107"/>
          <a:stretch/>
        </p:blipFill>
        <p:spPr>
          <a:xfrm>
            <a:off x="5962802" y="2162556"/>
            <a:ext cx="267005" cy="3044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92801" y="2771546"/>
            <a:ext cx="1209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5308092" y="3152851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"Speed &amp; Efficiency"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69257" y="3819449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01845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압도적인 속도: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XGBoost 대비 학습 속도가 빠르고 메모리 사용량이 적음.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69257" y="4362602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01845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Leaf-wise 성장: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손실을 가장 많이 줄이는 리프 중심(수직적) 분할. 정확도가 높음.</a:t>
            </a:r>
            <a:endParaRPr lang="en-US" sz="11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69257" y="4905756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701845" y="4905756"/>
            <a:ext cx="3001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데이터가 적을 경우(&lt; 1만 행) 과적합 위험이 있어 </a:t>
            </a:r>
            <a:r>
              <a:rPr lang="en-US" sz="11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max_depth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제한 필수.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4569257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6"/>
          <p:cNvSpPr txBox="1"/>
          <p:nvPr/>
        </p:nvSpPr>
        <p:spPr>
          <a:xfrm>
            <a:off x="4530852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대용량 데이터, 빠른 실험</a:t>
            </a:r>
            <a:endParaRPr lang="en-US" sz="9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0"/>
          <a:srcRect t="-6" b="-6"/>
          <a:stretch/>
        </p:blipFill>
        <p:spPr>
          <a:xfrm>
            <a:off x="8089697" y="1723644"/>
            <a:ext cx="3530498" cy="4562856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9755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8"/>
          <p:cNvSpPr/>
          <p:nvPr/>
        </p:nvSpPr>
        <p:spPr>
          <a:xfrm>
            <a:off x="8099755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9"/>
          <p:cNvSpPr/>
          <p:nvPr/>
        </p:nvSpPr>
        <p:spPr>
          <a:xfrm>
            <a:off x="9549994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 l="-50" r="-50"/>
          <a:stretch/>
        </p:blipFill>
        <p:spPr>
          <a:xfrm>
            <a:off x="9683496" y="2162556"/>
            <a:ext cx="342900" cy="3044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269273" y="2771546"/>
            <a:ext cx="11759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1800" dirty="0"/>
          </a:p>
        </p:txBody>
      </p:sp>
      <p:sp>
        <p:nvSpPr>
          <p:cNvPr id="45" name="Text 31"/>
          <p:cNvSpPr txBox="1"/>
          <p:nvPr/>
        </p:nvSpPr>
        <p:spPr>
          <a:xfrm>
            <a:off x="9069934" y="3152851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"Categorical Master"</a:t>
            </a:r>
            <a:endParaRPr lang="en-US" sz="10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28355" y="3819449"/>
            <a:ext cx="133502" cy="133502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8461858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변수 처리: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One-hot Encoding 없이 범주형 데이터를 자동으로 최적 처리.</a:t>
            </a:r>
            <a:endParaRPr lang="en-US" sz="11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28355" y="4362602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8461858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Ordered Boosting: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누수를 막는 독자적 알고리즘으로 과적합 방지.</a:t>
            </a:r>
            <a:endParaRPr lang="en-US" sz="11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28355" y="4905756"/>
            <a:ext cx="133502" cy="1335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461858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편의성: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파라미터 튜닝 없이 기본값만으로도 우수한 성능을 냄.</a:t>
            </a:r>
            <a:endParaRPr lang="en-US" sz="1100" dirty="0"/>
          </a:p>
        </p:txBody>
      </p:sp>
      <p:sp>
        <p:nvSpPr>
          <p:cNvPr id="52" name="Shape 35"/>
          <p:cNvSpPr/>
          <p:nvPr/>
        </p:nvSpPr>
        <p:spPr>
          <a:xfrm>
            <a:off x="8328355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6"/>
          <p:cNvSpPr txBox="1"/>
          <p:nvPr/>
        </p:nvSpPr>
        <p:spPr>
          <a:xfrm>
            <a:off x="8289950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범주형 변수가 많은 데이터</a:t>
            </a:r>
            <a:endParaRPr lang="en-US" sz="9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1904695"/>
            <a:ext cx="2857500" cy="2857500"/>
          </a:xfrm>
          <a:prstGeom prst="ellipse">
            <a:avLst/>
          </a:prstGeom>
          <a:solidFill>
            <a:srgbClr val="F0F9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평가 및 비교 기준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정확도를 넘어 비즈니스 운영과 의사결정을 지원하는 최적 모델 선정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11048695" cy="705002"/>
          </a:xfrm>
          <a:prstGeom prst="roundRect">
            <a:avLst>
              <a:gd name="adj" fmla="val 4206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19302" y="1781251"/>
            <a:ext cx="1438351" cy="400507"/>
          </a:xfrm>
          <a:prstGeom prst="roundRect">
            <a:avLst>
              <a:gd name="adj" fmla="val 869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14323" y="1781251"/>
            <a:ext cx="110093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평가의 3대 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74213" y="1828800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51022" y="1904695"/>
            <a:ext cx="152705" cy="152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455518" y="1867205"/>
            <a:ext cx="1693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정확성 (오차 최소화)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75274" y="1828800"/>
            <a:ext cx="304495" cy="3044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6132881" y="1904695"/>
            <a:ext cx="19019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56578" y="1867205"/>
            <a:ext cx="1954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운영성 (학습/추론 속도)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276588" y="1828800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333281" y="1904695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657893" y="1867205"/>
            <a:ext cx="1531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설명력 (원인 해석)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571500" y="2572207"/>
            <a:ext cx="11048695" cy="3962095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" y="2581351"/>
          <a:ext cx="11030407" cy="3943807"/>
        </p:xfrm>
        <a:graphic>
          <a:graphicData uri="http://schemas.openxmlformats.org/drawingml/2006/table">
            <a:tbl>
              <a:tblPr/>
              <a:tblGrid>
                <a:gridCol w="2205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6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3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 기준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특징 및 장단점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비즈니스 활용 포인트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중요도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RMSE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Root Mean Square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큰 오차에 페널티를 부여함. 이상치(Outlier)에 민감하게 반응.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재고 부족 등 </a:t>
                      </a: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치명적 오차 방지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 중요할 때 사용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Absolute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절대적인 오차의 평균. 이상치에 덜 민감하며 직관적임.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평균적인 </a:t>
                      </a: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일상 판매량 예측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및 일반적 재고 관리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Med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Absolute %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오차를 비율(%)로 표현. 규모가 다른 매장 간 비교 가능.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경영진 보고용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지표 (예: "정확도 95%")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6B21A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시간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Training Time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재학습 및 튜닝에 소요되는 시간.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매일/매주 단위의 </a:t>
                      </a: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지속적 운영(MLOps)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가능 여부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Med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6653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해석 가능성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Interpretability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"왜 이런 예측이 나왔는가?"를 설명할 수 있는 능력.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현업 설득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및 액션 플랜(프로모션 등) 수립의 근거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Critical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 t="-32" b="-32"/>
          <a:stretch/>
        </p:blipFill>
        <p:spPr>
          <a:xfrm>
            <a:off x="571500" y="6772046"/>
            <a:ext cx="11048695" cy="743407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66851" y="6953098"/>
            <a:ext cx="171907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28954" y="6915607"/>
            <a:ext cx="102303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가이드: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모델링 단계에서는 이상치 관리를 위해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최소화하되, 비즈니스 보고 시에는 직관적인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MAPE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주로 사용합니다. 하지만 모델 성능이 아무리 좋아도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가능성(SHAP)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없으면 현업 적용이 어렵습니다. 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981151" y="1914754"/>
            <a:ext cx="190195" cy="152705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4762195" cy="476219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E3A8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TimeSeriesSplit: 시간 순서 유지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미래의 정보가 과거 예측에 사용되는 '데이터 누수(Leakage)'를 방지하는 교차 검증 기법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628546"/>
            <a:ext cx="5429707" cy="1104595"/>
          </a:xfrm>
          <a:prstGeom prst="roundRect">
            <a:avLst>
              <a:gd name="adj" fmla="val 17127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1754" y="18288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75995" y="1933956"/>
            <a:ext cx="171907" cy="1719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95705" y="1828800"/>
            <a:ext cx="4620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K-Fold 교차 검증 (Bad)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95705" y="2133295"/>
            <a:ext cx="45820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무작위로 섞으면 </a:t>
            </a: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2017년 데이터로 2015년을 예측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상황이 발생합니다. 이는 현실에서 불가능하며 모델 성능을 과대평가하게 만듭니다.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91402" y="1628546"/>
            <a:ext cx="5429707" cy="1104595"/>
          </a:xfrm>
          <a:prstGeom prst="roundRect">
            <a:avLst>
              <a:gd name="adj" fmla="val 17127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391656" y="18288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95898" y="1933956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15607" y="1828800"/>
            <a:ext cx="4620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교차 검증 (Good)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915607" y="2133295"/>
            <a:ext cx="45820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</a:t>
            </a: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데이터로 학습(Train)하고 미래 데이터로 검증(Test)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실제 운영 환경과 동일한 제약 조건을 시뮬레이션합니다.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71500" y="3019349"/>
            <a:ext cx="11048695" cy="3685946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961949" y="3314700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Expanding Window Cross-Validation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699248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7890358" y="3329330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 Set (과거)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256471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9446666" y="3329330"/>
            <a:ext cx="1077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Set (미래)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0540289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10730484" y="3329330"/>
            <a:ext cx="581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Unused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61949" y="38477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1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961949" y="44192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2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961949" y="49907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3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961949" y="55622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4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961949" y="6115507"/>
            <a:ext cx="102677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 txBox="1"/>
          <p:nvPr/>
        </p:nvSpPr>
        <p:spPr>
          <a:xfrm>
            <a:off x="1686154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587191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5488229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7389266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2016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290304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723644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1686154" y="3733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4"/>
          <a:srcRect l="-122" r="-122"/>
          <a:stretch/>
        </p:blipFill>
        <p:spPr>
          <a:xfrm>
            <a:off x="3632911" y="3733495"/>
            <a:ext cx="1876349" cy="42885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3595421" y="37334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5542178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7450531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8"/>
          <p:cNvSpPr/>
          <p:nvPr/>
        </p:nvSpPr>
        <p:spPr>
          <a:xfrm>
            <a:off x="9359798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9"/>
          <p:cNvSpPr/>
          <p:nvPr/>
        </p:nvSpPr>
        <p:spPr>
          <a:xfrm>
            <a:off x="1723644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 txBox="1"/>
          <p:nvPr/>
        </p:nvSpPr>
        <p:spPr>
          <a:xfrm>
            <a:off x="1686154" y="4304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632911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 txBox="1"/>
          <p:nvPr/>
        </p:nvSpPr>
        <p:spPr>
          <a:xfrm>
            <a:off x="3595421" y="4304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4"/>
          <a:srcRect l="-122" r="-122"/>
          <a:stretch/>
        </p:blipFill>
        <p:spPr>
          <a:xfrm>
            <a:off x="5542178" y="4304995"/>
            <a:ext cx="1876349" cy="428854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5504688" y="43049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7450531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5"/>
          <p:cNvSpPr/>
          <p:nvPr/>
        </p:nvSpPr>
        <p:spPr>
          <a:xfrm>
            <a:off x="9359798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6"/>
          <p:cNvSpPr/>
          <p:nvPr/>
        </p:nvSpPr>
        <p:spPr>
          <a:xfrm>
            <a:off x="1723644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7"/>
          <p:cNvSpPr txBox="1"/>
          <p:nvPr/>
        </p:nvSpPr>
        <p:spPr>
          <a:xfrm>
            <a:off x="1686154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3632911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9"/>
          <p:cNvSpPr txBox="1"/>
          <p:nvPr/>
        </p:nvSpPr>
        <p:spPr>
          <a:xfrm>
            <a:off x="3595421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5542178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1"/>
          <p:cNvSpPr txBox="1"/>
          <p:nvPr/>
        </p:nvSpPr>
        <p:spPr>
          <a:xfrm>
            <a:off x="5504688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4"/>
          <a:srcRect l="-122" r="-122"/>
          <a:stretch/>
        </p:blipFill>
        <p:spPr>
          <a:xfrm>
            <a:off x="7450531" y="4876495"/>
            <a:ext cx="1876349" cy="428854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7413041" y="48764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9359798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4"/>
          <p:cNvSpPr/>
          <p:nvPr/>
        </p:nvSpPr>
        <p:spPr>
          <a:xfrm>
            <a:off x="1723644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5"/>
          <p:cNvSpPr txBox="1"/>
          <p:nvPr/>
        </p:nvSpPr>
        <p:spPr>
          <a:xfrm>
            <a:off x="1686154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3632911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7"/>
          <p:cNvSpPr txBox="1"/>
          <p:nvPr/>
        </p:nvSpPr>
        <p:spPr>
          <a:xfrm>
            <a:off x="3595421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5542178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9"/>
          <p:cNvSpPr txBox="1"/>
          <p:nvPr/>
        </p:nvSpPr>
        <p:spPr>
          <a:xfrm>
            <a:off x="5504688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7450531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1"/>
          <p:cNvSpPr txBox="1"/>
          <p:nvPr/>
        </p:nvSpPr>
        <p:spPr>
          <a:xfrm>
            <a:off x="7413041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 r:embed="rId4"/>
          <a:srcRect l="-122" r="-122"/>
          <a:stretch/>
        </p:blipFill>
        <p:spPr>
          <a:xfrm>
            <a:off x="9359798" y="5447995"/>
            <a:ext cx="1876349" cy="428854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9322308" y="54479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 작동 원리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베이지안 최적화(Bayesian Optimization) 기반 자동 튜닝 프레임워크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571500" y="2344522"/>
            <a:ext cx="2318918" cy="341619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636215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583180"/>
            <a:ext cx="152613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탐색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(Random Search)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771754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923544" y="3415284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"초기 데이터 수집 단계"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가지 파라미터 조합을 무작위로 선택하여 시도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탐색 공간의 전반적인 분포 파악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65776"/>
            <a:ext cx="2013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Grid Search보다 효율적 시작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3481121" y="2344522"/>
            <a:ext cx="2318918" cy="341619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3681374" y="2636215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3642970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583180"/>
            <a:ext cx="14100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 영역 추정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(TPE Algorithm)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3681374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3834079" y="3415284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"어디가 성능이 좋을까?"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시도 결과를 바탕으로 확률 모델 생성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성능이 좋은 파라미터 영역(Good)과 나쁜 영역(Bad) 구분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50657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Tree-structured Parzen Estimator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6391656" y="2344522"/>
            <a:ext cx="2318918" cy="341619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6590995" y="2636215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/>
          <p:nvPr/>
        </p:nvSpPr>
        <p:spPr>
          <a:xfrm>
            <a:off x="6553505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91502" y="2583180"/>
            <a:ext cx="13057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 탐색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(Focus Search)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590995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6743700" y="3415284"/>
            <a:ext cx="17986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"좋은 곳을 더 깊게 파자"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유망하다고 추정된 영역에서 더 많은 조합 시도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608576"/>
            <a:ext cx="2078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영역 탐색 최소화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4865522"/>
            <a:ext cx="2078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효율 극대화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9301277" y="2344522"/>
            <a:ext cx="2318918" cy="3416198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/>
          <p:cNvSpPr/>
          <p:nvPr/>
        </p:nvSpPr>
        <p:spPr>
          <a:xfrm>
            <a:off x="9501530" y="2636215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/>
          <p:nvPr/>
        </p:nvSpPr>
        <p:spPr>
          <a:xfrm>
            <a:off x="9463126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583180"/>
            <a:ext cx="12765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수렴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(Convergence)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9501530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 txBox="1"/>
          <p:nvPr/>
        </p:nvSpPr>
        <p:spPr>
          <a:xfrm>
            <a:off x="9653321" y="3415284"/>
            <a:ext cx="1201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"최적 조합 발견"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과정을 반복하며 최적 파라미터 조합 도출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설정된 시도 횟수(n_trials) 도달 시 종료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5065776"/>
            <a:ext cx="20016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Best Params 반환</a:t>
            </a:r>
            <a:endParaRPr lang="en-US" sz="10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F0FDF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SHAP: 예측의 ‘왜’를 설명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이론의 Shapley Value를 머신러닝 해석에 적용하여 기여도를 계산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3221431"/>
            <a:ext cx="11048695" cy="2486254"/>
          </a:xfrm>
          <a:prstGeom prst="roundRect">
            <a:avLst>
              <a:gd name="adj" fmla="val 4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476902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23406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588606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1500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1754" y="6193231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05256" y="6326734"/>
            <a:ext cx="190195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71600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확보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왜 그런 예측을 했는지 설명함으로써 블랙박스 모델에 대한 의사결정자의 신뢰를 얻을 수 있습니다.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34256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533595" y="6193231"/>
            <a:ext cx="457200" cy="4572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7098" y="6326734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34356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규명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134356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날짜의 매출이 급감했을 때, 그것이 트렌드 때문인지 휴일 효과 때문인지 정확히 분해해 냅니다.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96098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296351" y="6193231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8415223" y="6326734"/>
            <a:ext cx="219456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96198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연결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896198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"프로모션이 매출을 +50만큼 올렸다"는 근거를 통해 마케팅 예산 증액 등의 구체적 행동을 제안합니다.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2293315" y="3516782"/>
            <a:ext cx="7610551" cy="666598"/>
          </a:xfrm>
          <a:prstGeom prst="roundRect">
            <a:avLst>
              <a:gd name="adj" fmla="val 13717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2235708" y="3516782"/>
            <a:ext cx="7724851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92100" tIns="101600" rIns="292100" bIns="1016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예측값 = 기본값(평균) + </a:t>
            </a:r>
            <a:r>
              <a:rPr lang="en-US" sz="24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Σ(긍정 기여)</a:t>
            </a:r>
            <a:r>
              <a:rPr lang="en-US" sz="24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r>
              <a:rPr lang="en-US" sz="2400" b="1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Σ(부정 기여)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5719572" y="3678631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Σ(긍정 기여)</a:t>
            </a:r>
            <a:endParaRPr lang="en-US" sz="2400" dirty="0"/>
          </a:p>
        </p:txBody>
      </p:sp>
      <p:sp>
        <p:nvSpPr>
          <p:cNvPr id="31" name="Text 26"/>
          <p:cNvSpPr txBox="1"/>
          <p:nvPr/>
        </p:nvSpPr>
        <p:spPr>
          <a:xfrm>
            <a:off x="7744054" y="3678631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Σ(부정 기여)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571500" y="1628546"/>
            <a:ext cx="11048695" cy="1314907"/>
          </a:xfrm>
          <a:prstGeom prst="roundRect">
            <a:avLst>
              <a:gd name="adj" fmla="val 8063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571500" y="1628546"/>
            <a:ext cx="57607" cy="1314907"/>
          </a:xfrm>
          <a:prstGeom prst="roundRect">
            <a:avLst>
              <a:gd name="adj" fmla="val 184036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914400" y="1904695"/>
            <a:ext cx="171907" cy="19019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181405" y="1857146"/>
            <a:ext cx="27239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아이디어: 공정한 분배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914400" y="2219249"/>
            <a:ext cx="10497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"여러 명이 협력하여 팀(모델)이 승리(예측)했을 때, </a:t>
            </a:r>
            <a:r>
              <a:rPr lang="en-US" sz="12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선수가 승리에 기여한 몫(Shapley Value)</a:t>
            </a: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얼마나 공정하게 배분할 것인가?"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머신러닝에서 </a:t>
            </a: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선수 = Feature(변수)</a:t>
            </a: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승리 점수 = 예측값</a:t>
            </a: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대입하여 해석합니다. 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3411626" y="4564685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Value</a:t>
            </a:r>
            <a:endParaRPr lang="en-US" sz="1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191256" y="4840834"/>
            <a:ext cx="1143000" cy="5715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3161995" y="4840834"/>
            <a:ext cx="12006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3290926" y="5483657"/>
            <a:ext cx="952805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4"/>
          <p:cNvSpPr txBox="1"/>
          <p:nvPr/>
        </p:nvSpPr>
        <p:spPr>
          <a:xfrm>
            <a:off x="3290926" y="5483657"/>
            <a:ext cx="10104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평균 매출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5110582" y="4564685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1</a:t>
            </a:r>
            <a:endParaRPr lang="en-US" sz="10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rcRect t="-11" b="-11"/>
          <a:stretch/>
        </p:blipFill>
        <p:spPr>
          <a:xfrm>
            <a:off x="4746650" y="4840834"/>
            <a:ext cx="1333195" cy="5715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4718304" y="4840834"/>
            <a:ext cx="13908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4958791" y="5483657"/>
            <a:ext cx="914400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8"/>
          <p:cNvSpPr txBox="1"/>
          <p:nvPr/>
        </p:nvSpPr>
        <p:spPr>
          <a:xfrm>
            <a:off x="4958791" y="5483657"/>
            <a:ext cx="9720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6665976" y="4564685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2</a:t>
            </a:r>
            <a:endParaRPr lang="en-US" sz="10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8"/>
          <a:srcRect l="-16" r="-16"/>
          <a:stretch/>
        </p:blipFill>
        <p:spPr>
          <a:xfrm>
            <a:off x="6493154" y="4840834"/>
            <a:ext cx="952805" cy="5715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463894" y="4840834"/>
            <a:ext cx="10104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-20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6571793" y="5483657"/>
            <a:ext cx="800100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2"/>
          <p:cNvSpPr txBox="1"/>
          <p:nvPr/>
        </p:nvSpPr>
        <p:spPr>
          <a:xfrm>
            <a:off x="6571793" y="5483657"/>
            <a:ext cx="8577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비수기 영향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8094269" y="4564685"/>
            <a:ext cx="8055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Prediction</a:t>
            </a:r>
            <a:endParaRPr lang="en-US" sz="10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58354" y="4840834"/>
            <a:ext cx="1143000" cy="5715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7829093" y="4840834"/>
            <a:ext cx="12006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130</a:t>
            </a:r>
            <a:endParaRPr lang="en-US" sz="1300" dirty="0"/>
          </a:p>
        </p:txBody>
      </p:sp>
      <p:sp>
        <p:nvSpPr>
          <p:cNvPr id="55" name="Shape 45"/>
          <p:cNvSpPr/>
          <p:nvPr/>
        </p:nvSpPr>
        <p:spPr>
          <a:xfrm>
            <a:off x="7958023" y="5483657"/>
            <a:ext cx="952805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6"/>
          <p:cNvSpPr txBox="1"/>
          <p:nvPr/>
        </p:nvSpPr>
        <p:spPr>
          <a:xfrm>
            <a:off x="7958023" y="5483657"/>
            <a:ext cx="10104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예측 매출</a:t>
            </a:r>
            <a:endParaRPr lang="en-US" sz="900" dirty="0"/>
          </a:p>
        </p:txBody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주요 시각화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예측 원인을 다각도로 분석하는 3가지 핵심 도구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571500" y="1723644"/>
            <a:ext cx="3492094" cy="47338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4058107"/>
            <a:ext cx="1457554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0898" y="4058107"/>
            <a:ext cx="151607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Importance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Plot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09244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"전체적으로 어떤 피처가 가장 중요한가?"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중요도 순위: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상단일수록 모델에 미치는 영향력이 큼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5324551"/>
            <a:ext cx="114300" cy="1143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23544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방향성 파악: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 값이 높을 때(빨강) 예측값이 증가하는지 감소하는지 확인 가능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5820156"/>
            <a:ext cx="114300" cy="114300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4349801" y="1723644"/>
            <a:ext cx="3492094" cy="473384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4058107"/>
            <a:ext cx="1333195" cy="247802"/>
          </a:xfrm>
          <a:prstGeom prst="roundRect">
            <a:avLst>
              <a:gd name="adj" fmla="val 3690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4559198" y="4058107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Relation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Dependence Plot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87545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587545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"특정 피처 값에 따라 영향력이 어떻게 변하는가?"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701845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 관계: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비례가 아닌, 특정 구간에서의 급격한 변화나 포화 상태 확인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5324551"/>
            <a:ext cx="114300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01845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상호작용(Interaction):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다른 피처 값에 따라 패턴이 달라지는지 색상으로 구분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5820156"/>
            <a:ext cx="114300" cy="114300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8128102" y="1723644"/>
            <a:ext cx="3492094" cy="4733849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4058107"/>
            <a:ext cx="1419149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2"/>
          <p:cNvSpPr/>
          <p:nvPr/>
        </p:nvSpPr>
        <p:spPr>
          <a:xfrm>
            <a:off x="8337499" y="4058107"/>
            <a:ext cx="14767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Explanation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Waterfall Plot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8365846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8365846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이 데이터(행)는 이런 예측값이 나왔는가?"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8480146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예측 분해: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특정 날짜/매장의 예측값이 평균(Base)에서 시작해 어떻게 형성되었는지 추적</a:t>
            </a:r>
            <a:endParaRPr lang="en-US" sz="10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5846" y="5324551"/>
            <a:ext cx="114300" cy="1143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480146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기여도 합산: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긍정적 요인(빨강)과 부정적 요인(파랑)의 합으로 최종 예측값 설명</a:t>
            </a:r>
            <a:endParaRPr lang="en-US" sz="10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5846" y="5820156"/>
            <a:ext cx="114300" cy="11430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580644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/>
          <p:cNvSpPr/>
          <p:nvPr/>
        </p:nvSpPr>
        <p:spPr>
          <a:xfrm>
            <a:off x="580644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/>
          <p:cNvSpPr txBox="1"/>
          <p:nvPr/>
        </p:nvSpPr>
        <p:spPr>
          <a:xfrm>
            <a:off x="1384402" y="241950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Lag_7</a:t>
            </a:r>
            <a:endParaRPr lang="en-US" sz="8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1936699" y="2471623"/>
            <a:ext cx="1238098" cy="38405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2926994" y="24524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2"/>
          <p:cNvSpPr/>
          <p:nvPr/>
        </p:nvSpPr>
        <p:spPr>
          <a:xfrm>
            <a:off x="2865730" y="24524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3"/>
          <p:cNvSpPr/>
          <p:nvPr/>
        </p:nvSpPr>
        <p:spPr>
          <a:xfrm>
            <a:off x="2184502" y="24524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4"/>
          <p:cNvSpPr/>
          <p:nvPr/>
        </p:nvSpPr>
        <p:spPr>
          <a:xfrm>
            <a:off x="2122322" y="24524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5"/>
          <p:cNvSpPr txBox="1"/>
          <p:nvPr/>
        </p:nvSpPr>
        <p:spPr>
          <a:xfrm>
            <a:off x="1384402" y="2704795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Promo</a:t>
            </a:r>
            <a:endParaRPr lang="en-US" sz="8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1936699" y="2757830"/>
            <a:ext cx="1238098" cy="38405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2680106" y="2738628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7"/>
          <p:cNvSpPr/>
          <p:nvPr/>
        </p:nvSpPr>
        <p:spPr>
          <a:xfrm>
            <a:off x="2432304" y="2738628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8"/>
          <p:cNvSpPr txBox="1"/>
          <p:nvPr/>
        </p:nvSpPr>
        <p:spPr>
          <a:xfrm>
            <a:off x="1384402" y="299100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</a:t>
            </a:r>
            <a:endParaRPr lang="en-US" sz="8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1936699" y="3043123"/>
            <a:ext cx="1238098" cy="38405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2493569" y="30239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0"/>
          <p:cNvSpPr/>
          <p:nvPr/>
        </p:nvSpPr>
        <p:spPr>
          <a:xfrm>
            <a:off x="2617927" y="30239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1"/>
          <p:cNvSpPr txBox="1"/>
          <p:nvPr/>
        </p:nvSpPr>
        <p:spPr>
          <a:xfrm>
            <a:off x="1684325" y="3581705"/>
            <a:ext cx="150784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High Value</a:t>
            </a: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Low Value</a:t>
            </a:r>
            <a:endParaRPr lang="en-US" sz="800" dirty="0"/>
          </a:p>
        </p:txBody>
      </p:sp>
      <p:sp>
        <p:nvSpPr>
          <p:cNvPr id="56" name="Text 42"/>
          <p:cNvSpPr txBox="1"/>
          <p:nvPr/>
        </p:nvSpPr>
        <p:spPr>
          <a:xfrm>
            <a:off x="1684325" y="3581705"/>
            <a:ext cx="71048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High Value</a:t>
            </a:r>
            <a:endParaRPr lang="en-US" sz="800" dirty="0"/>
          </a:p>
        </p:txBody>
      </p:sp>
      <p:sp>
        <p:nvSpPr>
          <p:cNvPr id="57" name="Text 43"/>
          <p:cNvSpPr txBox="1"/>
          <p:nvPr/>
        </p:nvSpPr>
        <p:spPr>
          <a:xfrm>
            <a:off x="2374697" y="3581705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Low Value</a:t>
            </a:r>
            <a:endParaRPr lang="en-US" sz="800" dirty="0"/>
          </a:p>
        </p:txBody>
      </p:sp>
      <p:sp>
        <p:nvSpPr>
          <p:cNvPr id="58" name="Shape 44"/>
          <p:cNvSpPr/>
          <p:nvPr/>
        </p:nvSpPr>
        <p:spPr>
          <a:xfrm>
            <a:off x="4358945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5"/>
          <p:cNvSpPr/>
          <p:nvPr/>
        </p:nvSpPr>
        <p:spPr>
          <a:xfrm>
            <a:off x="4358945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6"/>
          <p:cNvSpPr/>
          <p:nvPr/>
        </p:nvSpPr>
        <p:spPr>
          <a:xfrm>
            <a:off x="5143500" y="3424428"/>
            <a:ext cx="190469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7"/>
          <p:cNvSpPr/>
          <p:nvPr/>
        </p:nvSpPr>
        <p:spPr>
          <a:xfrm>
            <a:off x="5143500" y="2109521"/>
            <a:ext cx="19202" cy="1333195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8"/>
          <p:cNvSpPr/>
          <p:nvPr/>
        </p:nvSpPr>
        <p:spPr>
          <a:xfrm>
            <a:off x="5351069" y="310438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49"/>
          <p:cNvSpPr/>
          <p:nvPr/>
        </p:nvSpPr>
        <p:spPr>
          <a:xfrm>
            <a:off x="5539435" y="303855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0"/>
          <p:cNvSpPr/>
          <p:nvPr/>
        </p:nvSpPr>
        <p:spPr>
          <a:xfrm>
            <a:off x="5727802" y="284104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1"/>
          <p:cNvSpPr/>
          <p:nvPr/>
        </p:nvSpPr>
        <p:spPr>
          <a:xfrm>
            <a:off x="5917082" y="257860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2"/>
          <p:cNvSpPr/>
          <p:nvPr/>
        </p:nvSpPr>
        <p:spPr>
          <a:xfrm>
            <a:off x="6105449" y="238109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3"/>
          <p:cNvSpPr/>
          <p:nvPr/>
        </p:nvSpPr>
        <p:spPr>
          <a:xfrm>
            <a:off x="6293815" y="231526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4"/>
          <p:cNvSpPr/>
          <p:nvPr/>
        </p:nvSpPr>
        <p:spPr>
          <a:xfrm>
            <a:off x="6483096" y="234177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5"/>
          <p:cNvSpPr/>
          <p:nvPr/>
        </p:nvSpPr>
        <p:spPr>
          <a:xfrm>
            <a:off x="6671462" y="238109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6"/>
          <p:cNvSpPr/>
          <p:nvPr/>
        </p:nvSpPr>
        <p:spPr>
          <a:xfrm>
            <a:off x="6859829" y="2446934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7"/>
          <p:cNvSpPr txBox="1"/>
          <p:nvPr/>
        </p:nvSpPr>
        <p:spPr>
          <a:xfrm>
            <a:off x="5124298" y="3471977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Value</a:t>
            </a:r>
            <a:endParaRPr lang="en-US" sz="800" dirty="0"/>
          </a:p>
        </p:txBody>
      </p:sp>
      <p:sp>
        <p:nvSpPr>
          <p:cNvPr id="72" name="Text 58"/>
          <p:cNvSpPr txBox="1"/>
          <p:nvPr/>
        </p:nvSpPr>
        <p:spPr>
          <a:xfrm rot="16200000">
            <a:off x="4924044" y="2766974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Value</a:t>
            </a:r>
            <a:endParaRPr lang="en-US" sz="800" dirty="0"/>
          </a:p>
        </p:txBody>
      </p:sp>
      <p:sp>
        <p:nvSpPr>
          <p:cNvPr id="73" name="Shape 59"/>
          <p:cNvSpPr/>
          <p:nvPr/>
        </p:nvSpPr>
        <p:spPr>
          <a:xfrm>
            <a:off x="8137246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60"/>
          <p:cNvSpPr/>
          <p:nvPr/>
        </p:nvSpPr>
        <p:spPr>
          <a:xfrm>
            <a:off x="8137246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12" descr="preencoded.png"/>
          <p:cNvPicPr>
            <a:picLocks noChangeAspect="1"/>
          </p:cNvPicPr>
          <p:nvPr/>
        </p:nvPicPr>
        <p:blipFill>
          <a:blip r:embed="rId7"/>
          <a:srcRect t="-2100" b="-2100"/>
          <a:stretch/>
        </p:blipFill>
        <p:spPr>
          <a:xfrm>
            <a:off x="9874606" y="2061972"/>
            <a:ext cx="9144" cy="1429207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9728302" y="3252521"/>
            <a:ext cx="372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E[f(x)]</a:t>
            </a:r>
            <a:endParaRPr lang="en-US" sz="800" dirty="0"/>
          </a:p>
        </p:txBody>
      </p:sp>
      <p:sp>
        <p:nvSpPr>
          <p:cNvPr id="77" name="Shape 62"/>
          <p:cNvSpPr/>
          <p:nvPr/>
        </p:nvSpPr>
        <p:spPr>
          <a:xfrm>
            <a:off x="9874606" y="3138221"/>
            <a:ext cx="381305" cy="190195"/>
          </a:xfrm>
          <a:prstGeom prst="roundRect">
            <a:avLst>
              <a:gd name="adj" fmla="val 144231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63"/>
          <p:cNvSpPr txBox="1"/>
          <p:nvPr/>
        </p:nvSpPr>
        <p:spPr>
          <a:xfrm>
            <a:off x="10331806" y="3157423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+Promo</a:t>
            </a:r>
            <a:endParaRPr lang="en-US" sz="800" dirty="0"/>
          </a:p>
        </p:txBody>
      </p:sp>
      <p:sp>
        <p:nvSpPr>
          <p:cNvPr id="79" name="Shape 64"/>
          <p:cNvSpPr/>
          <p:nvPr/>
        </p:nvSpPr>
        <p:spPr>
          <a:xfrm>
            <a:off x="10254996" y="3119018"/>
            <a:ext cx="190195" cy="190195"/>
          </a:xfrm>
          <a:prstGeom prst="roundRect">
            <a:avLst>
              <a:gd name="adj" fmla="val 144231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65"/>
          <p:cNvSpPr txBox="1"/>
          <p:nvPr/>
        </p:nvSpPr>
        <p:spPr>
          <a:xfrm>
            <a:off x="10556748" y="313822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+Lag_7</a:t>
            </a:r>
            <a:endParaRPr lang="en-US" sz="800" dirty="0"/>
          </a:p>
        </p:txBody>
      </p:sp>
      <p:sp>
        <p:nvSpPr>
          <p:cNvPr id="81" name="Shape 66"/>
          <p:cNvSpPr/>
          <p:nvPr/>
        </p:nvSpPr>
        <p:spPr>
          <a:xfrm>
            <a:off x="10064801" y="3100730"/>
            <a:ext cx="190195" cy="190195"/>
          </a:xfrm>
          <a:prstGeom prst="roundRect">
            <a:avLst>
              <a:gd name="adj" fmla="val 144231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67"/>
          <p:cNvSpPr txBox="1"/>
          <p:nvPr/>
        </p:nvSpPr>
        <p:spPr>
          <a:xfrm>
            <a:off x="9731045" y="3119018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-Oil</a:t>
            </a:r>
            <a:endParaRPr lang="en-US" sz="800" dirty="0"/>
          </a:p>
        </p:txBody>
      </p:sp>
      <p:sp>
        <p:nvSpPr>
          <p:cNvPr id="83" name="Text 68"/>
          <p:cNvSpPr txBox="1"/>
          <p:nvPr/>
        </p:nvSpPr>
        <p:spPr>
          <a:xfrm>
            <a:off x="10064801" y="2109521"/>
            <a:ext cx="286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f(x)</a:t>
            </a:r>
            <a:endParaRPr lang="en-US" sz="900" dirty="0"/>
          </a:p>
        </p:txBody>
      </p:sp>
      <p:pic>
        <p:nvPicPr>
          <p:cNvPr id="84" name="Image 13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900000">
            <a:off x="-476402" y="4476902"/>
            <a:ext cx="1904695" cy="1904695"/>
          </a:xfrm>
          <a:prstGeom prst="roundRect">
            <a:avLst>
              <a:gd name="adj" fmla="val 9602"/>
            </a:avLst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구조 (What-if)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모델을 활용하여 가상의 상황을 시뮬레이션하고 비즈니스 임팩트를 산출하는 과정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80" b="-80"/>
          <a:stretch/>
        </p:blipFill>
        <p:spPr>
          <a:xfrm>
            <a:off x="4119372" y="3445459"/>
            <a:ext cx="142646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045306" y="3721608"/>
            <a:ext cx="372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 t="-80" b="-80"/>
          <a:stretch/>
        </p:blipFill>
        <p:spPr>
          <a:xfrm>
            <a:off x="7929677" y="3445459"/>
            <a:ext cx="142646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45552" y="3721608"/>
            <a:ext cx="3913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809598" y="5995721"/>
            <a:ext cx="8572500" cy="761695"/>
          </a:xfrm>
          <a:prstGeom prst="roundRect">
            <a:avLst>
              <a:gd name="adj" fmla="val 3601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104949" y="6262726"/>
            <a:ext cx="171907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467051" y="5995721"/>
            <a:ext cx="76965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시나리오 분석은 "프로모션을 20% 늘리면 매출이 얼마나 오를까?"와 같은 ROI 관점의 의사결정에 핵심적인 근거를 제공합니다. 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857707" y="1723644"/>
            <a:ext cx="2857500" cy="3890772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04695" y="2066544"/>
            <a:ext cx="761695" cy="76169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33295" y="2295144"/>
            <a:ext cx="304495" cy="3044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49654" y="3019349"/>
            <a:ext cx="18818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Baseline 설정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1067105" y="3429000"/>
            <a:ext cx="24387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조건(Trend + Seasonality)이 유지된다고 가정했을 때의 기본 예측값을 산출합니다.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1104595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4"/>
          <p:cNvSpPr txBox="1"/>
          <p:nvPr/>
        </p:nvSpPr>
        <p:spPr>
          <a:xfrm>
            <a:off x="1216152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216152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매출: $100,000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4667098" y="1723644"/>
            <a:ext cx="2857500" cy="3890772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5000" y="2066544"/>
            <a:ext cx="761695" cy="761695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43600" y="2295144"/>
            <a:ext cx="304495" cy="30449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875581" y="3019349"/>
            <a:ext cx="244144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변수 변경 (Simulation)</a:t>
            </a:r>
            <a:endParaRPr lang="en-US" sz="1600" dirty="0"/>
          </a:p>
        </p:txBody>
      </p:sp>
      <p:sp>
        <p:nvSpPr>
          <p:cNvPr id="28" name="Text 17"/>
          <p:cNvSpPr txBox="1"/>
          <p:nvPr/>
        </p:nvSpPr>
        <p:spPr>
          <a:xfrm>
            <a:off x="4876495" y="3743554"/>
            <a:ext cx="24387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분석하고자 하는 특정 변수(Feature)만 변경하고 나머지 조건은 고정(Ceteris Paribus)합니다.</a:t>
            </a:r>
            <a:endParaRPr lang="en-US" sz="1100" dirty="0"/>
          </a:p>
        </p:txBody>
      </p:sp>
      <p:sp>
        <p:nvSpPr>
          <p:cNvPr id="29" name="Shape 18"/>
          <p:cNvSpPr/>
          <p:nvPr/>
        </p:nvSpPr>
        <p:spPr>
          <a:xfrm>
            <a:off x="4914900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9"/>
          <p:cNvSpPr txBox="1"/>
          <p:nvPr/>
        </p:nvSpPr>
        <p:spPr>
          <a:xfrm>
            <a:off x="5026457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Change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5026457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프로모션: OFF → ON</a:t>
            </a:r>
            <a:endParaRPr lang="en-US" sz="12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rcRect l="-2" r="-2"/>
          <a:stretch/>
        </p:blipFill>
        <p:spPr>
          <a:xfrm>
            <a:off x="8477402" y="1723644"/>
            <a:ext cx="2857500" cy="3890772"/>
          </a:xfrm>
          <a:prstGeom prst="rect">
            <a:avLst/>
          </a:prstGeom>
        </p:spPr>
      </p:pic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25305" y="2066544"/>
            <a:ext cx="761695" cy="761695"/>
          </a:xfrm>
          <a:prstGeom prst="rect">
            <a:avLst/>
          </a:prstGeom>
        </p:spPr>
      </p:pic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2"/>
          <a:srcRect l="-50" r="-50"/>
          <a:stretch/>
        </p:blipFill>
        <p:spPr>
          <a:xfrm>
            <a:off x="9791395" y="2295144"/>
            <a:ext cx="228600" cy="304495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9077249" y="3019349"/>
            <a:ext cx="166146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임팩트 계산</a:t>
            </a:r>
            <a:endParaRPr lang="en-US" sz="1600" dirty="0"/>
          </a:p>
        </p:txBody>
      </p:sp>
      <p:sp>
        <p:nvSpPr>
          <p:cNvPr id="36" name="Text 22"/>
          <p:cNvSpPr txBox="1"/>
          <p:nvPr/>
        </p:nvSpPr>
        <p:spPr>
          <a:xfrm>
            <a:off x="8686800" y="3429000"/>
            <a:ext cx="24387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변경된 조건에서의 예측값과 Baseline의 차이를 계산하여 순수 증분 효과(Lift)를 정량화합니다.</a:t>
            </a:r>
            <a:endParaRPr lang="en-US" sz="1100" dirty="0"/>
          </a:p>
        </p:txBody>
      </p:sp>
      <p:sp>
        <p:nvSpPr>
          <p:cNvPr id="37" name="Shape 23"/>
          <p:cNvSpPr/>
          <p:nvPr/>
        </p:nvSpPr>
        <p:spPr>
          <a:xfrm>
            <a:off x="8725205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4"/>
          <p:cNvSpPr txBox="1"/>
          <p:nvPr/>
        </p:nvSpPr>
        <p:spPr>
          <a:xfrm>
            <a:off x="8835847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 Impact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8835847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+$15,000 (+15%)</a:t>
            </a:r>
            <a:endParaRPr lang="en-US" sz="120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30207" y="-571500"/>
            <a:ext cx="3333902" cy="3333902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ROI 최적화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대비 효과를 극대화하는 데이터 기반 예산 배분 전략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rcRect t="-3" b="-3"/>
          <a:stretch/>
        </p:blipFill>
        <p:spPr>
          <a:xfrm>
            <a:off x="1333195" y="1628546"/>
            <a:ext cx="9525305" cy="23719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1218895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560881" y="2318918"/>
            <a:ext cx="22677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ROI (%) =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909060" y="2590495"/>
            <a:ext cx="5257800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017520" y="1971446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매출 증가분 (Incremental Sales)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927702" y="2667305"/>
            <a:ext cx="3215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프로모션 비용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311335" y="2318918"/>
            <a:ext cx="12527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829507" y="3429000"/>
            <a:ext cx="6876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핵심은 '전체 매출'이 아닌 프로모션으로 발생한 </a:t>
            </a: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'순수 증가분'</a:t>
            </a: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발라내는 것 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87191" y="3476549"/>
            <a:ext cx="152705" cy="1527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57707" y="4334256"/>
            <a:ext cx="5095951" cy="38103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57707" y="4334256"/>
            <a:ext cx="5095951" cy="47549"/>
          </a:xfrm>
          <a:prstGeom prst="roundRect">
            <a:avLst>
              <a:gd name="adj" fmla="val 15384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1590142" y="466709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SHAP 기여도 기반 타겟팅 </a:t>
            </a:r>
            <a:endParaRPr lang="en-US" sz="15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2144" y="4667098"/>
            <a:ext cx="342900" cy="342900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52144" y="5152644"/>
            <a:ext cx="114300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9149" y="5152644"/>
            <a:ext cx="43150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분석:</a:t>
            </a:r>
            <a:r>
              <a:rPr lang="en-US" sz="12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onpromotion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피처의 SHAP 값이 높은 카테고리/매장을 식별합니다.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52144" y="5811926"/>
            <a:ext cx="114300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9149" y="5811926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선택과 집중: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 반응도가 낮은 그룹(SHAP 값 ≈ 0)은 예산을 줄이고, 반응도가 높은 그룹에 집중 투자합니다.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1152144" y="6442862"/>
            <a:ext cx="4505249" cy="1410005"/>
          </a:xfrm>
          <a:prstGeom prst="roundRect">
            <a:avLst>
              <a:gd name="adj" fmla="val 876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 txBox="1"/>
          <p:nvPr/>
        </p:nvSpPr>
        <p:spPr>
          <a:xfrm>
            <a:off x="1304849" y="6594653"/>
            <a:ext cx="11055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Segment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4270248" y="6594653"/>
            <a:ext cx="13962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Value (Impact)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304849" y="7100316"/>
            <a:ext cx="42007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 txBox="1"/>
          <p:nvPr/>
        </p:nvSpPr>
        <p:spPr>
          <a:xfrm>
            <a:off x="1304849" y="6842455"/>
            <a:ext cx="1270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Grocery I (식료품)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624121" y="6842455"/>
            <a:ext cx="10543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+1,250 (High)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304849" y="7424014"/>
            <a:ext cx="42007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1304849" y="7166153"/>
            <a:ext cx="9070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Books (서적)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898441" y="7166153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 (Low)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3871570" y="7509053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식료품에 예산 집중 시 ROI 상승 </a:t>
            </a:r>
            <a:endParaRPr lang="en-US" sz="9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3732581" y="7543800"/>
            <a:ext cx="105156" cy="12344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238951" y="4334256"/>
            <a:ext cx="5095951" cy="38103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6238951" y="4334256"/>
            <a:ext cx="5095951" cy="47549"/>
          </a:xfrm>
          <a:prstGeom prst="roundRect">
            <a:avLst>
              <a:gd name="adj" fmla="val 153846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0"/>
          <p:cNvSpPr txBox="1"/>
          <p:nvPr/>
        </p:nvSpPr>
        <p:spPr>
          <a:xfrm>
            <a:off x="6972300" y="466709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 시뮬레이션 </a:t>
            </a:r>
            <a:endParaRPr lang="en-US" sz="15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302" y="4667098"/>
            <a:ext cx="342900" cy="342900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534302" y="5152644"/>
            <a:ext cx="114300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01307" y="515264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분석: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"예산을 10% 늘리면 매출은 얼마나 오를까?" 시나리오를 모델로 예측합니다.</a:t>
            </a:r>
            <a:endParaRPr lang="en-US" sz="12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534302" y="5783580"/>
            <a:ext cx="114300" cy="13350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801307" y="578358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한계수익 체감 고려: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비용이 늘어날수록 효율(ROI)은 떨어지는 지점(S-curve)을 찾아 적정 예산을 산출합니다.</a:t>
            </a:r>
            <a:endParaRPr lang="en-US" sz="12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6534302" y="6413602"/>
            <a:ext cx="105156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791249" y="6413602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예상 ROI가 100% 미만인 캠페인은 중단하거나 전략을 수정합니다.</a:t>
            </a:r>
            <a:endParaRPr lang="en-US" sz="12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시 주의사항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예측 모델 운영과 비즈니스 활용을 위한 4가지 핵심 원칙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857707" y="1990649"/>
            <a:ext cx="5048402" cy="19522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1990649"/>
            <a:ext cx="57607" cy="1933956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286000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4849" y="2438705"/>
            <a:ext cx="26700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286000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패턴 학습의 한계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2676449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과거 데이터의 패턴만 학습합니다. 시장 구조의 급격한 변화나 전례 없는 이벤트 발생 시에는 과거 데이터 기반 예측이 빗나갈 수 있으므로 재학습이 필수적입니다.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6286500" y="1990649"/>
            <a:ext cx="5048402" cy="19522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1990649"/>
            <a:ext cx="57607" cy="1933956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286000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34556" y="2438705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286000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예측의 불확실성 수용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2676449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예측에는 오차가 존재합니다. '정확히 100개'라는 단일 숫자(Point Estimate)보다는 '90~110개'와 같은 신뢰구간(Confidence Interval)을 활용하여 리스크를 관리하세요.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857707" y="4324198"/>
            <a:ext cx="5048402" cy="19522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933956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71930" y="4772254"/>
            <a:ext cx="333756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의사결정의 보조 도구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09998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결정을 대체하는 것이 아니라 보조하는 도구입니다. 예산 제약, 브랜드 전략, 경쟁사 동향 등 모델이 학습하지 못한 비즈니스 맥락을 인간이 함께 고려해야 합니다.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6286500" y="4324198"/>
            <a:ext cx="5048402" cy="1952244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93395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34556" y="4772254"/>
            <a:ext cx="26700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모니터링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09998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지날수록 데이터 분포가 변하며 모델 성능이 저하될 수 있습니다(Concept Drift). 정확도를 지속 추적하고 성능 하락 시 자동으로 재학습하는 파이프라인을 구축하세요.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61695" y="-1143000"/>
            <a:ext cx="4762195" cy="4762195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24598" y="2381098"/>
            <a:ext cx="5238598" cy="5238598"/>
          </a:xfrm>
          <a:prstGeom prst="ellipse">
            <a:avLst/>
          </a:prstGeom>
          <a:solidFill>
            <a:srgbClr val="05966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81405" y="763524"/>
            <a:ext cx="9829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Automation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278331"/>
            <a:ext cx="9887407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0" b="1" kern="0" spc="-102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 데이터 분석 자동화 </a:t>
            </a:r>
            <a:endParaRPr lang="en-US" sz="5100" dirty="0"/>
          </a:p>
          <a:p>
            <a:pPr marL="0" indent="0" algn="ctr">
              <a:buNone/>
            </a:pPr>
            <a:r>
              <a:rPr lang="en-US" sz="5100" b="1" kern="0" spc="-102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RAG Chatbot</a:t>
            </a:r>
            <a:endParaRPr lang="en-US" sz="5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31566"/>
            <a:ext cx="9906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문서와 데이터를 함께 이해하는 AI 분석가 만들기</a:t>
            </a:r>
            <a:endParaRPr lang="en-US" sz="2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l="-7" r="-7"/>
          <a:stretch/>
        </p:blipFill>
        <p:spPr>
          <a:xfrm>
            <a:off x="1238098" y="3960266"/>
            <a:ext cx="9715500" cy="21332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486046"/>
            <a:ext cx="9144" cy="1081735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09851" y="4398264"/>
            <a:ext cx="237744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61895" y="4350715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009851" y="4788713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문서(비정형)와 표(정형) 데이터를 함께 검색하여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질문에 답변하는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분석 챗봇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 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6381598" y="4398264"/>
            <a:ext cx="21945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15354" y="4350715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788713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RAG 파이프라인 &amp; 라우팅 로직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Streamlit 챗봇 UI 데모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근거(Source)가 포함된 자동 응답 시스템 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163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자동화: RAG Chatbot 구축과 운영 전략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5" b="-5"/>
          <a:stretch/>
        </p:blipFill>
        <p:spPr>
          <a:xfrm>
            <a:off x="619049" y="2505456"/>
            <a:ext cx="5286146" cy="14383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049" y="2505456"/>
            <a:ext cx="57607" cy="1419149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14400" y="28008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272" y="2952598"/>
            <a:ext cx="333756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14500" y="2800807"/>
            <a:ext cx="40105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개념 및 검색 전략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14500" y="3191256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한계를 극복하는 RAG 원리와 이원화 검색 경로 (CSV → DuckDB / 문서 → 벡터DB)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t="-5" b="-5"/>
          <a:stretch/>
        </p:blipFill>
        <p:spPr>
          <a:xfrm>
            <a:off x="6286500" y="2505456"/>
            <a:ext cx="5286146" cy="14383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505456"/>
            <a:ext cx="57607" cy="1419149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8008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6715354" y="2952598"/>
            <a:ext cx="30449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800807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및 벡터 데이터베이스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91256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텍스트의 의미를 벡터로 변환하는 임베딩 기술과 ChromaDB, Text-to-SQL 활용법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rcRect t="-5" b="-5"/>
          <a:stretch/>
        </p:blipFill>
        <p:spPr>
          <a:xfrm>
            <a:off x="619049" y="4324198"/>
            <a:ext cx="5286146" cy="143835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19049" y="4324198"/>
            <a:ext cx="57607" cy="1419149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914400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7105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14500" y="4619549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에이전트 아키텍처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714500" y="5009998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기반의 라우팅, LangGraph 워크플로우, ReAct 패턴 구현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2"/>
          <a:srcRect t="-5" b="-5"/>
          <a:stretch/>
        </p:blipFill>
        <p:spPr>
          <a:xfrm>
            <a:off x="6286500" y="4324198"/>
            <a:ext cx="5286146" cy="143835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4191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구현 및 운영 가이드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09998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기반 챗봇 인터페이스 개발과 모니터링, 보안 베스트 프랙티스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작동 원리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Retrieval-Augmented Generation: 검색 증강 생성 프로세스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571500" y="2585923"/>
            <a:ext cx="2318918" cy="293339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824582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48356"/>
            <a:ext cx="14968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(Question)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14370"/>
            <a:ext cx="1923898" cy="629107"/>
          </a:xfrm>
          <a:prstGeom prst="roundRect">
            <a:avLst>
              <a:gd name="adj" fmla="val 3523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771754" y="3414370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923544" y="3528670"/>
            <a:ext cx="17236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자연어 질의 입력"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196182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45770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의도 파악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29277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쿼리 최적화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085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라우팅(CSV/MD) 결정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3481121" y="2585923"/>
            <a:ext cx="2318918" cy="293339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3681374" y="2824582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3642970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848356"/>
            <a:ext cx="14968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(Retrieval)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414370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3681374" y="3414370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3834079" y="3528670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"관련된 외부 지식 탐색"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399592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257446"/>
            <a:ext cx="21515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유사도 검색 (ChromaDB)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52902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데이터 조회 (DuckDB)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4800600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Top-k 관련 문서 추출</a:t>
            </a:r>
            <a:endParaRPr lang="en-US" sz="11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6391656" y="2585923"/>
            <a:ext cx="2318918" cy="29333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45277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6590995" y="2928823"/>
            <a:ext cx="286207" cy="304495"/>
          </a:xfrm>
          <a:prstGeom prst="roundRect">
            <a:avLst>
              <a:gd name="adj" fmla="val 319489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/>
          <p:nvPr/>
        </p:nvSpPr>
        <p:spPr>
          <a:xfrm>
            <a:off x="6553505" y="2928823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64985" y="2824582"/>
            <a:ext cx="161483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(Augmentation)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624682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590995" y="3624682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6743700" y="3738982"/>
            <a:ext cx="17337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 + 질문 전달"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420532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46684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컨텍스트 구성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738421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결과(Context) 주입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500999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제약조건 설정</a:t>
            </a:r>
            <a:endParaRPr lang="en-US" sz="11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9301277" y="2585923"/>
            <a:ext cx="2318918" cy="2933395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/>
          <p:cNvSpPr/>
          <p:nvPr/>
        </p:nvSpPr>
        <p:spPr>
          <a:xfrm>
            <a:off x="9501530" y="2824582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/>
          <p:nvPr/>
        </p:nvSpPr>
        <p:spPr>
          <a:xfrm>
            <a:off x="9463126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848356"/>
            <a:ext cx="171175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(Generation)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414370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9501530" y="3414370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 txBox="1"/>
          <p:nvPr/>
        </p:nvSpPr>
        <p:spPr>
          <a:xfrm>
            <a:off x="9653321" y="3528670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"답변 생성 및 출력"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399592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257446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기반 자연어 생성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529023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할루시네이션 방지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480060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근거(출처) 표기</a:t>
            </a:r>
            <a:endParaRPr lang="en-US" sz="11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LLM의 한계와 RAG 필요성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거대 언어 모델의 구조적 한계를 극복하는 검색 증강 생성(RAG) 기술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857707" y="2314346"/>
            <a:ext cx="5048402" cy="1499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314346"/>
            <a:ext cx="57607" cy="1480414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6096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4907" y="2771546"/>
            <a:ext cx="247802" cy="2478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609698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최신 정보 부재 </a:t>
            </a: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000146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컷오프(Cut-off) 이후의 최신 뉴스나 트렌드를 알지 못하며, 실시간 정보를 반영하지 못함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6286500" y="2314346"/>
            <a:ext cx="5048402" cy="149961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314346"/>
            <a:ext cx="57607" cy="148041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6096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t="-476" b="-476"/>
          <a:stretch/>
        </p:blipFill>
        <p:spPr>
          <a:xfrm>
            <a:off x="6729070" y="2771546"/>
            <a:ext cx="276149" cy="2478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609698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사내 데이터 부재 </a:t>
            </a: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000146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인터넷에 공개되지 않은 회사 내부의 매출 데이터, 분석 보고서, 전략 문서에는 접근할 수 없음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857707" y="4194353"/>
            <a:ext cx="5048402" cy="175839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194353"/>
            <a:ext cx="57607" cy="1739189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48970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4651553"/>
            <a:ext cx="247802" cy="2478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489704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환각(Hallucination) </a:t>
            </a: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4880153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내용에 대해 "모른다"고 답하기보다, 사실이 아닌 내용을 그럴듯하게 지어내는 현상 발생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6286500" y="4194353"/>
            <a:ext cx="5048402" cy="175839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194353"/>
            <a:ext cx="57607" cy="173918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48970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43700" y="4651553"/>
            <a:ext cx="247802" cy="2478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489704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해법 </a:t>
            </a: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4880153"/>
            <a:ext cx="37344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질문이 들어오면 관련된 </a:t>
            </a: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'근거 문서'</a:t>
            </a: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먼저 검색하고, 이를 LLM에게 함께 제공하여 답변의 정확도를 획기적으로 향상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 검색 경로: CSV vs MD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분석(SQL)과 정성적 분석(Vector)을 결합한 하이브리드 RAG 전략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6057900"/>
            <a:ext cx="11048695" cy="1981505"/>
          </a:xfrm>
          <a:prstGeom prst="roundRect">
            <a:avLst>
              <a:gd name="adj" fmla="val 5325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171346" y="6486754"/>
            <a:ext cx="5267858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텍스트 이해에는 강하지만(MD), 복잡한 수치 계산은 부정확할 수 있습니다(CSV).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따라서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수치는 SQL로 계산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맥락은 벡터 검색으로 파악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두 결과를 결합하는 것이 최선입니다.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 l="-133" r="-133"/>
          <a:stretch/>
        </p:blipFill>
        <p:spPr>
          <a:xfrm>
            <a:off x="809244" y="6943954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219749"/>
            <a:ext cx="1758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경로를 분리하나요?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19069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1544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004926" y="2171700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23381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경로 (DuckDB)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1352398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495044" y="2352751"/>
            <a:ext cx="14100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Quantitative / SQL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합계는?", "Top 5 매장은?" 등의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질문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66851" y="3295498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1151" y="3295498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Text-to-SQL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자연어를 SQL 쿼리로 변환하여 실행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66851" y="3638398"/>
            <a:ext cx="114300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1151" y="3638398"/>
            <a:ext cx="4013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DuckDB의 고속 연산으로 환각 없이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수치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반환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65338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019556" y="4805172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흐름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/>
          <a:srcRect t="-654" b="-654"/>
          <a:stretch/>
        </p:blipFill>
        <p:spPr>
          <a:xfrm>
            <a:off x="2084832" y="5052974"/>
            <a:ext cx="437998" cy="3236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84832" y="5052974"/>
            <a:ext cx="495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2597810" y="5150815"/>
            <a:ext cx="105156" cy="123444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 t="-643" b="-643"/>
          <a:stretch/>
        </p:blipFill>
        <p:spPr>
          <a:xfrm>
            <a:off x="2778862" y="5052974"/>
            <a:ext cx="714146" cy="32369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778862" y="5052974"/>
            <a:ext cx="7717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생성</a:t>
            </a:r>
            <a:endParaRPr lang="en-US" sz="9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3567989" y="5150815"/>
            <a:ext cx="105156" cy="123444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8"/>
          <a:srcRect t="-385" b="-385"/>
          <a:stretch/>
        </p:blipFill>
        <p:spPr>
          <a:xfrm>
            <a:off x="3749040" y="5052974"/>
            <a:ext cx="647395" cy="32369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749040" y="5052974"/>
            <a:ext cx="7050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조회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6286500" y="1628546"/>
            <a:ext cx="5333695" cy="419069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1544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210044" y="1971446"/>
            <a:ext cx="2477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 경로 (ChromaDB)</a:t>
            </a:r>
            <a:endParaRPr lang="en-US" sz="1800" dirty="0"/>
          </a:p>
        </p:txBody>
      </p:sp>
      <p:sp>
        <p:nvSpPr>
          <p:cNvPr id="43" name="Shape 30"/>
          <p:cNvSpPr/>
          <p:nvPr/>
        </p:nvSpPr>
        <p:spPr>
          <a:xfrm>
            <a:off x="7210044" y="2352751"/>
            <a:ext cx="1476756" cy="247802"/>
          </a:xfrm>
          <a:prstGeom prst="roundRect">
            <a:avLst>
              <a:gd name="adj" fmla="val 17031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1"/>
          <p:cNvSpPr txBox="1"/>
          <p:nvPr/>
        </p:nvSpPr>
        <p:spPr>
          <a:xfrm>
            <a:off x="7210044" y="2352751"/>
            <a:ext cx="153619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Qualitative / Vector</a:t>
            </a:r>
            <a:endParaRPr lang="en-US" sz="9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6581851" y="2952598"/>
            <a:ext cx="114300" cy="13350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696151" y="2952598"/>
            <a:ext cx="4689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하락 원인은?", "전략 추천해줘" 등의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정성적 질문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</a:t>
            </a:r>
            <a:endParaRPr lang="en-US" sz="12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6581851" y="3295498"/>
            <a:ext cx="114300" cy="133502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6696151" y="3295498"/>
            <a:ext cx="3696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 Search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질문의 의미와 유사한 문서 검색</a:t>
            </a:r>
            <a:endParaRPr lang="en-US" sz="120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6581851" y="3638398"/>
            <a:ext cx="114300" cy="133502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6696151" y="3638398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보고서(MD)에서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맥락(Context)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찾아 근거로 제공</a:t>
            </a:r>
            <a:endParaRPr lang="en-US" sz="1200" dirty="0"/>
          </a:p>
        </p:txBody>
      </p:sp>
      <p:sp>
        <p:nvSpPr>
          <p:cNvPr id="51" name="Shape 35"/>
          <p:cNvSpPr/>
          <p:nvPr/>
        </p:nvSpPr>
        <p:spPr>
          <a:xfrm>
            <a:off x="6581851" y="465338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6"/>
          <p:cNvSpPr txBox="1"/>
          <p:nvPr/>
        </p:nvSpPr>
        <p:spPr>
          <a:xfrm>
            <a:off x="6734556" y="4805172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흐름</a:t>
            </a:r>
            <a:endParaRPr lang="en-US" sz="90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5"/>
          <a:srcRect t="-654" b="-654"/>
          <a:stretch/>
        </p:blipFill>
        <p:spPr>
          <a:xfrm>
            <a:off x="7851953" y="5052974"/>
            <a:ext cx="437998" cy="323698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7851953" y="5052974"/>
            <a:ext cx="495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900" dirty="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8365846" y="5150815"/>
            <a:ext cx="105156" cy="123444"/>
          </a:xfrm>
          <a:prstGeom prst="rect">
            <a:avLst/>
          </a:prstGeom>
        </p:spPr>
      </p:pic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1"/>
          <a:srcRect t="-641" b="-641"/>
          <a:stretch/>
        </p:blipFill>
        <p:spPr>
          <a:xfrm>
            <a:off x="8546897" y="5052974"/>
            <a:ext cx="552298" cy="323698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8546897" y="5052974"/>
            <a:ext cx="6099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</a:t>
            </a:r>
            <a:endParaRPr lang="en-US" sz="90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9174175" y="5150815"/>
            <a:ext cx="105156" cy="123444"/>
          </a:xfrm>
          <a:prstGeom prst="rect">
            <a:avLst/>
          </a:prstGeom>
        </p:spPr>
      </p:pic>
      <p:pic>
        <p:nvPicPr>
          <p:cNvPr id="59" name="Image 18" descr="preencoded.png"/>
          <p:cNvPicPr>
            <a:picLocks noChangeAspect="1"/>
          </p:cNvPicPr>
          <p:nvPr/>
        </p:nvPicPr>
        <p:blipFill>
          <a:blip r:embed="rId12"/>
          <a:srcRect t="-358" b="-358"/>
          <a:stretch/>
        </p:blipFill>
        <p:spPr>
          <a:xfrm>
            <a:off x="9355226" y="5052974"/>
            <a:ext cx="705002" cy="323698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9355226" y="5052974"/>
            <a:ext cx="762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문서</a:t>
            </a:r>
            <a:endParaRPr lang="en-US" sz="900" dirty="0"/>
          </a:p>
        </p:txBody>
      </p:sp>
      <p:pic>
        <p:nvPicPr>
          <p:cNvPr id="61" name="Image 19" descr="preencoded.png"/>
          <p:cNvPicPr>
            <a:picLocks noChangeAspect="1"/>
          </p:cNvPicPr>
          <p:nvPr/>
        </p:nvPicPr>
        <p:blipFill>
          <a:blip r:embed="rId1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 + Text-to-SQL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데이터를 직접 쿼리하는 인메모리 엔진과 자연어 인터페이스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4972507" cy="3247949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9244" y="2457907"/>
            <a:ext cx="4496105" cy="19202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914400" y="2057400"/>
            <a:ext cx="171907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2009851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DuckDB란?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244" y="2628900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05256" y="2714854"/>
            <a:ext cx="114300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28954" y="2628900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분석을 위한 In-Process SQL OLAP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228954" y="2895905"/>
            <a:ext cx="47832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SQLite처럼 가볍지만 분석(OLAP)에 최적화되어 대용량 집계가 매우 빠름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244" y="3247949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198" y="3333902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28954" y="3247949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 카피 데이터 로딩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28954" y="3514954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DB에 적재(Import)할 필요 없이 CSV, Parquet, Pandas DataFrame을 직접 쿼리 가능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4067251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886054" y="4153205"/>
            <a:ext cx="152705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28954" y="4067251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환경 최적화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28954" y="4334256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서버 설치 없이 Python 라이브러리(`pip install duckdb`)만으로 즉시 사용 가능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71500" y="5162702"/>
            <a:ext cx="4972507" cy="2991002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809244" y="6283757"/>
            <a:ext cx="4496105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809244" y="578815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1482" y="5883250"/>
            <a:ext cx="237744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04849" y="5835701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Text-to-SQL이란?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09244" y="6454750"/>
            <a:ext cx="457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LLM(Large Language Model)의 코딩 능력을 활용하여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자연어 질문을 실행 가능한 SQL 쿼리로 변환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기술입니다. 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9244" y="7056425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875995" y="7142378"/>
            <a:ext cx="171907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228954" y="7056425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SQL을 몰라도 데이터 분석 가능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228954" y="7323430"/>
            <a:ext cx="3775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얼마야?"라고 물으면 LLM이 SQL을 대신 작성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924398" y="1723644"/>
            <a:ext cx="5695798" cy="6429146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6163056" y="2457907"/>
            <a:ext cx="5219395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0"/>
          <p:cNvSpPr/>
          <p:nvPr/>
        </p:nvSpPr>
        <p:spPr>
          <a:xfrm>
            <a:off x="6163056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34379" y="2057400"/>
            <a:ext cx="237744" cy="19019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657746" y="2009851"/>
            <a:ext cx="272308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프로세스 및 활용 예시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6163056" y="2628900"/>
            <a:ext cx="5219395" cy="5286146"/>
          </a:xfrm>
          <a:prstGeom prst="roundRect">
            <a:avLst>
              <a:gd name="adj" fmla="val 7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3"/>
          <p:cNvSpPr/>
          <p:nvPr/>
        </p:nvSpPr>
        <p:spPr>
          <a:xfrm>
            <a:off x="6362395" y="2829154"/>
            <a:ext cx="4819802" cy="828446"/>
          </a:xfrm>
          <a:prstGeom prst="roundRect">
            <a:avLst>
              <a:gd name="adj" fmla="val 20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6524244" y="3126334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5"/>
          <p:cNvSpPr/>
          <p:nvPr/>
        </p:nvSpPr>
        <p:spPr>
          <a:xfrm>
            <a:off x="6486754" y="312633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6867144" y="2952598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 (Natural Language)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6867144" y="3191256"/>
            <a:ext cx="4153205" cy="342900"/>
          </a:xfrm>
          <a:prstGeom prst="roundRect">
            <a:avLst>
              <a:gd name="adj" fmla="val 59259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8"/>
          <p:cNvSpPr txBox="1"/>
          <p:nvPr/>
        </p:nvSpPr>
        <p:spPr>
          <a:xfrm>
            <a:off x="6867144" y="3191256"/>
            <a:ext cx="42291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"2016년 매출 상위 5개 매장은 어디야?"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362395" y="4005072"/>
            <a:ext cx="4819802" cy="1867205"/>
          </a:xfrm>
          <a:prstGeom prst="roundRect">
            <a:avLst>
              <a:gd name="adj" fmla="val 39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0"/>
          <p:cNvSpPr/>
          <p:nvPr/>
        </p:nvSpPr>
        <p:spPr>
          <a:xfrm>
            <a:off x="6524244" y="4824374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1"/>
          <p:cNvSpPr/>
          <p:nvPr/>
        </p:nvSpPr>
        <p:spPr>
          <a:xfrm>
            <a:off x="6486754" y="482437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6867144" y="4129430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LLM: SQL 생성 (Text-to-SQL)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867144" y="4405579"/>
            <a:ext cx="4153205" cy="1343254"/>
          </a:xfrm>
          <a:prstGeom prst="roundRect">
            <a:avLst>
              <a:gd name="adj" fmla="val 579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4"/>
          <p:cNvSpPr txBox="1"/>
          <p:nvPr/>
        </p:nvSpPr>
        <p:spPr>
          <a:xfrm>
            <a:off x="6867144" y="4405579"/>
            <a:ext cx="4229100" cy="1343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store_nbr, 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(sales)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train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(date) = 2016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store_nbr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(sales) </a:t>
            </a: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5; 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6362395" y="6224321"/>
            <a:ext cx="4819802" cy="1485900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6"/>
          <p:cNvSpPr/>
          <p:nvPr/>
        </p:nvSpPr>
        <p:spPr>
          <a:xfrm>
            <a:off x="6524244" y="6853428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7"/>
          <p:cNvSpPr/>
          <p:nvPr/>
        </p:nvSpPr>
        <p:spPr>
          <a:xfrm>
            <a:off x="6486754" y="6853428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6867144" y="6348679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 실행 및 결과 반환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7144" y="6586423"/>
          <a:ext cx="4153205" cy="1000354"/>
        </p:xfrm>
        <a:graphic>
          <a:graphicData uri="http://schemas.openxmlformats.org/drawingml/2006/table">
            <a:tbl>
              <a:tblPr/>
              <a:tblGrid>
                <a:gridCol w="1976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0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store_nbr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sum(sales)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62,345,100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45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58,120,050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...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...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8719718" y="3764585"/>
            <a:ext cx="105156" cy="133502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6981444" y="4529023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</p:txBody>
      </p:sp>
      <p:sp>
        <p:nvSpPr>
          <p:cNvPr id="61" name="Text 50"/>
          <p:cNvSpPr txBox="1"/>
          <p:nvPr/>
        </p:nvSpPr>
        <p:spPr>
          <a:xfrm>
            <a:off x="8319211" y="4529023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6981444" y="4714646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00" dirty="0"/>
          </a:p>
        </p:txBody>
      </p:sp>
      <p:sp>
        <p:nvSpPr>
          <p:cNvPr id="63" name="Text 52"/>
          <p:cNvSpPr txBox="1"/>
          <p:nvPr/>
        </p:nvSpPr>
        <p:spPr>
          <a:xfrm>
            <a:off x="6981444" y="4900270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900" dirty="0"/>
          </a:p>
        </p:txBody>
      </p:sp>
      <p:sp>
        <p:nvSpPr>
          <p:cNvPr id="64" name="Text 53"/>
          <p:cNvSpPr txBox="1"/>
          <p:nvPr/>
        </p:nvSpPr>
        <p:spPr>
          <a:xfrm>
            <a:off x="7353605" y="4900270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900" dirty="0"/>
          </a:p>
        </p:txBody>
      </p:sp>
      <p:sp>
        <p:nvSpPr>
          <p:cNvPr id="65" name="Text 54"/>
          <p:cNvSpPr txBox="1"/>
          <p:nvPr/>
        </p:nvSpPr>
        <p:spPr>
          <a:xfrm>
            <a:off x="6981444" y="5086807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6981444" y="5272430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7575804" y="5272430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900" dirty="0"/>
          </a:p>
        </p:txBody>
      </p:sp>
      <p:sp>
        <p:nvSpPr>
          <p:cNvPr id="68" name="Text 57"/>
          <p:cNvSpPr txBox="1"/>
          <p:nvPr/>
        </p:nvSpPr>
        <p:spPr>
          <a:xfrm>
            <a:off x="8393278" y="5272430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6981444" y="5458054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900" dirty="0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8719718" y="5983834"/>
            <a:ext cx="105156" cy="133502"/>
          </a:xfrm>
          <a:prstGeom prst="rect">
            <a:avLst/>
          </a:prstGeom>
        </p:spPr>
      </p:pic>
      <p:pic>
        <p:nvPicPr>
          <p:cNvPr id="71" name="Image 9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라우팅(Routing)이 필요한 이유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00607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질문의 의도를 파악하여 최적의 답변 경로를 찾아주는 나침반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857707" y="2247595"/>
            <a:ext cx="5095951" cy="1714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247595"/>
            <a:ext cx="57607" cy="1695298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54294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4849" y="2695651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6349" y="2542946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유형의 다양성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876349" y="2933395"/>
            <a:ext cx="38578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얼마야?"(정량)와 "매출 하락 원인이 뭐야?"(정성)는 처리 방식이 완전히 다릅니다. LLM은 이를 구분해야 합니다.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6238951" y="2247595"/>
            <a:ext cx="5095951" cy="17145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38951" y="2247595"/>
            <a:ext cx="57607" cy="169529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34302" y="254294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87007" y="2695651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58507" y="2542946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경로 선택 시 문제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258507" y="2933395"/>
            <a:ext cx="38578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검색으로 '정확한 합계'를 계산하면 오답(환각)이 발생하고, SQL로 '전략'을 물으면 결과를 찾지 못합니다.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857707" y="4248302"/>
            <a:ext cx="5095951" cy="17145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248302"/>
            <a:ext cx="57607" cy="169529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5436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04849" y="4695444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876349" y="4543654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라우팅의 핵심 목표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876349" y="4934102"/>
            <a:ext cx="38578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질문의 의도를 분석하여 CSV(SQL 집계) 또는 MD(문서 검색) 중 최적의 도구로 자동 분기합니다.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6238951" y="4248302"/>
            <a:ext cx="5095951" cy="17145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38951" y="4248302"/>
            <a:ext cx="57607" cy="1695298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34302" y="45436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700723" y="4695444"/>
            <a:ext cx="200254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58507" y="4543654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신뢰성 확보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258507" y="4934102"/>
            <a:ext cx="38578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적합한 데이터 소스를 사용함으로써 답변의 정확도를 높이고, 불필요한 연산을 줄여 응답 속도를 최적화합니다.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E2E8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 방식의 진화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매칭에서 지능형 도구 호출(Tool Calling)까지의 발전 과정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571500" y="1723644"/>
            <a:ext cx="3530498" cy="45628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80644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031797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84502" y="2162556"/>
            <a:ext cx="30449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80337" y="2771546"/>
            <a:ext cx="1121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기반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591056" y="3152851"/>
            <a:ext cx="14932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"Keyword Matching"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3819449"/>
            <a:ext cx="133502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2746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"매출", "합계" 등 특정 단어가 포함되면 SQL 경로로 분기.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4362602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746" y="4362602"/>
            <a:ext cx="334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구현이 매우 간단하고 비용이 들지 않음.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4690872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42746" y="469087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질문의 의도나 맥락을 이해하지 못해 유연성이 매우 부족함.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09244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771754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단계 / 단순 시나리오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4330598" y="1723644"/>
            <a:ext cx="3530498" cy="45628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40657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4340657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5790895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2162556"/>
            <a:ext cx="381305" cy="3044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332781" y="2771546"/>
            <a:ext cx="15297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프롬프트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5559552" y="3152851"/>
            <a:ext cx="1077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"Ask the LLM"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69257" y="3819449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01845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LLM에게 "이 질문은 어떤 도구를 써야 해?"라고 물어보고 판단.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69257" y="4362602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01845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문맥을 이해하여 복잡한 질문도 적절히 분류 가능.</a:t>
            </a:r>
            <a:endParaRPr lang="en-US" sz="11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69257" y="4905756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701845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답변 형식이 불안정하여 파싱 에러 발생 가능성 있음.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4569257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6"/>
          <p:cNvSpPr txBox="1"/>
          <p:nvPr/>
        </p:nvSpPr>
        <p:spPr>
          <a:xfrm>
            <a:off x="4530852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유연성 확보 / 안정성 부족</a:t>
            </a:r>
            <a:endParaRPr lang="en-US" sz="9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0"/>
          <a:srcRect t="-6" b="-6"/>
          <a:stretch/>
        </p:blipFill>
        <p:spPr>
          <a:xfrm>
            <a:off x="8089697" y="1723644"/>
            <a:ext cx="3530498" cy="4562856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9755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8"/>
          <p:cNvSpPr/>
          <p:nvPr/>
        </p:nvSpPr>
        <p:spPr>
          <a:xfrm>
            <a:off x="8099755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9"/>
          <p:cNvSpPr/>
          <p:nvPr/>
        </p:nvSpPr>
        <p:spPr>
          <a:xfrm>
            <a:off x="9549994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702698" y="2162556"/>
            <a:ext cx="304495" cy="3044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043416" y="2771546"/>
            <a:ext cx="16331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</a:t>
            </a:r>
            <a:endParaRPr lang="en-US" sz="1800" dirty="0"/>
          </a:p>
        </p:txBody>
      </p:sp>
      <p:sp>
        <p:nvSpPr>
          <p:cNvPr id="45" name="Text 31"/>
          <p:cNvSpPr txBox="1"/>
          <p:nvPr/>
        </p:nvSpPr>
        <p:spPr>
          <a:xfrm>
            <a:off x="9073591" y="3152851"/>
            <a:ext cx="1564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"Structured Output"</a:t>
            </a:r>
            <a:endParaRPr lang="en-US" sz="10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28355" y="3819449"/>
            <a:ext cx="133502" cy="133502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8461858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LLM이 미리 정의된 도구 스키마를 보고 JSON 형태로 도구 선택.</a:t>
            </a:r>
            <a:endParaRPr lang="en-US" sz="11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28355" y="4362602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8461858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구조화된 출력(JSON)으로 안정적이며 인자(Args) 추출이 정확함.</a:t>
            </a:r>
            <a:endParaRPr lang="en-US" sz="11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3"/>
          <a:srcRect l="-837" r="-837"/>
          <a:stretch/>
        </p:blipFill>
        <p:spPr>
          <a:xfrm>
            <a:off x="8328355" y="4905756"/>
            <a:ext cx="152705" cy="1335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480146" y="4905756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OpenAI, Anthropic 등 최신 모델이 기본 지원하는 표준 방식.</a:t>
            </a:r>
            <a:endParaRPr lang="en-US" sz="1100" dirty="0"/>
          </a:p>
        </p:txBody>
      </p:sp>
      <p:sp>
        <p:nvSpPr>
          <p:cNvPr id="52" name="Shape 35"/>
          <p:cNvSpPr/>
          <p:nvPr/>
        </p:nvSpPr>
        <p:spPr>
          <a:xfrm>
            <a:off x="8328355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6"/>
          <p:cNvSpPr txBox="1"/>
          <p:nvPr/>
        </p:nvSpPr>
        <p:spPr>
          <a:xfrm>
            <a:off x="8289950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Practice / 안정성 &amp; 유연성</a:t>
            </a:r>
            <a:endParaRPr lang="en-US" sz="9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4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심화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LLM이 도구를 선택하고 사용하는 구조화된 메커니즘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4972507" cy="344820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9244" y="2457907"/>
            <a:ext cx="4496105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1482" y="2057400"/>
            <a:ext cx="237744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2009851"/>
            <a:ext cx="237286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 (Mechanism)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244" y="2628900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l="-2512" r="-2512"/>
          <a:stretch/>
        </p:blipFill>
        <p:spPr>
          <a:xfrm>
            <a:off x="909828" y="2714854"/>
            <a:ext cx="105156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28954" y="2628900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정의 제공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228954" y="289590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개발자가 LLM에게 사용 가능한 함수 목록(이름, 설명, 인자)을 JSON Schema 형태로 미리 제공합니다.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244" y="3448202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198" y="3534156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28954" y="3448202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선택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28954" y="3715207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사용자 질문의 의도를 파악하고, 가장 적합한 도구(함수)를 스스로 결정합니다.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4267505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5198" y="4352544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28954" y="4267505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구조화된 응답 반환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28954" y="453359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텍스트 대신, 약속된 JSON 포맷으로 함수 이름과 인자값을 반환하여 실행 오류를 방지합니다.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71500" y="5400446"/>
            <a:ext cx="4972507" cy="3838651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809244" y="6134710"/>
            <a:ext cx="4496105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809244" y="56391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5256" y="5734202"/>
            <a:ext cx="190195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04849" y="5686654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9244" y="6305702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5198" y="6391656"/>
            <a:ext cx="133502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28954" y="6305702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(Reliability)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228954" y="6572707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텍스트 생성 시 발생하는 파싱 에러나 환각을 최소화하고, 정확한 인자를 추출합니다.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09244" y="7125005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5198" y="7210044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28954" y="7125005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 라우팅 (Routing)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228954" y="739109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매칭보다 훨씬 복잡한 문맥을 이해하여 적절한 도구(CSV vs MD)를 호출합니다.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924398" y="1723644"/>
            <a:ext cx="5695798" cy="7515454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6163056" y="2457907"/>
            <a:ext cx="5219395" cy="19202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163056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6243523" y="2057400"/>
            <a:ext cx="219456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657746" y="2009851"/>
            <a:ext cx="1463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동작 예시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6163056" y="2962656"/>
            <a:ext cx="5334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"2016년 전체 매출 합계는 얼마야?"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6163056" y="5894222"/>
            <a:ext cx="5410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 하락을 막기 위한 프로모션 전략을 알려줘"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6163056" y="8397850"/>
            <a:ext cx="5219395" cy="599846"/>
          </a:xfrm>
          <a:prstGeom prst="roundRect">
            <a:avLst>
              <a:gd name="adj" fmla="val 3871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6286500" y="8550554"/>
            <a:ext cx="114300" cy="15270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495898" y="8522208"/>
            <a:ext cx="48390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Insight:</a:t>
            </a: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LLM은 질문의 맥락을 분석하여 </a:t>
            </a:r>
            <a:r>
              <a:rPr lang="en-US" sz="900" i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"숫자 계산"</a:t>
            </a: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필요한지, </a:t>
            </a:r>
            <a:r>
              <a:rPr lang="en-US" sz="900" i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 검색"</a:t>
            </a: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필요한지 판단하고 자동으로 도구를 스위칭합니다. 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163056" y="2638044"/>
            <a:ext cx="1609344" cy="247802"/>
          </a:xfrm>
          <a:prstGeom prst="roundRect">
            <a:avLst>
              <a:gd name="adj" fmla="val 11354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9"/>
          <p:cNvSpPr txBox="1"/>
          <p:nvPr/>
        </p:nvSpPr>
        <p:spPr>
          <a:xfrm>
            <a:off x="6163056" y="2638044"/>
            <a:ext cx="167426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1: 정량 데이터 조회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163056" y="5570525"/>
            <a:ext cx="1723644" cy="247802"/>
          </a:xfrm>
          <a:prstGeom prst="roundRect">
            <a:avLst>
              <a:gd name="adj" fmla="val 113540"/>
            </a:avLst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1"/>
          <p:cNvSpPr txBox="1"/>
          <p:nvPr/>
        </p:nvSpPr>
        <p:spPr>
          <a:xfrm>
            <a:off x="6163056" y="5570525"/>
            <a:ext cx="179313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2: 전략/인사이트 검색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6163056" y="3238805"/>
            <a:ext cx="5219395" cy="1990649"/>
          </a:xfrm>
          <a:prstGeom prst="roundRect">
            <a:avLst>
              <a:gd name="adj" fmla="val 527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3"/>
          <p:cNvSpPr/>
          <p:nvPr/>
        </p:nvSpPr>
        <p:spPr>
          <a:xfrm>
            <a:off x="6163056" y="3238805"/>
            <a:ext cx="5219395" cy="295351"/>
          </a:xfrm>
          <a:prstGeom prst="roundRect">
            <a:avLst>
              <a:gd name="adj" fmla="val 2396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4"/>
          <p:cNvSpPr/>
          <p:nvPr/>
        </p:nvSpPr>
        <p:spPr>
          <a:xfrm>
            <a:off x="6163056" y="3525012"/>
            <a:ext cx="5219395" cy="9144"/>
          </a:xfrm>
          <a:prstGeom prst="roundRect">
            <a:avLst>
              <a:gd name="adj" fmla="val 77419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5"/>
          <p:cNvSpPr txBox="1"/>
          <p:nvPr/>
        </p:nvSpPr>
        <p:spPr>
          <a:xfrm>
            <a:off x="6314846" y="3295498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Output (JSON)</a:t>
            </a:r>
            <a:endParaRPr lang="en-US" sz="800" dirty="0"/>
          </a:p>
        </p:txBody>
      </p:sp>
      <p:sp>
        <p:nvSpPr>
          <p:cNvPr id="57" name="Text 46"/>
          <p:cNvSpPr txBox="1"/>
          <p:nvPr/>
        </p:nvSpPr>
        <p:spPr>
          <a:xfrm>
            <a:off x="10223906" y="3295498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tool: search_csv</a:t>
            </a:r>
            <a:endParaRPr lang="en-US" sz="800" dirty="0"/>
          </a:p>
        </p:txBody>
      </p:sp>
      <p:sp>
        <p:nvSpPr>
          <p:cNvPr id="58" name="Text 47"/>
          <p:cNvSpPr txBox="1"/>
          <p:nvPr/>
        </p:nvSpPr>
        <p:spPr>
          <a:xfrm>
            <a:off x="6353251" y="356250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6353251" y="3775558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6833311" y="377555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6993331" y="3775558"/>
            <a:ext cx="1438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"tool_search_csv"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8353958" y="377555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63" name="Text 52"/>
          <p:cNvSpPr txBox="1"/>
          <p:nvPr/>
        </p:nvSpPr>
        <p:spPr>
          <a:xfrm>
            <a:off x="6353251" y="3989527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"arguments"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7232904" y="3989527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6353251" y="4202582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"query"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6913778" y="4202582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67" name="Text 56"/>
          <p:cNvSpPr txBox="1"/>
          <p:nvPr/>
        </p:nvSpPr>
        <p:spPr>
          <a:xfrm>
            <a:off x="7073798" y="4202582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"2016년 매출 합계"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8380476" y="420258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6353251" y="4415638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"sql_hint"</a:t>
            </a:r>
            <a:endParaRPr lang="en-US" sz="1000" dirty="0"/>
          </a:p>
        </p:txBody>
      </p:sp>
      <p:sp>
        <p:nvSpPr>
          <p:cNvPr id="70" name="Text 59"/>
          <p:cNvSpPr txBox="1"/>
          <p:nvPr/>
        </p:nvSpPr>
        <p:spPr>
          <a:xfrm>
            <a:off x="7153351" y="441563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71" name="Text 60"/>
          <p:cNvSpPr txBox="1"/>
          <p:nvPr/>
        </p:nvSpPr>
        <p:spPr>
          <a:xfrm>
            <a:off x="7313371" y="4415638"/>
            <a:ext cx="275417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"SELECT SUM(sales) FROM train..."</a:t>
            </a:r>
            <a:endParaRPr lang="en-US" sz="1000" dirty="0"/>
          </a:p>
        </p:txBody>
      </p:sp>
      <p:sp>
        <p:nvSpPr>
          <p:cNvPr id="72" name="Text 61"/>
          <p:cNvSpPr txBox="1"/>
          <p:nvPr/>
        </p:nvSpPr>
        <p:spPr>
          <a:xfrm>
            <a:off x="6353251" y="4629607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73" name="Text 62"/>
          <p:cNvSpPr txBox="1"/>
          <p:nvPr/>
        </p:nvSpPr>
        <p:spPr>
          <a:xfrm>
            <a:off x="6353251" y="484266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74" name="Shape 63"/>
          <p:cNvSpPr/>
          <p:nvPr/>
        </p:nvSpPr>
        <p:spPr>
          <a:xfrm>
            <a:off x="6163056" y="6170371"/>
            <a:ext cx="5219395" cy="1990649"/>
          </a:xfrm>
          <a:prstGeom prst="roundRect">
            <a:avLst>
              <a:gd name="adj" fmla="val 527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64"/>
          <p:cNvSpPr/>
          <p:nvPr/>
        </p:nvSpPr>
        <p:spPr>
          <a:xfrm>
            <a:off x="6163056" y="6170371"/>
            <a:ext cx="5219395" cy="295351"/>
          </a:xfrm>
          <a:prstGeom prst="roundRect">
            <a:avLst>
              <a:gd name="adj" fmla="val 2396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65"/>
          <p:cNvSpPr/>
          <p:nvPr/>
        </p:nvSpPr>
        <p:spPr>
          <a:xfrm>
            <a:off x="6163056" y="6456578"/>
            <a:ext cx="5219395" cy="9144"/>
          </a:xfrm>
          <a:prstGeom prst="roundRect">
            <a:avLst>
              <a:gd name="adj" fmla="val 77419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6"/>
          <p:cNvSpPr txBox="1"/>
          <p:nvPr/>
        </p:nvSpPr>
        <p:spPr>
          <a:xfrm>
            <a:off x="6314846" y="6227978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Output (JSON)</a:t>
            </a:r>
            <a:endParaRPr lang="en-US" sz="800" dirty="0"/>
          </a:p>
        </p:txBody>
      </p:sp>
      <p:sp>
        <p:nvSpPr>
          <p:cNvPr id="78" name="Text 67"/>
          <p:cNvSpPr txBox="1"/>
          <p:nvPr/>
        </p:nvSpPr>
        <p:spPr>
          <a:xfrm>
            <a:off x="10287000" y="6227978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tool: search_md</a:t>
            </a:r>
            <a:endParaRPr lang="en-US" sz="800" dirty="0"/>
          </a:p>
        </p:txBody>
      </p:sp>
      <p:sp>
        <p:nvSpPr>
          <p:cNvPr id="79" name="Text 68"/>
          <p:cNvSpPr txBox="1"/>
          <p:nvPr/>
        </p:nvSpPr>
        <p:spPr>
          <a:xfrm>
            <a:off x="6353251" y="649498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80" name="Text 69"/>
          <p:cNvSpPr txBox="1"/>
          <p:nvPr/>
        </p:nvSpPr>
        <p:spPr>
          <a:xfrm>
            <a:off x="6353251" y="6708038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endParaRPr lang="en-US" sz="1000" dirty="0"/>
          </a:p>
        </p:txBody>
      </p:sp>
      <p:sp>
        <p:nvSpPr>
          <p:cNvPr id="81" name="Text 70"/>
          <p:cNvSpPr txBox="1"/>
          <p:nvPr/>
        </p:nvSpPr>
        <p:spPr>
          <a:xfrm>
            <a:off x="6833311" y="670803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82" name="Text 71"/>
          <p:cNvSpPr txBox="1"/>
          <p:nvPr/>
        </p:nvSpPr>
        <p:spPr>
          <a:xfrm>
            <a:off x="6993331" y="6708038"/>
            <a:ext cx="1362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"tool_search_md"</a:t>
            </a:r>
            <a:endParaRPr lang="en-US" sz="1000" dirty="0"/>
          </a:p>
        </p:txBody>
      </p:sp>
      <p:sp>
        <p:nvSpPr>
          <p:cNvPr id="83" name="Text 72"/>
          <p:cNvSpPr txBox="1"/>
          <p:nvPr/>
        </p:nvSpPr>
        <p:spPr>
          <a:xfrm>
            <a:off x="8273491" y="670803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84" name="Text 73"/>
          <p:cNvSpPr txBox="1"/>
          <p:nvPr/>
        </p:nvSpPr>
        <p:spPr>
          <a:xfrm>
            <a:off x="6353251" y="6921094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"arguments"</a:t>
            </a:r>
            <a:endParaRPr lang="en-US" sz="1000" dirty="0"/>
          </a:p>
        </p:txBody>
      </p:sp>
      <p:sp>
        <p:nvSpPr>
          <p:cNvPr id="85" name="Text 74"/>
          <p:cNvSpPr txBox="1"/>
          <p:nvPr/>
        </p:nvSpPr>
        <p:spPr>
          <a:xfrm>
            <a:off x="7232904" y="6921094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000" dirty="0"/>
          </a:p>
        </p:txBody>
      </p:sp>
      <p:sp>
        <p:nvSpPr>
          <p:cNvPr id="86" name="Text 75"/>
          <p:cNvSpPr txBox="1"/>
          <p:nvPr/>
        </p:nvSpPr>
        <p:spPr>
          <a:xfrm>
            <a:off x="6353251" y="7135063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"query"</a:t>
            </a:r>
            <a:endParaRPr lang="en-US" sz="1000" dirty="0"/>
          </a:p>
        </p:txBody>
      </p:sp>
      <p:sp>
        <p:nvSpPr>
          <p:cNvPr id="87" name="Text 76"/>
          <p:cNvSpPr txBox="1"/>
          <p:nvPr/>
        </p:nvSpPr>
        <p:spPr>
          <a:xfrm>
            <a:off x="6913778" y="7135063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88" name="Text 77"/>
          <p:cNvSpPr txBox="1"/>
          <p:nvPr/>
        </p:nvSpPr>
        <p:spPr>
          <a:xfrm>
            <a:off x="7073798" y="7135063"/>
            <a:ext cx="22530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"매출 하락 방어 프로모션 전략"</a:t>
            </a:r>
            <a:endParaRPr lang="en-US" sz="1000" dirty="0"/>
          </a:p>
        </p:txBody>
      </p:sp>
      <p:sp>
        <p:nvSpPr>
          <p:cNvPr id="89" name="Text 78"/>
          <p:cNvSpPr txBox="1"/>
          <p:nvPr/>
        </p:nvSpPr>
        <p:spPr>
          <a:xfrm>
            <a:off x="9154058" y="713506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90" name="Text 79"/>
          <p:cNvSpPr txBox="1"/>
          <p:nvPr/>
        </p:nvSpPr>
        <p:spPr>
          <a:xfrm>
            <a:off x="6353251" y="7348118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"k"</a:t>
            </a:r>
            <a:endParaRPr lang="en-US" sz="1000" dirty="0"/>
          </a:p>
        </p:txBody>
      </p:sp>
      <p:sp>
        <p:nvSpPr>
          <p:cNvPr id="91" name="Text 80"/>
          <p:cNvSpPr txBox="1"/>
          <p:nvPr/>
        </p:nvSpPr>
        <p:spPr>
          <a:xfrm>
            <a:off x="6592824" y="734811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92" name="Text 81"/>
          <p:cNvSpPr txBox="1"/>
          <p:nvPr/>
        </p:nvSpPr>
        <p:spPr>
          <a:xfrm>
            <a:off x="6753758" y="734811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Text 82"/>
          <p:cNvSpPr txBox="1"/>
          <p:nvPr/>
        </p:nvSpPr>
        <p:spPr>
          <a:xfrm>
            <a:off x="6353251" y="756208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94" name="Text 83"/>
          <p:cNvSpPr txBox="1"/>
          <p:nvPr/>
        </p:nvSpPr>
        <p:spPr>
          <a:xfrm>
            <a:off x="6353251" y="777514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pic>
        <p:nvPicPr>
          <p:cNvPr id="95" name="Image 9" descr="preencoded.png"/>
          <p:cNvPicPr>
            <a:picLocks noChangeAspect="1"/>
          </p:cNvPicPr>
          <p:nvPr/>
        </p:nvPicPr>
        <p:blipFill>
          <a:blip r:embed="rId11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LangGraph 구성 요소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워크플로우를 구축하는 3가지 핵심 빌딩 블록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571500" y="1723644"/>
            <a:ext cx="3492094" cy="46579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3866998"/>
            <a:ext cx="1276502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0898" y="3866998"/>
            <a:ext cx="13341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Processing Unit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(노드)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9244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09244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수행하는가?"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5162702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23544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실행 단위: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 호출, 도구 실행, 데이터 처리 등 실제 연산 수행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5686654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3544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입출력 구조: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 상태(State)를 입력받아 업데이트된 상태를 반환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4349801" y="1723644"/>
            <a:ext cx="3492094" cy="465795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3866998"/>
            <a:ext cx="1133856" cy="247802"/>
          </a:xfrm>
          <a:prstGeom prst="roundRect">
            <a:avLst>
              <a:gd name="adj" fmla="val 3690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4559198" y="3866998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(엣지)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587545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587545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"다음은 어디로 가는가?"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5162702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01845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제어: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노드와 노드 사이의 연결 정의 (순차적 실행)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5686654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01845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분기: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LLM의 판단 결과에 따라 다른 노드로 이동 (Router)</a:t>
            </a:r>
            <a:endParaRPr lang="en-US" sz="11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8128102" y="1723644"/>
            <a:ext cx="3492094" cy="4657954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3866998"/>
            <a:ext cx="1248156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2"/>
          <p:cNvSpPr/>
          <p:nvPr/>
        </p:nvSpPr>
        <p:spPr>
          <a:xfrm>
            <a:off x="8337499" y="3866998"/>
            <a:ext cx="13057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 Context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 (상태)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8365846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8365846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기억하는가?"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5846" y="5162702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80146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메모리: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그래프 전체에서 공유되는 데이터 스키마 (Schema)</a:t>
            </a:r>
            <a:endParaRPr lang="en-US" sz="11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5846" y="5686654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480146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지속성: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대화 이력, 도구 실행 결과 등 노드 간 정보를 유지 및 전달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580644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/>
          <p:cNvSpPr/>
          <p:nvPr/>
        </p:nvSpPr>
        <p:spPr>
          <a:xfrm>
            <a:off x="580644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0"/>
          <p:cNvSpPr/>
          <p:nvPr/>
        </p:nvSpPr>
        <p:spPr>
          <a:xfrm>
            <a:off x="4358945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1"/>
          <p:cNvSpPr/>
          <p:nvPr/>
        </p:nvSpPr>
        <p:spPr>
          <a:xfrm>
            <a:off x="4358945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2"/>
          <p:cNvSpPr/>
          <p:nvPr/>
        </p:nvSpPr>
        <p:spPr>
          <a:xfrm>
            <a:off x="5333695" y="249082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6"/>
          <a:srcRect l="-425" r="-425"/>
          <a:stretch/>
        </p:blipFill>
        <p:spPr>
          <a:xfrm>
            <a:off x="5734202" y="2667305"/>
            <a:ext cx="724205" cy="28346"/>
          </a:xfrm>
          <a:prstGeom prst="rect">
            <a:avLst/>
          </a:prstGeom>
        </p:spPr>
      </p:pic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6391656" y="2617013"/>
            <a:ext cx="85954" cy="133502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476695" y="249082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4"/>
          <p:cNvSpPr/>
          <p:nvPr/>
        </p:nvSpPr>
        <p:spPr>
          <a:xfrm>
            <a:off x="8137246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5"/>
          <p:cNvSpPr/>
          <p:nvPr/>
        </p:nvSpPr>
        <p:spPr>
          <a:xfrm>
            <a:off x="8137246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6"/>
          <p:cNvSpPr/>
          <p:nvPr/>
        </p:nvSpPr>
        <p:spPr>
          <a:xfrm rot="21000000">
            <a:off x="9303106" y="2395728"/>
            <a:ext cx="1143000" cy="571500"/>
          </a:xfrm>
          <a:prstGeom prst="roundRect">
            <a:avLst>
              <a:gd name="adj" fmla="val 160000"/>
            </a:avLst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7"/>
          <p:cNvSpPr/>
          <p:nvPr/>
        </p:nvSpPr>
        <p:spPr>
          <a:xfrm>
            <a:off x="9540850" y="2157070"/>
            <a:ext cx="761695" cy="952805"/>
          </a:xfrm>
          <a:prstGeom prst="roundRect">
            <a:avLst>
              <a:gd name="adj" fmla="val 24010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936699" y="2300630"/>
            <a:ext cx="761695" cy="761695"/>
          </a:xfrm>
          <a:prstGeom prst="rect">
            <a:avLst/>
          </a:prstGeom>
        </p:spPr>
      </p:pic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165299" y="2529230"/>
            <a:ext cx="304495" cy="30449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2028139" y="2300630"/>
            <a:ext cx="63825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Function</a:t>
            </a:r>
            <a:endParaRPr lang="en-US" sz="1000" dirty="0"/>
          </a:p>
        </p:txBody>
      </p:sp>
      <p:sp>
        <p:nvSpPr>
          <p:cNvPr id="54" name="Shape 39"/>
          <p:cNvSpPr/>
          <p:nvPr/>
        </p:nvSpPr>
        <p:spPr>
          <a:xfrm rot="2700000">
            <a:off x="6001207" y="2585923"/>
            <a:ext cx="190195" cy="190195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0"/>
          <p:cNvSpPr/>
          <p:nvPr/>
        </p:nvSpPr>
        <p:spPr>
          <a:xfrm>
            <a:off x="9493301" y="2204618"/>
            <a:ext cx="761695" cy="95280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9588398" y="2300630"/>
            <a:ext cx="228600" cy="38405"/>
          </a:xfrm>
          <a:prstGeom prst="rect">
            <a:avLst/>
          </a:prstGeom>
        </p:spPr>
      </p:pic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9588398" y="2395728"/>
            <a:ext cx="457200" cy="38405"/>
          </a:xfrm>
          <a:prstGeom prst="rect">
            <a:avLst/>
          </a:prstGeom>
        </p:spPr>
      </p:pic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9588398" y="2490826"/>
            <a:ext cx="342900" cy="38405"/>
          </a:xfrm>
          <a:prstGeom prst="rect">
            <a:avLst/>
          </a:prstGeom>
        </p:spPr>
      </p:pic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3"/>
          <a:srcRect t="-355" b="-355"/>
          <a:stretch/>
        </p:blipFill>
        <p:spPr>
          <a:xfrm>
            <a:off x="9588398" y="2681021"/>
            <a:ext cx="514807" cy="38405"/>
          </a:xfrm>
          <a:prstGeom prst="rect">
            <a:avLst/>
          </a:prstGeom>
        </p:spPr>
      </p:pic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4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패턴: Reasoning + Acting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에이전트의 핵심 사고 과정과 도구 사용 루프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3100730" y="3957523"/>
            <a:ext cx="171907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6010351" y="3957523"/>
            <a:ext cx="171907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8919972" y="3957523"/>
            <a:ext cx="171907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571500" y="2575865"/>
            <a:ext cx="2318918" cy="2954426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813609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71346" y="2880360"/>
            <a:ext cx="171907" cy="171907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438351" y="2813609"/>
            <a:ext cx="933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(생각)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771754" y="3404311"/>
            <a:ext cx="1923898" cy="609905"/>
          </a:xfrm>
          <a:prstGeom prst="roundRect">
            <a:avLst>
              <a:gd name="adj" fmla="val 3748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771754" y="3404311"/>
            <a:ext cx="38405" cy="609905"/>
          </a:xfrm>
          <a:prstGeom prst="roundRect">
            <a:avLst>
              <a:gd name="adj" fmla="val 59523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1"/>
          <p:cNvSpPr txBox="1"/>
          <p:nvPr/>
        </p:nvSpPr>
        <p:spPr>
          <a:xfrm>
            <a:off x="923544" y="3518611"/>
            <a:ext cx="172364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"질문 해결을 위해 무엇이 필요한가?"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771754" y="4158691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771754" y="442021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질문의 의도 분석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771754" y="4710989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정보 파악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771754" y="5001768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도구(Tool) 탐색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3481121" y="2575865"/>
            <a:ext cx="2318918" cy="2954426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3681374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3681374" y="2813609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8"/>
          <p:cNvSpPr/>
          <p:nvPr/>
        </p:nvSpPr>
        <p:spPr>
          <a:xfrm>
            <a:off x="3642970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1882" y="2880360"/>
            <a:ext cx="171907" cy="1719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347972" y="2813609"/>
            <a:ext cx="8293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 (행동)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3681374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1"/>
          <p:cNvSpPr/>
          <p:nvPr/>
        </p:nvSpPr>
        <p:spPr>
          <a:xfrm>
            <a:off x="3681374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2"/>
          <p:cNvSpPr txBox="1"/>
          <p:nvPr/>
        </p:nvSpPr>
        <p:spPr>
          <a:xfrm>
            <a:off x="3834079" y="3539642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"도구를 실행하자"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3681374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3681374" y="427573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도구 호출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3681374" y="456651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쿼리 실행 (DuckDB)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3681374" y="485729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검색 (ChromaDB)</a:t>
            </a:r>
            <a:endParaRPr lang="en-US" sz="11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391656" y="2575865"/>
            <a:ext cx="2318918" cy="2954426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6590995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8"/>
          <p:cNvSpPr/>
          <p:nvPr/>
        </p:nvSpPr>
        <p:spPr>
          <a:xfrm>
            <a:off x="6590995" y="2813609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9"/>
          <p:cNvSpPr/>
          <p:nvPr/>
        </p:nvSpPr>
        <p:spPr>
          <a:xfrm>
            <a:off x="6553505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6991502" y="2880360"/>
            <a:ext cx="190195" cy="171907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276795" y="2813609"/>
            <a:ext cx="1257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Observe (관찰)</a:t>
            </a:r>
            <a:endParaRPr lang="en-US" sz="1300" dirty="0"/>
          </a:p>
        </p:txBody>
      </p:sp>
      <p:sp>
        <p:nvSpPr>
          <p:cNvPr id="43" name="Shape 31"/>
          <p:cNvSpPr/>
          <p:nvPr/>
        </p:nvSpPr>
        <p:spPr>
          <a:xfrm>
            <a:off x="6590995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2"/>
          <p:cNvSpPr/>
          <p:nvPr/>
        </p:nvSpPr>
        <p:spPr>
          <a:xfrm>
            <a:off x="6590995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3"/>
          <p:cNvSpPr txBox="1"/>
          <p:nvPr/>
        </p:nvSpPr>
        <p:spPr>
          <a:xfrm>
            <a:off x="6743700" y="3539642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"실행 결과는 무엇인가?"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6590995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6590995" y="427573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도구의 실행 결과 수집</a:t>
            </a:r>
            <a:endParaRPr lang="en-US" sz="1100" dirty="0"/>
          </a:p>
        </p:txBody>
      </p:sp>
      <p:sp>
        <p:nvSpPr>
          <p:cNvPr id="48" name="Text 36"/>
          <p:cNvSpPr txBox="1"/>
          <p:nvPr/>
        </p:nvSpPr>
        <p:spPr>
          <a:xfrm>
            <a:off x="6590995" y="456651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반환된 데이터/문서 독해</a:t>
            </a:r>
            <a:endParaRPr lang="en-US" sz="1100" dirty="0"/>
          </a:p>
        </p:txBody>
      </p:sp>
      <p:sp>
        <p:nvSpPr>
          <p:cNvPr id="49" name="Text 37"/>
          <p:cNvSpPr txBox="1"/>
          <p:nvPr/>
        </p:nvSpPr>
        <p:spPr>
          <a:xfrm>
            <a:off x="6590995" y="4857293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정보의 충분성 판단</a:t>
            </a:r>
            <a:endParaRPr lang="en-US" sz="11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9301277" y="2575865"/>
            <a:ext cx="2318918" cy="2954426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9501530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39"/>
          <p:cNvSpPr/>
          <p:nvPr/>
        </p:nvSpPr>
        <p:spPr>
          <a:xfrm>
            <a:off x="9501530" y="2813609"/>
            <a:ext cx="304495" cy="30449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0"/>
          <p:cNvSpPr/>
          <p:nvPr/>
        </p:nvSpPr>
        <p:spPr>
          <a:xfrm>
            <a:off x="9463126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01123" y="2880360"/>
            <a:ext cx="171907" cy="171907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168128" y="2813609"/>
            <a:ext cx="10954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(재생각)</a:t>
            </a:r>
            <a:endParaRPr lang="en-US" sz="1300" dirty="0"/>
          </a:p>
        </p:txBody>
      </p:sp>
      <p:sp>
        <p:nvSpPr>
          <p:cNvPr id="56" name="Shape 42"/>
          <p:cNvSpPr/>
          <p:nvPr/>
        </p:nvSpPr>
        <p:spPr>
          <a:xfrm>
            <a:off x="9501530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3"/>
          <p:cNvSpPr/>
          <p:nvPr/>
        </p:nvSpPr>
        <p:spPr>
          <a:xfrm>
            <a:off x="9501530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4"/>
          <p:cNvSpPr txBox="1"/>
          <p:nvPr/>
        </p:nvSpPr>
        <p:spPr>
          <a:xfrm>
            <a:off x="9653321" y="3539642"/>
            <a:ext cx="1946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"충분한가? 다시 반복할까?"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9501530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9501530" y="427573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 시: 다음 Plan 수립</a:t>
            </a:r>
            <a:endParaRPr lang="en-US" sz="1100" dirty="0"/>
          </a:p>
        </p:txBody>
      </p:sp>
      <p:sp>
        <p:nvSpPr>
          <p:cNvPr id="61" name="Text 47"/>
          <p:cNvSpPr txBox="1"/>
          <p:nvPr/>
        </p:nvSpPr>
        <p:spPr>
          <a:xfrm>
            <a:off x="9501530" y="456651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충분 시: 최종 답변 생성</a:t>
            </a:r>
            <a:endParaRPr lang="en-US" sz="1100" dirty="0"/>
          </a:p>
        </p:txBody>
      </p:sp>
      <p:sp>
        <p:nvSpPr>
          <p:cNvPr id="62" name="Text 48"/>
          <p:cNvSpPr txBox="1"/>
          <p:nvPr/>
        </p:nvSpPr>
        <p:spPr>
          <a:xfrm>
            <a:off x="9501530" y="485729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순환 루프(Loop) 결정</a:t>
            </a:r>
            <a:endParaRPr lang="en-US" sz="1100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챗봇 UI 구성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대화형 인터페이스를 구현하는 3가지 핵심 컴포넌트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571500" y="1723644"/>
            <a:ext cx="3492094" cy="47338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3866998"/>
            <a:ext cx="1333195" cy="247802"/>
          </a:xfrm>
          <a:prstGeom prst="roundRect">
            <a:avLst>
              <a:gd name="adj" fmla="val 3690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0898" y="3866998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Interaction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st.chat_input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09244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질문을 받는 입구"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l="-1911" r="-1911"/>
          <a:stretch/>
        </p:blipFill>
        <p:spPr>
          <a:xfrm>
            <a:off x="809244" y="5134356"/>
            <a:ext cx="133502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42746" y="5134356"/>
            <a:ext cx="29626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고정 UI: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화면 스크롤과 무관하게 항상 하단에 위치하여 자연스러운 채팅 UX 제공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5676595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3544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트리거: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Enter 입력 시 앱이 자동으로 Rerun되며 입력값이 변수에 저장됨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4349801" y="1723644"/>
            <a:ext cx="3492094" cy="473384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3866998"/>
            <a:ext cx="1466698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4558284" y="3866998"/>
            <a:ext cx="152613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Conversation Flow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st.chat_message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87545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587545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"대화의 맥락을 시각화"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4587545" y="5134356"/>
            <a:ext cx="142646" cy="1143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31106" y="5134356"/>
            <a:ext cx="2953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구분: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role="user" / "assistant" 파라미터로 아바타와 스타일 자동 적용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87545" y="5676595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01845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히스토리 렌더링: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st.session_state에 저장된 이전 대화 기록을 루프(for)로 순회하며 표시</a:t>
            </a:r>
            <a:endParaRPr lang="en-US" sz="11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8128102" y="1723644"/>
            <a:ext cx="3492094" cy="4733849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3866998"/>
            <a:ext cx="1324051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2"/>
          <p:cNvSpPr/>
          <p:nvPr/>
        </p:nvSpPr>
        <p:spPr>
          <a:xfrm>
            <a:off x="8337499" y="3866998"/>
            <a:ext cx="13816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&amp; Debug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8365846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8365846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"메타 정보와 제어 패널"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65846" y="5134356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80146" y="5134356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영역 활용: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메인 대화 흐름을 방해하지 않고 RAG 검색 근거(Source)나 설정값 표시</a:t>
            </a:r>
            <a:endParaRPr lang="en-US" sz="11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65846" y="5676595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480146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디버깅 정보: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라우팅 결과(CSV vs MD), 생성된 SQL 등 내부 로직 확인용 UI 제공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580644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F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/>
          <p:cNvSpPr/>
          <p:nvPr/>
        </p:nvSpPr>
        <p:spPr>
          <a:xfrm>
            <a:off x="580644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0"/>
          <p:cNvSpPr/>
          <p:nvPr/>
        </p:nvSpPr>
        <p:spPr>
          <a:xfrm>
            <a:off x="1175004" y="2014423"/>
            <a:ext cx="2286000" cy="1333195"/>
          </a:xfrm>
          <a:prstGeom prst="roundRect">
            <a:avLst>
              <a:gd name="adj" fmla="val 7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9">
            <a:alphaModFix amt="30000"/>
          </a:blip>
          <a:srcRect t="-417" b="-417"/>
          <a:stretch/>
        </p:blipFill>
        <p:spPr>
          <a:xfrm>
            <a:off x="1279246" y="2119579"/>
            <a:ext cx="1245413" cy="57607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>
            <a:alphaModFix amt="30000"/>
          </a:blip>
          <a:srcRect t="-411" b="-411"/>
          <a:stretch/>
        </p:blipFill>
        <p:spPr>
          <a:xfrm>
            <a:off x="2525573" y="2223821"/>
            <a:ext cx="830275" cy="57607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1279246" y="2900477"/>
            <a:ext cx="2076602" cy="342900"/>
          </a:xfrm>
          <a:prstGeom prst="roundRect">
            <a:avLst>
              <a:gd name="adj" fmla="val 88889"/>
            </a:avLst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2"/>
          <p:cNvSpPr txBox="1"/>
          <p:nvPr/>
        </p:nvSpPr>
        <p:spPr>
          <a:xfrm>
            <a:off x="1393546" y="2900477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입력하세요...</a:t>
            </a:r>
            <a:endParaRPr lang="en-US" sz="9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127248" y="3014777"/>
            <a:ext cx="114300" cy="114300"/>
          </a:xfrm>
          <a:prstGeom prst="rect">
            <a:avLst/>
          </a:prstGeom>
        </p:spPr>
      </p:pic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2"/>
          <a:srcRect l="-1923" r="-1923"/>
          <a:stretch/>
        </p:blipFill>
        <p:spPr>
          <a:xfrm>
            <a:off x="3137306" y="3100730"/>
            <a:ext cx="123444" cy="190195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4358945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4"/>
          <p:cNvSpPr/>
          <p:nvPr/>
        </p:nvSpPr>
        <p:spPr>
          <a:xfrm>
            <a:off x="4358945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5"/>
          <p:cNvSpPr/>
          <p:nvPr/>
        </p:nvSpPr>
        <p:spPr>
          <a:xfrm>
            <a:off x="4953305" y="1919326"/>
            <a:ext cx="2286000" cy="1524305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3"/>
          <a:srcRect l="-9" r="-9"/>
          <a:stretch/>
        </p:blipFill>
        <p:spPr>
          <a:xfrm>
            <a:off x="6057900" y="2072030"/>
            <a:ext cx="1028700" cy="295351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6172200" y="2147926"/>
            <a:ext cx="96743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연도별 매출 추이는?</a:t>
            </a:r>
            <a:endParaRPr lang="en-US" sz="800" dirty="0"/>
          </a:p>
        </p:txBody>
      </p:sp>
      <p:sp>
        <p:nvSpPr>
          <p:cNvPr id="53" name="Shape 37"/>
          <p:cNvSpPr/>
          <p:nvPr/>
        </p:nvSpPr>
        <p:spPr>
          <a:xfrm>
            <a:off x="7125005" y="2195474"/>
            <a:ext cx="190195" cy="190195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7177126" y="2243023"/>
            <a:ext cx="85954" cy="95098"/>
          </a:xfrm>
          <a:prstGeom prst="rect">
            <a:avLst/>
          </a:prstGeom>
        </p:spPr>
      </p:pic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5"/>
          <a:srcRect t="-36" b="-36"/>
          <a:stretch/>
        </p:blipFill>
        <p:spPr>
          <a:xfrm>
            <a:off x="5105095" y="2481682"/>
            <a:ext cx="1442009" cy="314554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5229454" y="2566721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2016년 매출이 가장 높습니다.</a:t>
            </a:r>
            <a:endParaRPr lang="en-US" sz="800" dirty="0"/>
          </a:p>
        </p:txBody>
      </p:sp>
      <p:sp>
        <p:nvSpPr>
          <p:cNvPr id="57" name="Shape 39"/>
          <p:cNvSpPr/>
          <p:nvPr/>
        </p:nvSpPr>
        <p:spPr>
          <a:xfrm>
            <a:off x="4886554" y="2614270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16"/>
          <a:srcRect l="-1923" r="-1923"/>
          <a:stretch/>
        </p:blipFill>
        <p:spPr>
          <a:xfrm>
            <a:off x="4919472" y="2661818"/>
            <a:ext cx="123444" cy="95098"/>
          </a:xfrm>
          <a:prstGeom prst="rect">
            <a:avLst/>
          </a:prstGeom>
        </p:spPr>
      </p:pic>
      <p:sp>
        <p:nvSpPr>
          <p:cNvPr id="59" name="Shape 40"/>
          <p:cNvSpPr/>
          <p:nvPr/>
        </p:nvSpPr>
        <p:spPr>
          <a:xfrm>
            <a:off x="8137246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1"/>
          <p:cNvSpPr/>
          <p:nvPr/>
        </p:nvSpPr>
        <p:spPr>
          <a:xfrm>
            <a:off x="8137246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2"/>
          <p:cNvSpPr/>
          <p:nvPr/>
        </p:nvSpPr>
        <p:spPr>
          <a:xfrm>
            <a:off x="8635594" y="1919326"/>
            <a:ext cx="2476195" cy="1524305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3"/>
          <p:cNvSpPr/>
          <p:nvPr/>
        </p:nvSpPr>
        <p:spPr>
          <a:xfrm>
            <a:off x="8645652" y="1928470"/>
            <a:ext cx="761695" cy="1505102"/>
          </a:xfrm>
          <a:prstGeom prst="roundRect">
            <a:avLst>
              <a:gd name="adj" fmla="val 2401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44"/>
          <p:cNvSpPr/>
          <p:nvPr/>
        </p:nvSpPr>
        <p:spPr>
          <a:xfrm>
            <a:off x="9398203" y="1928470"/>
            <a:ext cx="9144" cy="1505102"/>
          </a:xfrm>
          <a:prstGeom prst="roundRect">
            <a:avLst>
              <a:gd name="adj" fmla="val 200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45"/>
          <p:cNvSpPr txBox="1"/>
          <p:nvPr/>
        </p:nvSpPr>
        <p:spPr>
          <a:xfrm>
            <a:off x="8740750" y="2024482"/>
            <a:ext cx="6382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DEBUG INFO</a:t>
            </a:r>
            <a:endParaRPr lang="en-US" sz="800" dirty="0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7"/>
          <a:srcRect t="-366" b="-366"/>
          <a:stretch/>
        </p:blipFill>
        <p:spPr>
          <a:xfrm>
            <a:off x="8740750" y="2262226"/>
            <a:ext cx="562356" cy="57607"/>
          </a:xfrm>
          <a:prstGeom prst="rect">
            <a:avLst/>
          </a:prstGeom>
        </p:spPr>
      </p:pic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17"/>
          <a:srcRect t="-366" b="-366"/>
          <a:stretch/>
        </p:blipFill>
        <p:spPr>
          <a:xfrm>
            <a:off x="8740750" y="2395728"/>
            <a:ext cx="562356" cy="57607"/>
          </a:xfrm>
          <a:prstGeom prst="rect">
            <a:avLst/>
          </a:prstGeom>
        </p:spPr>
      </p:pic>
      <p:pic>
        <p:nvPicPr>
          <p:cNvPr id="67" name="Image 19" descr="preencoded.png"/>
          <p:cNvPicPr>
            <a:picLocks noChangeAspect="1"/>
          </p:cNvPicPr>
          <p:nvPr/>
        </p:nvPicPr>
        <p:blipFill>
          <a:blip r:embed="rId18"/>
          <a:srcRect t="-421" b="-421"/>
          <a:stretch/>
        </p:blipFill>
        <p:spPr>
          <a:xfrm>
            <a:off x="8740750" y="2529230"/>
            <a:ext cx="393192" cy="57607"/>
          </a:xfrm>
          <a:prstGeom prst="rect">
            <a:avLst/>
          </a:prstGeom>
        </p:spPr>
      </p:pic>
      <p:pic>
        <p:nvPicPr>
          <p:cNvPr id="68" name="Image 20" descr="preencoded.png"/>
          <p:cNvPicPr>
            <a:picLocks noChangeAspect="1"/>
          </p:cNvPicPr>
          <p:nvPr/>
        </p:nvPicPr>
        <p:blipFill>
          <a:blip r:embed="rId17"/>
          <a:srcRect t="-366" b="-366"/>
          <a:stretch/>
        </p:blipFill>
        <p:spPr>
          <a:xfrm>
            <a:off x="8740750" y="2661818"/>
            <a:ext cx="562356" cy="57607"/>
          </a:xfrm>
          <a:prstGeom prst="rect">
            <a:avLst/>
          </a:prstGeom>
        </p:spPr>
      </p:pic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17"/>
          <a:srcRect t="-366" b="-366"/>
          <a:stretch/>
        </p:blipFill>
        <p:spPr>
          <a:xfrm>
            <a:off x="8740750" y="2795321"/>
            <a:ext cx="562356" cy="57607"/>
          </a:xfrm>
          <a:prstGeom prst="rect">
            <a:avLst/>
          </a:prstGeom>
        </p:spPr>
      </p:pic>
      <p:sp>
        <p:nvSpPr>
          <p:cNvPr id="70" name="Shape 46"/>
          <p:cNvSpPr/>
          <p:nvPr/>
        </p:nvSpPr>
        <p:spPr>
          <a:xfrm>
            <a:off x="9407347" y="1928470"/>
            <a:ext cx="1695298" cy="1505102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47"/>
          <p:cNvSpPr txBox="1"/>
          <p:nvPr/>
        </p:nvSpPr>
        <p:spPr>
          <a:xfrm>
            <a:off x="9774936" y="2395728"/>
            <a:ext cx="962863" cy="571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Chat Area</a:t>
            </a:r>
            <a:endParaRPr lang="en-US" sz="800" dirty="0"/>
          </a:p>
        </p:txBody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1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아키텍처 요약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분석부터 사용자 답변까지 이어지는 End-to-End 파이프라인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3129077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6132881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9198864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571500" y="2622499"/>
            <a:ext cx="2323490" cy="2860243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79953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861158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84932"/>
            <a:ext cx="18141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Routing (질문 분류)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51860"/>
            <a:ext cx="1923898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771754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923544" y="3682289"/>
            <a:ext cx="19997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의도는 무엇인가?"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25196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513478"/>
            <a:ext cx="2001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기반 라우팅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57623"/>
            <a:ext cx="20619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정량(SQL) vs 정성(검색) 분류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0854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의도 파악 및 도구 매핑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3485693" y="2622499"/>
            <a:ext cx="2414016" cy="2860243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5946" y="3279953"/>
            <a:ext cx="20189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3685946" y="2861158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3647542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5539" y="2884932"/>
            <a:ext cx="192755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(정보 검색)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5946" y="3451860"/>
            <a:ext cx="2018995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3685946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3838651" y="3682289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정보를 찾을까?"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3685946" y="4251960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5946" y="4513478"/>
            <a:ext cx="21131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경로: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DuckDB (SQL 실행)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3685946" y="4757623"/>
            <a:ext cx="2100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경로: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ChromaDB (벡터)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85946" y="5000854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문서/데이터셋 추출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6"/>
          <a:srcRect t="-5" b="-5"/>
          <a:stretch/>
        </p:blipFill>
        <p:spPr>
          <a:xfrm>
            <a:off x="6490411" y="2622499"/>
            <a:ext cx="2475281" cy="2860243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690665" y="3279953"/>
            <a:ext cx="20766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6690665" y="2861158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/>
          <p:nvPr/>
        </p:nvSpPr>
        <p:spPr>
          <a:xfrm>
            <a:off x="6652260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7090258" y="2884932"/>
            <a:ext cx="199522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Synthesis (답변 생성)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690665" y="3451860"/>
            <a:ext cx="2076602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690665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6842455" y="3682289"/>
            <a:ext cx="18589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답변을 구성할까?"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6690665" y="4251960"/>
            <a:ext cx="22430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로직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690665" y="4513478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LLM에 검색 Context 주입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6690665" y="4757623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환각(Hallucination) 방지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6690665" y="5000854"/>
            <a:ext cx="22430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 답변 및 인사이트 생성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9556394" y="2622499"/>
            <a:ext cx="2063801" cy="2860243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756648" y="3279953"/>
            <a:ext cx="1666951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/>
          <p:cNvSpPr/>
          <p:nvPr/>
        </p:nvSpPr>
        <p:spPr>
          <a:xfrm>
            <a:off x="9756648" y="2861158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/>
          <p:nvPr/>
        </p:nvSpPr>
        <p:spPr>
          <a:xfrm>
            <a:off x="9718243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10156241" y="2884932"/>
            <a:ext cx="13716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(Streamlit)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756648" y="3451860"/>
            <a:ext cx="1666951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9756648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 txBox="1"/>
          <p:nvPr/>
        </p:nvSpPr>
        <p:spPr>
          <a:xfrm>
            <a:off x="9908438" y="3682289"/>
            <a:ext cx="13459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전달할까?"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9756648" y="4251960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756648" y="4513478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 채팅 인터페이스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9756648" y="4757623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근거(Source) 시각화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9756648" y="5000854"/>
            <a:ext cx="18617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히스토리 및 맥락 유지</a:t>
            </a:r>
            <a:endParaRPr lang="en-US" sz="10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운영·모니터링·보안 베스트 프랙티스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00607"/>
            <a:ext cx="11239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안정적이고 신뢰할 수 있는 RAG 챗봇 서비스를 위한 4가지 핵심 원칙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l="-5" r="-5"/>
          <a:stretch/>
        </p:blipFill>
        <p:spPr>
          <a:xfrm>
            <a:off x="571500" y="2295144"/>
            <a:ext cx="5381244" cy="165232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295144"/>
            <a:ext cx="57607" cy="1633118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47649" y="25722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985723" y="2723998"/>
            <a:ext cx="256946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71854" y="2572207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모니터링 (Monitoring)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571854" y="2943454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응답의 정확도, 지연 시간(Latency), 검색 히트율을 실시간으로 추적하고 데이터 드리프트(Drift)를 감지하여 서비스 품질을 유지합니다.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l="-5" r="-5"/>
          <a:stretch/>
        </p:blipFill>
        <p:spPr>
          <a:xfrm>
            <a:off x="6238951" y="2295144"/>
            <a:ext cx="5381244" cy="165232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38951" y="2295144"/>
            <a:ext cx="57607" cy="1633118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15100" y="25722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805" y="272399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39305" y="2572207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재학습 및 재임베딩 (Retraining)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239305" y="2943454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정보를 반영하기 위해 데이터 및 문서의 갱신 주기를 수립하고, 벡터 DB 임베딩 업데이트와 모델 배포 과정을 자동화합니다.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rcRect l="-5" r="-5"/>
          <a:stretch/>
        </p:blipFill>
        <p:spPr>
          <a:xfrm>
            <a:off x="571500" y="4233672"/>
            <a:ext cx="5381244" cy="165232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71500" y="4233672"/>
            <a:ext cx="57607" cy="1633118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847649" y="450982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72007" y="4662526"/>
            <a:ext cx="286207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571854" y="4509821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프라이버시 (Security)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571854" y="4881982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권한에 따른 문서 접근 제어(Filter)를 구현하고, PII(개인식별정보) 마스킹 처리를 통해 민감한 데이터 유출을 방지합니다.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2"/>
          <a:srcRect l="-5" r="-5"/>
          <a:stretch/>
        </p:blipFill>
        <p:spPr>
          <a:xfrm>
            <a:off x="6238951" y="4233672"/>
            <a:ext cx="5381244" cy="165232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38951" y="4233672"/>
            <a:ext cx="57607" cy="1633118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15100" y="450982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681521" y="4662526"/>
            <a:ext cx="200254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39305" y="4509821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노출 및 투명성 (Citation)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239305" y="4881982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생성 시 활용된 원문 문서의 출처 링크나 인용구를 명시하여 사용자가 정보의 진위 여부를 직접 확인할 수 있도록 합니다.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</TotalTime>
  <Words>6945</Words>
  <Application>Microsoft Macintosh PowerPoint</Application>
  <PresentationFormat>와이드스크린</PresentationFormat>
  <Paragraphs>1164</Paragraphs>
  <Slides>49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6" baseType="lpstr">
      <vt:lpstr>JetBrains Mono</vt:lpstr>
      <vt:lpstr>Noto Sans KR</vt:lpstr>
      <vt:lpstr>ui-monospace</vt:lpstr>
      <vt:lpstr>Arial</vt:lpstr>
      <vt:lpstr>Consolas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진석 김</cp:lastModifiedBy>
  <cp:revision>2</cp:revision>
  <dcterms:created xsi:type="dcterms:W3CDTF">2026-03-21T07:58:43Z</dcterms:created>
  <dcterms:modified xsi:type="dcterms:W3CDTF">2026-03-22T11:18:07Z</dcterms:modified>
</cp:coreProperties>
</file>