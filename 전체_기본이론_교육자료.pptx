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업로드된 소개자료 내용 구조 참고: 데이터에서 AI까지_교육 소개자료_260303.pptx
- 공식 문서 링크 분류는 pandas/scikit-learn/SHAP/LangChain/LangGraph/Streamlit/DuckDB/Chroma 공식 문서를 기반으로 구성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업로드된 소개자료의 메시지(문제 구조화, 가설→검증→결론, 비기술자 커뮤니케이션) 기반으로 재구성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업로드된 소개자료: “데이터 분석의 핵심: 질문과 흐름”, “예측 모델의 핵심: 예측은 결정을 위한 도구”, “RAG Agent의 핵심: 분석 결과를 서비스로”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업로드된 소개자료: “EDA는 그저 그래프를 그리는 것이 아닙니다.”
- https://pandas.pydata.org/docs/getting_started/index.html
- https://pandas.pydata.org/docs/user_guide/10min.html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업로드된 소개자료: 매출 해석, 세그먼트별 차이, 질문 설계법 메시지 기반 재구성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업로드된 소개자료: “예측은 결정을 위한 도구”, What-if/ROI 메시지 참고
- https://scikit-learn.org/stable/getting_started.html
- https://scikit-learn.org/stable/modules/cross_validation.html
- https://scikit-learn.org/stable/modules/model_evaluation.html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https://scikit-learn.org/stable/modules/generated/sklearn.model_selection.TimeSeriesSplit.html
- https://scikit-learn.org/stable/modules/cross_validation.html
- https://shap.readthedocs.io/
- https://shap.readthedocs.io/en/latest/example_notebooks/overviews/An%20introduction%20to%20explainable%20AI%20with%20Shapley%20values.html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업로드된 소개자료: “RAG 구성: 문서 청킹·저장·검색 + 표 데이터 검색(Text-to-SQL) 연결”, “에이전트: 질문에 따라 문서/RDB를 고르는 라우팅”
- https://docs.langchain.com/oss/python/learn
- https://docs.langchain.com/oss/python/langgraph/overview
- https://duckdb.org/docs/stable/sql/introduction.html
- https://docs.trychroma.com/docs/overview/introduction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https://docs.langchain.com/oss/python/langchain/agents
- https://docs.langchain.com/oss/python/langgraph/quickstart
- https://docs.streamlit.io/get-started
- https://docs.streamlit.io/get-started/fundamentals/main-concepts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업로드된 소개자료의 Business Skill 항목(진단 → 원인 → 우선순위 → 실행안, Executive Summary) 기반 운영 제안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https://pandas.pydata.org/docs/getting_started/index.html
- https://pandas.pydata.org/docs/user_guide/10min.html
- https://pandas.pydata.org/docs/user_guide/index.html
- https://scikit-learn.org/stable/getting_started.html
- https://scikit-learn.org/stable/modules/cross_validation.html
- https://scikit-learn.org/stable/modules/model_evaluation.html
- https://shap.readthedocs.io/
- https://docs.langchain.com/oss/python/learn
- https://docs.langchain.com/oss/python/langgraph/overview
- https://docs.streamlit.io/get-started
- https://duckdb.org/docs/stable/sql/introduction.html
- https://docs.trychroma.com/docs/overview/introduction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본 슬라이드는 함께 제공되는 Markdown 자료 구성 안내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5DA7"/>
          </a:solidFill>
          <a:ln w="12700">
            <a:solidFill>
              <a:srgbClr val="0E5D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데이터에서 AI까지 | 기본 이론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822960"/>
            <a:ext cx="3520440" cy="4526280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1097280"/>
            <a:ext cx="2880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2240280"/>
            <a:ext cx="2880360" cy="932688"/>
          </a:xfrm>
          <a:prstGeom prst="roundRect">
            <a:avLst>
              <a:gd name="adj" fmla="val 7843"/>
            </a:avLst>
          </a:prstGeom>
          <a:solidFill>
            <a:srgbClr val="EAF3FF"/>
          </a:solidFill>
          <a:ln w="12700">
            <a:solidFill>
              <a:srgbClr val="0E5D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83880" y="3383280"/>
            <a:ext cx="2880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3444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데이터에서 AI까지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기본 이론 교육자료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04672" y="26517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노트북 실습 전에 공통으로 잡아두는 이론 프레임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A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질문 설계 → 예측 판단 → RAG 서비스화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66760" y="1298448"/>
            <a:ext cx="694944" cy="310896"/>
          </a:xfrm>
          <a:prstGeom prst="roundRect">
            <a:avLst>
              <a:gd name="adj" fmla="val 23529"/>
            </a:avLst>
          </a:prstGeom>
          <a:solidFill>
            <a:srgbClr val="0E5DA7"/>
          </a:solidFill>
          <a:ln w="12700">
            <a:solidFill>
              <a:srgbClr val="0E5D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39912" y="13578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366760" y="2441448"/>
            <a:ext cx="694944" cy="310896"/>
          </a:xfrm>
          <a:prstGeom prst="roundRect">
            <a:avLst>
              <a:gd name="adj" fmla="val 23529"/>
            </a:avLst>
          </a:prstGeom>
          <a:solidFill>
            <a:srgbClr val="1FA774"/>
          </a:solidFill>
          <a:ln w="12700">
            <a:solidFill>
              <a:srgbClr val="1FA7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9912" y="25008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66760" y="3584448"/>
            <a:ext cx="694944" cy="310896"/>
          </a:xfrm>
          <a:prstGeom prst="roundRect">
            <a:avLst>
              <a:gd name="adj" fmla="val 23529"/>
            </a:avLst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36438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235440" y="130759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433"/>
                </a:solidFill>
              </a:rPr>
              <a:t>EDA와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D2433"/>
                </a:solidFill>
              </a:rPr>
              <a:t>질문 설계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235440" y="245059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433"/>
                </a:solidFill>
              </a:rPr>
              <a:t>예측과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D2433"/>
                </a:solidFill>
              </a:rPr>
              <a:t>의사결정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235440" y="359359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433"/>
                </a:solidFill>
              </a:rPr>
              <a:t>RAG와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D2433"/>
                </a:solidFill>
              </a:rPr>
              <a:t>서비스화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이 수강생 집단에 맞는 이론 전달 방식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비즈니스 이해도는 높고 구현 숙련도는 편차가 큰 실무형 혼합반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618488"/>
            <a:ext cx="310896" cy="310896"/>
          </a:xfrm>
          <a:prstGeom prst="ellipse">
            <a:avLst/>
          </a:prstGeom>
          <a:solidFill>
            <a:srgbClr val="0E5DA7"/>
          </a:solidFill>
          <a:ln w="12700">
            <a:solidFill>
              <a:srgbClr val="0E5D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58191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왜 너무 초급으로 가면 안 되는가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1965960"/>
            <a:ext cx="300837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컨설팅·전략·AX·PM 경험이 많아 “왜 이 분석을 하는가”는 빠르게 이해합니다. 단순 용어 풀이만 길어지면 집중도가 떨어집니다.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618488"/>
            <a:ext cx="310896" cy="310896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58191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왜 너무 구현 중심으로 밀면 안 되는가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6864" y="1965960"/>
            <a:ext cx="291693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Python/모델링 숙련도는 개인차가 큽니다. 줄 단위 코드 설명만 길어지면 일부는 놓치고, 일부는 지루해집니다.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18704" y="1417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19872" y="1618488"/>
            <a:ext cx="310896" cy="310896"/>
          </a:xfrm>
          <a:prstGeom prst="ellipse">
            <a:avLst/>
          </a:prstGeom>
          <a:solidFill>
            <a:srgbClr val="1FA774"/>
          </a:solidFill>
          <a:ln w="12700">
            <a:solidFill>
              <a:srgbClr val="1FA7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13064" y="158191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그래서 필요한 방식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74736" y="1965960"/>
            <a:ext cx="3008376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수식은 최소화하고, 개념은 선명하게 설명한 뒤 곧바로 노트북 코드와 결과 해석으로 연결합니다.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10698480" cy="2240280"/>
          </a:xfrm>
          <a:prstGeom prst="roundRect">
            <a:avLst>
              <a:gd name="adj" fmla="val 3265"/>
            </a:avLst>
          </a:prstGeom>
          <a:solidFill>
            <a:srgbClr val="F3F5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</a:rPr>
              <a:t>권장 비중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4069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DA7"/>
                </a:solidFill>
              </a:rPr>
              <a:t>이론 20%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74720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A774"/>
                </a:solidFill>
              </a:rPr>
              <a:t>실무 해석 40%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5AF8"/>
                </a:solidFill>
              </a:rPr>
              <a:t>코드 연결 40%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098280" y="3593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433"/>
                </a:solidFill>
              </a:rPr>
              <a:t>핵심 질문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778240" y="3977640"/>
            <a:ext cx="21945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E5D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 분석/모델이 어떤 결정을 돕는가?
</a:t>
            </a:r>
            <a:pPr indent="0" marL="0">
              <a:buNone/>
            </a:pPr>
            <a:r>
              <a:rPr lang="en-US" sz="1300" b="1" dirty="0">
                <a:solidFill>
                  <a:srgbClr val="0E5D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 결과를 경영진 언어로 바꾸면 어떻게 말할까?
</a:t>
            </a:r>
            <a:pPr indent="0" marL="0">
              <a:buNone/>
            </a:pPr>
            <a:r>
              <a:rPr lang="en-US" sz="1300" b="1" dirty="0">
                <a:solidFill>
                  <a:srgbClr val="0E5D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실무에서 어떤 실수를 가장 많이 하는가?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전체 프레임: 질문 설계에서 서비스화까지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3개 노트북이 각각 다른 “역할”을 맡도록 설명해야 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847088"/>
            <a:ext cx="310896" cy="310896"/>
          </a:xfrm>
          <a:prstGeom prst="ellipse">
            <a:avLst/>
          </a:prstGeom>
          <a:solidFill>
            <a:srgbClr val="0E5DA7"/>
          </a:solidFill>
          <a:ln w="12700">
            <a:solidFill>
              <a:srgbClr val="0E5D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10512"/>
            <a:ext cx="1911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1 | Diagnose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2194560"/>
            <a:ext cx="2185416" cy="1399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데이터 구조를 이해하고, 매출·성장 둔화의 원인을 질문 중심으로 좁혀갑니다.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출력: 핵심 질문, 원인 가설, 세그먼트별 인사이트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69080" y="16459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70248" y="1847088"/>
            <a:ext cx="310896" cy="310896"/>
          </a:xfrm>
          <a:prstGeom prst="ellipse">
            <a:avLst/>
          </a:prstGeom>
          <a:solidFill>
            <a:srgbClr val="1FA774"/>
          </a:solidFill>
          <a:ln w="12700">
            <a:solidFill>
              <a:srgbClr val="1FA7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10512"/>
            <a:ext cx="1911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2 | Predict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25112" y="2194560"/>
            <a:ext cx="2185416" cy="1399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미래를 맞히는 게임이 아니라 선택지 비교 도구로 예측 모델을 사용합니다.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출력: 검증된 모델, SHAP 해석, What-if / ROI 시나리오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0" y="16459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16368" y="1847088"/>
            <a:ext cx="310896" cy="310896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1810512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3 | Operationalize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71232" y="2194560"/>
            <a:ext cx="3145536" cy="1399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분석 결과를 문서·표 자산으로 저장하고, 자연어 질문으로 다시 꺼내 쓰는 구조를 만듭니다.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출력: RAG 챗봇, 라우팅 로직, Streamlit 데모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97280" y="425196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03B66"/>
          </a:solidFill>
          <a:ln w="12700">
            <a:solidFill>
              <a:srgbClr val="103B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4507992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같은 데이터라도 ① 현재를 설명하고 ② 미래를 비교하고 ③ 반복 사용 가능한 서비스로 바꾸는 순간 가치가 커집니다.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1 기본 이론 | EDA는 차트 만들기가 아니라 질문 설계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탐색적 분석의 목적은 “이 데이터로 무엇을 결정할 것인가?”를 선명하게 만드는 것입니다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37947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1709928"/>
            <a:ext cx="310896" cy="310896"/>
          </a:xfrm>
          <a:prstGeom prst="ellipse">
            <a:avLst/>
          </a:prstGeom>
          <a:solidFill>
            <a:srgbClr val="0E5DA7"/>
          </a:solidFill>
          <a:ln w="12700">
            <a:solidFill>
              <a:srgbClr val="0E5D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673352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개념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3272" y="2057400"/>
            <a:ext cx="3282696" cy="2770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지표를 먼저 분해한다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매출 = 거래 수 × 객단가처럼 비즈니스 지표를 구조화해야 원인을 설명할 수 있습니다.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평균보다 세그먼트를 본다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전체 평균은 좋아 보여도 특정 도시·타입·클러스터에서 둔화가 숨어 있을 수 있습니다.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관찰에서 끝내지 않고 가설로 이동한다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“왜 이런 패턴이 나왔는가?”를 검증 가능한 질문으로 바꿔야 합니다.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983480" y="1755648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8072" y="18470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433"/>
                </a:solidFill>
              </a:rPr>
              <a:t>데이터 구조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48072" y="2039112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678"/>
                </a:solidFill>
              </a:rPr>
              <a:t>컬럼·단위·기간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897880" y="2304288"/>
            <a:ext cx="0" cy="146304"/>
          </a:xfrm>
          <a:prstGeom prst="line">
            <a:avLst/>
          </a:prstGeom>
          <a:noFill/>
          <a:ln w="12700">
            <a:solidFill>
              <a:srgbClr val="C5D9F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83480" y="246888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8072" y="25603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433"/>
                </a:solidFill>
              </a:rPr>
              <a:t>지표 정의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48072" y="2752344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678"/>
                </a:solidFill>
              </a:rPr>
              <a:t>매출·거래·객단가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897880" y="3017520"/>
            <a:ext cx="0" cy="146304"/>
          </a:xfrm>
          <a:prstGeom prst="line">
            <a:avLst/>
          </a:prstGeom>
          <a:noFill/>
          <a:ln w="12700">
            <a:solidFill>
              <a:srgbClr val="C5D9F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83480" y="3182112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32735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433"/>
                </a:solidFill>
              </a:rPr>
              <a:t>패턴 관찰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48072" y="3465576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678"/>
                </a:solidFill>
              </a:rPr>
              <a:t>요일·휴일·프로모션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897880" y="3730752"/>
            <a:ext cx="0" cy="146304"/>
          </a:xfrm>
          <a:prstGeom prst="line">
            <a:avLst/>
          </a:prstGeom>
          <a:noFill/>
          <a:ln w="12700">
            <a:solidFill>
              <a:srgbClr val="C5D9F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83480" y="3895344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8072" y="398678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433"/>
                </a:solidFill>
              </a:rPr>
              <a:t>가설 검증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48072" y="4178808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678"/>
                </a:solidFill>
              </a:rPr>
              <a:t>성장 둔화 원인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897880" y="4443984"/>
            <a:ext cx="0" cy="146304"/>
          </a:xfrm>
          <a:prstGeom prst="line">
            <a:avLst/>
          </a:prstGeom>
          <a:noFill/>
          <a:ln w="12700">
            <a:solidFill>
              <a:srgbClr val="C5D9F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983480" y="4608576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0E5DA7"/>
          </a:solidFill>
          <a:ln w="12700">
            <a:solidFill>
              <a:srgbClr val="0E5D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8072" y="470001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의사결정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48072" y="48920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EAF3FF"/>
                </a:solidFill>
              </a:rPr>
              <a:t>우선 세그먼트 선택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360920" y="1645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433"/>
                </a:solidFill>
              </a:rPr>
              <a:t>수업에서 강조할 한 문장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269480" y="205740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12700">
            <a:solidFill>
              <a:srgbClr val="0E5D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23957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3B66"/>
                </a:solidFill>
              </a:rPr>
              <a:t>“좋은 EDA는 많이 본 분석이 아니라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3B66"/>
                </a:solidFill>
              </a:rPr>
              <a:t>결정해야 할 질문을 좁힌 분석이다.”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315200" y="35661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433"/>
                </a:solidFill>
              </a:rPr>
              <a:t>노트북 연결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15200" y="3840480"/>
            <a:ext cx="36576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E5D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 데이터 소개 및 구조 파악
</a:t>
            </a:r>
            <a:pPr indent="0" marL="0">
              <a:buNone/>
            </a:pPr>
            <a:r>
              <a:rPr lang="en-US" sz="1400" b="1" dirty="0">
                <a:solidFill>
                  <a:srgbClr val="0E5D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 전체 매출 트렌드 시각화
</a:t>
            </a:r>
            <a:pPr indent="0" marL="0">
              <a:buNone/>
            </a:pPr>
            <a:r>
              <a:rPr lang="en-US" sz="1400" b="1" dirty="0">
                <a:solidFill>
                  <a:srgbClr val="0E5D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1.3~1.5 영향 요인·세그먼트·객단가 분석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1에서 꼭 잡아야 할 분석 프레임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해석이 막히는 수강생도 “질문 → 지표 → 세그먼트 → 가설” 순서로 따라오게 만듭니다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433"/>
                </a:solidFill>
              </a:rPr>
              <a:t>매출 해석의 기본 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5DA7"/>
                </a:solidFill>
              </a:rPr>
              <a:t>매출 = 거래 수 × 객단가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78992" y="2971800"/>
            <a:ext cx="28346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E5D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매출이 둔화됐다면 먼저 거래 수가 줄었는지 본다
</a:t>
            </a:r>
            <a:pPr indent="0" marL="0">
              <a:buNone/>
            </a:pPr>
            <a:r>
              <a:rPr lang="en-US" sz="1400" b="1" dirty="0">
                <a:solidFill>
                  <a:srgbClr val="0E5D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거래 수가 유지됐다면 객단가 변화 원인을 본다
</a:t>
            </a:r>
            <a:pPr indent="0" marL="0">
              <a:buNone/>
            </a:pPr>
            <a:r>
              <a:rPr lang="en-US" sz="1400" b="1" dirty="0">
                <a:solidFill>
                  <a:srgbClr val="0E5D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그 다음에 프로모션·요일·휴일·유가 같은 요인을 붙인다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60020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73168" y="1801368"/>
            <a:ext cx="310896" cy="310896"/>
          </a:xfrm>
          <a:prstGeom prst="ellipse">
            <a:avLst/>
          </a:prstGeom>
          <a:solidFill>
            <a:srgbClr val="0E5DA7"/>
          </a:solidFill>
          <a:ln w="12700">
            <a:solidFill>
              <a:srgbClr val="0E5D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1764792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질문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8032" y="2148840"/>
            <a:ext cx="1545336" cy="2084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어느 구간에서 성장이 둔화됐는가?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어느 세그먼트가 전체 하락을 끌고 갔는가?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프로모션은 매출을 늘렸는가, 객단가를 깎았는가?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03720" y="160020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04888" y="1801368"/>
            <a:ext cx="310896" cy="310896"/>
          </a:xfrm>
          <a:prstGeom prst="ellipse">
            <a:avLst/>
          </a:prstGeom>
          <a:solidFill>
            <a:srgbClr val="1FA774"/>
          </a:solidFill>
          <a:ln w="12700">
            <a:solidFill>
              <a:srgbClr val="1FA7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1764792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지표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59752" y="2148840"/>
            <a:ext cx="1545336" cy="2084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절대값만 보지 말고 증감률, 기여도, 세그먼트별 비중을 함께 봅니다.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전체 평균보다 분포와 예외치를 먼저 확인합니다.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235440" y="1600200"/>
            <a:ext cx="2057400" cy="28346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36608" y="1801368"/>
            <a:ext cx="310896" cy="310896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29800" y="1764792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가설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91472" y="2148840"/>
            <a:ext cx="1545336" cy="2084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“도시 A의 거래 수 감소가 전체 하락을 주도했다.”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“고프로모션 구간은 매출은 늘렸지만 ROI는 낮다.”처럼 검증 가능한 문장으로 바꿉니다.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63440" y="4572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433"/>
                </a:solidFill>
              </a:rPr>
              <a:t>실무 해석 문장 예시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812280" y="4480560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103B66"/>
          </a:solidFill>
          <a:ln w="12700">
            <a:solidFill>
              <a:srgbClr val="103B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2592" y="464515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“전체 매출 둔화는 특정 세그먼트의 거래 수 감소가 주도했으며,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할인 확대만으로는 구조적 회복이 어렵다.”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2 기본 이론 | 예측은 정확도 자랑이 아니라 선택지 비교 도구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모델링 파트에서는 “무엇을 맞혔나?”보다 “무엇을 결정하게 해주나?”를 먼저 설명합니다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1801368"/>
            <a:ext cx="310896" cy="310896"/>
          </a:xfrm>
          <a:prstGeom prst="ellipse">
            <a:avLst/>
          </a:prstGeom>
          <a:solidFill>
            <a:srgbClr val="1FA774"/>
          </a:solidFill>
          <a:ln w="12700">
            <a:solidFill>
              <a:srgbClr val="1FA7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764792"/>
            <a:ext cx="2459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메시지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3272" y="2148840"/>
            <a:ext cx="2734056" cy="2770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예측은 미래를 100% 맞히는 기술이 아니라, 가격·할인·요일·전략의 대안을 비교해보는 시뮬레이션 도구입니다.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정확도가 높아도 실행 의사결정에 연결되지 않으면 좋은 모델이 아닙니다.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6812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1865376"/>
            <a:ext cx="329184" cy="329184"/>
          </a:xfrm>
          <a:prstGeom prst="ellipse">
            <a:avLst/>
          </a:prstGeom>
          <a:solidFill>
            <a:srgbClr val="1FA774"/>
          </a:solidFill>
          <a:ln w="12700">
            <a:solidFill>
              <a:srgbClr val="1FA7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9724" y="1938528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10912" y="188366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3"/>
                </a:solidFill>
              </a:rPr>
              <a:t>1. 분할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188366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A6678"/>
                </a:solidFill>
              </a:rPr>
              <a:t>시간 순서를 지키고 누수를 막는다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4389120" y="2450592"/>
            <a:ext cx="6812280" cy="502920"/>
          </a:xfrm>
          <a:prstGeom prst="roundRect">
            <a:avLst>
              <a:gd name="adj" fmla="val 10909"/>
            </a:avLst>
          </a:prstGeom>
          <a:solidFill>
            <a:srgbClr val="F3F5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3712" y="2532888"/>
            <a:ext cx="329184" cy="329184"/>
          </a:xfrm>
          <a:prstGeom prst="ellipse">
            <a:avLst/>
          </a:prstGeom>
          <a:solidFill>
            <a:srgbClr val="1FA774"/>
          </a:solidFill>
          <a:ln w="12700">
            <a:solidFill>
              <a:srgbClr val="1FA7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9724" y="260604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10912" y="255117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3"/>
                </a:solidFill>
              </a:rPr>
              <a:t>2. 피처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25511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A6678"/>
                </a:solidFill>
              </a:rPr>
              <a:t>시간·래그·롤링 등 설명력 있는 변수 생성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4389120" y="3118104"/>
            <a:ext cx="6812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53712" y="3200400"/>
            <a:ext cx="329184" cy="329184"/>
          </a:xfrm>
          <a:prstGeom prst="ellipse">
            <a:avLst/>
          </a:prstGeom>
          <a:solidFill>
            <a:srgbClr val="1FA774"/>
          </a:solidFill>
          <a:ln w="12700">
            <a:solidFill>
              <a:srgbClr val="1FA7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9724" y="327355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10912" y="321868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3"/>
                </a:solidFill>
              </a:rPr>
              <a:t>3. 학습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32186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A6678"/>
                </a:solidFill>
              </a:rPr>
              <a:t>XGBoost / LightGBM / CatBoost 비교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4389120" y="3785616"/>
            <a:ext cx="6812280" cy="502920"/>
          </a:xfrm>
          <a:prstGeom prst="roundRect">
            <a:avLst>
              <a:gd name="adj" fmla="val 10909"/>
            </a:avLst>
          </a:prstGeom>
          <a:solidFill>
            <a:srgbClr val="F3F5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3712" y="3867912"/>
            <a:ext cx="329184" cy="329184"/>
          </a:xfrm>
          <a:prstGeom prst="ellipse">
            <a:avLst/>
          </a:prstGeom>
          <a:solidFill>
            <a:srgbClr val="1FA774"/>
          </a:solidFill>
          <a:ln w="12700">
            <a:solidFill>
              <a:srgbClr val="1FA7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9724" y="394106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10912" y="388620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3"/>
                </a:solidFill>
              </a:rPr>
              <a:t>4. 평가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17920" y="388620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A6678"/>
                </a:solidFill>
              </a:rPr>
              <a:t>RMSE·MAE보다 “실제 비용”을 함께 해석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4389120" y="4453128"/>
            <a:ext cx="68122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53712" y="4535424"/>
            <a:ext cx="329184" cy="329184"/>
          </a:xfrm>
          <a:prstGeom prst="ellipse">
            <a:avLst/>
          </a:prstGeom>
          <a:solidFill>
            <a:srgbClr val="1FA774"/>
          </a:solidFill>
          <a:ln w="12700">
            <a:solidFill>
              <a:srgbClr val="1FA7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9724" y="460857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10912" y="45537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3"/>
                </a:solidFill>
              </a:rPr>
              <a:t>5. 시나리오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17920" y="455371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A6678"/>
                </a:solidFill>
              </a:rPr>
              <a:t>프로모션 강도·요일별 전략을 비교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2에서 꼭 짚어줄 실무 포인트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검증, 해석, ROI를 묶어 설명해야 중간층과 상위층을 동시에 잡을 수 있습니다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709928"/>
            <a:ext cx="310896" cy="310896"/>
          </a:xfrm>
          <a:prstGeom prst="ellipse">
            <a:avLst/>
          </a:prstGeom>
          <a:solidFill>
            <a:srgbClr val="D94F45"/>
          </a:solidFill>
          <a:ln w="12700">
            <a:solidFill>
              <a:srgbClr val="D94F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67335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검증에서 흔한 실수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2057400"/>
            <a:ext cx="3008376" cy="2907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시간 데이터를 랜덤 분할해 미래 정보를 섞는 것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학습 전에 전체 기간 통계를 써서 누수를 만드는 것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RMSE 숫자만 보고 비즈니스 손실을 해석하지 않는 것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세그먼트별 성능 차이를 무시하고 평균 성능만 보는 것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1508760"/>
            <a:ext cx="3246120" cy="36576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27448" y="1709928"/>
            <a:ext cx="310896" cy="310896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673352"/>
            <a:ext cx="2459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해석에서 강조할 것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82312" y="2057400"/>
            <a:ext cx="2734056" cy="2907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SHAP은 “왜 이 예측이 나왔는가”를 설명하는 도구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Feature importance는 상관 신호일 수 있으며 곧바로 인과로 해석하면 안 됨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좋은 설명은 모델 용어보다 실행 질문과 연결되어야 함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3246120" cy="3657600"/>
          </a:xfrm>
          <a:prstGeom prst="roundRect">
            <a:avLst>
              <a:gd name="adj" fmla="val 2254"/>
            </a:avLst>
          </a:prstGeom>
          <a:solidFill>
            <a:srgbClr val="103B66"/>
          </a:solidFill>
          <a:ln w="12700">
            <a:solidFill>
              <a:srgbClr val="103B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결론은 이렇게 말한다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394192" y="242316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“이 모델 기준으로는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프로모션 10~15% 구간에서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매출 상승 대비 ROI가 가장 안정적이다.”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66760" y="39776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CEBFB"/>
                </a:solidFill>
              </a:rPr>
              <a:t>즉, 모델 성능 보고서가 아니라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CEBFB"/>
                </a:solidFill>
              </a:rPr>
              <a:t>전략 제안서로 번역해야 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3 기본 이론 | RAG는 “잘 말하는 AI”를 “근거 기반 AI”로 바꾸는 구조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문서와 표 데이터를 함께 다루는 이유를 먼저 이해시키면 구현 난도를 훨씬 낮게 받아들입니다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136392" y="2578608"/>
            <a:ext cx="347472" cy="256032"/>
          </a:xfrm>
          <a:prstGeom prst="chevron">
            <a:avLst/>
          </a:prstGeom>
          <a:solidFill>
            <a:srgbClr val="DCEBFB"/>
          </a:solidFill>
          <a:ln w="12700">
            <a:solidFill>
              <a:srgbClr val="DCEB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62472" y="2578608"/>
            <a:ext cx="347472" cy="256032"/>
          </a:xfrm>
          <a:prstGeom prst="chevron">
            <a:avLst/>
          </a:prstGeom>
          <a:solidFill>
            <a:srgbClr val="E7E3FF"/>
          </a:solidFill>
          <a:ln w="12700">
            <a:solidFill>
              <a:srgbClr val="E7E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88552" y="2578608"/>
            <a:ext cx="347472" cy="256032"/>
          </a:xfrm>
          <a:prstGeom prst="chevron">
            <a:avLst/>
          </a:prstGeom>
          <a:solidFill>
            <a:srgbClr val="DDF6EC"/>
          </a:solidFill>
          <a:ln w="12700">
            <a:solidFill>
              <a:srgbClr val="DDF6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3736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24128" y="1938528"/>
            <a:ext cx="310896" cy="310896"/>
          </a:xfrm>
          <a:prstGeom prst="ellipse">
            <a:avLst/>
          </a:prstGeom>
          <a:solidFill>
            <a:srgbClr val="0E5DA7"/>
          </a:solidFill>
          <a:ln w="12700">
            <a:solidFill>
              <a:srgbClr val="0E5D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90195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분석 자산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2286000"/>
            <a:ext cx="1591056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/ 요약표 / MD 보고서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노트북 산출물을 다시 쓸 수 있는 형태로 저장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0" y="173736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58768" y="1938528"/>
            <a:ext cx="310896" cy="310896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90195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검색 계층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13632" y="2286000"/>
            <a:ext cx="1591056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DuckDB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Chroma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질문 유형에 따라 표와 문서를 다르게 찾음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0" y="173736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84848" y="1938528"/>
            <a:ext cx="310896" cy="310896"/>
          </a:xfrm>
          <a:prstGeom prst="ellipse">
            <a:avLst/>
          </a:prstGeom>
          <a:solidFill>
            <a:srgbClr val="1FA774"/>
          </a:solidFill>
          <a:ln w="12700">
            <a:solidFill>
              <a:srgbClr val="1FA7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190195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라우팅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39712" y="2286000"/>
            <a:ext cx="1591056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질문이 문서형인지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숫자형인지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둘 다 필요한지 판단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18320" y="173736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19488" y="1938528"/>
            <a:ext cx="310896" cy="310896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12680" y="190195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응답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74352" y="2286000"/>
            <a:ext cx="1316736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답변 + 근거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필요하면 재질문하고 출처를 함께 제시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51560" y="4297680"/>
            <a:ext cx="10149840" cy="658368"/>
          </a:xfrm>
          <a:prstGeom prst="roundRect">
            <a:avLst>
              <a:gd name="adj" fmla="val 11111"/>
            </a:avLst>
          </a:prstGeom>
          <a:solidFill>
            <a:srgbClr val="EAF3FF"/>
          </a:solidFill>
          <a:ln w="12700">
            <a:solidFill>
              <a:srgbClr val="0E5D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4535424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3B66"/>
                </a:solidFill>
              </a:rPr>
              <a:t>문서만 보면 숫자 질의에 약하고, 표만 보면 맥락 설명에 약합니다. 그래서 RAG + Text-to-SQL + Routing을 함께 설명해야 합니다.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3에서 강조할 설계 원칙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수강생이 “챗봇을 만들었다”가 아니라 “검증 가능한 분석 인터페이스를 만들었다”고 느끼게 해야 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755648"/>
            <a:ext cx="310896" cy="310896"/>
          </a:xfrm>
          <a:prstGeom prst="ellipse">
            <a:avLst/>
          </a:prstGeom>
          <a:solidFill>
            <a:srgbClr val="0E5DA7"/>
          </a:solidFill>
          <a:ln w="12700">
            <a:solidFill>
              <a:srgbClr val="0E5D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71907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Retrieval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2103120"/>
            <a:ext cx="2002536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관련 문서와 표를 먼저 찾고, LLM은 그 위에서만 답하게 합니다.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66160" y="15544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67328" y="1755648"/>
            <a:ext cx="310896" cy="310896"/>
          </a:xfrm>
          <a:prstGeom prst="ellipse">
            <a:avLst/>
          </a:prstGeom>
          <a:solidFill>
            <a:srgbClr val="1FA774"/>
          </a:solidFill>
          <a:ln w="12700">
            <a:solidFill>
              <a:srgbClr val="1FA7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71907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Routing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22192" y="2103120"/>
            <a:ext cx="2002536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질문이 숫자 계산인지, 설명 요청인지, 둘 다인지 먼저 구분합니다.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10528" y="1755648"/>
            <a:ext cx="310896" cy="310896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71907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Ask-back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65392" y="2103120"/>
            <a:ext cx="2002536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질문이 모호하면 재질문해 범위를 줄여야 잘못된 답변을 줄일 수 있습니다.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52560" y="1554480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53728" y="1755648"/>
            <a:ext cx="310896" cy="310896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1719072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Evidence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08592" y="2103120"/>
            <a:ext cx="1728216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답변만이 아니라 근거 표, 인용 문서, 사용한 필터를 함께 보여줍니다.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3794760"/>
            <a:ext cx="10287000" cy="1143000"/>
          </a:xfrm>
          <a:prstGeom prst="roundRect">
            <a:avLst>
              <a:gd name="adj" fmla="val 6400"/>
            </a:avLst>
          </a:prstGeom>
          <a:solidFill>
            <a:srgbClr val="103B66"/>
          </a:solidFill>
          <a:ln w="12700">
            <a:solidFill>
              <a:srgbClr val="103B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98678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실무형 한 문장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34640" y="39136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좋은 RAG 데모는 답을 예쁘게 만드는 데서 끝나지 않고,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왜 그 답이 나왔는지 검증 가능한 형태로 보여준다.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노트북 수업 운영 방식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이론은 짧게, 코드는 블록 단위로, 해석은 보고서 문장으로 끝내는 운영이 가장 잘 맞습니다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30632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1938528"/>
            <a:ext cx="310896" cy="310896"/>
          </a:xfrm>
          <a:prstGeom prst="ellipse">
            <a:avLst/>
          </a:prstGeom>
          <a:solidFill>
            <a:srgbClr val="0E5DA7"/>
          </a:solidFill>
          <a:ln w="12700">
            <a:solidFill>
              <a:srgbClr val="0E5D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901952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5분 이론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2286000"/>
            <a:ext cx="2551176" cy="2176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오늘 파트에서 꼭 알아야 할 개념 3개만 설명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왜 이걸 하는가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어떤 실수를 피해야 하는가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결과를 어떻게 해석할 것인가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1737360"/>
            <a:ext cx="30632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73168" y="1938528"/>
            <a:ext cx="310896" cy="310896"/>
          </a:xfrm>
          <a:prstGeom prst="ellipse">
            <a:avLst/>
          </a:prstGeom>
          <a:solidFill>
            <a:srgbClr val="1FA774"/>
          </a:solidFill>
          <a:ln w="12700">
            <a:solidFill>
              <a:srgbClr val="1FA7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1901952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20~30분 코드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8032" y="2286000"/>
            <a:ext cx="2551176" cy="2176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줄 단위가 아니라 블록 단위로 설명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입력 데이터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처리 로직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출력 결과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다음 단계와 연결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30632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30768" y="1938528"/>
            <a:ext cx="310896" cy="310896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3960" y="1901952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10분 해석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5632" y="2286000"/>
            <a:ext cx="2551176" cy="2176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결과를 비즈니스 언어로 다시 말하기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진단 → 원인 → 우선순위 → 실행안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모델 결과 → 전략 제안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챗봇 답변 → 근거 확인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기본 이론 PPT용 추천 링크 분류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수업 전 또는 파트 전환 시 짧게 참고시키기 좋은 공식 문서 중심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1755648"/>
            <a:ext cx="310896" cy="310896"/>
          </a:xfrm>
          <a:prstGeom prst="ellipse">
            <a:avLst/>
          </a:prstGeom>
          <a:solidFill>
            <a:srgbClr val="0E5DA7"/>
          </a:solidFill>
          <a:ln w="12700">
            <a:solidFill>
              <a:srgbClr val="0E5D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719072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공통 기초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3272" y="2103120"/>
            <a:ext cx="3099816" cy="3090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pandas Getting Started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https://pandas.pydata.org/docs/getting_started/index.html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10 Minutes to pandas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https://pandas.pydata.org/docs/user_guide/10min.html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pandas User Guide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https://pandas.pydata.org/docs/user_guide/index.html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1728" y="1755648"/>
            <a:ext cx="310896" cy="310896"/>
          </a:xfrm>
          <a:prstGeom prst="ellipse">
            <a:avLst/>
          </a:prstGeom>
          <a:solidFill>
            <a:srgbClr val="1FA774"/>
          </a:solidFill>
          <a:ln w="12700">
            <a:solidFill>
              <a:srgbClr val="1FA7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719072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예측 모델링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36592" y="2103120"/>
            <a:ext cx="3099816" cy="3090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scikit-learn Getting Started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https://scikit-learn.org/stable/getting_started.html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Cross-validation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https://scikit-learn.org/stable/modules/cross_validation.html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evaluation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https://scikit-learn.org/stable/modules/model_evaluation.html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SHAP Docs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https://shap.readthedocs.io/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554480"/>
            <a:ext cx="3154680" cy="38404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85048" y="1755648"/>
            <a:ext cx="310896" cy="310896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1719072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/ 앱화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9912" y="2103120"/>
            <a:ext cx="2642616" cy="3090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LangChain Learn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https://docs.langchain.com/oss/python/learn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LangGraph Overview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https://docs.langchain.com/oss/python/langgraph/overview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Streamlit Get Started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https://docs.streamlit.io/get-started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DuckDB SQL Intro / Chroma Intro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https://duckdb.org/docs/stable/sql/introduction.html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https://docs.trychroma.com/docs/overview/introduction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4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파트별 심화 이론은 별도 Markdown으로 분리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노트북에 바로 붙여 넣을 수 있는 형식으로 Part 1~3 심화 자료를 함께 제공합니다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645920"/>
            <a:ext cx="10332720" cy="3429000"/>
          </a:xfrm>
          <a:prstGeom prst="roundRect">
            <a:avLst>
              <a:gd name="adj" fmla="val 2133"/>
            </a:avLst>
          </a:prstGeom>
          <a:solidFill>
            <a:srgbClr val="F3F5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2148840"/>
            <a:ext cx="950976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E5D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1: 지표 분해, 세그먼트 분석, 가설 기반 EDA, 흔한 해석 오류, pandas 중심 참고 링크
</a:t>
            </a:r>
            <a:pPr indent="0" marL="0">
              <a:buNone/>
            </a:pPr>
            <a:r>
              <a:rPr lang="en-US" sz="1800" b="1" dirty="0">
                <a:solidFill>
                  <a:srgbClr val="0E5D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2: 시간 분할, 누수, 피처 엔지니어링, 트리 부스팅 모델, SHAP, ROI 시나리오, sklearn/Optuna/XGBoost 등 참고 링크
</a:t>
            </a:r>
            <a:pPr indent="0" marL="0">
              <a:buNone/>
            </a:pPr>
            <a:r>
              <a:rPr lang="en-US" sz="1800" b="1" dirty="0">
                <a:solidFill>
                  <a:srgbClr val="0E5D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3: DuckDB·Chroma·라우팅·에이전트·Streamlit 구조, 검증 가능한 답변 설계, LangChain/LangGraph/Chroma 참고 링크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4069080"/>
            <a:ext cx="9601200" cy="530352"/>
          </a:xfrm>
          <a:prstGeom prst="roundRect">
            <a:avLst>
              <a:gd name="adj" fmla="val 13793"/>
            </a:avLst>
          </a:prstGeom>
          <a:solidFill>
            <a:srgbClr val="0E5DA7"/>
          </a:solidFill>
          <a:ln w="12700">
            <a:solidFill>
              <a:srgbClr val="0E5D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425196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PPT는 공통 프레임을 잡고, Markdown은 각 Part에서 바로 쓸 수 있는 심화 설명과 추천 링크를 제공합니다.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데이터에서 AI까지: 기본 이론 교육자료</dc:title>
  <dc:subject>데이터에서 AI까지 이론 교육자료</dc:subject>
  <dc:creator>OpenAI</dc:creator>
  <cp:lastModifiedBy>OpenAI</cp:lastModifiedBy>
  <cp:revision>1</cp:revision>
  <dcterms:created xsi:type="dcterms:W3CDTF">2026-03-21T06:50:15Z</dcterms:created>
  <dcterms:modified xsi:type="dcterms:W3CDTF">2026-03-21T06:50:15Z</dcterms:modified>
</cp:coreProperties>
</file>